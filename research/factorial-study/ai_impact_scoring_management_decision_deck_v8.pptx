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2813904a2f4e29" /><Relationship Type="http://schemas.openxmlformats.org/officeDocument/2006/relationships/extended-properties" Target="/docProps/app.xml" Id="R1c5bc14c824e4133" /><Relationship Type="http://schemas.openxmlformats.org/officeDocument/2006/relationships/officeDocument" Target="/ppt/presentation.xml" Id="R8665bd8bb41d4efd" /></Relationships>
</file>

<file path=ppt/presentation.xml><?xml version="1.0" encoding="utf-8"?>
<p:presentation xmlns:p="http://schemas.openxmlformats.org/presentationml/2006/main">
  <p:sldMasterIdLst>
    <p:sldMasterId xmlns:r="http://schemas.openxmlformats.org/officeDocument/2006/relationships" id="2147483648" r:id="Ra91c52a84ef24a6f"/>
  </p:sldMasterIdLst>
  <p:notesMasterIdLst>
    <p:notesMasterId xmlns:r="http://schemas.openxmlformats.org/officeDocument/2006/relationships" r:id="R8a11c5aed5f5405d"/>
  </p:notesMasterIdLst>
  <p:sldIdLst>
    <p:sldId xmlns:r="http://schemas.openxmlformats.org/officeDocument/2006/relationships" id="256" r:id="R5c85bc025a1f4410"/>
    <p:sldId xmlns:r="http://schemas.openxmlformats.org/officeDocument/2006/relationships" id="257" r:id="R304ade66464646b4"/>
    <p:sldId xmlns:r="http://schemas.openxmlformats.org/officeDocument/2006/relationships" id="258" r:id="R12f80f066c21475f"/>
    <p:sldId xmlns:r="http://schemas.openxmlformats.org/officeDocument/2006/relationships" id="259" r:id="Rcb40a51680c34c5c"/>
    <p:sldId xmlns:r="http://schemas.openxmlformats.org/officeDocument/2006/relationships" id="260" r:id="R142b89af34aa4a40"/>
    <p:sldId xmlns:r="http://schemas.openxmlformats.org/officeDocument/2006/relationships" id="261" r:id="Ra1afe7fbc9b24177"/>
    <p:sldId xmlns:r="http://schemas.openxmlformats.org/officeDocument/2006/relationships" id="262" r:id="Rb15365faa4e3424a"/>
    <p:sldId xmlns:r="http://schemas.openxmlformats.org/officeDocument/2006/relationships" id="263" r:id="Refd2ba81c1b645d2"/>
    <p:sldId xmlns:r="http://schemas.openxmlformats.org/officeDocument/2006/relationships" id="264" r:id="Rb4fc22df47584bd3"/>
    <p:sldId xmlns:r="http://schemas.openxmlformats.org/officeDocument/2006/relationships" id="265" r:id="R0d9d9102b907488f"/>
    <p:sldId xmlns:r="http://schemas.openxmlformats.org/officeDocument/2006/relationships" id="266" r:id="R54164f7291474fa8"/>
    <p:sldId xmlns:r="http://schemas.openxmlformats.org/officeDocument/2006/relationships" id="267" r:id="Rd79ad1f23e1843f9"/>
    <p:sldId xmlns:r="http://schemas.openxmlformats.org/officeDocument/2006/relationships" id="268" r:id="R84733a11cf0942d8"/>
    <p:sldId xmlns:r="http://schemas.openxmlformats.org/officeDocument/2006/relationships" id="269" r:id="R6bb81649bb984345"/>
    <p:sldId xmlns:r="http://schemas.openxmlformats.org/officeDocument/2006/relationships" id="270" r:id="R581b249251f54be1"/>
    <p:sldId xmlns:r="http://schemas.openxmlformats.org/officeDocument/2006/relationships" id="271" r:id="R6f0e7091b58d4a93"/>
    <p:sldId xmlns:r="http://schemas.openxmlformats.org/officeDocument/2006/relationships" id="272" r:id="R1ea06bc7743a4a8a"/>
    <p:sldId xmlns:r="http://schemas.openxmlformats.org/officeDocument/2006/relationships" id="273" r:id="R23d5ef3a9ed44b82"/>
    <p:sldId xmlns:r="http://schemas.openxmlformats.org/officeDocument/2006/relationships" id="274" r:id="R919642d92d83417f"/>
    <p:sldId xmlns:r="http://schemas.openxmlformats.org/officeDocument/2006/relationships" id="275" r:id="Rad011574cde14048"/>
    <p:sldId xmlns:r="http://schemas.openxmlformats.org/officeDocument/2006/relationships" id="276" r:id="R648b8729386e4098"/>
    <p:sldId xmlns:r="http://schemas.openxmlformats.org/officeDocument/2006/relationships" id="277" r:id="R7a1520b020894028"/>
    <p:sldId xmlns:r="http://schemas.openxmlformats.org/officeDocument/2006/relationships" id="278" r:id="R3b0349ec34984845"/>
    <p:sldId xmlns:r="http://schemas.openxmlformats.org/officeDocument/2006/relationships" id="279" r:id="Rf03732f8bea4444c"/>
    <p:sldId xmlns:r="http://schemas.openxmlformats.org/officeDocument/2006/relationships" id="280" r:id="Rf8a71ca33d354e1d"/>
    <p:sldId xmlns:r="http://schemas.openxmlformats.org/officeDocument/2006/relationships" id="281" r:id="R3e6e8b46556d4305"/>
    <p:sldId xmlns:r="http://schemas.openxmlformats.org/officeDocument/2006/relationships" id="282" r:id="R3bf18e0627574c13"/>
    <p:sldId xmlns:r="http://schemas.openxmlformats.org/officeDocument/2006/relationships" id="283" r:id="R3842e8a991d04f55"/>
    <p:sldId xmlns:r="http://schemas.openxmlformats.org/officeDocument/2006/relationships" id="284" r:id="R96e11c9d9fe3420e"/>
    <p:sldId xmlns:r="http://schemas.openxmlformats.org/officeDocument/2006/relationships" id="285" r:id="R50ebf9f8722c4b43"/>
    <p:sldId xmlns:r="http://schemas.openxmlformats.org/officeDocument/2006/relationships" id="286" r:id="Rf61b97f46f0a4293"/>
    <p:sldId xmlns:r="http://schemas.openxmlformats.org/officeDocument/2006/relationships" id="287" r:id="Rc22099e4c6eb4f68"/>
    <p:sldId xmlns:r="http://schemas.openxmlformats.org/officeDocument/2006/relationships" id="288" r:id="R697c0e6cb2fa43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0e8071d329c4025" /><Relationship Type="http://schemas.openxmlformats.org/officeDocument/2006/relationships/slideMaster" Target="/ppt/slideMasters/slideMaster1.xml" Id="Ra91c52a84ef24a6f" /><Relationship Type="http://schemas.openxmlformats.org/officeDocument/2006/relationships/notesMaster" Target="/ppt/notesMasters/notesMaster1.xml" Id="R8a11c5aed5f5405d" /><Relationship Type="http://schemas.openxmlformats.org/officeDocument/2006/relationships/presProps" Target="/ppt/presProps.xml" Id="Rb8ca5e04e6af427e" /><Relationship Type="http://schemas.openxmlformats.org/officeDocument/2006/relationships/tableStyles" Target="/ppt/tableStyles.xml" Id="R57361f538e1e45f8" /><Relationship Type="http://schemas.openxmlformats.org/officeDocument/2006/relationships/slide" Target="/ppt/slides/slide1.xml" Id="R5c85bc025a1f4410" /><Relationship Type="http://schemas.openxmlformats.org/officeDocument/2006/relationships/slide" Target="/ppt/slides/slide2.xml" Id="R304ade66464646b4" /><Relationship Type="http://schemas.openxmlformats.org/officeDocument/2006/relationships/slide" Target="/ppt/slides/slide3.xml" Id="R12f80f066c21475f" /><Relationship Type="http://schemas.openxmlformats.org/officeDocument/2006/relationships/slide" Target="/ppt/slides/slide4.xml" Id="Rcb40a51680c34c5c" /><Relationship Type="http://schemas.openxmlformats.org/officeDocument/2006/relationships/slide" Target="/ppt/slides/slide5.xml" Id="R142b89af34aa4a40" /><Relationship Type="http://schemas.openxmlformats.org/officeDocument/2006/relationships/slide" Target="/ppt/slides/slide6.xml" Id="Ra1afe7fbc9b24177" /><Relationship Type="http://schemas.openxmlformats.org/officeDocument/2006/relationships/slide" Target="/ppt/slides/slide7.xml" Id="Rb15365faa4e3424a" /><Relationship Type="http://schemas.openxmlformats.org/officeDocument/2006/relationships/slide" Target="/ppt/slides/slide8.xml" Id="Refd2ba81c1b645d2" /><Relationship Type="http://schemas.openxmlformats.org/officeDocument/2006/relationships/slide" Target="/ppt/slides/slide9.xml" Id="Rb4fc22df47584bd3" /><Relationship Type="http://schemas.openxmlformats.org/officeDocument/2006/relationships/slide" Target="/ppt/slides/slide10.xml" Id="R0d9d9102b907488f" /><Relationship Type="http://schemas.openxmlformats.org/officeDocument/2006/relationships/slide" Target="/ppt/slides/slide11.xml" Id="R54164f7291474fa8" /><Relationship Type="http://schemas.openxmlformats.org/officeDocument/2006/relationships/slide" Target="/ppt/slides/slide12.xml" Id="Rd79ad1f23e1843f9" /><Relationship Type="http://schemas.openxmlformats.org/officeDocument/2006/relationships/slide" Target="/ppt/slides/slide13.xml" Id="R84733a11cf0942d8" /><Relationship Type="http://schemas.openxmlformats.org/officeDocument/2006/relationships/slide" Target="/ppt/slides/slide14.xml" Id="R6bb81649bb984345" /><Relationship Type="http://schemas.openxmlformats.org/officeDocument/2006/relationships/slide" Target="/ppt/slides/slide15.xml" Id="R581b249251f54be1" /><Relationship Type="http://schemas.openxmlformats.org/officeDocument/2006/relationships/slide" Target="/ppt/slides/slide16.xml" Id="R6f0e7091b58d4a93" /><Relationship Type="http://schemas.openxmlformats.org/officeDocument/2006/relationships/slide" Target="/ppt/slides/slide17.xml" Id="R1ea06bc7743a4a8a" /><Relationship Type="http://schemas.openxmlformats.org/officeDocument/2006/relationships/slide" Target="/ppt/slides/slide18.xml" Id="R23d5ef3a9ed44b82" /><Relationship Type="http://schemas.openxmlformats.org/officeDocument/2006/relationships/slide" Target="/ppt/slides/slide19.xml" Id="R919642d92d83417f" /><Relationship Type="http://schemas.openxmlformats.org/officeDocument/2006/relationships/slide" Target="/ppt/slides/slide20.xml" Id="Rad011574cde14048" /><Relationship Type="http://schemas.openxmlformats.org/officeDocument/2006/relationships/slide" Target="/ppt/slides/slide21.xml" Id="R648b8729386e4098" /><Relationship Type="http://schemas.openxmlformats.org/officeDocument/2006/relationships/slide" Target="/ppt/slides/slide22.xml" Id="R7a1520b020894028" /><Relationship Type="http://schemas.openxmlformats.org/officeDocument/2006/relationships/slide" Target="/ppt/slides/slide23.xml" Id="R3b0349ec34984845" /><Relationship Type="http://schemas.openxmlformats.org/officeDocument/2006/relationships/slide" Target="/ppt/slides/slide24.xml" Id="Rf03732f8bea4444c" /><Relationship Type="http://schemas.openxmlformats.org/officeDocument/2006/relationships/slide" Target="/ppt/slides/slide25.xml" Id="Rf8a71ca33d354e1d" /><Relationship Type="http://schemas.openxmlformats.org/officeDocument/2006/relationships/slide" Target="/ppt/slides/slide26.xml" Id="R3e6e8b46556d4305" /><Relationship Type="http://schemas.openxmlformats.org/officeDocument/2006/relationships/slide" Target="/ppt/slides/slide27.xml" Id="R3bf18e0627574c13" /><Relationship Type="http://schemas.openxmlformats.org/officeDocument/2006/relationships/slide" Target="/ppt/slides/slide28.xml" Id="R3842e8a991d04f55" /><Relationship Type="http://schemas.openxmlformats.org/officeDocument/2006/relationships/slide" Target="/ppt/slides/slide29.xml" Id="R96e11c9d9fe3420e" /><Relationship Type="http://schemas.openxmlformats.org/officeDocument/2006/relationships/slide" Target="/ppt/slides/slide30.xml" Id="R50ebf9f8722c4b43" /><Relationship Type="http://schemas.openxmlformats.org/officeDocument/2006/relationships/slide" Target="/ppt/slides/slide31.xml" Id="Rf61b97f46f0a4293" /><Relationship Type="http://schemas.openxmlformats.org/officeDocument/2006/relationships/slide" Target="/ppt/slides/slide32.xml" Id="Rc22099e4c6eb4f68" /><Relationship Type="http://schemas.openxmlformats.org/officeDocument/2006/relationships/slide" Target="/ppt/slides/slide33.xml" Id="R697c0e6cb2fa43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8fb13d6af394c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a0dacf9f764a1b" /><Relationship Type="http://schemas.openxmlformats.org/officeDocument/2006/relationships/notesMaster" Target="/ppt/notesMasters/notesMaster1.xml" Id="R1ea2db42913c47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3ef00d793f4bad" /><Relationship Type="http://schemas.openxmlformats.org/officeDocument/2006/relationships/notesMaster" Target="/ppt/notesMasters/notesMaster1.xml" Id="R1fb70ba3d8ca4d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50d2169ede44d3" /><Relationship Type="http://schemas.openxmlformats.org/officeDocument/2006/relationships/notesMaster" Target="/ppt/notesMasters/notesMaster1.xml" Id="R8cc5f3a03fe342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993e40a45547d6" /><Relationship Type="http://schemas.openxmlformats.org/officeDocument/2006/relationships/notesMaster" Target="/ppt/notesMasters/notesMaster1.xml" Id="R0461341403e047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8ed99df78040fb" /><Relationship Type="http://schemas.openxmlformats.org/officeDocument/2006/relationships/notesMaster" Target="/ppt/notesMasters/notesMaster1.xml" Id="Rc8aa520a468f4f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fcb24e01044c7a" /><Relationship Type="http://schemas.openxmlformats.org/officeDocument/2006/relationships/notesMaster" Target="/ppt/notesMasters/notesMaster1.xml" Id="R2e025d4c6ffe42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e4c6949f5646a5" /><Relationship Type="http://schemas.openxmlformats.org/officeDocument/2006/relationships/notesMaster" Target="/ppt/notesMasters/notesMaster1.xml" Id="R83271128b37f42d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d1fb96191b4795" /><Relationship Type="http://schemas.openxmlformats.org/officeDocument/2006/relationships/notesMaster" Target="/ppt/notesMasters/notesMaster1.xml" Id="R9f9a71a9f738491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d0d8f59d93b4eff" /><Relationship Type="http://schemas.openxmlformats.org/officeDocument/2006/relationships/notesMaster" Target="/ppt/notesMasters/notesMaster1.xml" Id="R0cc3c76458a949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2b9d489d3444f39" /><Relationship Type="http://schemas.openxmlformats.org/officeDocument/2006/relationships/notesMaster" Target="/ppt/notesMasters/notesMaster1.xml" Id="R7a7f1276dd4b4b8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eaf9d5bcf0c4e32" /><Relationship Type="http://schemas.openxmlformats.org/officeDocument/2006/relationships/notesMaster" Target="/ppt/notesMasters/notesMaster1.xml" Id="R307cc46336024a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b5feca7f574564" /><Relationship Type="http://schemas.openxmlformats.org/officeDocument/2006/relationships/notesMaster" Target="/ppt/notesMasters/notesMaster1.xml" Id="R43153cdf682b448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11a7111cac54cc9" /><Relationship Type="http://schemas.openxmlformats.org/officeDocument/2006/relationships/notesMaster" Target="/ppt/notesMasters/notesMaster1.xml" Id="Rd6b89cdc05f342a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94a20c0fd414297" /><Relationship Type="http://schemas.openxmlformats.org/officeDocument/2006/relationships/notesMaster" Target="/ppt/notesMasters/notesMaster1.xml" Id="Rb9683f3e38fe42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c9998c45f4948b6" /><Relationship Type="http://schemas.openxmlformats.org/officeDocument/2006/relationships/notesMaster" Target="/ppt/notesMasters/notesMaster1.xml" Id="R8b2315f3a9914b8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67f16477cec48d0" /><Relationship Type="http://schemas.openxmlformats.org/officeDocument/2006/relationships/notesMaster" Target="/ppt/notesMasters/notesMaster1.xml" Id="R02e529f2c433474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4fdd44cb54a4599" /><Relationship Type="http://schemas.openxmlformats.org/officeDocument/2006/relationships/notesMaster" Target="/ppt/notesMasters/notesMaster1.xml" Id="R4b146abc529a46e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ac2d1cd70234d1d" /><Relationship Type="http://schemas.openxmlformats.org/officeDocument/2006/relationships/notesMaster" Target="/ppt/notesMasters/notesMaster1.xml" Id="R36831c2e48bc40c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280925e7fe44d1a" /><Relationship Type="http://schemas.openxmlformats.org/officeDocument/2006/relationships/notesMaster" Target="/ppt/notesMasters/notesMaster1.xml" Id="R338888ac3da14e6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bb7ea0790624cbb" /><Relationship Type="http://schemas.openxmlformats.org/officeDocument/2006/relationships/notesMaster" Target="/ppt/notesMasters/notesMaster1.xml" Id="Rb2d4d52020f840b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b18f47948dc4068" /><Relationship Type="http://schemas.openxmlformats.org/officeDocument/2006/relationships/notesMaster" Target="/ppt/notesMasters/notesMaster1.xml" Id="R0cba26f37a2f4d8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f82b5702bb9429c" /><Relationship Type="http://schemas.openxmlformats.org/officeDocument/2006/relationships/notesMaster" Target="/ppt/notesMasters/notesMaster1.xml" Id="Ra741fb8f27bf4b7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0f71648b23041b1" /><Relationship Type="http://schemas.openxmlformats.org/officeDocument/2006/relationships/notesMaster" Target="/ppt/notesMasters/notesMaster1.xml" Id="R3c6c240e6c2642a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8b10a9b78cf4645" /><Relationship Type="http://schemas.openxmlformats.org/officeDocument/2006/relationships/notesMaster" Target="/ppt/notesMasters/notesMaster1.xml" Id="R0517085b0970406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994ae8800714c43" /><Relationship Type="http://schemas.openxmlformats.org/officeDocument/2006/relationships/notesMaster" Target="/ppt/notesMasters/notesMaster1.xml" Id="R889b4fdee1e64d8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a2f6a5baf1c428d" /><Relationship Type="http://schemas.openxmlformats.org/officeDocument/2006/relationships/notesMaster" Target="/ppt/notesMasters/notesMaster1.xml" Id="Red0cd55db55d43a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ca5b98e35a74f03" /><Relationship Type="http://schemas.openxmlformats.org/officeDocument/2006/relationships/notesMaster" Target="/ppt/notesMasters/notesMaster1.xml" Id="R86bc1df4eec24dd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f4d082fe47943fa" /><Relationship Type="http://schemas.openxmlformats.org/officeDocument/2006/relationships/notesMaster" Target="/ppt/notesMasters/notesMaster1.xml" Id="Reef7c19fbbc94cf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0d952830cf64a0d" /><Relationship Type="http://schemas.openxmlformats.org/officeDocument/2006/relationships/notesMaster" Target="/ppt/notesMasters/notesMaster1.xml" Id="R85a4268f0a40432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ce10c52450240b5" /><Relationship Type="http://schemas.openxmlformats.org/officeDocument/2006/relationships/notesMaster" Target="/ppt/notesMasters/notesMaster1.xml" Id="Rd0be91c0d50343d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5bf36b9725c4309" /><Relationship Type="http://schemas.openxmlformats.org/officeDocument/2006/relationships/notesMaster" Target="/ppt/notesMasters/notesMaster1.xml" Id="R97e4cb0935a04ea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2c0185702c84b70" /><Relationship Type="http://schemas.openxmlformats.org/officeDocument/2006/relationships/notesMaster" Target="/ppt/notesMasters/notesMaster1.xml" Id="R79c1b0157c014c8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2856cda16bf41c0" /><Relationship Type="http://schemas.openxmlformats.org/officeDocument/2006/relationships/notesMaster" Target="/ppt/notesMasters/notesMaster1.xml" Id="Rbb2647ecc88848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governance decision, not the implementation detail.</a:t>
            </a:r>
          </a:p>
          <a:p xmlns:a="http://schemas.openxmlformats.org/drawingml/2006/main">
            <a:r>
              <a:t/>
            </a:r>
          </a:p>
          <a:p xmlns:a="http://schemas.openxmlformats.org/drawingml/2006/main">
            <a:r>
              <a:t>[Sources]</a:t>
            </a:r>
          </a:p>
          <a:p xmlns:a="http://schemas.openxmlformats.org/drawingml/2006/main">
            <a:r>
              <a:t>- docs/FACTORIAL_COMPLETE_ANALYSIS_V2.md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recommendation upfront but make clear the evidence and options follow.</a:t>
            </a:r>
          </a:p>
          <a:p xmlns:a="http://schemas.openxmlformats.org/drawingml/2006/main">
            <a:r>
              <a:t/>
            </a:r>
          </a:p>
          <a:p xmlns:a="http://schemas.openxmlformats.org/drawingml/2006/main">
            <a:r>
              <a:t>[Sources]</a:t>
            </a:r>
          </a:p>
          <a:p xmlns:a="http://schemas.openxmlformats.org/drawingml/2006/main">
            <a:r>
              <a:t>- docs/FACTORIAL_COMPLETE_ANALYSIS_V2.md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governance gap: a one-off dashboard output and an operational API are different products.</a:t>
            </a:r>
          </a:p>
          <a:p xmlns:a="http://schemas.openxmlformats.org/drawingml/2006/main">
            <a:r>
              <a:t/>
            </a:r>
          </a:p>
          <a:p xmlns:a="http://schemas.openxmlformats.org/drawingml/2006/main">
            <a:r>
              <a:t>[Sources]</a:t>
            </a:r>
          </a:p>
          <a:p xmlns:a="http://schemas.openxmlformats.org/drawingml/2006/main">
            <a:r>
              <a:t>- docs/FACTORIAL_COMPLETE_ANALYSIS_V2.md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three factors only. Use the stakeholder-facing names consistently throughout the discussion.</a:t>
            </a:r>
          </a:p>
          <a:p xmlns:a="http://schemas.openxmlformats.org/drawingml/2006/main">
            <a:r>
              <a:t/>
            </a:r>
          </a:p>
          <a:p xmlns:a="http://schemas.openxmlformats.org/drawingml/2006/main">
            <a:r>
              <a:t>[Sources]</a:t>
            </a:r>
          </a:p>
          <a:p xmlns:a="http://schemas.openxmlformats.org/drawingml/2006/main">
            <a:r>
              <a:t>- docs/FACTORIAL_COMPLETE_ANALYSIS_V2.md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E0 as the common headline metric. E23 is a reporting merge, not a different underlying concept.</a:t>
            </a:r>
          </a:p>
          <a:p xmlns:a="http://schemas.openxmlformats.org/drawingml/2006/main">
            <a:r>
              <a:t/>
            </a:r>
          </a:p>
          <a:p xmlns:a="http://schemas.openxmlformats.org/drawingml/2006/main">
            <a:r>
              <a:t>[Sources]</a:t>
            </a:r>
          </a:p>
          <a:p xmlns:a="http://schemas.openxmlformats.org/drawingml/2006/main">
            <a:r>
              <a:t>- docs/FACTORIAL_COMPLETE_ANALYSIS_V2.md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study is a matched 3 x 2 x 2 factorial. Clarify that raw parent and atomic child data are different units; parent weighting prevents multi-child parents from receiving extra weight.</a:t>
            </a:r>
          </a:p>
          <a:p xmlns:a="http://schemas.openxmlformats.org/drawingml/2006/main">
            <a:r>
              <a:t/>
            </a:r>
          </a:p>
          <a:p xmlns:a="http://schemas.openxmlformats.org/drawingml/2006/main">
            <a:r>
              <a:t>[Sources]</a:t>
            </a:r>
          </a:p>
          <a:p xmlns:a="http://schemas.openxmlformats.org/drawingml/2006/main">
            <a:r>
              <a:t>- docs/FACTORIAL_COMPLETE_ANALYSIS_V2.md</a:t>
            </a:r>
          </a:p>
          <a:p xmlns:a="http://schemas.openxmlformats.org/drawingml/2006/main">
            <a:r>
              <a:t>- results/factorial_completed_v2/summary.json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headline metric and the three guidance levels before showing the results. E0 is used because it directly answers the proportion of tasks assessed as having no material AI impact; the full distribution remains available in the appendix.</a:t>
            </a:r>
          </a:p>
          <a:p xmlns:a="http://schemas.openxmlformats.org/drawingml/2006/main">
            <a:r>
              <a:t/>
            </a:r>
          </a:p>
          <a:p xmlns:a="http://schemas.openxmlformats.org/drawingml/2006/main">
            <a:r>
              <a:t>[Sources]</a:t>
            </a:r>
          </a:p>
          <a:p xmlns:a="http://schemas.openxmlformats.org/drawingml/2006/main">
            <a:r>
              <a:t>- docs/FACTORIAL_COMPLETE_ANALYSIS_V2.md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labels are a repeatability reference. The recovered actual colleague script with GPT-4o-2024-08-06 achieved 95.3% exact agreement on the matched raw-parent panel.</a:t>
            </a:r>
          </a:p>
          <a:p xmlns:a="http://schemas.openxmlformats.org/drawingml/2006/main">
            <a:r>
              <a:t/>
            </a:r>
          </a:p>
          <a:p xmlns:a="http://schemas.openxmlformats.org/drawingml/2006/main">
            <a:r>
              <a:t>[Sources]</a:t>
            </a:r>
          </a:p>
          <a:p xmlns:a="http://schemas.openxmlformats.org/drawingml/2006/main">
            <a:r>
              <a:t>- docs/COLLEAGUE_SCRIPT_REPRODUCTION.md</a:t>
            </a:r>
          </a:p>
          <a:p xmlns:a="http://schemas.openxmlformats.org/drawingml/2006/main">
            <a:r>
              <a:t>- results/factorial_completed_v2/historical_repeatability.csv</a:t>
            </a:r>
          </a:p>
          <a:p xmlns:a="http://schemas.openxmlformats.org/drawingml/2006/main">
            <a:r>
              <a:t>- results/factorial_completed_v2/historical_confusion_matrices.csv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high-level six-cell raw-parent view. The visual is a matrix rather than a stacked bar so stakeholders can read values directly.</a:t>
            </a:r>
          </a:p>
          <a:p xmlns:a="http://schemas.openxmlformats.org/drawingml/2006/main">
            <a:r>
              <a:t/>
            </a:r>
          </a:p>
          <a:p xmlns:a="http://schemas.openxmlformats.org/drawingml/2006/main">
            <a:r>
              <a:t>[Sources]</a:t>
            </a:r>
          </a:p>
          <a:p xmlns:a="http://schemas.openxmlformats.org/drawingml/2006/main">
            <a:r>
              <a:t>- docs/FACTORIAL_COMPLETE_ANALYSIS_V2.md</a:t>
            </a:r>
          </a:p>
          <a:p xmlns:a="http://schemas.openxmlformats.org/drawingml/2006/main">
            <a:r>
              <a:t>- results/factorial_completed_v2/distributions.csv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clean prompt contrast. GPT-4o E0 change: -35.89 pp [ -38.85, -32.72 ]; GPT-5.2: -6.65 pp [ -9.00, -4.29 ].</a:t>
            </a:r>
          </a:p>
          <a:p xmlns:a="http://schemas.openxmlformats.org/drawingml/2006/main">
            <a:r>
              <a:t/>
            </a:r>
          </a:p>
          <a:p xmlns:a="http://schemas.openxmlformats.org/drawingml/2006/main">
            <a:r>
              <a:t>[Sources]</a:t>
            </a:r>
          </a:p>
          <a:p xmlns:a="http://schemas.openxmlformats.org/drawingml/2006/main">
            <a:r>
              <a:t>- results/factorial_completed_v2/paired_prompt_and_model_effects.csv</a:t>
            </a:r>
          </a:p>
          <a:p xmlns:a="http://schemas.openxmlformats.org/drawingml/2006/main">
            <a:r>
              <a:t>- docs/FACTORIAL_COMPLETE_ANALYSIS_V2.md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few-shot arm is a third scoring guidance condition, not a compromise default. GPT-4o E0 +13.09 pp; GPT-5.2 E0 +3.89 pp.</a:t>
            </a:r>
          </a:p>
          <a:p xmlns:a="http://schemas.openxmlformats.org/drawingml/2006/main">
            <a:r>
              <a:t/>
            </a:r>
          </a:p>
          <a:p xmlns:a="http://schemas.openxmlformats.org/drawingml/2006/main">
            <a:r>
              <a:t>[Sources]</a:t>
            </a:r>
          </a:p>
          <a:p xmlns:a="http://schemas.openxmlformats.org/drawingml/2006/main">
            <a:r>
              <a:t>- results/factorial_completed_v2/paired_prompt_and_model_effects.csv</a:t>
            </a:r>
          </a:p>
          <a:p xmlns:a="http://schemas.openxmlformats.org/drawingml/2006/main">
            <a:r>
              <a:t>- docs/FACTORIAL_COMPLETE_ANALYSIS_V2.md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effects are paired raw-parent contrasts: -38.45 pp under historical dashboard guidance, -9.20 pp under current POC guidance, and -18.40 pp with historical examples.</a:t>
            </a:r>
          </a:p>
          <a:p xmlns:a="http://schemas.openxmlformats.org/drawingml/2006/main">
            <a:r>
              <a:t/>
            </a:r>
          </a:p>
          <a:p xmlns:a="http://schemas.openxmlformats.org/drawingml/2006/main">
            <a:r>
              <a:t>[Sources]</a:t>
            </a:r>
          </a:p>
          <a:p xmlns:a="http://schemas.openxmlformats.org/drawingml/2006/main">
            <a:r>
              <a:t>- results/factorial_completed_v2/paired_prompt_and_model_effects.csv</a:t>
            </a:r>
          </a:p>
          <a:p xmlns:a="http://schemas.openxmlformats.org/drawingml/2006/main">
            <a:r>
              <a:t>- docs/FACTORIAL_COMPLETE_ANALYSIS_V2.md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Parent-clustered representation comparison. The full range is -3.07 to +0.10 pp. The current POC + GPT-5.2 difference is -1.07 pp, CI [-2.65, +0.43].</a:t>
            </a:r>
          </a:p>
          <a:p xmlns:a="http://schemas.openxmlformats.org/drawingml/2006/main">
            <a:r>
              <a:t/>
            </a:r>
          </a:p>
          <a:p xmlns:a="http://schemas.openxmlformats.org/drawingml/2006/main">
            <a:r>
              <a:t>[Sources]</a:t>
            </a:r>
          </a:p>
          <a:p xmlns:a="http://schemas.openxmlformats.org/drawingml/2006/main">
            <a:r>
              <a:t>- results/factorial_completed_v2/parent_clustered_representation_effects.csv</a:t>
            </a:r>
          </a:p>
          <a:p xmlns:a="http://schemas.openxmlformats.org/drawingml/2006/main">
            <a:r>
              <a:t>- docs/FACTORIAL_COMPLETE_ANALYSIS_V2.md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factor ranges show relative practical importance while acknowledging interaction. Do not treat them as independent causal coefficients.</a:t>
            </a:r>
          </a:p>
          <a:p xmlns:a="http://schemas.openxmlformats.org/drawingml/2006/main">
            <a:r>
              <a:t/>
            </a:r>
          </a:p>
          <a:p xmlns:a="http://schemas.openxmlformats.org/drawingml/2006/main">
            <a:r>
              <a:t>[Sources]</a:t>
            </a:r>
          </a:p>
          <a:p xmlns:a="http://schemas.openxmlformats.org/drawingml/2006/main">
            <a:r>
              <a:t>- docs/FACTORIAL_COMPLETE_ANALYSIS_V2.md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key safeguard against silently restating the published national metric using a new operational method.</a:t>
            </a:r>
          </a:p>
          <a:p xmlns:a="http://schemas.openxmlformats.org/drawingml/2006/main">
            <a:r>
              <a:t/>
            </a:r>
          </a:p>
          <a:p xmlns:a="http://schemas.openxmlformats.org/drawingml/2006/main">
            <a:r>
              <a:t>[Sources]</a:t>
            </a:r>
          </a:p>
          <a:p xmlns:a="http://schemas.openxmlformats.org/drawingml/2006/main">
            <a:r>
              <a:t>- docs/FACTORIAL_COMPLETE_ANALYSIS_V2.md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options neutrally. The GPT-4o-plus-examples configuration is an explicit middle-ground alternative, not an automatic default merely because it produces a middle distribution.</a:t>
            </a:r>
          </a:p>
          <a:p xmlns:a="http://schemas.openxmlformats.org/drawingml/2006/main">
            <a:r>
              <a:t/>
            </a:r>
          </a:p>
          <a:p xmlns:a="http://schemas.openxmlformats.org/drawingml/2006/main">
            <a:r>
              <a:t>[Sources]</a:t>
            </a:r>
          </a:p>
          <a:p xmlns:a="http://schemas.openxmlformats.org/drawingml/2006/main">
            <a:r>
              <a:t>- docs/FACTORIAL_COMPLETE_ANALYSIS_V2.md</a:t>
            </a:r>
          </a:p>
          <a:p xmlns:a="http://schemas.openxmlformats.org/drawingml/2006/main">
            <a:r>
              <a:t>- results/factorial_completed_v2/distributions.csv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recommendation is an operational choice, not a claim of objective ground truth or a statement that AI capability changed by the measured amount.</a:t>
            </a:r>
          </a:p>
          <a:p xmlns:a="http://schemas.openxmlformats.org/drawingml/2006/main">
            <a:r>
              <a:t/>
            </a:r>
          </a:p>
          <a:p xmlns:a="http://schemas.openxmlformats.org/drawingml/2006/main">
            <a:r>
              <a:t>[Sources]</a:t>
            </a:r>
          </a:p>
          <a:p xmlns:a="http://schemas.openxmlformats.org/drawingml/2006/main">
            <a:r>
              <a:t>- docs/FACTORIAL_COMPLETE_ANALYSIS_V2.md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on concrete approvals and operational next steps.</a:t>
            </a:r>
          </a:p>
          <a:p xmlns:a="http://schemas.openxmlformats.org/drawingml/2006/main">
            <a:r>
              <a:t/>
            </a:r>
          </a:p>
          <a:p xmlns:a="http://schemas.openxmlformats.org/drawingml/2006/main">
            <a:r>
              <a:t>[Sources]</a:t>
            </a:r>
          </a:p>
          <a:p xmlns:a="http://schemas.openxmlformats.org/drawingml/2006/main">
            <a:r>
              <a:t>- docs/FACTORIAL_COMPLETE_ANALYSIS_V2.md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a:p xmlns:a="http://schemas.openxmlformats.org/drawingml/2006/main">
            <a:r>
              <a:t/>
            </a:r>
          </a:p>
          <a:p xmlns:a="http://schemas.openxmlformats.org/drawingml/2006/main">
            <a:r>
              <a:t>[Sources]</a:t>
            </a:r>
          </a:p>
          <a:p xmlns:a="http://schemas.openxmlformats.org/drawingml/2006/main">
            <a:r>
              <a:t>- docs/FACTORIAL_COMPLETE_ANALYSIS_V2.md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12-cell result table.</a:t>
            </a:r>
          </a:p>
          <a:p xmlns:a="http://schemas.openxmlformats.org/drawingml/2006/main">
            <a:r>
              <a:t/>
            </a:r>
          </a:p>
          <a:p xmlns:a="http://schemas.openxmlformats.org/drawingml/2006/main">
            <a:r>
              <a:t>[Sources]</a:t>
            </a:r>
          </a:p>
          <a:p xmlns:a="http://schemas.openxmlformats.org/drawingml/2006/main">
            <a:r>
              <a:t>- results/factorial_completed_v2/distributions.csv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raw-parent distribution chart. This remains appendix-only because the main deck uses E0 as the headline metric.</a:t>
            </a:r>
          </a:p>
          <a:p xmlns:a="http://schemas.openxmlformats.org/drawingml/2006/main">
            <a:r>
              <a:t/>
            </a:r>
          </a:p>
          <a:p xmlns:a="http://schemas.openxmlformats.org/drawingml/2006/main">
            <a:r>
              <a:t>[Sources]</a:t>
            </a:r>
          </a:p>
          <a:p xmlns:a="http://schemas.openxmlformats.org/drawingml/2006/main">
            <a:r>
              <a:t>- results/factorial_completed_v2/distributions.csv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atomic-child distribution chart.</a:t>
            </a:r>
          </a:p>
          <a:p xmlns:a="http://schemas.openxmlformats.org/drawingml/2006/main">
            <a:r>
              <a:t/>
            </a:r>
          </a:p>
          <a:p xmlns:a="http://schemas.openxmlformats.org/drawingml/2006/main">
            <a:r>
              <a:t>[Sources]</a:t>
            </a:r>
          </a:p>
          <a:p xmlns:a="http://schemas.openxmlformats.org/drawingml/2006/main">
            <a:r>
              <a:t>- results/factorial_completed_v2/distributions.csv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reproduction method, model snapshot caveat and confusion matrix.</a:t>
            </a:r>
          </a:p>
          <a:p xmlns:a="http://schemas.openxmlformats.org/drawingml/2006/main">
            <a:r>
              <a:t/>
            </a:r>
          </a:p>
          <a:p xmlns:a="http://schemas.openxmlformats.org/drawingml/2006/main">
            <a:r>
              <a:t>[Sources]</a:t>
            </a:r>
          </a:p>
          <a:p xmlns:a="http://schemas.openxmlformats.org/drawingml/2006/main">
            <a:r>
              <a:t>- docs/COLLEAGUE_SCRIPT_REPRODUCTION.md</a:t>
            </a:r>
          </a:p>
          <a:p xmlns:a="http://schemas.openxmlformats.org/drawingml/2006/main">
            <a:r>
              <a:t>- results/factorial_completed_v2/historical_confusion_matrices.csv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intervals use 2,000 non-parametric bootstrap replicates across the matched raw-parent panel.</a:t>
            </a:r>
          </a:p>
          <a:p xmlns:a="http://schemas.openxmlformats.org/drawingml/2006/main">
            <a:r>
              <a:t/>
            </a:r>
          </a:p>
          <a:p xmlns:a="http://schemas.openxmlformats.org/drawingml/2006/main">
            <a:r>
              <a:t>[Sources]</a:t>
            </a:r>
          </a:p>
          <a:p xmlns:a="http://schemas.openxmlformats.org/drawingml/2006/main">
            <a:r>
              <a:t>- results/factorial_completed_v2/paired_prompt_and_model_effects.csv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Paired LLM-version contrasts. Do not interpret the model changes as a standalone measure of progress in AI capability.</a:t>
            </a:r>
          </a:p>
          <a:p xmlns:a="http://schemas.openxmlformats.org/drawingml/2006/main">
            <a:r>
              <a:t/>
            </a:r>
          </a:p>
          <a:p xmlns:a="http://schemas.openxmlformats.org/drawingml/2006/main">
            <a:r>
              <a:t>[Sources]</a:t>
            </a:r>
          </a:p>
          <a:p xmlns:a="http://schemas.openxmlformats.org/drawingml/2006/main">
            <a:r>
              <a:t>- results/factorial_completed_v2/paired_prompt_and_model_effects.csv</a:t>
            </a:r>
          </a:p>
          <a:p xmlns:a="http://schemas.openxmlformats.org/drawingml/2006/main">
            <a:r>
              <a:t>- docs/FACTORIAL_COMPLETE_ANALYSIS_V2.md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Parent-level weighting and bootstrap logic for raw-versus-atomic comparisons.</a:t>
            </a:r>
          </a:p>
          <a:p xmlns:a="http://schemas.openxmlformats.org/drawingml/2006/main">
            <a:r>
              <a:t/>
            </a:r>
          </a:p>
          <a:p xmlns:a="http://schemas.openxmlformats.org/drawingml/2006/main">
            <a:r>
              <a:t>[Sources]</a:t>
            </a:r>
          </a:p>
          <a:p xmlns:a="http://schemas.openxmlformats.org/drawingml/2006/main">
            <a:r>
              <a:t>- docs/FACTORIAL_COMPLETE_ANALYSIS_V2.md</a:t>
            </a:r>
          </a:p>
          <a:p xmlns:a="http://schemas.openxmlformats.org/drawingml/2006/main">
            <a:r>
              <a:t>- results/factorial_completed_v2/parent_clustered_representation_effects.csv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integrity and leakage assurance.</a:t>
            </a:r>
          </a:p>
          <a:p xmlns:a="http://schemas.openxmlformats.org/drawingml/2006/main">
            <a:r>
              <a:t/>
            </a:r>
          </a:p>
          <a:p xmlns:a="http://schemas.openxmlformats.org/drawingml/2006/main">
            <a:r>
              <a:t>[Sources]</a:t>
            </a:r>
          </a:p>
          <a:p xmlns:a="http://schemas.openxmlformats.org/drawingml/2006/main">
            <a:r>
              <a:t>- docs/FACTORIAL_COMPLETE_ANALYSIS_V2.md</a:t>
            </a:r>
          </a:p>
          <a:p xmlns:a="http://schemas.openxmlformats.org/drawingml/2006/main">
            <a:r>
              <a:t>- results/factorial_completed_v2/summary.json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Side-by-side comparison of the three guidance conditions. The full controlled text and source scripts are retained in the documented experiment artifacts.</a:t>
            </a:r>
          </a:p>
          <a:p xmlns:a="http://schemas.openxmlformats.org/drawingml/2006/main">
            <a:r>
              <a:t/>
            </a:r>
          </a:p>
          <a:p xmlns:a="http://schemas.openxmlformats.org/drawingml/2006/main">
            <a:r>
              <a:t>[Sources]</a:t>
            </a:r>
          </a:p>
          <a:p xmlns:a="http://schemas.openxmlformats.org/drawingml/2006/main">
            <a:r>
              <a:t>- docs/COLLEAGUE_SCRIPT_REPRODUCTION.md</a:t>
            </a:r>
          </a:p>
          <a:p xmlns:a="http://schemas.openxmlformats.org/drawingml/2006/main">
            <a:r>
              <a:t>- docs/FACTORIAL_COMPLETE_ANALYSIS_V2.md</a:t>
            </a:r>
          </a:p>
          <a:p xmlns:a="http://schemas.openxmlformats.org/drawingml/2006/main">
            <a:r>
              <a:t>- docs/PRODUCTION_LEGACY_ANCHOR_EXPERIMENT.md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Classifier metrics are contextual. The models were trained/evaluated on different task definitions and label policies.</a:t>
            </a:r>
          </a:p>
          <a:p xmlns:a="http://schemas.openxmlformats.org/drawingml/2006/main">
            <a:r>
              <a:t/>
            </a:r>
          </a:p>
          <a:p xmlns:a="http://schemas.openxmlformats.org/drawingml/2006/main">
            <a:r>
              <a:t>[Sources]</a:t>
            </a:r>
          </a:p>
          <a:p xmlns:a="http://schemas.openxmlformats.org/drawingml/2006/main">
            <a:r>
              <a:t>- docs/FACTORIAL_REPRESENTATIVE_FINAL_READOUT.md</a:t>
            </a:r>
          </a:p>
          <a:p xmlns:a="http://schemas.openxmlformats.org/drawingml/2006/main">
            <a:r>
              <a:t>- docs/FACTORIAL_COMPLETE_ANALYSIS_V2.md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limitations and operational monitoring boundaries.</a:t>
            </a:r>
          </a:p>
          <a:p xmlns:a="http://schemas.openxmlformats.org/drawingml/2006/main">
            <a:r>
              <a:t/>
            </a:r>
          </a:p>
          <a:p xmlns:a="http://schemas.openxmlformats.org/drawingml/2006/main">
            <a:r>
              <a:t>[Sources]</a:t>
            </a:r>
          </a:p>
          <a:p xmlns:a="http://schemas.openxmlformats.org/drawingml/2006/main">
            <a:r>
              <a:t>- docs/FACTORIAL_COMPLETE_ANALYSIS_V2.md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Verbatim prompt display. Reflow changes line breaks only for slide layout; prompt wording is taken directly from the experiment artifact files.</a:t>
            </a:r>
          </a:p>
          <a:p xmlns:a="http://schemas.openxmlformats.org/drawingml/2006/main">
            <a:r>
              <a:t/>
            </a:r>
          </a:p>
          <a:p xmlns:a="http://schemas.openxmlformats.org/drawingml/2006/main">
            <a:r>
              <a:t>[Sources]</a:t>
            </a:r>
          </a:p>
          <a:p xmlns:a="http://schemas.openxmlformats.org/drawingml/2006/main">
            <a:r>
              <a:t>- results/colleague_reproduction_v1/prompts/colleague_system.txt</a:t>
            </a:r>
          </a:p>
          <a:p xmlns:a="http://schemas.openxmlformats.org/drawingml/2006/main">
            <a:r>
              <a:t>- results/colleague_reproduction_v1/prompts/colleague_user_template.txt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Verbatim prompt display. Reflow changes line breaks only for slide layout; prompt wording is taken directly from the experiment artifact files.</a:t>
            </a:r>
          </a:p>
          <a:p xmlns:a="http://schemas.openxmlformats.org/drawingml/2006/main">
            <a:r>
              <a:t/>
            </a:r>
          </a:p>
          <a:p xmlns:a="http://schemas.openxmlformats.org/drawingml/2006/main">
            <a:r>
              <a:t>[Sources]</a:t>
            </a:r>
          </a:p>
          <a:p xmlns:a="http://schemas.openxmlformats.org/drawingml/2006/main">
            <a:r>
              <a:t>- results/factorial_restart_v1/prompts/production_system.txt</a:t>
            </a:r>
          </a:p>
          <a:p xmlns:a="http://schemas.openxmlformats.org/drawingml/2006/main">
            <a:r>
              <a:t>- results/factorial_restart_v1/prompts/production_user_template.txt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Verbatim prompt display. Reflow changes line breaks only for slide layout; prompt wording is taken directly from the experiment artifact files.</a:t>
            </a:r>
          </a:p>
          <a:p xmlns:a="http://schemas.openxmlformats.org/drawingml/2006/main">
            <a:r>
              <a:t/>
            </a:r>
          </a:p>
          <a:p xmlns:a="http://schemas.openxmlformats.org/drawingml/2006/main">
            <a:r>
              <a:t>[Sources]</a:t>
            </a:r>
          </a:p>
          <a:p xmlns:a="http://schemas.openxmlformats.org/drawingml/2006/main">
            <a:r>
              <a:t>- results/hybrid_anchor_prompt_v1/prompts/production_with_legacy_anchors_system.txt</a:t>
            </a:r>
          </a:p>
          <a:p xmlns:a="http://schemas.openxmlformats.org/drawingml/2006/main">
            <a:r>
              <a:t>- results/hybrid_anchor_prompt_v1/prompts/production_user_template.txt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ff83d0211f4c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b2ddd63cc94124" /><Relationship Type="http://schemas.openxmlformats.org/officeDocument/2006/relationships/slideLayout" Target="/ppt/slideLayouts/slideLayout1.xml" Id="R64e40856060f48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e40856060f48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c00cc22ae64ec4" /><Relationship Type="http://schemas.openxmlformats.org/officeDocument/2006/relationships/notesSlide" Target="/ppt/notesSlides/notesSlide1.xml" Id="R5b08988934d145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d3a943b660c4ca3" /><Relationship Type="http://schemas.openxmlformats.org/officeDocument/2006/relationships/notesSlide" Target="/ppt/notesSlides/notesSlide2.xml" Id="R0d6a79e612fa49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6f2e91e0c84317" /><Relationship Type="http://schemas.openxmlformats.org/officeDocument/2006/relationships/notesSlide" Target="/ppt/notesSlides/notesSlide3.xml" Id="R4c9a3091a93145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f28b5c61544311" /><Relationship Type="http://schemas.openxmlformats.org/officeDocument/2006/relationships/notesSlide" Target="/ppt/notesSlides/notesSlide4.xml" Id="R93243da89e1349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07330618031494a" /><Relationship Type="http://schemas.openxmlformats.org/officeDocument/2006/relationships/notesSlide" Target="/ppt/notesSlides/notesSlide5.xml" Id="R7fb2bf60a89e4f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efd54bf4c274e5c" /><Relationship Type="http://schemas.openxmlformats.org/officeDocument/2006/relationships/notesSlide" Target="/ppt/notesSlides/notesSlide6.xml" Id="R8d61d1328d4147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e236a0a44674587" /><Relationship Type="http://schemas.openxmlformats.org/officeDocument/2006/relationships/notesSlide" Target="/ppt/notesSlides/notesSlide7.xml" Id="R498ca6f573fe48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5a2995fe554253" /><Relationship Type="http://schemas.openxmlformats.org/officeDocument/2006/relationships/notesSlide" Target="/ppt/notesSlides/notesSlide8.xml" Id="R4858f36778ce49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756a97d4a5f44d2" /><Relationship Type="http://schemas.openxmlformats.org/officeDocument/2006/relationships/notesSlide" Target="/ppt/notesSlides/notesSlide9.xml" Id="R77b597feb14e47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8bd94e0964e4aed" /><Relationship Type="http://schemas.openxmlformats.org/officeDocument/2006/relationships/notesSlide" Target="/ppt/notesSlides/notesSlide10.xml" Id="Rc074bf757f904f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2e5803066334b69" /><Relationship Type="http://schemas.openxmlformats.org/officeDocument/2006/relationships/notesSlide" Target="/ppt/notesSlides/notesSlide11.xml" Id="Rf3a821b81b6f458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9e9d7dcf2144ed6" /><Relationship Type="http://schemas.openxmlformats.org/officeDocument/2006/relationships/notesSlide" Target="/ppt/notesSlides/notesSlide12.xml" Id="Rdd77d0e8bff7420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5caff8da34d41b8" /><Relationship Type="http://schemas.openxmlformats.org/officeDocument/2006/relationships/notesSlide" Target="/ppt/notesSlides/notesSlide13.xml" Id="R5e91ff4a352346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50d99790dd04852" /><Relationship Type="http://schemas.openxmlformats.org/officeDocument/2006/relationships/notesSlide" Target="/ppt/notesSlides/notesSlide14.xml" Id="Rce16026ce3b3442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f090706caf04829" /><Relationship Type="http://schemas.openxmlformats.org/officeDocument/2006/relationships/notesSlide" Target="/ppt/notesSlides/notesSlide15.xml" Id="R60c7c773ac724ad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007926bf06a4249" /><Relationship Type="http://schemas.openxmlformats.org/officeDocument/2006/relationships/notesSlide" Target="/ppt/notesSlides/notesSlide16.xml" Id="Rea7de4b714de4b3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abe322b728b427f" /><Relationship Type="http://schemas.openxmlformats.org/officeDocument/2006/relationships/notesSlide" Target="/ppt/notesSlides/notesSlide17.xml" Id="R70ac1e80ac8345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8bc4425a1664a1a" /><Relationship Type="http://schemas.openxmlformats.org/officeDocument/2006/relationships/notesSlide" Target="/ppt/notesSlides/notesSlide18.xml" Id="Rfa860787506f4d9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a8f0f9f863d4f52" /><Relationship Type="http://schemas.openxmlformats.org/officeDocument/2006/relationships/notesSlide" Target="/ppt/notesSlides/notesSlide19.xml" Id="R7540b523dc4548b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029c2aa413d4695" /><Relationship Type="http://schemas.openxmlformats.org/officeDocument/2006/relationships/notesSlide" Target="/ppt/notesSlides/notesSlide20.xml" Id="R2f2c3fb0bb28489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7a674cccc78475d" /><Relationship Type="http://schemas.openxmlformats.org/officeDocument/2006/relationships/notesSlide" Target="/ppt/notesSlides/notesSlide21.xml" Id="R020d11526272479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c05b27fc25340ae" /><Relationship Type="http://schemas.openxmlformats.org/officeDocument/2006/relationships/notesSlide" Target="/ppt/notesSlides/notesSlide22.xml" Id="Rc9fea63d287c478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80c73def203417b" /><Relationship Type="http://schemas.openxmlformats.org/officeDocument/2006/relationships/notesSlide" Target="/ppt/notesSlides/notesSlide23.xml" Id="R3427cf26223846b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f8a76402d7543a9" /><Relationship Type="http://schemas.openxmlformats.org/officeDocument/2006/relationships/notesSlide" Target="/ppt/notesSlides/notesSlide24.xml" Id="R6443a588f0944da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a7223a743e849e6" /><Relationship Type="http://schemas.openxmlformats.org/officeDocument/2006/relationships/notesSlide" Target="/ppt/notesSlides/notesSlide25.xml" Id="Rcaf804ffdea8411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2ebe661b45c42d6" /><Relationship Type="http://schemas.openxmlformats.org/officeDocument/2006/relationships/notesSlide" Target="/ppt/notesSlides/notesSlide26.xml" Id="Rd9b07cab30514a2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7ac7a72d5d44ac5" /><Relationship Type="http://schemas.openxmlformats.org/officeDocument/2006/relationships/notesSlide" Target="/ppt/notesSlides/notesSlide27.xml" Id="Rc45913c2c80f476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bbd499fa1ff45cc" /><Relationship Type="http://schemas.openxmlformats.org/officeDocument/2006/relationships/notesSlide" Target="/ppt/notesSlides/notesSlide28.xml" Id="Rac0a0ddaef944c6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b7ca35878b943d4" /><Relationship Type="http://schemas.openxmlformats.org/officeDocument/2006/relationships/notesSlide" Target="/ppt/notesSlides/notesSlide29.xml" Id="Ra7fdf67e61f143a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1c559de9f384f3d" /><Relationship Type="http://schemas.openxmlformats.org/officeDocument/2006/relationships/notesSlide" Target="/ppt/notesSlides/notesSlide30.xml" Id="Ref089f7a1b0947b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bc778ef870f4e3a" /><Relationship Type="http://schemas.openxmlformats.org/officeDocument/2006/relationships/notesSlide" Target="/ppt/notesSlides/notesSlide31.xml" Id="R5f7fff47c433436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80c2ab3035c48d3" /><Relationship Type="http://schemas.openxmlformats.org/officeDocument/2006/relationships/notesSlide" Target="/ppt/notesSlides/notesSlide32.xml" Id="R2dd597ad917e412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b7b4f38c6974790" /><Relationship Type="http://schemas.openxmlformats.org/officeDocument/2006/relationships/notesSlide" Target="/ppt/notesSlides/notesSlide33.xml" Id="R8b83804a0bba4851" /></Relationships>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0E1D09-75AB-49F4-A903-8A4303842AC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4B91D26E-855B-48AE-BAA6-E15ECCA48815}"/>
              </a:ext>
            </a:extLst>
          </p:cNvPr>
          <p:cNvSpPr>
            <a:spLocks xmlns:a="http://schemas.openxmlformats.org/drawingml/2006/main" noGrp="1"/>
          </p:cNvSpPr>
          <p:nvPr/>
        </p:nvSpPr>
        <p:spPr>
          <a:xfrm xmlns:a="http://schemas.openxmlformats.org/drawingml/2006/main">
            <a:off x="685800" y="800100"/>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087A76"/>
                </a:solidFill>
              </a:defRPr>
            </a:pPr>
            <a:r>
              <a:rPr sz="975" b="1" i="0">
                <a:solidFill>
                  <a:srgbClr val="087A76"/>
                </a:solidFill>
              </a:rPr>
              <a:t>AI-IMPACT SCORING | MANAGEMENT DECISION</a:t>
            </a:r>
          </a:p>
        </p:txBody>
      </p:sp>
      <p:sp>
        <p:nvSpPr>
          <p:cNvPr id="3" name="">
            <a:extLst xmlns:a="http://schemas.openxmlformats.org/drawingml/2006/main">
              <a:ext uri="{FF2B5EF4-FFF2-40B4-BE49-F238E27FC236}">
                <a16:creationId xmlns:a16="http://schemas.microsoft.com/office/drawing/2014/main" id="{FB82F67C-B3E1-4884-899F-F9FD1580C610}"/>
              </a:ext>
            </a:extLst>
          </p:cNvPr>
          <p:cNvSpPr>
            <a:spLocks xmlns:a="http://schemas.openxmlformats.org/drawingml/2006/main" noGrp="1"/>
          </p:cNvSpPr>
          <p:nvPr/>
        </p:nvSpPr>
        <p:spPr>
          <a:xfrm xmlns:a="http://schemas.openxmlformats.org/drawingml/2006/main">
            <a:off x="685800" y="1400175"/>
            <a:ext cx="85725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132238"/>
                </a:solidFill>
              </a:defRPr>
            </a:pPr>
            <a:r>
              <a:rPr sz="3750" b="1" i="0">
                <a:solidFill>
                  <a:srgbClr val="132238"/>
                </a:solidFill>
              </a:rPr>
              <a:t>Choosing the scoring method behind the live AI-impact tool</a:t>
            </a:r>
          </a:p>
        </p:txBody>
      </p:sp>
      <p:sp>
        <p:nvSpPr>
          <p:cNvPr id="4" name="">
            <a:extLst xmlns:a="http://schemas.openxmlformats.org/drawingml/2006/main">
              <a:ext uri="{FF2B5EF4-FFF2-40B4-BE49-F238E27FC236}">
                <a16:creationId xmlns:a16="http://schemas.microsoft.com/office/drawing/2014/main" id="{456A386A-0652-4C95-A3D8-E35960F935CC}"/>
              </a:ext>
            </a:extLst>
          </p:cNvPr>
          <p:cNvSpPr>
            <a:spLocks xmlns:a="http://schemas.openxmlformats.org/drawingml/2006/main" noGrp="1"/>
          </p:cNvSpPr>
          <p:nvPr/>
        </p:nvSpPr>
        <p:spPr>
          <a:xfrm xmlns:a="http://schemas.openxmlformats.org/drawingml/2006/main">
            <a:off x="723900" y="2857500"/>
            <a:ext cx="857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i="0">
                <a:solidFill>
                  <a:srgbClr val="5F6E7B"/>
                </a:solidFill>
              </a:defRPr>
            </a:pPr>
            <a:r>
              <a:rPr sz="1725" b="0" i="0">
                <a:solidFill>
                  <a:srgbClr val="5F6E7B"/>
                </a:solidFill>
              </a:rPr>
              <a:t>What the historical dashboard measured, what changed in the live POC, and what the ML model should reproduce.</a:t>
            </a:r>
          </a:p>
        </p:txBody>
      </p:sp>
      <p:sp>
        <p:nvSpPr>
          <p:cNvPr id="5" name="">
            <a:extLst xmlns:a="http://schemas.openxmlformats.org/drawingml/2006/main">
              <a:ext uri="{FF2B5EF4-FFF2-40B4-BE49-F238E27FC236}">
                <a16:creationId xmlns:a16="http://schemas.microsoft.com/office/drawing/2014/main" id="{86163CAD-DF2B-4732-A4F7-72317AFA6215}"/>
              </a:ext>
            </a:extLst>
          </p:cNvPr>
          <p:cNvSpPr>
            <a:spLocks xmlns:a="http://schemas.openxmlformats.org/drawingml/2006/main" noGrp="1"/>
          </p:cNvSpPr>
          <p:nvPr/>
        </p:nvSpPr>
        <p:spPr>
          <a:xfrm xmlns:a="http://schemas.openxmlformats.org/drawingml/2006/main">
            <a:off x="704850" y="3905250"/>
            <a:ext cx="4343400" cy="0"/>
          </a:xfrm>
          <a:prstGeom xmlns:a="http://schemas.openxmlformats.org/drawingml/2006/main" prst="line">
            <a:avLst/>
          </a:prstGeom>
          <a:noFill xmlns:a="http://schemas.openxmlformats.org/drawingml/2006/main"/>
          <a:ln xmlns:a="http://schemas.openxmlformats.org/drawingml/2006/main" w="38100">
            <a:solidFill>
              <a:srgbClr val="087A76"/>
            </a:solidFill>
            <a:prstDash val="solid"/>
          </a:ln>
        </p:spPr>
      </p:sp>
      <p:sp>
        <p:nvSpPr>
          <p:cNvPr id="6" name="">
            <a:extLst xmlns:a="http://schemas.openxmlformats.org/drawingml/2006/main">
              <a:ext uri="{FF2B5EF4-FFF2-40B4-BE49-F238E27FC236}">
                <a16:creationId xmlns:a16="http://schemas.microsoft.com/office/drawing/2014/main" id="{A07CE36E-0658-4F11-9018-09181E534503}"/>
              </a:ext>
            </a:extLst>
          </p:cNvPr>
          <p:cNvSpPr>
            <a:spLocks xmlns:a="http://schemas.openxmlformats.org/drawingml/2006/main" noGrp="1"/>
          </p:cNvSpPr>
          <p:nvPr/>
        </p:nvSpPr>
        <p:spPr>
          <a:xfrm xmlns:a="http://schemas.openxmlformats.org/drawingml/2006/main">
            <a:off x="723900" y="4238625"/>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32238"/>
                </a:solidFill>
              </a:defRPr>
            </a:pPr>
            <a:r>
              <a:rPr sz="1350" b="1" i="0">
                <a:solidFill>
                  <a:srgbClr val="132238"/>
                </a:solidFill>
              </a:rPr>
              <a:t>Decision required</a:t>
            </a:r>
          </a:p>
        </p:txBody>
      </p:sp>
      <p:sp>
        <p:nvSpPr>
          <p:cNvPr id="7" name="">
            <a:extLst xmlns:a="http://schemas.openxmlformats.org/drawingml/2006/main">
              <a:ext uri="{FF2B5EF4-FFF2-40B4-BE49-F238E27FC236}">
                <a16:creationId xmlns:a16="http://schemas.microsoft.com/office/drawing/2014/main" id="{80F97589-E768-498A-964D-8CFB646F1EFA}"/>
              </a:ext>
            </a:extLst>
          </p:cNvPr>
          <p:cNvSpPr>
            <a:spLocks xmlns:a="http://schemas.openxmlformats.org/drawingml/2006/main" noGrp="1"/>
          </p:cNvSpPr>
          <p:nvPr/>
        </p:nvSpPr>
        <p:spPr>
          <a:xfrm xmlns:a="http://schemas.openxmlformats.org/drawingml/2006/main">
            <a:off x="723900" y="4600575"/>
            <a:ext cx="9525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24547A"/>
                </a:solidFill>
              </a:defRPr>
            </a:pPr>
            <a:r>
              <a:rPr sz="2025" b="1" i="0">
                <a:solidFill>
                  <a:srgbClr val="24547A"/>
                </a:solidFill>
              </a:rPr>
              <a:t>Approve one documented scoring method for the live tool and govern the historical dashboard as a separate, versioned measure.</a:t>
            </a:r>
          </a:p>
        </p:txBody>
      </p:sp>
      <p:sp>
        <p:nvSpPr>
          <p:cNvPr id="8" name="">
            <a:extLst xmlns:a="http://schemas.openxmlformats.org/drawingml/2006/main">
              <a:ext uri="{FF2B5EF4-FFF2-40B4-BE49-F238E27FC236}">
                <a16:creationId xmlns:a16="http://schemas.microsoft.com/office/drawing/2014/main" id="{441EF33B-43FE-4B5C-BFAC-DA1055EB9451}"/>
              </a:ext>
            </a:extLst>
          </p:cNvPr>
          <p:cNvSpPr>
            <a:spLocks xmlns:a="http://schemas.openxmlformats.org/drawingml/2006/main" noGrp="1"/>
          </p:cNvSpPr>
          <p:nvPr/>
        </p:nvSpPr>
        <p:spPr>
          <a:xfrm xmlns:a="http://schemas.openxmlformats.org/drawingml/2006/main">
            <a:off x="723900" y="6029325"/>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E7B"/>
                </a:solidFill>
              </a:defRPr>
            </a:pPr>
            <a:r>
              <a:rPr sz="975" b="0" i="0">
                <a:solidFill>
                  <a:srgbClr val="5F6E7B"/>
                </a:solidFill>
              </a:rPr>
              <a:t>978 matched original tasks | 1,696 linked normalized/decomposed tasks | 16,044 completed calls</a:t>
            </a:r>
          </a:p>
        </p:txBody>
      </p:sp>
    </p:spTree>
    <p:extLst>
      <p:ext uri="{BB962C8B-B14F-4D97-AF65-F5344CB8AC3E}">
        <p14:creationId xmlns:p14="http://schemas.microsoft.com/office/powerpoint/2010/main" val="206785044"/>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6B99DDA-7ED6-41FB-80D0-18740575CFA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0CCED9DE-ED92-4ADA-B505-8229407575FE}"/>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DECISION REQUIRED</a:t>
            </a:r>
          </a:p>
        </p:txBody>
      </p:sp>
      <p:sp>
        <p:nvSpPr>
          <p:cNvPr id="3" name="">
            <a:extLst xmlns:a="http://schemas.openxmlformats.org/drawingml/2006/main">
              <a:ext uri="{FF2B5EF4-FFF2-40B4-BE49-F238E27FC236}">
                <a16:creationId xmlns:a16="http://schemas.microsoft.com/office/drawing/2014/main" id="{F3BE1409-B5B3-438B-8140-D33737E29D8C}"/>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The scoring method must be approved before the ML model is trained</a:t>
            </a:r>
          </a:p>
        </p:txBody>
      </p:sp>
      <p:sp>
        <p:nvSpPr>
          <p:cNvPr id="4" name="">
            <a:extLst xmlns:a="http://schemas.openxmlformats.org/drawingml/2006/main">
              <a:ext uri="{FF2B5EF4-FFF2-40B4-BE49-F238E27FC236}">
                <a16:creationId xmlns:a16="http://schemas.microsoft.com/office/drawing/2014/main" id="{924BE0A1-CFE8-41D5-9C34-EEC825AB1E41}"/>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The ML model will reproduce whichever LLM method supplies its training labels.</a:t>
            </a:r>
          </a:p>
        </p:txBody>
      </p:sp>
      <p:sp>
        <p:nvSpPr>
          <p:cNvPr id="5" name="">
            <a:extLst xmlns:a="http://schemas.openxmlformats.org/drawingml/2006/main">
              <a:ext uri="{FF2B5EF4-FFF2-40B4-BE49-F238E27FC236}">
                <a16:creationId xmlns:a16="http://schemas.microsoft.com/office/drawing/2014/main" id="{5574ADAE-66B6-4313-95EE-32011874CFC0}"/>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B4041A42-AD93-469F-893B-0D68DD0CBA65}"/>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C4E8CC82-5A43-4636-81B1-D934F4A5F72D}"/>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02</a:t>
            </a:r>
          </a:p>
        </p:txBody>
      </p:sp>
      <p:sp>
        <p:nvSpPr>
          <p:cNvPr id="8" name="">
            <a:extLst xmlns:a="http://schemas.openxmlformats.org/drawingml/2006/main">
              <a:ext uri="{FF2B5EF4-FFF2-40B4-BE49-F238E27FC236}">
                <a16:creationId xmlns:a16="http://schemas.microsoft.com/office/drawing/2014/main" id="{5310908F-A6C6-41F5-AD8A-74FD31A07CFD}"/>
              </a:ext>
            </a:extLst>
          </p:cNvPr>
          <p:cNvSpPr>
            <a:spLocks xmlns:a="http://schemas.openxmlformats.org/drawingml/2006/main" noGrp="1"/>
          </p:cNvSpPr>
          <p:nvPr/>
        </p:nvSpPr>
        <p:spPr>
          <a:xfrm xmlns:a="http://schemas.openxmlformats.org/drawingml/2006/main">
            <a:off x="685800" y="20574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THE DECISION</a:t>
            </a:r>
          </a:p>
        </p:txBody>
      </p:sp>
      <p:sp>
        <p:nvSpPr>
          <p:cNvPr id="9" name="">
            <a:extLst xmlns:a="http://schemas.openxmlformats.org/drawingml/2006/main">
              <a:ext uri="{FF2B5EF4-FFF2-40B4-BE49-F238E27FC236}">
                <a16:creationId xmlns:a16="http://schemas.microsoft.com/office/drawing/2014/main" id="{4D8F9776-D494-46B5-BFA8-887D1C32DCBE}"/>
              </a:ext>
            </a:extLst>
          </p:cNvPr>
          <p:cNvSpPr>
            <a:spLocks xmlns:a="http://schemas.openxmlformats.org/drawingml/2006/main" noGrp="1"/>
          </p:cNvSpPr>
          <p:nvPr/>
        </p:nvSpPr>
        <p:spPr>
          <a:xfrm xmlns:a="http://schemas.openxmlformats.org/drawingml/2006/main">
            <a:off x="685800" y="2400300"/>
            <a:ext cx="4095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132238"/>
                </a:solidFill>
              </a:defRPr>
            </a:pPr>
            <a:r>
              <a:rPr sz="2250" b="1" i="0">
                <a:solidFill>
                  <a:srgbClr val="132238"/>
                </a:solidFill>
              </a:rPr>
              <a:t>Approve the method that creates the labels used by the live tool.</a:t>
            </a:r>
          </a:p>
        </p:txBody>
      </p:sp>
      <p:sp>
        <p:nvSpPr>
          <p:cNvPr id="10" name="">
            <a:extLst xmlns:a="http://schemas.openxmlformats.org/drawingml/2006/main">
              <a:ext uri="{FF2B5EF4-FFF2-40B4-BE49-F238E27FC236}">
                <a16:creationId xmlns:a16="http://schemas.microsoft.com/office/drawing/2014/main" id="{F91D0CF5-58AE-473F-8D24-A53A694625C2}"/>
              </a:ext>
            </a:extLst>
          </p:cNvPr>
          <p:cNvSpPr>
            <a:spLocks xmlns:a="http://schemas.openxmlformats.org/drawingml/2006/main" noGrp="1"/>
          </p:cNvSpPr>
          <p:nvPr/>
        </p:nvSpPr>
        <p:spPr>
          <a:xfrm xmlns:a="http://schemas.openxmlformats.org/drawingml/2006/main">
            <a:off x="5334000" y="2495550"/>
            <a:ext cx="5334000" cy="0"/>
          </a:xfrm>
          <a:prstGeom xmlns:a="http://schemas.openxmlformats.org/drawingml/2006/main" prst="line">
            <a:avLst/>
          </a:prstGeom>
          <a:noFill xmlns:a="http://schemas.openxmlformats.org/drawingml/2006/main"/>
          <a:ln xmlns:a="http://schemas.openxmlformats.org/drawingml/2006/main" w="19050">
            <a:solidFill>
              <a:srgbClr val="D5DCDD"/>
            </a:solidFill>
            <a:prstDash val="solid"/>
          </a:ln>
        </p:spPr>
      </p:sp>
      <p:sp>
        <p:nvSpPr>
          <p:cNvPr id="11" name="">
            <a:extLst xmlns:a="http://schemas.openxmlformats.org/drawingml/2006/main">
              <a:ext uri="{FF2B5EF4-FFF2-40B4-BE49-F238E27FC236}">
                <a16:creationId xmlns:a16="http://schemas.microsoft.com/office/drawing/2014/main" id="{7715BB22-ACC9-4F3C-951A-504F96BFB3A6}"/>
              </a:ext>
            </a:extLst>
          </p:cNvPr>
          <p:cNvSpPr>
            <a:spLocks xmlns:a="http://schemas.openxmlformats.org/drawingml/2006/main" noGrp="1"/>
          </p:cNvSpPr>
          <p:nvPr/>
        </p:nvSpPr>
        <p:spPr>
          <a:xfrm xmlns:a="http://schemas.openxmlformats.org/drawingml/2006/main">
            <a:off x="5619750" y="23812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SCORING GUIDANCE</a:t>
            </a:r>
          </a:p>
        </p:txBody>
      </p:sp>
      <p:sp>
        <p:nvSpPr>
          <p:cNvPr id="12" name="">
            <a:extLst xmlns:a="http://schemas.openxmlformats.org/drawingml/2006/main">
              <a:ext uri="{FF2B5EF4-FFF2-40B4-BE49-F238E27FC236}">
                <a16:creationId xmlns:a16="http://schemas.microsoft.com/office/drawing/2014/main" id="{BB6B74AF-8398-4E13-AE9D-5269040EDA0D}"/>
              </a:ext>
            </a:extLst>
          </p:cNvPr>
          <p:cNvSpPr>
            <a:spLocks xmlns:a="http://schemas.openxmlformats.org/drawingml/2006/main" noGrp="1"/>
          </p:cNvSpPr>
          <p:nvPr/>
        </p:nvSpPr>
        <p:spPr>
          <a:xfrm xmlns:a="http://schemas.openxmlformats.org/drawingml/2006/main">
            <a:off x="7905750" y="23622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32238"/>
                </a:solidFill>
              </a:defRPr>
            </a:pPr>
            <a:r>
              <a:rPr sz="1200" b="0" i="0">
                <a:solidFill>
                  <a:srgbClr val="132238"/>
                </a:solidFill>
              </a:rPr>
              <a:t>Rubric, instructions and examples</a:t>
            </a:r>
          </a:p>
        </p:txBody>
      </p:sp>
      <p:sp>
        <p:nvSpPr>
          <p:cNvPr id="13" name="">
            <a:extLst xmlns:a="http://schemas.openxmlformats.org/drawingml/2006/main">
              <a:ext uri="{FF2B5EF4-FFF2-40B4-BE49-F238E27FC236}">
                <a16:creationId xmlns:a16="http://schemas.microsoft.com/office/drawing/2014/main" id="{146B766E-111A-42BE-BA0C-4EB5ACA852B6}"/>
              </a:ext>
            </a:extLst>
          </p:cNvPr>
          <p:cNvSpPr>
            <a:spLocks xmlns:a="http://schemas.openxmlformats.org/drawingml/2006/main" noGrp="1"/>
          </p:cNvSpPr>
          <p:nvPr/>
        </p:nvSpPr>
        <p:spPr>
          <a:xfrm xmlns:a="http://schemas.openxmlformats.org/drawingml/2006/main">
            <a:off x="5619750" y="2781300"/>
            <a:ext cx="523875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4" name="">
            <a:extLst xmlns:a="http://schemas.openxmlformats.org/drawingml/2006/main">
              <a:ext uri="{FF2B5EF4-FFF2-40B4-BE49-F238E27FC236}">
                <a16:creationId xmlns:a16="http://schemas.microsoft.com/office/drawing/2014/main" id="{24AF7DA4-8A6F-4B18-BB50-A193C26C6882}"/>
              </a:ext>
            </a:extLst>
          </p:cNvPr>
          <p:cNvSpPr>
            <a:spLocks xmlns:a="http://schemas.openxmlformats.org/drawingml/2006/main" noGrp="1"/>
          </p:cNvSpPr>
          <p:nvPr/>
        </p:nvSpPr>
        <p:spPr>
          <a:xfrm xmlns:a="http://schemas.openxmlformats.org/drawingml/2006/main">
            <a:off x="5619750" y="30289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D9771F"/>
                </a:solidFill>
              </a:defRPr>
            </a:pPr>
            <a:r>
              <a:rPr sz="900" b="1" i="0">
                <a:solidFill>
                  <a:srgbClr val="D9771F"/>
                </a:solidFill>
              </a:rPr>
              <a:t>LLM VERSION</a:t>
            </a:r>
          </a:p>
        </p:txBody>
      </p:sp>
      <p:sp>
        <p:nvSpPr>
          <p:cNvPr id="15" name="">
            <a:extLst xmlns:a="http://schemas.openxmlformats.org/drawingml/2006/main">
              <a:ext uri="{FF2B5EF4-FFF2-40B4-BE49-F238E27FC236}">
                <a16:creationId xmlns:a16="http://schemas.microsoft.com/office/drawing/2014/main" id="{A3B65D69-FCDD-4F62-9293-505FCE08BFAC}"/>
              </a:ext>
            </a:extLst>
          </p:cNvPr>
          <p:cNvSpPr>
            <a:spLocks xmlns:a="http://schemas.openxmlformats.org/drawingml/2006/main" noGrp="1"/>
          </p:cNvSpPr>
          <p:nvPr/>
        </p:nvSpPr>
        <p:spPr>
          <a:xfrm xmlns:a="http://schemas.openxmlformats.org/drawingml/2006/main">
            <a:off x="7905750" y="30099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32238"/>
                </a:solidFill>
              </a:defRPr>
            </a:pPr>
            <a:r>
              <a:rPr sz="1200" b="0" i="0">
                <a:solidFill>
                  <a:srgbClr val="132238"/>
                </a:solidFill>
              </a:rPr>
              <a:t>GPT-4o or GPT-5.2</a:t>
            </a:r>
          </a:p>
        </p:txBody>
      </p:sp>
      <p:sp>
        <p:nvSpPr>
          <p:cNvPr id="16" name="">
            <a:extLst xmlns:a="http://schemas.openxmlformats.org/drawingml/2006/main">
              <a:ext uri="{FF2B5EF4-FFF2-40B4-BE49-F238E27FC236}">
                <a16:creationId xmlns:a16="http://schemas.microsoft.com/office/drawing/2014/main" id="{698C7635-D337-4DA7-82E4-3B5BF851697B}"/>
              </a:ext>
            </a:extLst>
          </p:cNvPr>
          <p:cNvSpPr>
            <a:spLocks xmlns:a="http://schemas.openxmlformats.org/drawingml/2006/main" noGrp="1"/>
          </p:cNvSpPr>
          <p:nvPr/>
        </p:nvSpPr>
        <p:spPr>
          <a:xfrm xmlns:a="http://schemas.openxmlformats.org/drawingml/2006/main">
            <a:off x="5619750" y="3429000"/>
            <a:ext cx="523875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7" name="">
            <a:extLst xmlns:a="http://schemas.openxmlformats.org/drawingml/2006/main">
              <a:ext uri="{FF2B5EF4-FFF2-40B4-BE49-F238E27FC236}">
                <a16:creationId xmlns:a16="http://schemas.microsoft.com/office/drawing/2014/main" id="{54618D7A-9130-43EA-9A7E-3E3DE577A046}"/>
              </a:ext>
            </a:extLst>
          </p:cNvPr>
          <p:cNvSpPr>
            <a:spLocks xmlns:a="http://schemas.openxmlformats.org/drawingml/2006/main" noGrp="1"/>
          </p:cNvSpPr>
          <p:nvPr/>
        </p:nvSpPr>
        <p:spPr>
          <a:xfrm xmlns:a="http://schemas.openxmlformats.org/drawingml/2006/main">
            <a:off x="5619750" y="36766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24547A"/>
                </a:solidFill>
              </a:defRPr>
            </a:pPr>
            <a:r>
              <a:rPr sz="900" b="1" i="0">
                <a:solidFill>
                  <a:srgbClr val="24547A"/>
                </a:solidFill>
              </a:rPr>
              <a:t>TASK FORMAT</a:t>
            </a:r>
          </a:p>
        </p:txBody>
      </p:sp>
      <p:sp>
        <p:nvSpPr>
          <p:cNvPr id="18" name="">
            <a:extLst xmlns:a="http://schemas.openxmlformats.org/drawingml/2006/main">
              <a:ext uri="{FF2B5EF4-FFF2-40B4-BE49-F238E27FC236}">
                <a16:creationId xmlns:a16="http://schemas.microsoft.com/office/drawing/2014/main" id="{0E5F4E7E-3CED-442E-9D1A-FCCA9CFD9936}"/>
              </a:ext>
            </a:extLst>
          </p:cNvPr>
          <p:cNvSpPr>
            <a:spLocks xmlns:a="http://schemas.openxmlformats.org/drawingml/2006/main" noGrp="1"/>
          </p:cNvSpPr>
          <p:nvPr/>
        </p:nvSpPr>
        <p:spPr>
          <a:xfrm xmlns:a="http://schemas.openxmlformats.org/drawingml/2006/main">
            <a:off x="7905750" y="36576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32238"/>
                </a:solidFill>
              </a:defRPr>
            </a:pPr>
            <a:r>
              <a:rPr sz="1200" b="0" i="0">
                <a:solidFill>
                  <a:srgbClr val="132238"/>
                </a:solidFill>
              </a:rPr>
              <a:t>Original wording or normalized/decomposed task</a:t>
            </a:r>
          </a:p>
        </p:txBody>
      </p:sp>
      <p:sp>
        <p:nvSpPr>
          <p:cNvPr id="19" name="">
            <a:extLst xmlns:a="http://schemas.openxmlformats.org/drawingml/2006/main">
              <a:ext uri="{FF2B5EF4-FFF2-40B4-BE49-F238E27FC236}">
                <a16:creationId xmlns:a16="http://schemas.microsoft.com/office/drawing/2014/main" id="{73CE6234-75C4-4477-BC43-95AA569CBE41}"/>
              </a:ext>
            </a:extLst>
          </p:cNvPr>
          <p:cNvSpPr>
            <a:spLocks xmlns:a="http://schemas.openxmlformats.org/drawingml/2006/main" noGrp="1"/>
          </p:cNvSpPr>
          <p:nvPr/>
        </p:nvSpPr>
        <p:spPr>
          <a:xfrm xmlns:a="http://schemas.openxmlformats.org/drawingml/2006/main">
            <a:off x="5619750" y="4076700"/>
            <a:ext cx="523875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20" name="">
            <a:extLst xmlns:a="http://schemas.openxmlformats.org/drawingml/2006/main">
              <a:ext uri="{FF2B5EF4-FFF2-40B4-BE49-F238E27FC236}">
                <a16:creationId xmlns:a16="http://schemas.microsoft.com/office/drawing/2014/main" id="{FA1B7C79-5CF8-4D2F-9E9A-7B1A883C1840}"/>
              </a:ext>
            </a:extLst>
          </p:cNvPr>
          <p:cNvSpPr>
            <a:spLocks xmlns:a="http://schemas.openxmlformats.org/drawingml/2006/main" noGrp="1"/>
          </p:cNvSpPr>
          <p:nvPr/>
        </p:nvSpPr>
        <p:spPr>
          <a:xfrm xmlns:a="http://schemas.openxmlformats.org/drawingml/2006/main">
            <a:off x="5619750" y="4324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C75850"/>
                </a:solidFill>
              </a:defRPr>
            </a:pPr>
            <a:r>
              <a:rPr sz="900" b="1" i="0">
                <a:solidFill>
                  <a:srgbClr val="C75850"/>
                </a:solidFill>
              </a:rPr>
              <a:t>TARGET</a:t>
            </a:r>
          </a:p>
        </p:txBody>
      </p:sp>
      <p:sp>
        <p:nvSpPr>
          <p:cNvPr id="21" name="">
            <a:extLst xmlns:a="http://schemas.openxmlformats.org/drawingml/2006/main">
              <a:ext uri="{FF2B5EF4-FFF2-40B4-BE49-F238E27FC236}">
                <a16:creationId xmlns:a16="http://schemas.microsoft.com/office/drawing/2014/main" id="{F448699D-2D86-41D0-A4B4-0EDF0A884971}"/>
              </a:ext>
            </a:extLst>
          </p:cNvPr>
          <p:cNvSpPr>
            <a:spLocks xmlns:a="http://schemas.openxmlformats.org/drawingml/2006/main" noGrp="1"/>
          </p:cNvSpPr>
          <p:nvPr/>
        </p:nvSpPr>
        <p:spPr>
          <a:xfrm xmlns:a="http://schemas.openxmlformats.org/drawingml/2006/main">
            <a:off x="7905750" y="43053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32238"/>
                </a:solidFill>
              </a:defRPr>
            </a:pPr>
            <a:r>
              <a:rPr sz="1200" b="0" i="0">
                <a:solidFill>
                  <a:srgbClr val="132238"/>
                </a:solidFill>
              </a:rPr>
              <a:t>E0, E1 and merged E23</a:t>
            </a:r>
          </a:p>
        </p:txBody>
      </p:sp>
      <p:sp>
        <p:nvSpPr>
          <p:cNvPr id="22" name="">
            <a:extLst xmlns:a="http://schemas.openxmlformats.org/drawingml/2006/main">
              <a:ext uri="{FF2B5EF4-FFF2-40B4-BE49-F238E27FC236}">
                <a16:creationId xmlns:a16="http://schemas.microsoft.com/office/drawing/2014/main" id="{DBE4F144-00DC-4C1B-B108-A32A59C21295}"/>
              </a:ext>
            </a:extLst>
          </p:cNvPr>
          <p:cNvSpPr>
            <a:spLocks xmlns:a="http://schemas.openxmlformats.org/drawingml/2006/main" noGrp="1"/>
          </p:cNvSpPr>
          <p:nvPr/>
        </p:nvSpPr>
        <p:spPr>
          <a:xfrm xmlns:a="http://schemas.openxmlformats.org/drawingml/2006/main">
            <a:off x="685800" y="4857750"/>
            <a:ext cx="10172700" cy="876300"/>
          </a:xfrm>
          <a:prstGeom xmlns:a="http://schemas.openxmlformats.org/drawingml/2006/main" prst="rect">
            <a:avLst/>
          </a:prstGeom>
          <a:solidFill xmlns:a="http://schemas.openxmlformats.org/drawingml/2006/main">
            <a:srgbClr val="F8EBDD"/>
          </a:solidFill>
          <a:ln xmlns:a="http://schemas.openxmlformats.org/drawingml/2006/main" w="5715">
            <a:solidFill>
              <a:srgbClr val="F8EBDD"/>
            </a:solidFill>
            <a:prstDash val="solid"/>
          </a:ln>
        </p:spPr>
      </p:sp>
      <p:sp>
        <p:nvSpPr>
          <p:cNvPr id="23" name="">
            <a:extLst xmlns:a="http://schemas.openxmlformats.org/drawingml/2006/main">
              <a:ext uri="{FF2B5EF4-FFF2-40B4-BE49-F238E27FC236}">
                <a16:creationId xmlns:a16="http://schemas.microsoft.com/office/drawing/2014/main" id="{F5EB0864-2160-4DEA-9A61-53EE8427BCA1}"/>
              </a:ext>
            </a:extLst>
          </p:cNvPr>
          <p:cNvSpPr>
            <a:spLocks xmlns:a="http://schemas.openxmlformats.org/drawingml/2006/main" noGrp="1"/>
          </p:cNvSpPr>
          <p:nvPr/>
        </p:nvSpPr>
        <p:spPr>
          <a:xfrm xmlns:a="http://schemas.openxmlformats.org/drawingml/2006/main">
            <a:off x="685800" y="4857750"/>
            <a:ext cx="76200" cy="8763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24" name="">
            <a:extLst xmlns:a="http://schemas.openxmlformats.org/drawingml/2006/main">
              <a:ext uri="{FF2B5EF4-FFF2-40B4-BE49-F238E27FC236}">
                <a16:creationId xmlns:a16="http://schemas.microsoft.com/office/drawing/2014/main" id="{7C9E81AB-916D-4825-8EAF-5772AD77B389}"/>
              </a:ext>
            </a:extLst>
          </p:cNvPr>
          <p:cNvSpPr>
            <a:spLocks xmlns:a="http://schemas.openxmlformats.org/drawingml/2006/main" noGrp="1"/>
          </p:cNvSpPr>
          <p:nvPr/>
        </p:nvSpPr>
        <p:spPr>
          <a:xfrm xmlns:a="http://schemas.openxmlformats.org/drawingml/2006/main">
            <a:off x="952500" y="5019675"/>
            <a:ext cx="9696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D9771F"/>
                </a:solidFill>
              </a:defRPr>
            </a:pPr>
            <a:r>
              <a:rPr sz="825" b="1" i="0">
                <a:solidFill>
                  <a:srgbClr val="D9771F"/>
                </a:solidFill>
              </a:rPr>
              <a:t>PRELIMINARY RECOMMENDATION</a:t>
            </a:r>
          </a:p>
        </p:txBody>
      </p:sp>
      <p:sp>
        <p:nvSpPr>
          <p:cNvPr id="25" name="">
            <a:extLst xmlns:a="http://schemas.openxmlformats.org/drawingml/2006/main">
              <a:ext uri="{FF2B5EF4-FFF2-40B4-BE49-F238E27FC236}">
                <a16:creationId xmlns:a16="http://schemas.microsoft.com/office/drawing/2014/main" id="{1512DB9E-5755-4039-83BF-5FA78DBEE412}"/>
              </a:ext>
            </a:extLst>
          </p:cNvPr>
          <p:cNvSpPr>
            <a:spLocks xmlns:a="http://schemas.openxmlformats.org/drawingml/2006/main" noGrp="1"/>
          </p:cNvSpPr>
          <p:nvPr/>
        </p:nvSpPr>
        <p:spPr>
          <a:xfrm xmlns:a="http://schemas.openxmlformats.org/drawingml/2006/main">
            <a:off x="952500" y="5286375"/>
            <a:ext cx="9696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32238"/>
                </a:solidFill>
              </a:defRPr>
            </a:pPr>
            <a:r>
              <a:rPr sz="1350" b="1" i="0">
                <a:solidFill>
                  <a:srgbClr val="132238"/>
                </a:solidFill>
              </a:rPr>
              <a:t>For a guarded pilot: current POC guidance + GPT-5.2 + normalized/decomposed tasks. Preserve the dashboard result separately.</a:t>
            </a:r>
          </a:p>
        </p:txBody>
      </p:sp>
    </p:spTree>
    <p:extLst>
      <p:ext uri="{BB962C8B-B14F-4D97-AF65-F5344CB8AC3E}">
        <p14:creationId xmlns:p14="http://schemas.microsoft.com/office/powerpoint/2010/main" val="723496639"/>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B020F5B-EE95-4C11-B46D-1A8923E3FE8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64BDD36D-32CE-4FE0-9392-8A85FE0B3031}"/>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WHY THIS REVIEW IS NEEDED</a:t>
            </a:r>
          </a:p>
        </p:txBody>
      </p:sp>
      <p:sp>
        <p:nvSpPr>
          <p:cNvPr id="3" name="">
            <a:extLst xmlns:a="http://schemas.openxmlformats.org/drawingml/2006/main">
              <a:ext uri="{FF2B5EF4-FFF2-40B4-BE49-F238E27FC236}">
                <a16:creationId xmlns:a16="http://schemas.microsoft.com/office/drawing/2014/main" id="{6F23411E-4D00-4E7A-8DDF-0EB6BFF07AF0}"/>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The dashboard and live POC were built for different purposes</a:t>
            </a:r>
          </a:p>
        </p:txBody>
      </p:sp>
      <p:sp>
        <p:nvSpPr>
          <p:cNvPr id="4" name="">
            <a:extLst xmlns:a="http://schemas.openxmlformats.org/drawingml/2006/main">
              <a:ext uri="{FF2B5EF4-FFF2-40B4-BE49-F238E27FC236}">
                <a16:creationId xmlns:a16="http://schemas.microsoft.com/office/drawing/2014/main" id="{7BF308DB-2DC8-4006-9D94-C68D02DEF26B}"/>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The production ML model requires those differences to become an explicit governance choice.</a:t>
            </a:r>
          </a:p>
        </p:txBody>
      </p:sp>
      <p:sp>
        <p:nvSpPr>
          <p:cNvPr id="5" name="">
            <a:extLst xmlns:a="http://schemas.openxmlformats.org/drawingml/2006/main">
              <a:ext uri="{FF2B5EF4-FFF2-40B4-BE49-F238E27FC236}">
                <a16:creationId xmlns:a16="http://schemas.microsoft.com/office/drawing/2014/main" id="{41952424-5878-4DBC-BFDD-65CA46285966}"/>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97B8F8D4-30C4-4033-A440-CBC1B489FBE2}"/>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FBA6BBA0-3E9C-4740-8A95-6A60E4B06CBF}"/>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03</a:t>
            </a:r>
          </a:p>
        </p:txBody>
      </p:sp>
      <p:sp>
        <p:nvSpPr>
          <p:cNvPr id="8" name="">
            <a:extLst xmlns:a="http://schemas.openxmlformats.org/drawingml/2006/main">
              <a:ext uri="{FF2B5EF4-FFF2-40B4-BE49-F238E27FC236}">
                <a16:creationId xmlns:a16="http://schemas.microsoft.com/office/drawing/2014/main" id="{24B43A58-2D74-48A8-9569-60C84F484C0B}"/>
              </a:ext>
            </a:extLst>
          </p:cNvPr>
          <p:cNvSpPr>
            <a:spLocks xmlns:a="http://schemas.openxmlformats.org/drawingml/2006/main" noGrp="1"/>
          </p:cNvSpPr>
          <p:nvPr/>
        </p:nvSpPr>
        <p:spPr>
          <a:xfrm xmlns:a="http://schemas.openxmlformats.org/drawingml/2006/main">
            <a:off x="685800" y="2209800"/>
            <a:ext cx="2857500" cy="278130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9" name="">
            <a:extLst xmlns:a="http://schemas.openxmlformats.org/drawingml/2006/main">
              <a:ext uri="{FF2B5EF4-FFF2-40B4-BE49-F238E27FC236}">
                <a16:creationId xmlns:a16="http://schemas.microsoft.com/office/drawing/2014/main" id="{CAD9755C-AA2C-4BBF-BF52-8A6DA35ADD50}"/>
              </a:ext>
            </a:extLst>
          </p:cNvPr>
          <p:cNvSpPr>
            <a:spLocks xmlns:a="http://schemas.openxmlformats.org/drawingml/2006/main" noGrp="1"/>
          </p:cNvSpPr>
          <p:nvPr/>
        </p:nvSpPr>
        <p:spPr>
          <a:xfrm xmlns:a="http://schemas.openxmlformats.org/drawingml/2006/main">
            <a:off x="914400" y="24384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087A76"/>
                </a:solidFill>
              </a:defRPr>
            </a:pPr>
            <a:r>
              <a:rPr sz="1125" b="1" i="0">
                <a:solidFill>
                  <a:srgbClr val="087A76"/>
                </a:solidFill>
              </a:rPr>
              <a:t>01</a:t>
            </a:r>
          </a:p>
        </p:txBody>
      </p:sp>
      <p:sp>
        <p:nvSpPr>
          <p:cNvPr id="10" name="">
            <a:extLst xmlns:a="http://schemas.openxmlformats.org/drawingml/2006/main">
              <a:ext uri="{FF2B5EF4-FFF2-40B4-BE49-F238E27FC236}">
                <a16:creationId xmlns:a16="http://schemas.microsoft.com/office/drawing/2014/main" id="{4F339F7E-63CB-49F8-9AE4-F22EF0059CD4}"/>
              </a:ext>
            </a:extLst>
          </p:cNvPr>
          <p:cNvSpPr>
            <a:spLocks xmlns:a="http://schemas.openxmlformats.org/drawingml/2006/main" noGrp="1"/>
          </p:cNvSpPr>
          <p:nvPr/>
        </p:nvSpPr>
        <p:spPr>
          <a:xfrm xmlns:a="http://schemas.openxmlformats.org/drawingml/2006/main">
            <a:off x="914400" y="27813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132238"/>
                </a:solidFill>
              </a:defRPr>
            </a:pPr>
            <a:r>
              <a:rPr sz="1875" b="1" i="0">
                <a:solidFill>
                  <a:srgbClr val="132238"/>
                </a:solidFill>
              </a:rPr>
              <a:t>Historical dashboard</a:t>
            </a:r>
          </a:p>
        </p:txBody>
      </p:sp>
      <p:sp>
        <p:nvSpPr>
          <p:cNvPr id="11" name="">
            <a:extLst xmlns:a="http://schemas.openxmlformats.org/drawingml/2006/main">
              <a:ext uri="{FF2B5EF4-FFF2-40B4-BE49-F238E27FC236}">
                <a16:creationId xmlns:a16="http://schemas.microsoft.com/office/drawing/2014/main" id="{C36F169B-724B-4E92-BC97-FDBC5F32E73A}"/>
              </a:ext>
            </a:extLst>
          </p:cNvPr>
          <p:cNvSpPr>
            <a:spLocks xmlns:a="http://schemas.openxmlformats.org/drawingml/2006/main" noGrp="1"/>
          </p:cNvSpPr>
          <p:nvPr/>
        </p:nvSpPr>
        <p:spPr>
          <a:xfrm xmlns:a="http://schemas.openxmlformats.org/drawingml/2006/main">
            <a:off x="914400" y="34099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5F6E7B"/>
                </a:solidFill>
              </a:defRPr>
            </a:pPr>
            <a:r>
              <a:rPr sz="1050" b="1" i="0">
                <a:solidFill>
                  <a:srgbClr val="5F6E7B"/>
                </a:solidFill>
              </a:rPr>
              <a:t>Published national statistic</a:t>
            </a:r>
          </a:p>
        </p:txBody>
      </p:sp>
      <p:sp>
        <p:nvSpPr>
          <p:cNvPr id="12" name="">
            <a:extLst xmlns:a="http://schemas.openxmlformats.org/drawingml/2006/main">
              <a:ext uri="{FF2B5EF4-FFF2-40B4-BE49-F238E27FC236}">
                <a16:creationId xmlns:a16="http://schemas.microsoft.com/office/drawing/2014/main" id="{F2A5BA5E-DA6D-4776-A24F-E680E2EEE0BF}"/>
              </a:ext>
            </a:extLst>
          </p:cNvPr>
          <p:cNvSpPr>
            <a:spLocks xmlns:a="http://schemas.openxmlformats.org/drawingml/2006/main" noGrp="1"/>
          </p:cNvSpPr>
          <p:nvPr/>
        </p:nvSpPr>
        <p:spPr>
          <a:xfrm xmlns:a="http://schemas.openxmlformats.org/drawingml/2006/main">
            <a:off x="914400" y="3876675"/>
            <a:ext cx="2381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32238"/>
                </a:solidFill>
              </a:defRPr>
            </a:pPr>
            <a:r>
              <a:rPr sz="1200" b="0" i="0">
                <a:solidFill>
                  <a:srgbClr val="132238"/>
                </a:solidFill>
              </a:rPr>
              <a:t>Historical dashboard guidance</a:t>
            </a:r>
          </a:p>
          <a:p xmlns:a="http://schemas.openxmlformats.org/drawingml/2006/main">
            <a:pPr algn="l">
              <a:defRPr sz="1200" b="0" i="0">
                <a:solidFill>
                  <a:srgbClr val="132238"/>
                </a:solidFill>
              </a:defRPr>
            </a:pPr>
            <a:r>
              <a:rPr sz="1200" b="0" i="0">
                <a:solidFill>
                  <a:srgbClr val="132238"/>
                </a:solidFill>
              </a:rPr>
              <a:t>GPT-4o</a:t>
            </a:r>
          </a:p>
          <a:p xmlns:a="http://schemas.openxmlformats.org/drawingml/2006/main">
            <a:pPr algn="l">
              <a:defRPr sz="1200" b="0" i="0">
                <a:solidFill>
                  <a:srgbClr val="132238"/>
                </a:solidFill>
              </a:defRPr>
            </a:pPr>
            <a:r>
              <a:rPr sz="1200" b="0" i="0">
                <a:solidFill>
                  <a:srgbClr val="132238"/>
                </a:solidFill>
              </a:rPr>
              <a:t>Original task wording</a:t>
            </a:r>
          </a:p>
          <a:p xmlns:a="http://schemas.openxmlformats.org/drawingml/2006/main">
            <a:pPr algn="l">
              <a:defRPr sz="1200" b="0" i="0">
                <a:solidFill>
                  <a:srgbClr val="132238"/>
                </a:solidFill>
              </a:defRPr>
            </a:pPr>
            <a:r>
              <a:rPr sz="1200" b="0" i="0">
                <a:solidFill>
                  <a:srgbClr val="132238"/>
                </a:solidFill>
              </a:rPr>
              <a:t>23.6% reported as impacted</a:t>
            </a:r>
          </a:p>
        </p:txBody>
      </p:sp>
      <p:sp>
        <p:nvSpPr>
          <p:cNvPr id="13" name="">
            <a:extLst xmlns:a="http://schemas.openxmlformats.org/drawingml/2006/main">
              <a:ext uri="{FF2B5EF4-FFF2-40B4-BE49-F238E27FC236}">
                <a16:creationId xmlns:a16="http://schemas.microsoft.com/office/drawing/2014/main" id="{096743A9-A52A-45CC-BAAF-A14682FD15F2}"/>
              </a:ext>
            </a:extLst>
          </p:cNvPr>
          <p:cNvSpPr>
            <a:spLocks xmlns:a="http://schemas.openxmlformats.org/drawingml/2006/main" noGrp="1"/>
          </p:cNvSpPr>
          <p:nvPr/>
        </p:nvSpPr>
        <p:spPr>
          <a:xfrm xmlns:a="http://schemas.openxmlformats.org/drawingml/2006/main">
            <a:off x="4267200" y="2209800"/>
            <a:ext cx="2857500" cy="278130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14" name="">
            <a:extLst xmlns:a="http://schemas.openxmlformats.org/drawingml/2006/main">
              <a:ext uri="{FF2B5EF4-FFF2-40B4-BE49-F238E27FC236}">
                <a16:creationId xmlns:a16="http://schemas.microsoft.com/office/drawing/2014/main" id="{796D243F-481A-4382-AC87-793818042101}"/>
              </a:ext>
            </a:extLst>
          </p:cNvPr>
          <p:cNvSpPr>
            <a:spLocks xmlns:a="http://schemas.openxmlformats.org/drawingml/2006/main" noGrp="1"/>
          </p:cNvSpPr>
          <p:nvPr/>
        </p:nvSpPr>
        <p:spPr>
          <a:xfrm xmlns:a="http://schemas.openxmlformats.org/drawingml/2006/main">
            <a:off x="4495800" y="24384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D9771F"/>
                </a:solidFill>
              </a:defRPr>
            </a:pPr>
            <a:r>
              <a:rPr sz="1125" b="1" i="0">
                <a:solidFill>
                  <a:srgbClr val="D9771F"/>
                </a:solidFill>
              </a:rPr>
              <a:t>02</a:t>
            </a:r>
          </a:p>
        </p:txBody>
      </p:sp>
      <p:sp>
        <p:nvSpPr>
          <p:cNvPr id="15" name="">
            <a:extLst xmlns:a="http://schemas.openxmlformats.org/drawingml/2006/main">
              <a:ext uri="{FF2B5EF4-FFF2-40B4-BE49-F238E27FC236}">
                <a16:creationId xmlns:a16="http://schemas.microsoft.com/office/drawing/2014/main" id="{F984E37E-0962-4C56-874B-F913BBA173B2}"/>
              </a:ext>
            </a:extLst>
          </p:cNvPr>
          <p:cNvSpPr>
            <a:spLocks xmlns:a="http://schemas.openxmlformats.org/drawingml/2006/main" noGrp="1"/>
          </p:cNvSpPr>
          <p:nvPr/>
        </p:nvSpPr>
        <p:spPr>
          <a:xfrm xmlns:a="http://schemas.openxmlformats.org/drawingml/2006/main">
            <a:off x="4495800" y="27813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132238"/>
                </a:solidFill>
              </a:defRPr>
            </a:pPr>
            <a:r>
              <a:rPr sz="1875" b="1" i="0">
                <a:solidFill>
                  <a:srgbClr val="132238"/>
                </a:solidFill>
              </a:rPr>
              <a:t>Live POC</a:t>
            </a:r>
          </a:p>
        </p:txBody>
      </p:sp>
      <p:sp>
        <p:nvSpPr>
          <p:cNvPr id="16" name="">
            <a:extLst xmlns:a="http://schemas.openxmlformats.org/drawingml/2006/main">
              <a:ext uri="{FF2B5EF4-FFF2-40B4-BE49-F238E27FC236}">
                <a16:creationId xmlns:a16="http://schemas.microsoft.com/office/drawing/2014/main" id="{C269B12C-56FD-42A9-96FA-85454C6B0F03}"/>
              </a:ext>
            </a:extLst>
          </p:cNvPr>
          <p:cNvSpPr>
            <a:spLocks xmlns:a="http://schemas.openxmlformats.org/drawingml/2006/main" noGrp="1"/>
          </p:cNvSpPr>
          <p:nvPr/>
        </p:nvSpPr>
        <p:spPr>
          <a:xfrm xmlns:a="http://schemas.openxmlformats.org/drawingml/2006/main">
            <a:off x="4495800" y="34099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5F6E7B"/>
                </a:solidFill>
              </a:defRPr>
            </a:pPr>
            <a:r>
              <a:rPr sz="1050" b="1" i="0">
                <a:solidFill>
                  <a:srgbClr val="5F6E7B"/>
                </a:solidFill>
              </a:rPr>
              <a:t>Current job-redesign workflow</a:t>
            </a:r>
          </a:p>
        </p:txBody>
      </p:sp>
      <p:sp>
        <p:nvSpPr>
          <p:cNvPr id="17" name="">
            <a:extLst xmlns:a="http://schemas.openxmlformats.org/drawingml/2006/main">
              <a:ext uri="{FF2B5EF4-FFF2-40B4-BE49-F238E27FC236}">
                <a16:creationId xmlns:a16="http://schemas.microsoft.com/office/drawing/2014/main" id="{B0F953D0-150B-47CE-B718-C1882566A403}"/>
              </a:ext>
            </a:extLst>
          </p:cNvPr>
          <p:cNvSpPr>
            <a:spLocks xmlns:a="http://schemas.openxmlformats.org/drawingml/2006/main" noGrp="1"/>
          </p:cNvSpPr>
          <p:nvPr/>
        </p:nvSpPr>
        <p:spPr>
          <a:xfrm xmlns:a="http://schemas.openxmlformats.org/drawingml/2006/main">
            <a:off x="4495800" y="3876675"/>
            <a:ext cx="2381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32238"/>
                </a:solidFill>
              </a:defRPr>
            </a:pPr>
            <a:r>
              <a:rPr sz="1200" b="0" i="0">
                <a:solidFill>
                  <a:srgbClr val="132238"/>
                </a:solidFill>
              </a:rPr>
              <a:t>Current POC guidance</a:t>
            </a:r>
          </a:p>
          <a:p xmlns:a="http://schemas.openxmlformats.org/drawingml/2006/main">
            <a:pPr algn="l">
              <a:defRPr sz="1200" b="0" i="0">
                <a:solidFill>
                  <a:srgbClr val="132238"/>
                </a:solidFill>
              </a:defRPr>
            </a:pPr>
            <a:r>
              <a:rPr sz="1200" b="0" i="0">
                <a:solidFill>
                  <a:srgbClr val="132238"/>
                </a:solidFill>
              </a:rPr>
              <a:t>GPT-5.2</a:t>
            </a:r>
          </a:p>
          <a:p xmlns:a="http://schemas.openxmlformats.org/drawingml/2006/main">
            <a:pPr algn="l">
              <a:defRPr sz="1200" b="0" i="0">
                <a:solidFill>
                  <a:srgbClr val="132238"/>
                </a:solidFill>
              </a:defRPr>
            </a:pPr>
            <a:r>
              <a:rPr sz="1200" b="0" i="0">
                <a:solidFill>
                  <a:srgbClr val="132238"/>
                </a:solidFill>
              </a:rPr>
              <a:t>Moving toward normalized/decomposed tasks</a:t>
            </a:r>
          </a:p>
          <a:p xmlns:a="http://schemas.openxmlformats.org/drawingml/2006/main">
            <a:pPr algn="l">
              <a:defRPr sz="1200" b="0" i="0">
                <a:solidFill>
                  <a:srgbClr val="132238"/>
                </a:solidFill>
              </a:defRPr>
            </a:pPr>
            <a:r>
              <a:rPr sz="1200" b="0" i="0">
                <a:solidFill>
                  <a:srgbClr val="132238"/>
                </a:solidFill>
              </a:rPr>
              <a:t>LLM call at run time</a:t>
            </a:r>
          </a:p>
        </p:txBody>
      </p:sp>
      <p:sp>
        <p:nvSpPr>
          <p:cNvPr id="18" name="">
            <a:extLst xmlns:a="http://schemas.openxmlformats.org/drawingml/2006/main">
              <a:ext uri="{FF2B5EF4-FFF2-40B4-BE49-F238E27FC236}">
                <a16:creationId xmlns:a16="http://schemas.microsoft.com/office/drawing/2014/main" id="{F0963E68-4727-49E6-9597-C257B1E24C91}"/>
              </a:ext>
            </a:extLst>
          </p:cNvPr>
          <p:cNvSpPr>
            <a:spLocks xmlns:a="http://schemas.openxmlformats.org/drawingml/2006/main" noGrp="1"/>
          </p:cNvSpPr>
          <p:nvPr/>
        </p:nvSpPr>
        <p:spPr>
          <a:xfrm xmlns:a="http://schemas.openxmlformats.org/drawingml/2006/main">
            <a:off x="7848600" y="2209800"/>
            <a:ext cx="2857500" cy="278130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19" name="">
            <a:extLst xmlns:a="http://schemas.openxmlformats.org/drawingml/2006/main">
              <a:ext uri="{FF2B5EF4-FFF2-40B4-BE49-F238E27FC236}">
                <a16:creationId xmlns:a16="http://schemas.microsoft.com/office/drawing/2014/main" id="{D0FBFAE8-4DAC-417A-A9A9-A5A8BE327DE8}"/>
              </a:ext>
            </a:extLst>
          </p:cNvPr>
          <p:cNvSpPr>
            <a:spLocks xmlns:a="http://schemas.openxmlformats.org/drawingml/2006/main" noGrp="1"/>
          </p:cNvSpPr>
          <p:nvPr/>
        </p:nvSpPr>
        <p:spPr>
          <a:xfrm xmlns:a="http://schemas.openxmlformats.org/drawingml/2006/main">
            <a:off x="8077200" y="24384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C75850"/>
                </a:solidFill>
              </a:defRPr>
            </a:pPr>
            <a:r>
              <a:rPr sz="1125" b="1" i="0">
                <a:solidFill>
                  <a:srgbClr val="C75850"/>
                </a:solidFill>
              </a:rPr>
              <a:t>03</a:t>
            </a:r>
          </a:p>
        </p:txBody>
      </p:sp>
      <p:sp>
        <p:nvSpPr>
          <p:cNvPr id="20" name="">
            <a:extLst xmlns:a="http://schemas.openxmlformats.org/drawingml/2006/main">
              <a:ext uri="{FF2B5EF4-FFF2-40B4-BE49-F238E27FC236}">
                <a16:creationId xmlns:a16="http://schemas.microsoft.com/office/drawing/2014/main" id="{B77F8950-CAD8-4F99-B440-EB3FCDC5104F}"/>
              </a:ext>
            </a:extLst>
          </p:cNvPr>
          <p:cNvSpPr>
            <a:spLocks xmlns:a="http://schemas.openxmlformats.org/drawingml/2006/main" noGrp="1"/>
          </p:cNvSpPr>
          <p:nvPr/>
        </p:nvSpPr>
        <p:spPr>
          <a:xfrm xmlns:a="http://schemas.openxmlformats.org/drawingml/2006/main">
            <a:off x="8077200" y="27813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132238"/>
                </a:solidFill>
              </a:defRPr>
            </a:pPr>
            <a:r>
              <a:rPr sz="1875" b="1" i="0">
                <a:solidFill>
                  <a:srgbClr val="132238"/>
                </a:solidFill>
              </a:rPr>
              <a:t>Production ML tool</a:t>
            </a:r>
          </a:p>
        </p:txBody>
      </p:sp>
      <p:sp>
        <p:nvSpPr>
          <p:cNvPr id="21" name="">
            <a:extLst xmlns:a="http://schemas.openxmlformats.org/drawingml/2006/main">
              <a:ext uri="{FF2B5EF4-FFF2-40B4-BE49-F238E27FC236}">
                <a16:creationId xmlns:a16="http://schemas.microsoft.com/office/drawing/2014/main" id="{25777A65-569F-4F15-A720-801FE7B85BE5}"/>
              </a:ext>
            </a:extLst>
          </p:cNvPr>
          <p:cNvSpPr>
            <a:spLocks xmlns:a="http://schemas.openxmlformats.org/drawingml/2006/main" noGrp="1"/>
          </p:cNvSpPr>
          <p:nvPr/>
        </p:nvSpPr>
        <p:spPr>
          <a:xfrm xmlns:a="http://schemas.openxmlformats.org/drawingml/2006/main">
            <a:off x="8077200" y="34099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5F6E7B"/>
                </a:solidFill>
              </a:defRPr>
            </a:pPr>
            <a:r>
              <a:rPr sz="1050" b="1" i="0">
                <a:solidFill>
                  <a:srgbClr val="5F6E7B"/>
                </a:solidFill>
              </a:rPr>
              <a:t>Decision now required</a:t>
            </a:r>
          </a:p>
        </p:txBody>
      </p:sp>
      <p:sp>
        <p:nvSpPr>
          <p:cNvPr id="22" name="">
            <a:extLst xmlns:a="http://schemas.openxmlformats.org/drawingml/2006/main">
              <a:ext uri="{FF2B5EF4-FFF2-40B4-BE49-F238E27FC236}">
                <a16:creationId xmlns:a16="http://schemas.microsoft.com/office/drawing/2014/main" id="{B1AA9779-6712-47E3-8771-2006D58E3065}"/>
              </a:ext>
            </a:extLst>
          </p:cNvPr>
          <p:cNvSpPr>
            <a:spLocks xmlns:a="http://schemas.openxmlformats.org/drawingml/2006/main" noGrp="1"/>
          </p:cNvSpPr>
          <p:nvPr/>
        </p:nvSpPr>
        <p:spPr>
          <a:xfrm xmlns:a="http://schemas.openxmlformats.org/drawingml/2006/main">
            <a:off x="8077200" y="3876675"/>
            <a:ext cx="2381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32238"/>
                </a:solidFill>
              </a:defRPr>
            </a:pPr>
            <a:r>
              <a:rPr sz="1200" b="0" i="0">
                <a:solidFill>
                  <a:srgbClr val="132238"/>
                </a:solidFill>
              </a:rPr>
              <a:t>One approved scoring method</a:t>
            </a:r>
          </a:p>
          <a:p xmlns:a="http://schemas.openxmlformats.org/drawingml/2006/main">
            <a:pPr algn="l">
              <a:defRPr sz="1200" b="0" i="0">
                <a:solidFill>
                  <a:srgbClr val="132238"/>
                </a:solidFill>
              </a:defRPr>
            </a:pPr>
            <a:r>
              <a:rPr sz="1200" b="0" i="0">
                <a:solidFill>
                  <a:srgbClr val="132238"/>
                </a:solidFill>
              </a:rPr>
              <a:t>One governed training dataset</a:t>
            </a:r>
          </a:p>
          <a:p xmlns:a="http://schemas.openxmlformats.org/drawingml/2006/main">
            <a:pPr algn="l">
              <a:defRPr sz="1200" b="0" i="0">
                <a:solidFill>
                  <a:srgbClr val="132238"/>
                </a:solidFill>
              </a:defRPr>
            </a:pPr>
            <a:r>
              <a:rPr sz="1200" b="0" i="0">
                <a:solidFill>
                  <a:srgbClr val="132238"/>
                </a:solidFill>
              </a:rPr>
              <a:t>Fast ML API</a:t>
            </a:r>
          </a:p>
          <a:p xmlns:a="http://schemas.openxmlformats.org/drawingml/2006/main">
            <a:pPr algn="l">
              <a:defRPr sz="1200" b="0" i="0">
                <a:solidFill>
                  <a:srgbClr val="132238"/>
                </a:solidFill>
              </a:defRPr>
            </a:pPr>
            <a:r>
              <a:rPr sz="1200" b="0" i="0">
                <a:solidFill>
                  <a:srgbClr val="132238"/>
                </a:solidFill>
              </a:rPr>
              <a:t>Monitored in operation</a:t>
            </a:r>
          </a:p>
        </p:txBody>
      </p:sp>
      <p:sp>
        <p:nvSpPr>
          <p:cNvPr id="23" name="">
            <a:extLst xmlns:a="http://schemas.openxmlformats.org/drawingml/2006/main">
              <a:ext uri="{FF2B5EF4-FFF2-40B4-BE49-F238E27FC236}">
                <a16:creationId xmlns:a16="http://schemas.microsoft.com/office/drawing/2014/main" id="{A81D57A5-0960-444B-9FEE-EA69169F21AC}"/>
              </a:ext>
            </a:extLst>
          </p:cNvPr>
          <p:cNvSpPr>
            <a:spLocks xmlns:a="http://schemas.openxmlformats.org/drawingml/2006/main" noGrp="1"/>
          </p:cNvSpPr>
          <p:nvPr/>
        </p:nvSpPr>
        <p:spPr>
          <a:xfrm xmlns:a="http://schemas.openxmlformats.org/drawingml/2006/main">
            <a:off x="685800" y="5314950"/>
            <a:ext cx="10020300" cy="609600"/>
          </a:xfrm>
          <a:prstGeom xmlns:a="http://schemas.openxmlformats.org/drawingml/2006/main" prst="rect">
            <a:avLst/>
          </a:prstGeom>
          <a:solidFill xmlns:a="http://schemas.openxmlformats.org/drawingml/2006/main">
            <a:srgbClr val="F6E7E5"/>
          </a:solidFill>
          <a:ln xmlns:a="http://schemas.openxmlformats.org/drawingml/2006/main" w="5715">
            <a:solidFill>
              <a:srgbClr val="F6E7E5"/>
            </a:solidFill>
            <a:prstDash val="solid"/>
          </a:ln>
        </p:spPr>
      </p:sp>
      <p:sp>
        <p:nvSpPr>
          <p:cNvPr id="24" name="">
            <a:extLst xmlns:a="http://schemas.openxmlformats.org/drawingml/2006/main">
              <a:ext uri="{FF2B5EF4-FFF2-40B4-BE49-F238E27FC236}">
                <a16:creationId xmlns:a16="http://schemas.microsoft.com/office/drawing/2014/main" id="{E241E217-A0E7-4BC2-BACE-FEFC507394E6}"/>
              </a:ext>
            </a:extLst>
          </p:cNvPr>
          <p:cNvSpPr>
            <a:spLocks xmlns:a="http://schemas.openxmlformats.org/drawingml/2006/main" noGrp="1"/>
          </p:cNvSpPr>
          <p:nvPr/>
        </p:nvSpPr>
        <p:spPr>
          <a:xfrm xmlns:a="http://schemas.openxmlformats.org/drawingml/2006/main">
            <a:off x="685800" y="5314950"/>
            <a:ext cx="76200" cy="6096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25" name="">
            <a:extLst xmlns:a="http://schemas.openxmlformats.org/drawingml/2006/main">
              <a:ext uri="{FF2B5EF4-FFF2-40B4-BE49-F238E27FC236}">
                <a16:creationId xmlns:a16="http://schemas.microsoft.com/office/drawing/2014/main" id="{4E72A226-09D1-4823-A66D-45F145881DE5}"/>
              </a:ext>
            </a:extLst>
          </p:cNvPr>
          <p:cNvSpPr>
            <a:spLocks xmlns:a="http://schemas.openxmlformats.org/drawingml/2006/main" noGrp="1"/>
          </p:cNvSpPr>
          <p:nvPr/>
        </p:nvSpPr>
        <p:spPr>
          <a:xfrm xmlns:a="http://schemas.openxmlformats.org/drawingml/2006/main">
            <a:off x="952500" y="5448300"/>
            <a:ext cx="9544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238"/>
                </a:solidFill>
              </a:defRPr>
            </a:pPr>
            <a:r>
              <a:rPr sz="1275" b="1" i="0">
                <a:solidFill>
                  <a:srgbClr val="132238"/>
                </a:solidFill>
              </a:rPr>
              <a:t>The live POC changed scoring guidance, LLM version and task format at the same time.</a:t>
            </a:r>
          </a:p>
        </p:txBody>
      </p:sp>
    </p:spTree>
    <p:extLst>
      <p:ext uri="{BB962C8B-B14F-4D97-AF65-F5344CB8AC3E}">
        <p14:creationId xmlns:p14="http://schemas.microsoft.com/office/powerpoint/2010/main" val="764230933"/>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CF88EC9-4237-4AF2-AAD8-3D4FF7192CB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6545C564-B31A-4CDF-86CC-913B0B6541BF}"/>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THE VARIABLES UNDER REVIEW</a:t>
            </a:r>
          </a:p>
        </p:txBody>
      </p:sp>
      <p:sp>
        <p:nvSpPr>
          <p:cNvPr id="3" name="">
            <a:extLst xmlns:a="http://schemas.openxmlformats.org/drawingml/2006/main">
              <a:ext uri="{FF2B5EF4-FFF2-40B4-BE49-F238E27FC236}">
                <a16:creationId xmlns:a16="http://schemas.microsoft.com/office/drawing/2014/main" id="{D5FC3A08-56E9-4161-A862-65243DFD2AB7}"/>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Three choices can change the score</a:t>
            </a:r>
          </a:p>
        </p:txBody>
      </p:sp>
      <p:sp>
        <p:nvSpPr>
          <p:cNvPr id="4" name="">
            <a:extLst xmlns:a="http://schemas.openxmlformats.org/drawingml/2006/main">
              <a:ext uri="{FF2B5EF4-FFF2-40B4-BE49-F238E27FC236}">
                <a16:creationId xmlns:a16="http://schemas.microsoft.com/office/drawing/2014/main" id="{6ED1B083-4392-4FBE-A771-11C257EAC661}"/>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The study changes one choice at a time on the same task panel so their effects can be separated.</a:t>
            </a:r>
          </a:p>
        </p:txBody>
      </p:sp>
      <p:sp>
        <p:nvSpPr>
          <p:cNvPr id="5" name="">
            <a:extLst xmlns:a="http://schemas.openxmlformats.org/drawingml/2006/main">
              <a:ext uri="{FF2B5EF4-FFF2-40B4-BE49-F238E27FC236}">
                <a16:creationId xmlns:a16="http://schemas.microsoft.com/office/drawing/2014/main" id="{11F7D8C1-F589-4DF6-8448-CEAD4231B479}"/>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60AE7970-C3EC-4940-97E6-1A8DA7113BA3}"/>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AC0BB68F-3F88-4A9C-80D2-532B555FCBD7}"/>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04</a:t>
            </a:r>
          </a:p>
        </p:txBody>
      </p:sp>
      <p:sp>
        <p:nvSpPr>
          <p:cNvPr id="8" name="">
            <a:extLst xmlns:a="http://schemas.openxmlformats.org/drawingml/2006/main">
              <a:ext uri="{FF2B5EF4-FFF2-40B4-BE49-F238E27FC236}">
                <a16:creationId xmlns:a16="http://schemas.microsoft.com/office/drawing/2014/main" id="{613AA3A2-DC2E-4E08-A38A-D2471BA0BD8E}"/>
              </a:ext>
            </a:extLst>
          </p:cNvPr>
          <p:cNvSpPr>
            <a:spLocks xmlns:a="http://schemas.openxmlformats.org/drawingml/2006/main" noGrp="1"/>
          </p:cNvSpPr>
          <p:nvPr/>
        </p:nvSpPr>
        <p:spPr>
          <a:xfrm xmlns:a="http://schemas.openxmlformats.org/drawingml/2006/main">
            <a:off x="685800" y="2114550"/>
            <a:ext cx="95250" cy="7239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9" name="">
            <a:extLst xmlns:a="http://schemas.openxmlformats.org/drawingml/2006/main">
              <a:ext uri="{FF2B5EF4-FFF2-40B4-BE49-F238E27FC236}">
                <a16:creationId xmlns:a16="http://schemas.microsoft.com/office/drawing/2014/main" id="{934F845A-3BC4-427B-9F22-DBAF3F235761}"/>
              </a:ext>
            </a:extLst>
          </p:cNvPr>
          <p:cNvSpPr>
            <a:spLocks xmlns:a="http://schemas.openxmlformats.org/drawingml/2006/main" noGrp="1"/>
          </p:cNvSpPr>
          <p:nvPr/>
        </p:nvSpPr>
        <p:spPr>
          <a:xfrm xmlns:a="http://schemas.openxmlformats.org/drawingml/2006/main">
            <a:off x="1066800" y="21336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32238"/>
                </a:solidFill>
              </a:defRPr>
            </a:pPr>
            <a:r>
              <a:rPr sz="1800" b="1" i="0">
                <a:solidFill>
                  <a:srgbClr val="132238"/>
                </a:solidFill>
              </a:rPr>
              <a:t>Scoring guidance</a:t>
            </a:r>
          </a:p>
        </p:txBody>
      </p:sp>
      <p:sp>
        <p:nvSpPr>
          <p:cNvPr id="10" name="">
            <a:extLst xmlns:a="http://schemas.openxmlformats.org/drawingml/2006/main">
              <a:ext uri="{FF2B5EF4-FFF2-40B4-BE49-F238E27FC236}">
                <a16:creationId xmlns:a16="http://schemas.microsoft.com/office/drawing/2014/main" id="{F131647D-D6D5-4BF5-9250-24013057D0F1}"/>
              </a:ext>
            </a:extLst>
          </p:cNvPr>
          <p:cNvSpPr>
            <a:spLocks xmlns:a="http://schemas.openxmlformats.org/drawingml/2006/main" noGrp="1"/>
          </p:cNvSpPr>
          <p:nvPr/>
        </p:nvSpPr>
        <p:spPr>
          <a:xfrm xmlns:a="http://schemas.openxmlformats.org/drawingml/2006/main">
            <a:off x="4000500" y="217170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5F6E7B"/>
                </a:solidFill>
              </a:defRPr>
            </a:pPr>
            <a:r>
              <a:rPr sz="1425" b="0" i="0">
                <a:solidFill>
                  <a:srgbClr val="5F6E7B"/>
                </a:solidFill>
              </a:rPr>
              <a:t>The rubric, instructions and examples supplied to the model.</a:t>
            </a:r>
          </a:p>
        </p:txBody>
      </p:sp>
      <p:sp>
        <p:nvSpPr>
          <p:cNvPr id="11" name="">
            <a:extLst xmlns:a="http://schemas.openxmlformats.org/drawingml/2006/main">
              <a:ext uri="{FF2B5EF4-FFF2-40B4-BE49-F238E27FC236}">
                <a16:creationId xmlns:a16="http://schemas.microsoft.com/office/drawing/2014/main" id="{306A06BF-28F5-43F6-A61A-CD260D104D3E}"/>
              </a:ext>
            </a:extLst>
          </p:cNvPr>
          <p:cNvSpPr>
            <a:spLocks xmlns:a="http://schemas.openxmlformats.org/drawingml/2006/main" noGrp="1"/>
          </p:cNvSpPr>
          <p:nvPr/>
        </p:nvSpPr>
        <p:spPr>
          <a:xfrm xmlns:a="http://schemas.openxmlformats.org/drawingml/2006/main">
            <a:off x="1066800" y="2981325"/>
            <a:ext cx="96012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2" name="">
            <a:extLst xmlns:a="http://schemas.openxmlformats.org/drawingml/2006/main">
              <a:ext uri="{FF2B5EF4-FFF2-40B4-BE49-F238E27FC236}">
                <a16:creationId xmlns:a16="http://schemas.microsoft.com/office/drawing/2014/main" id="{A8F781E2-B7B9-4308-BB28-388A1676CF9D}"/>
              </a:ext>
            </a:extLst>
          </p:cNvPr>
          <p:cNvSpPr>
            <a:spLocks xmlns:a="http://schemas.openxmlformats.org/drawingml/2006/main" noGrp="1"/>
          </p:cNvSpPr>
          <p:nvPr/>
        </p:nvSpPr>
        <p:spPr>
          <a:xfrm xmlns:a="http://schemas.openxmlformats.org/drawingml/2006/main">
            <a:off x="685800" y="3219450"/>
            <a:ext cx="95250" cy="7239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13" name="">
            <a:extLst xmlns:a="http://schemas.openxmlformats.org/drawingml/2006/main">
              <a:ext uri="{FF2B5EF4-FFF2-40B4-BE49-F238E27FC236}">
                <a16:creationId xmlns:a16="http://schemas.microsoft.com/office/drawing/2014/main" id="{A73106D6-736C-4F1F-BFBF-E047DE102506}"/>
              </a:ext>
            </a:extLst>
          </p:cNvPr>
          <p:cNvSpPr>
            <a:spLocks xmlns:a="http://schemas.openxmlformats.org/drawingml/2006/main" noGrp="1"/>
          </p:cNvSpPr>
          <p:nvPr/>
        </p:nvSpPr>
        <p:spPr>
          <a:xfrm xmlns:a="http://schemas.openxmlformats.org/drawingml/2006/main">
            <a:off x="1066800" y="3238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32238"/>
                </a:solidFill>
              </a:defRPr>
            </a:pPr>
            <a:r>
              <a:rPr sz="1800" b="1" i="0">
                <a:solidFill>
                  <a:srgbClr val="132238"/>
                </a:solidFill>
              </a:rPr>
              <a:t>LLM version</a:t>
            </a:r>
          </a:p>
        </p:txBody>
      </p:sp>
      <p:sp>
        <p:nvSpPr>
          <p:cNvPr id="14" name="">
            <a:extLst xmlns:a="http://schemas.openxmlformats.org/drawingml/2006/main">
              <a:ext uri="{FF2B5EF4-FFF2-40B4-BE49-F238E27FC236}">
                <a16:creationId xmlns:a16="http://schemas.microsoft.com/office/drawing/2014/main" id="{3D71F1CD-2260-4CF7-BE3F-1B60272C16EF}"/>
              </a:ext>
            </a:extLst>
          </p:cNvPr>
          <p:cNvSpPr>
            <a:spLocks xmlns:a="http://schemas.openxmlformats.org/drawingml/2006/main" noGrp="1"/>
          </p:cNvSpPr>
          <p:nvPr/>
        </p:nvSpPr>
        <p:spPr>
          <a:xfrm xmlns:a="http://schemas.openxmlformats.org/drawingml/2006/main">
            <a:off x="4000500" y="327660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5F6E7B"/>
                </a:solidFill>
              </a:defRPr>
            </a:pPr>
            <a:r>
              <a:rPr sz="1425" b="0" i="0">
                <a:solidFill>
                  <a:srgbClr val="5F6E7B"/>
                </a:solidFill>
              </a:rPr>
              <a:t>The LLM version interpreting the same guidance: GPT-4o or GPT-5.2.</a:t>
            </a:r>
          </a:p>
        </p:txBody>
      </p:sp>
      <p:sp>
        <p:nvSpPr>
          <p:cNvPr id="15" name="">
            <a:extLst xmlns:a="http://schemas.openxmlformats.org/drawingml/2006/main">
              <a:ext uri="{FF2B5EF4-FFF2-40B4-BE49-F238E27FC236}">
                <a16:creationId xmlns:a16="http://schemas.microsoft.com/office/drawing/2014/main" id="{B114345E-2090-49F1-9F2C-9EFA2EAD72CA}"/>
              </a:ext>
            </a:extLst>
          </p:cNvPr>
          <p:cNvSpPr>
            <a:spLocks xmlns:a="http://schemas.openxmlformats.org/drawingml/2006/main" noGrp="1"/>
          </p:cNvSpPr>
          <p:nvPr/>
        </p:nvSpPr>
        <p:spPr>
          <a:xfrm xmlns:a="http://schemas.openxmlformats.org/drawingml/2006/main">
            <a:off x="1066800" y="4086225"/>
            <a:ext cx="96012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6" name="">
            <a:extLst xmlns:a="http://schemas.openxmlformats.org/drawingml/2006/main">
              <a:ext uri="{FF2B5EF4-FFF2-40B4-BE49-F238E27FC236}">
                <a16:creationId xmlns:a16="http://schemas.microsoft.com/office/drawing/2014/main" id="{67E4D29A-6F70-4343-940F-3632F23E2910}"/>
              </a:ext>
            </a:extLst>
          </p:cNvPr>
          <p:cNvSpPr>
            <a:spLocks xmlns:a="http://schemas.openxmlformats.org/drawingml/2006/main" noGrp="1"/>
          </p:cNvSpPr>
          <p:nvPr/>
        </p:nvSpPr>
        <p:spPr>
          <a:xfrm xmlns:a="http://schemas.openxmlformats.org/drawingml/2006/main">
            <a:off x="685800" y="4324350"/>
            <a:ext cx="95250" cy="723900"/>
          </a:xfrm>
          <a:prstGeom xmlns:a="http://schemas.openxmlformats.org/drawingml/2006/main" prst="rect">
            <a:avLst/>
          </a:prstGeom>
          <a:solidFill xmlns:a="http://schemas.openxmlformats.org/drawingml/2006/main">
            <a:srgbClr val="24547A"/>
          </a:solidFill>
          <a:ln xmlns:a="http://schemas.openxmlformats.org/drawingml/2006/main" w="5715">
            <a:solidFill>
              <a:srgbClr val="24547A"/>
            </a:solidFill>
            <a:prstDash val="solid"/>
          </a:ln>
        </p:spPr>
      </p:sp>
      <p:sp>
        <p:nvSpPr>
          <p:cNvPr id="17" name="">
            <a:extLst xmlns:a="http://schemas.openxmlformats.org/drawingml/2006/main">
              <a:ext uri="{FF2B5EF4-FFF2-40B4-BE49-F238E27FC236}">
                <a16:creationId xmlns:a16="http://schemas.microsoft.com/office/drawing/2014/main" id="{BB3BF90D-C5CC-48F8-A9DF-F4ADD8EDB185}"/>
              </a:ext>
            </a:extLst>
          </p:cNvPr>
          <p:cNvSpPr>
            <a:spLocks xmlns:a="http://schemas.openxmlformats.org/drawingml/2006/main" noGrp="1"/>
          </p:cNvSpPr>
          <p:nvPr/>
        </p:nvSpPr>
        <p:spPr>
          <a:xfrm xmlns:a="http://schemas.openxmlformats.org/drawingml/2006/main">
            <a:off x="1066800" y="43434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32238"/>
                </a:solidFill>
              </a:defRPr>
            </a:pPr>
            <a:r>
              <a:rPr sz="1800" b="1" i="0">
                <a:solidFill>
                  <a:srgbClr val="132238"/>
                </a:solidFill>
              </a:rPr>
              <a:t>Task format</a:t>
            </a:r>
          </a:p>
        </p:txBody>
      </p:sp>
      <p:sp>
        <p:nvSpPr>
          <p:cNvPr id="18" name="">
            <a:extLst xmlns:a="http://schemas.openxmlformats.org/drawingml/2006/main">
              <a:ext uri="{FF2B5EF4-FFF2-40B4-BE49-F238E27FC236}">
                <a16:creationId xmlns:a16="http://schemas.microsoft.com/office/drawing/2014/main" id="{EE19A9E2-F559-4A59-978E-54B45E896ECD}"/>
              </a:ext>
            </a:extLst>
          </p:cNvPr>
          <p:cNvSpPr>
            <a:spLocks xmlns:a="http://schemas.openxmlformats.org/drawingml/2006/main" noGrp="1"/>
          </p:cNvSpPr>
          <p:nvPr/>
        </p:nvSpPr>
        <p:spPr>
          <a:xfrm xmlns:a="http://schemas.openxmlformats.org/drawingml/2006/main">
            <a:off x="4000500" y="438150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5F6E7B"/>
                </a:solidFill>
              </a:defRPr>
            </a:pPr>
            <a:r>
              <a:rPr sz="1425" b="0" i="0">
                <a:solidFill>
                  <a:srgbClr val="5F6E7B"/>
                </a:solidFill>
              </a:rPr>
              <a:t>Original task wording or a normalized and decomposed task.</a:t>
            </a:r>
          </a:p>
        </p:txBody>
      </p:sp>
      <p:sp>
        <p:nvSpPr>
          <p:cNvPr id="19" name="">
            <a:extLst xmlns:a="http://schemas.openxmlformats.org/drawingml/2006/main">
              <a:ext uri="{FF2B5EF4-FFF2-40B4-BE49-F238E27FC236}">
                <a16:creationId xmlns:a16="http://schemas.microsoft.com/office/drawing/2014/main" id="{1EA3FD01-FEA6-40AE-A82F-D9E51312DAEA}"/>
              </a:ext>
            </a:extLst>
          </p:cNvPr>
          <p:cNvSpPr>
            <a:spLocks xmlns:a="http://schemas.openxmlformats.org/drawingml/2006/main" noGrp="1"/>
          </p:cNvSpPr>
          <p:nvPr/>
        </p:nvSpPr>
        <p:spPr>
          <a:xfrm xmlns:a="http://schemas.openxmlformats.org/drawingml/2006/main">
            <a:off x="1066800" y="5543550"/>
            <a:ext cx="809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24547A"/>
                </a:solidFill>
              </a:defRPr>
            </a:pPr>
            <a:r>
              <a:rPr sz="1425" b="1" i="0">
                <a:solidFill>
                  <a:srgbClr val="24547A"/>
                </a:solidFill>
              </a:rPr>
              <a:t>The complete combination is the scoring method: it defines what the live ML model learns to reproduce.</a:t>
            </a:r>
          </a:p>
        </p:txBody>
      </p:sp>
    </p:spTree>
    <p:extLst>
      <p:ext uri="{BB962C8B-B14F-4D97-AF65-F5344CB8AC3E}">
        <p14:creationId xmlns:p14="http://schemas.microsoft.com/office/powerpoint/2010/main" val="151339551"/>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1EFD306-0BB7-48DE-8F91-9D92112076A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EE029D71-493E-4EED-9E20-44E8A66A509B}"/>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HOW TO READ THE RESULTS</a:t>
            </a:r>
          </a:p>
        </p:txBody>
      </p:sp>
      <p:sp>
        <p:nvSpPr>
          <p:cNvPr id="3" name="">
            <a:extLst xmlns:a="http://schemas.openxmlformats.org/drawingml/2006/main">
              <a:ext uri="{FF2B5EF4-FFF2-40B4-BE49-F238E27FC236}">
                <a16:creationId xmlns:a16="http://schemas.microsoft.com/office/drawing/2014/main" id="{F602955A-15FD-433F-BD2C-7192C414FA0D}"/>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E0 proportion is the headline measure for tracking distribution changes</a:t>
            </a:r>
          </a:p>
        </p:txBody>
      </p:sp>
      <p:sp>
        <p:nvSpPr>
          <p:cNvPr id="4" name="">
            <a:extLst xmlns:a="http://schemas.openxmlformats.org/drawingml/2006/main">
              <a:ext uri="{FF2B5EF4-FFF2-40B4-BE49-F238E27FC236}">
                <a16:creationId xmlns:a16="http://schemas.microsoft.com/office/drawing/2014/main" id="{9DD32713-2759-46AD-AB40-9C984E06BD5F}"/>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It provides a single, interpretable measure of how many tasks are assessed as having no material AI impact.</a:t>
            </a:r>
          </a:p>
        </p:txBody>
      </p:sp>
      <p:sp>
        <p:nvSpPr>
          <p:cNvPr id="5" name="">
            <a:extLst xmlns:a="http://schemas.openxmlformats.org/drawingml/2006/main">
              <a:ext uri="{FF2B5EF4-FFF2-40B4-BE49-F238E27FC236}">
                <a16:creationId xmlns:a16="http://schemas.microsoft.com/office/drawing/2014/main" id="{4054FED8-0A7E-4932-8975-F6F5C0B05480}"/>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B34A721F-1E80-4C8A-A237-0E7CF93A51ED}"/>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F47F0BA8-7228-4F48-96A2-3319D7AD6F2B}"/>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05</a:t>
            </a:r>
          </a:p>
        </p:txBody>
      </p:sp>
      <p:sp>
        <p:nvSpPr>
          <p:cNvPr id="8" name="">
            <a:extLst xmlns:a="http://schemas.openxmlformats.org/drawingml/2006/main">
              <a:ext uri="{FF2B5EF4-FFF2-40B4-BE49-F238E27FC236}">
                <a16:creationId xmlns:a16="http://schemas.microsoft.com/office/drawing/2014/main" id="{D3E2A306-5200-486C-A49A-461B86652AA4}"/>
              </a:ext>
            </a:extLst>
          </p:cNvPr>
          <p:cNvSpPr>
            <a:spLocks xmlns:a="http://schemas.openxmlformats.org/drawingml/2006/main" noGrp="1"/>
          </p:cNvSpPr>
          <p:nvPr/>
        </p:nvSpPr>
        <p:spPr>
          <a:xfrm xmlns:a="http://schemas.openxmlformats.org/drawingml/2006/main">
            <a:off x="685800" y="2324100"/>
            <a:ext cx="3086100" cy="1847850"/>
          </a:xfrm>
          <a:prstGeom xmlns:a="http://schemas.openxmlformats.org/drawingml/2006/main" prst="rect">
            <a:avLst/>
          </a:prstGeom>
          <a:solidFill xmlns:a="http://schemas.openxmlformats.org/drawingml/2006/main">
            <a:srgbClr val="E1F0EC"/>
          </a:solidFill>
          <a:ln xmlns:a="http://schemas.openxmlformats.org/drawingml/2006/main" w="5715">
            <a:solidFill>
              <a:srgbClr val="E1F0EC"/>
            </a:solidFill>
            <a:prstDash val="solid"/>
          </a:ln>
        </p:spPr>
      </p:sp>
      <p:sp>
        <p:nvSpPr>
          <p:cNvPr id="9" name="">
            <a:extLst xmlns:a="http://schemas.openxmlformats.org/drawingml/2006/main">
              <a:ext uri="{FF2B5EF4-FFF2-40B4-BE49-F238E27FC236}">
                <a16:creationId xmlns:a16="http://schemas.microsoft.com/office/drawing/2014/main" id="{0B6F0407-8821-4CE8-A6EA-29B9155C4102}"/>
              </a:ext>
            </a:extLst>
          </p:cNvPr>
          <p:cNvSpPr>
            <a:spLocks xmlns:a="http://schemas.openxmlformats.org/drawingml/2006/main" noGrp="1"/>
          </p:cNvSpPr>
          <p:nvPr/>
        </p:nvSpPr>
        <p:spPr>
          <a:xfrm xmlns:a="http://schemas.openxmlformats.org/drawingml/2006/main">
            <a:off x="933450" y="253365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087A76"/>
                </a:solidFill>
              </a:defRPr>
            </a:pPr>
            <a:r>
              <a:rPr sz="2100" b="1" i="0">
                <a:solidFill>
                  <a:srgbClr val="087A76"/>
                </a:solidFill>
              </a:rPr>
              <a:t>E0</a:t>
            </a:r>
          </a:p>
        </p:txBody>
      </p:sp>
      <p:sp>
        <p:nvSpPr>
          <p:cNvPr id="10" name="">
            <a:extLst xmlns:a="http://schemas.openxmlformats.org/drawingml/2006/main">
              <a:ext uri="{FF2B5EF4-FFF2-40B4-BE49-F238E27FC236}">
                <a16:creationId xmlns:a16="http://schemas.microsoft.com/office/drawing/2014/main" id="{05B086DB-03EB-459C-844C-A9FE79F64AE4}"/>
              </a:ext>
            </a:extLst>
          </p:cNvPr>
          <p:cNvSpPr>
            <a:spLocks xmlns:a="http://schemas.openxmlformats.org/drawingml/2006/main" noGrp="1"/>
          </p:cNvSpPr>
          <p:nvPr/>
        </p:nvSpPr>
        <p:spPr>
          <a:xfrm xmlns:a="http://schemas.openxmlformats.org/drawingml/2006/main">
            <a:off x="933450" y="3105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32238"/>
                </a:solidFill>
              </a:defRPr>
            </a:pPr>
            <a:r>
              <a:rPr sz="1425" b="1" i="0">
                <a:solidFill>
                  <a:srgbClr val="132238"/>
                </a:solidFill>
              </a:rPr>
              <a:t>Least affected</a:t>
            </a:r>
          </a:p>
        </p:txBody>
      </p:sp>
      <p:sp>
        <p:nvSpPr>
          <p:cNvPr id="11" name="">
            <a:extLst xmlns:a="http://schemas.openxmlformats.org/drawingml/2006/main">
              <a:ext uri="{FF2B5EF4-FFF2-40B4-BE49-F238E27FC236}">
                <a16:creationId xmlns:a16="http://schemas.microsoft.com/office/drawing/2014/main" id="{41A60A17-1BF6-430C-8122-AB5731543513}"/>
              </a:ext>
            </a:extLst>
          </p:cNvPr>
          <p:cNvSpPr>
            <a:spLocks xmlns:a="http://schemas.openxmlformats.org/drawingml/2006/main" noGrp="1"/>
          </p:cNvSpPr>
          <p:nvPr/>
        </p:nvSpPr>
        <p:spPr>
          <a:xfrm xmlns:a="http://schemas.openxmlformats.org/drawingml/2006/main">
            <a:off x="933450" y="347662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F6E7B"/>
                </a:solidFill>
              </a:defRPr>
            </a:pPr>
            <a:r>
              <a:rPr sz="1125" b="0" i="0">
                <a:solidFill>
                  <a:srgbClr val="5F6E7B"/>
                </a:solidFill>
              </a:rPr>
              <a:t>The model cannot materially reduce task time</a:t>
            </a:r>
          </a:p>
        </p:txBody>
      </p:sp>
      <p:sp>
        <p:nvSpPr>
          <p:cNvPr id="12" name="">
            <a:extLst xmlns:a="http://schemas.openxmlformats.org/drawingml/2006/main">
              <a:ext uri="{FF2B5EF4-FFF2-40B4-BE49-F238E27FC236}">
                <a16:creationId xmlns:a16="http://schemas.microsoft.com/office/drawing/2014/main" id="{8CDB3F3B-ED8B-4197-92D1-8269AB94B19C}"/>
              </a:ext>
            </a:extLst>
          </p:cNvPr>
          <p:cNvSpPr>
            <a:spLocks xmlns:a="http://schemas.openxmlformats.org/drawingml/2006/main" noGrp="1"/>
          </p:cNvSpPr>
          <p:nvPr/>
        </p:nvSpPr>
        <p:spPr>
          <a:xfrm xmlns:a="http://schemas.openxmlformats.org/drawingml/2006/main">
            <a:off x="4114800" y="2324100"/>
            <a:ext cx="3086100" cy="1847850"/>
          </a:xfrm>
          <a:prstGeom xmlns:a="http://schemas.openxmlformats.org/drawingml/2006/main" prst="rect">
            <a:avLst/>
          </a:prstGeom>
          <a:solidFill xmlns:a="http://schemas.openxmlformats.org/drawingml/2006/main">
            <a:srgbClr val="F8EBDD"/>
          </a:solidFill>
          <a:ln xmlns:a="http://schemas.openxmlformats.org/drawingml/2006/main" w="5715">
            <a:solidFill>
              <a:srgbClr val="F8EBDD"/>
            </a:solidFill>
            <a:prstDash val="solid"/>
          </a:ln>
        </p:spPr>
      </p:sp>
      <p:sp>
        <p:nvSpPr>
          <p:cNvPr id="13" name="">
            <a:extLst xmlns:a="http://schemas.openxmlformats.org/drawingml/2006/main">
              <a:ext uri="{FF2B5EF4-FFF2-40B4-BE49-F238E27FC236}">
                <a16:creationId xmlns:a16="http://schemas.microsoft.com/office/drawing/2014/main" id="{05B8EBED-B5FB-4DA1-B19A-6C96F5C6BCEE}"/>
              </a:ext>
            </a:extLst>
          </p:cNvPr>
          <p:cNvSpPr>
            <a:spLocks xmlns:a="http://schemas.openxmlformats.org/drawingml/2006/main" noGrp="1"/>
          </p:cNvSpPr>
          <p:nvPr/>
        </p:nvSpPr>
        <p:spPr>
          <a:xfrm xmlns:a="http://schemas.openxmlformats.org/drawingml/2006/main">
            <a:off x="4362450" y="253365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D9771F"/>
                </a:solidFill>
              </a:defRPr>
            </a:pPr>
            <a:r>
              <a:rPr sz="2100" b="1" i="0">
                <a:solidFill>
                  <a:srgbClr val="D9771F"/>
                </a:solidFill>
              </a:rPr>
              <a:t>E1</a:t>
            </a:r>
          </a:p>
        </p:txBody>
      </p:sp>
      <p:sp>
        <p:nvSpPr>
          <p:cNvPr id="14" name="">
            <a:extLst xmlns:a="http://schemas.openxmlformats.org/drawingml/2006/main">
              <a:ext uri="{FF2B5EF4-FFF2-40B4-BE49-F238E27FC236}">
                <a16:creationId xmlns:a16="http://schemas.microsoft.com/office/drawing/2014/main" id="{C9A9F999-2282-46D2-8D08-43BD71DAC0D3}"/>
              </a:ext>
            </a:extLst>
          </p:cNvPr>
          <p:cNvSpPr>
            <a:spLocks xmlns:a="http://schemas.openxmlformats.org/drawingml/2006/main" noGrp="1"/>
          </p:cNvSpPr>
          <p:nvPr/>
        </p:nvSpPr>
        <p:spPr>
          <a:xfrm xmlns:a="http://schemas.openxmlformats.org/drawingml/2006/main">
            <a:off x="4362450" y="3105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32238"/>
                </a:solidFill>
              </a:defRPr>
            </a:pPr>
            <a:r>
              <a:rPr sz="1425" b="1" i="0">
                <a:solidFill>
                  <a:srgbClr val="132238"/>
                </a:solidFill>
              </a:rPr>
              <a:t>Direct assistance</a:t>
            </a:r>
          </a:p>
        </p:txBody>
      </p:sp>
      <p:sp>
        <p:nvSpPr>
          <p:cNvPr id="15" name="">
            <a:extLst xmlns:a="http://schemas.openxmlformats.org/drawingml/2006/main">
              <a:ext uri="{FF2B5EF4-FFF2-40B4-BE49-F238E27FC236}">
                <a16:creationId xmlns:a16="http://schemas.microsoft.com/office/drawing/2014/main" id="{7FD8EAB5-500A-41A5-B8C6-15BF703BC3EE}"/>
              </a:ext>
            </a:extLst>
          </p:cNvPr>
          <p:cNvSpPr>
            <a:spLocks xmlns:a="http://schemas.openxmlformats.org/drawingml/2006/main" noGrp="1"/>
          </p:cNvSpPr>
          <p:nvPr/>
        </p:nvSpPr>
        <p:spPr>
          <a:xfrm xmlns:a="http://schemas.openxmlformats.org/drawingml/2006/main">
            <a:off x="4362450" y="347662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F6E7B"/>
                </a:solidFill>
              </a:defRPr>
            </a:pPr>
            <a:r>
              <a:rPr sz="1125" b="0" i="0">
                <a:solidFill>
                  <a:srgbClr val="5F6E7B"/>
                </a:solidFill>
              </a:rPr>
              <a:t>LLM assistance can materially reduce task time</a:t>
            </a:r>
          </a:p>
        </p:txBody>
      </p:sp>
      <p:sp>
        <p:nvSpPr>
          <p:cNvPr id="16" name="">
            <a:extLst xmlns:a="http://schemas.openxmlformats.org/drawingml/2006/main">
              <a:ext uri="{FF2B5EF4-FFF2-40B4-BE49-F238E27FC236}">
                <a16:creationId xmlns:a16="http://schemas.microsoft.com/office/drawing/2014/main" id="{F319AA44-82E3-4A67-8AF6-2DEF104B8FB7}"/>
              </a:ext>
            </a:extLst>
          </p:cNvPr>
          <p:cNvSpPr>
            <a:spLocks xmlns:a="http://schemas.openxmlformats.org/drawingml/2006/main" noGrp="1"/>
          </p:cNvSpPr>
          <p:nvPr/>
        </p:nvSpPr>
        <p:spPr>
          <a:xfrm xmlns:a="http://schemas.openxmlformats.org/drawingml/2006/main">
            <a:off x="7543800" y="2324100"/>
            <a:ext cx="3086100" cy="1847850"/>
          </a:xfrm>
          <a:prstGeom xmlns:a="http://schemas.openxmlformats.org/drawingml/2006/main" prst="rect">
            <a:avLst/>
          </a:prstGeom>
          <a:solidFill xmlns:a="http://schemas.openxmlformats.org/drawingml/2006/main">
            <a:srgbClr val="F6E7E5"/>
          </a:solidFill>
          <a:ln xmlns:a="http://schemas.openxmlformats.org/drawingml/2006/main" w="5715">
            <a:solidFill>
              <a:srgbClr val="F6E7E5"/>
            </a:solidFill>
            <a:prstDash val="solid"/>
          </a:ln>
        </p:spPr>
      </p:sp>
      <p:sp>
        <p:nvSpPr>
          <p:cNvPr id="17" name="">
            <a:extLst xmlns:a="http://schemas.openxmlformats.org/drawingml/2006/main">
              <a:ext uri="{FF2B5EF4-FFF2-40B4-BE49-F238E27FC236}">
                <a16:creationId xmlns:a16="http://schemas.microsoft.com/office/drawing/2014/main" id="{5966802B-A61F-4DF3-9E08-C9A77663D7BD}"/>
              </a:ext>
            </a:extLst>
          </p:cNvPr>
          <p:cNvSpPr>
            <a:spLocks xmlns:a="http://schemas.openxmlformats.org/drawingml/2006/main" noGrp="1"/>
          </p:cNvSpPr>
          <p:nvPr/>
        </p:nvSpPr>
        <p:spPr>
          <a:xfrm xmlns:a="http://schemas.openxmlformats.org/drawingml/2006/main">
            <a:off x="7791450" y="253365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C75850"/>
                </a:solidFill>
              </a:defRPr>
            </a:pPr>
            <a:r>
              <a:rPr sz="2100" b="1" i="0">
                <a:solidFill>
                  <a:srgbClr val="C75850"/>
                </a:solidFill>
              </a:rPr>
              <a:t>E23</a:t>
            </a:r>
          </a:p>
        </p:txBody>
      </p:sp>
      <p:sp>
        <p:nvSpPr>
          <p:cNvPr id="18" name="">
            <a:extLst xmlns:a="http://schemas.openxmlformats.org/drawingml/2006/main">
              <a:ext uri="{FF2B5EF4-FFF2-40B4-BE49-F238E27FC236}">
                <a16:creationId xmlns:a16="http://schemas.microsoft.com/office/drawing/2014/main" id="{C4341990-2784-4A4F-8A0A-9DA7859D44F7}"/>
              </a:ext>
            </a:extLst>
          </p:cNvPr>
          <p:cNvSpPr>
            <a:spLocks xmlns:a="http://schemas.openxmlformats.org/drawingml/2006/main" noGrp="1"/>
          </p:cNvSpPr>
          <p:nvPr/>
        </p:nvSpPr>
        <p:spPr>
          <a:xfrm xmlns:a="http://schemas.openxmlformats.org/drawingml/2006/main">
            <a:off x="7791450" y="3105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32238"/>
                </a:solidFill>
              </a:defRPr>
            </a:pPr>
            <a:r>
              <a:rPr sz="1425" b="1" i="0">
                <a:solidFill>
                  <a:srgbClr val="132238"/>
                </a:solidFill>
              </a:rPr>
              <a:t>Broader capability</a:t>
            </a:r>
          </a:p>
        </p:txBody>
      </p:sp>
      <p:sp>
        <p:nvSpPr>
          <p:cNvPr id="19" name="">
            <a:extLst xmlns:a="http://schemas.openxmlformats.org/drawingml/2006/main">
              <a:ext uri="{FF2B5EF4-FFF2-40B4-BE49-F238E27FC236}">
                <a16:creationId xmlns:a16="http://schemas.microsoft.com/office/drawing/2014/main" id="{C2AF6894-0B25-4323-97E3-D82045863103}"/>
              </a:ext>
            </a:extLst>
          </p:cNvPr>
          <p:cNvSpPr>
            <a:spLocks xmlns:a="http://schemas.openxmlformats.org/drawingml/2006/main" noGrp="1"/>
          </p:cNvSpPr>
          <p:nvPr/>
        </p:nvSpPr>
        <p:spPr>
          <a:xfrm xmlns:a="http://schemas.openxmlformats.org/drawingml/2006/main">
            <a:off x="7791450" y="347662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F6E7B"/>
                </a:solidFill>
              </a:defRPr>
            </a:pPr>
            <a:r>
              <a:rPr sz="1125" b="0" i="0">
                <a:solidFill>
                  <a:srgbClr val="5F6E7B"/>
                </a:solidFill>
              </a:rPr>
              <a:t>E2 and E3 are merged for production reporting</a:t>
            </a:r>
          </a:p>
        </p:txBody>
      </p:sp>
      <p:sp>
        <p:nvSpPr>
          <p:cNvPr id="20" name="">
            <a:extLst xmlns:a="http://schemas.openxmlformats.org/drawingml/2006/main">
              <a:ext uri="{FF2B5EF4-FFF2-40B4-BE49-F238E27FC236}">
                <a16:creationId xmlns:a16="http://schemas.microsoft.com/office/drawing/2014/main" id="{DE637E20-C3DF-4E30-9A3A-389BACD20D1F}"/>
              </a:ext>
            </a:extLst>
          </p:cNvPr>
          <p:cNvSpPr>
            <a:spLocks xmlns:a="http://schemas.openxmlformats.org/drawingml/2006/main" noGrp="1"/>
          </p:cNvSpPr>
          <p:nvPr/>
        </p:nvSpPr>
        <p:spPr>
          <a:xfrm xmlns:a="http://schemas.openxmlformats.org/drawingml/2006/main">
            <a:off x="685800" y="46672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HEADLINE METRIC</a:t>
            </a:r>
          </a:p>
        </p:txBody>
      </p:sp>
      <p:sp>
        <p:nvSpPr>
          <p:cNvPr id="21" name="">
            <a:extLst xmlns:a="http://schemas.openxmlformats.org/drawingml/2006/main">
              <a:ext uri="{FF2B5EF4-FFF2-40B4-BE49-F238E27FC236}">
                <a16:creationId xmlns:a16="http://schemas.microsoft.com/office/drawing/2014/main" id="{14488C0F-627C-439A-B6A6-7681A946DEF8}"/>
              </a:ext>
            </a:extLst>
          </p:cNvPr>
          <p:cNvSpPr>
            <a:spLocks xmlns:a="http://schemas.openxmlformats.org/drawingml/2006/main" noGrp="1"/>
          </p:cNvSpPr>
          <p:nvPr/>
        </p:nvSpPr>
        <p:spPr>
          <a:xfrm xmlns:a="http://schemas.openxmlformats.org/drawingml/2006/main">
            <a:off x="685800" y="4972050"/>
            <a:ext cx="885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132238"/>
                </a:solidFill>
              </a:defRPr>
            </a:pPr>
            <a:r>
              <a:rPr sz="1875" b="1" i="0">
                <a:solidFill>
                  <a:srgbClr val="132238"/>
                </a:solidFill>
              </a:rPr>
              <a:t>E0 proportion = tasks rated as having no material AI impact</a:t>
            </a:r>
          </a:p>
        </p:txBody>
      </p:sp>
      <p:sp>
        <p:nvSpPr>
          <p:cNvPr id="22" name="">
            <a:extLst xmlns:a="http://schemas.openxmlformats.org/drawingml/2006/main">
              <a:ext uri="{FF2B5EF4-FFF2-40B4-BE49-F238E27FC236}">
                <a16:creationId xmlns:a16="http://schemas.microsoft.com/office/drawing/2014/main" id="{3696EED6-DEDC-454F-ACEB-810608F1987D}"/>
              </a:ext>
            </a:extLst>
          </p:cNvPr>
          <p:cNvSpPr>
            <a:spLocks xmlns:a="http://schemas.openxmlformats.org/drawingml/2006/main" noGrp="1"/>
          </p:cNvSpPr>
          <p:nvPr/>
        </p:nvSpPr>
        <p:spPr>
          <a:xfrm xmlns:a="http://schemas.openxmlformats.org/drawingml/2006/main">
            <a:off x="685800" y="54292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F6E7B"/>
                </a:solidFill>
              </a:defRPr>
            </a:pPr>
            <a:r>
              <a:rPr sz="1125" b="0" i="0">
                <a:solidFill>
                  <a:srgbClr val="5F6E7B"/>
                </a:solidFill>
              </a:rPr>
              <a:t>Everything not rated E0 is counted as AI-impacted in this deck. Full E0/E1/E2/E3 movements are in the appendix.</a:t>
            </a:r>
          </a:p>
        </p:txBody>
      </p:sp>
    </p:spTree>
    <p:extLst>
      <p:ext uri="{BB962C8B-B14F-4D97-AF65-F5344CB8AC3E}">
        <p14:creationId xmlns:p14="http://schemas.microsoft.com/office/powerpoint/2010/main" val="1255534300"/>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3596E4B-D17E-41AC-998E-EB6C638EFF9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EFFB2964-A1F1-4D0B-8440-BA633EC1C5E1}"/>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HOW THE STUDY WAS MADE FAIR</a:t>
            </a:r>
          </a:p>
        </p:txBody>
      </p:sp>
      <p:sp>
        <p:nvSpPr>
          <p:cNvPr id="3" name="">
            <a:extLst xmlns:a="http://schemas.openxmlformats.org/drawingml/2006/main">
              <a:ext uri="{FF2B5EF4-FFF2-40B4-BE49-F238E27FC236}">
                <a16:creationId xmlns:a16="http://schemas.microsoft.com/office/drawing/2014/main" id="{7DE9F7E4-05CA-4D43-AC17-778B6FE7F375}"/>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Every scoring method saw the same matched task panel</a:t>
            </a:r>
          </a:p>
        </p:txBody>
      </p:sp>
      <p:sp>
        <p:nvSpPr>
          <p:cNvPr id="4" name="">
            <a:extLst xmlns:a="http://schemas.openxmlformats.org/drawingml/2006/main">
              <a:ext uri="{FF2B5EF4-FFF2-40B4-BE49-F238E27FC236}">
                <a16:creationId xmlns:a16="http://schemas.microsoft.com/office/drawing/2014/main" id="{F939E1F6-D3E1-44EA-AB76-43FB2904F94C}"/>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Sampling did not use historical or new labels. Each raw parent and linked normalized/decomposed task was scored in every relevant condition.</a:t>
            </a:r>
          </a:p>
        </p:txBody>
      </p:sp>
      <p:sp>
        <p:nvSpPr>
          <p:cNvPr id="5" name="">
            <a:extLst xmlns:a="http://schemas.openxmlformats.org/drawingml/2006/main">
              <a:ext uri="{FF2B5EF4-FFF2-40B4-BE49-F238E27FC236}">
                <a16:creationId xmlns:a16="http://schemas.microsoft.com/office/drawing/2014/main" id="{6B36C844-F58F-426A-BA64-26EC2DA484C5}"/>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337936E9-4552-49DD-A427-538AD58948AA}"/>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EA02CAC1-6FC9-4801-96F7-AA384FF20192}"/>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06</a:t>
            </a:r>
          </a:p>
        </p:txBody>
      </p:sp>
      <p:sp>
        <p:nvSpPr>
          <p:cNvPr id="8" name="">
            <a:extLst xmlns:a="http://schemas.openxmlformats.org/drawingml/2006/main">
              <a:ext uri="{FF2B5EF4-FFF2-40B4-BE49-F238E27FC236}">
                <a16:creationId xmlns:a16="http://schemas.microsoft.com/office/drawing/2014/main" id="{0E9920CA-FC47-4958-BB97-F2E54F0D3127}"/>
              </a:ext>
            </a:extLst>
          </p:cNvPr>
          <p:cNvSpPr>
            <a:spLocks xmlns:a="http://schemas.openxmlformats.org/drawingml/2006/main" noGrp="1"/>
          </p:cNvSpPr>
          <p:nvPr/>
        </p:nvSpPr>
        <p:spPr>
          <a:xfrm xmlns:a="http://schemas.openxmlformats.org/drawingml/2006/main">
            <a:off x="685800" y="2381250"/>
            <a:ext cx="190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i="0">
                <a:solidFill>
                  <a:srgbClr val="087A76"/>
                </a:solidFill>
              </a:defRPr>
            </a:pPr>
            <a:r>
              <a:rPr sz="3450" b="1" i="0">
                <a:solidFill>
                  <a:srgbClr val="087A76"/>
                </a:solidFill>
              </a:rPr>
              <a:t>3</a:t>
            </a:r>
          </a:p>
        </p:txBody>
      </p:sp>
      <p:sp>
        <p:nvSpPr>
          <p:cNvPr id="9" name="">
            <a:extLst xmlns:a="http://schemas.openxmlformats.org/drawingml/2006/main">
              <a:ext uri="{FF2B5EF4-FFF2-40B4-BE49-F238E27FC236}">
                <a16:creationId xmlns:a16="http://schemas.microsoft.com/office/drawing/2014/main" id="{F7AF9676-F2C1-431B-9902-64E49A19C167}"/>
              </a:ext>
            </a:extLst>
          </p:cNvPr>
          <p:cNvSpPr>
            <a:spLocks xmlns:a="http://schemas.openxmlformats.org/drawingml/2006/main" noGrp="1"/>
          </p:cNvSpPr>
          <p:nvPr/>
        </p:nvSpPr>
        <p:spPr>
          <a:xfrm xmlns:a="http://schemas.openxmlformats.org/drawingml/2006/main">
            <a:off x="685800" y="2981325"/>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32238"/>
                </a:solidFill>
              </a:defRPr>
            </a:pPr>
            <a:r>
              <a:rPr sz="1200" b="1" i="0">
                <a:solidFill>
                  <a:srgbClr val="132238"/>
                </a:solidFill>
              </a:rPr>
              <a:t>Scoring-guidance conditions</a:t>
            </a:r>
          </a:p>
        </p:txBody>
      </p:sp>
      <p:sp>
        <p:nvSpPr>
          <p:cNvPr id="10" name="">
            <a:extLst xmlns:a="http://schemas.openxmlformats.org/drawingml/2006/main">
              <a:ext uri="{FF2B5EF4-FFF2-40B4-BE49-F238E27FC236}">
                <a16:creationId xmlns:a16="http://schemas.microsoft.com/office/drawing/2014/main" id="{84B147EB-A42C-42E3-AE74-B36632920633}"/>
              </a:ext>
            </a:extLst>
          </p:cNvPr>
          <p:cNvSpPr>
            <a:spLocks xmlns:a="http://schemas.openxmlformats.org/drawingml/2006/main" noGrp="1"/>
          </p:cNvSpPr>
          <p:nvPr/>
        </p:nvSpPr>
        <p:spPr>
          <a:xfrm xmlns:a="http://schemas.openxmlformats.org/drawingml/2006/main">
            <a:off x="3257550" y="2381250"/>
            <a:ext cx="190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i="0">
                <a:solidFill>
                  <a:srgbClr val="D9771F"/>
                </a:solidFill>
              </a:defRPr>
            </a:pPr>
            <a:r>
              <a:rPr sz="3450" b="1" i="0">
                <a:solidFill>
                  <a:srgbClr val="D9771F"/>
                </a:solidFill>
              </a:rPr>
              <a:t>2</a:t>
            </a:r>
          </a:p>
        </p:txBody>
      </p:sp>
      <p:sp>
        <p:nvSpPr>
          <p:cNvPr id="11" name="">
            <a:extLst xmlns:a="http://schemas.openxmlformats.org/drawingml/2006/main">
              <a:ext uri="{FF2B5EF4-FFF2-40B4-BE49-F238E27FC236}">
                <a16:creationId xmlns:a16="http://schemas.microsoft.com/office/drawing/2014/main" id="{912BC11F-1847-4C42-AF94-55E4AC553239}"/>
              </a:ext>
            </a:extLst>
          </p:cNvPr>
          <p:cNvSpPr>
            <a:spLocks xmlns:a="http://schemas.openxmlformats.org/drawingml/2006/main" noGrp="1"/>
          </p:cNvSpPr>
          <p:nvPr/>
        </p:nvSpPr>
        <p:spPr>
          <a:xfrm xmlns:a="http://schemas.openxmlformats.org/drawingml/2006/main">
            <a:off x="3257550" y="2981325"/>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32238"/>
                </a:solidFill>
              </a:defRPr>
            </a:pPr>
            <a:r>
              <a:rPr sz="1200" b="1" i="0">
                <a:solidFill>
                  <a:srgbClr val="132238"/>
                </a:solidFill>
              </a:rPr>
              <a:t>LLM versions</a:t>
            </a:r>
          </a:p>
        </p:txBody>
      </p:sp>
      <p:sp>
        <p:nvSpPr>
          <p:cNvPr id="12" name="">
            <a:extLst xmlns:a="http://schemas.openxmlformats.org/drawingml/2006/main">
              <a:ext uri="{FF2B5EF4-FFF2-40B4-BE49-F238E27FC236}">
                <a16:creationId xmlns:a16="http://schemas.microsoft.com/office/drawing/2014/main" id="{C7FDD284-1E90-47D0-9956-756BDBC2334C}"/>
              </a:ext>
            </a:extLst>
          </p:cNvPr>
          <p:cNvSpPr>
            <a:spLocks xmlns:a="http://schemas.openxmlformats.org/drawingml/2006/main" noGrp="1"/>
          </p:cNvSpPr>
          <p:nvPr/>
        </p:nvSpPr>
        <p:spPr>
          <a:xfrm xmlns:a="http://schemas.openxmlformats.org/drawingml/2006/main">
            <a:off x="5829300" y="2381250"/>
            <a:ext cx="190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i="0">
                <a:solidFill>
                  <a:srgbClr val="24547A"/>
                </a:solidFill>
              </a:defRPr>
            </a:pPr>
            <a:r>
              <a:rPr sz="3450" b="1" i="0">
                <a:solidFill>
                  <a:srgbClr val="24547A"/>
                </a:solidFill>
              </a:rPr>
              <a:t>2</a:t>
            </a:r>
          </a:p>
        </p:txBody>
      </p:sp>
      <p:sp>
        <p:nvSpPr>
          <p:cNvPr id="13" name="">
            <a:extLst xmlns:a="http://schemas.openxmlformats.org/drawingml/2006/main">
              <a:ext uri="{FF2B5EF4-FFF2-40B4-BE49-F238E27FC236}">
                <a16:creationId xmlns:a16="http://schemas.microsoft.com/office/drawing/2014/main" id="{4AFA0094-BD9C-4307-9096-D2FAAF0E4F62}"/>
              </a:ext>
            </a:extLst>
          </p:cNvPr>
          <p:cNvSpPr>
            <a:spLocks xmlns:a="http://schemas.openxmlformats.org/drawingml/2006/main" noGrp="1"/>
          </p:cNvSpPr>
          <p:nvPr/>
        </p:nvSpPr>
        <p:spPr>
          <a:xfrm xmlns:a="http://schemas.openxmlformats.org/drawingml/2006/main">
            <a:off x="5829300" y="2981325"/>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32238"/>
                </a:solidFill>
              </a:defRPr>
            </a:pPr>
            <a:r>
              <a:rPr sz="1200" b="1" i="0">
                <a:solidFill>
                  <a:srgbClr val="132238"/>
                </a:solidFill>
              </a:rPr>
              <a:t>Task formats</a:t>
            </a:r>
          </a:p>
        </p:txBody>
      </p:sp>
      <p:sp>
        <p:nvSpPr>
          <p:cNvPr id="14" name="">
            <a:extLst xmlns:a="http://schemas.openxmlformats.org/drawingml/2006/main">
              <a:ext uri="{FF2B5EF4-FFF2-40B4-BE49-F238E27FC236}">
                <a16:creationId xmlns:a16="http://schemas.microsoft.com/office/drawing/2014/main" id="{F8F1109F-1826-470F-814A-24FE5175E754}"/>
              </a:ext>
            </a:extLst>
          </p:cNvPr>
          <p:cNvSpPr>
            <a:spLocks xmlns:a="http://schemas.openxmlformats.org/drawingml/2006/main" noGrp="1"/>
          </p:cNvSpPr>
          <p:nvPr/>
        </p:nvSpPr>
        <p:spPr>
          <a:xfrm xmlns:a="http://schemas.openxmlformats.org/drawingml/2006/main">
            <a:off x="8401050" y="2381250"/>
            <a:ext cx="190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i="0">
                <a:solidFill>
                  <a:srgbClr val="C75850"/>
                </a:solidFill>
              </a:defRPr>
            </a:pPr>
            <a:r>
              <a:rPr sz="3450" b="1" i="0">
                <a:solidFill>
                  <a:srgbClr val="C75850"/>
                </a:solidFill>
              </a:rPr>
              <a:t>12</a:t>
            </a:r>
          </a:p>
        </p:txBody>
      </p:sp>
      <p:sp>
        <p:nvSpPr>
          <p:cNvPr id="15" name="">
            <a:extLst xmlns:a="http://schemas.openxmlformats.org/drawingml/2006/main">
              <a:ext uri="{FF2B5EF4-FFF2-40B4-BE49-F238E27FC236}">
                <a16:creationId xmlns:a16="http://schemas.microsoft.com/office/drawing/2014/main" id="{FEE9E32C-DA50-4F81-8AC7-FC805BCF4E1B}"/>
              </a:ext>
            </a:extLst>
          </p:cNvPr>
          <p:cNvSpPr>
            <a:spLocks xmlns:a="http://schemas.openxmlformats.org/drawingml/2006/main" noGrp="1"/>
          </p:cNvSpPr>
          <p:nvPr/>
        </p:nvSpPr>
        <p:spPr>
          <a:xfrm xmlns:a="http://schemas.openxmlformats.org/drawingml/2006/main">
            <a:off x="8401050" y="2981325"/>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32238"/>
                </a:solidFill>
              </a:defRPr>
            </a:pPr>
            <a:r>
              <a:rPr sz="1200" b="1" i="0">
                <a:solidFill>
                  <a:srgbClr val="132238"/>
                </a:solidFill>
              </a:rPr>
              <a:t>Experimental cells</a:t>
            </a:r>
          </a:p>
        </p:txBody>
      </p:sp>
      <p:sp>
        <p:nvSpPr>
          <p:cNvPr id="16" name="">
            <a:extLst xmlns:a="http://schemas.openxmlformats.org/drawingml/2006/main">
              <a:ext uri="{FF2B5EF4-FFF2-40B4-BE49-F238E27FC236}">
                <a16:creationId xmlns:a16="http://schemas.microsoft.com/office/drawing/2014/main" id="{0D3B89D9-345C-4AB0-9CE6-17BFD15E45E3}"/>
              </a:ext>
            </a:extLst>
          </p:cNvPr>
          <p:cNvSpPr>
            <a:spLocks xmlns:a="http://schemas.openxmlformats.org/drawingml/2006/main" noGrp="1"/>
          </p:cNvSpPr>
          <p:nvPr/>
        </p:nvSpPr>
        <p:spPr>
          <a:xfrm xmlns:a="http://schemas.openxmlformats.org/drawingml/2006/main">
            <a:off x="685800" y="3714750"/>
            <a:ext cx="101727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7" name="">
            <a:extLst xmlns:a="http://schemas.openxmlformats.org/drawingml/2006/main">
              <a:ext uri="{FF2B5EF4-FFF2-40B4-BE49-F238E27FC236}">
                <a16:creationId xmlns:a16="http://schemas.microsoft.com/office/drawing/2014/main" id="{A76E6F15-B750-4B08-9B53-FFEF4FB81192}"/>
              </a:ext>
            </a:extLst>
          </p:cNvPr>
          <p:cNvSpPr>
            <a:spLocks xmlns:a="http://schemas.openxmlformats.org/drawingml/2006/main" noGrp="1"/>
          </p:cNvSpPr>
          <p:nvPr/>
        </p:nvSpPr>
        <p:spPr>
          <a:xfrm xmlns:a="http://schemas.openxmlformats.org/drawingml/2006/main">
            <a:off x="685800" y="40386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87A76"/>
                </a:solidFill>
              </a:defRPr>
            </a:pPr>
            <a:r>
              <a:rPr sz="825" b="1" i="0">
                <a:solidFill>
                  <a:srgbClr val="087A76"/>
                </a:solidFill>
              </a:rPr>
              <a:t>MATCHED ORIGINAL TASKS</a:t>
            </a:r>
          </a:p>
        </p:txBody>
      </p:sp>
      <p:sp>
        <p:nvSpPr>
          <p:cNvPr id="18" name="">
            <a:extLst xmlns:a="http://schemas.openxmlformats.org/drawingml/2006/main">
              <a:ext uri="{FF2B5EF4-FFF2-40B4-BE49-F238E27FC236}">
                <a16:creationId xmlns:a16="http://schemas.microsoft.com/office/drawing/2014/main" id="{BBA0093B-28B6-41BA-BA2D-829FFA676C08}"/>
              </a:ext>
            </a:extLst>
          </p:cNvPr>
          <p:cNvSpPr>
            <a:spLocks xmlns:a="http://schemas.openxmlformats.org/drawingml/2006/main" noGrp="1"/>
          </p:cNvSpPr>
          <p:nvPr/>
        </p:nvSpPr>
        <p:spPr>
          <a:xfrm xmlns:a="http://schemas.openxmlformats.org/drawingml/2006/main">
            <a:off x="685800" y="42767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132238"/>
                </a:solidFill>
              </a:defRPr>
            </a:pPr>
            <a:r>
              <a:rPr sz="2250" b="1" i="0">
                <a:solidFill>
                  <a:srgbClr val="132238"/>
                </a:solidFill>
              </a:rPr>
              <a:t>978</a:t>
            </a:r>
          </a:p>
        </p:txBody>
      </p:sp>
      <p:sp>
        <p:nvSpPr>
          <p:cNvPr id="19" name="">
            <a:extLst xmlns:a="http://schemas.openxmlformats.org/drawingml/2006/main">
              <a:ext uri="{FF2B5EF4-FFF2-40B4-BE49-F238E27FC236}">
                <a16:creationId xmlns:a16="http://schemas.microsoft.com/office/drawing/2014/main" id="{0B493241-B5D0-4550-95A6-EBA85FA49639}"/>
              </a:ext>
            </a:extLst>
          </p:cNvPr>
          <p:cNvSpPr>
            <a:spLocks xmlns:a="http://schemas.openxmlformats.org/drawingml/2006/main" noGrp="1"/>
          </p:cNvSpPr>
          <p:nvPr/>
        </p:nvSpPr>
        <p:spPr>
          <a:xfrm xmlns:a="http://schemas.openxmlformats.org/drawingml/2006/main">
            <a:off x="685800" y="4686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E7B"/>
                </a:solidFill>
              </a:defRPr>
            </a:pPr>
            <a:r>
              <a:rPr sz="975" b="0" i="0">
                <a:solidFill>
                  <a:srgbClr val="5F6E7B"/>
                </a:solidFill>
              </a:rPr>
              <a:t>same task panel across methods</a:t>
            </a:r>
          </a:p>
        </p:txBody>
      </p:sp>
      <p:sp>
        <p:nvSpPr>
          <p:cNvPr id="20" name="">
            <a:extLst xmlns:a="http://schemas.openxmlformats.org/drawingml/2006/main">
              <a:ext uri="{FF2B5EF4-FFF2-40B4-BE49-F238E27FC236}">
                <a16:creationId xmlns:a16="http://schemas.microsoft.com/office/drawing/2014/main" id="{EAAEB4CB-30D9-4E7A-8C14-05E9E482264E}"/>
              </a:ext>
            </a:extLst>
          </p:cNvPr>
          <p:cNvSpPr>
            <a:spLocks xmlns:a="http://schemas.openxmlformats.org/drawingml/2006/main" noGrp="1"/>
          </p:cNvSpPr>
          <p:nvPr/>
        </p:nvSpPr>
        <p:spPr>
          <a:xfrm xmlns:a="http://schemas.openxmlformats.org/drawingml/2006/main">
            <a:off x="3429000" y="40386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24547A"/>
                </a:solidFill>
              </a:defRPr>
            </a:pPr>
            <a:r>
              <a:rPr sz="825" b="1" i="0">
                <a:solidFill>
                  <a:srgbClr val="24547A"/>
                </a:solidFill>
              </a:rPr>
              <a:t>LINKED NORMALIZED/DECOMPOSED TASKS</a:t>
            </a:r>
          </a:p>
        </p:txBody>
      </p:sp>
      <p:sp>
        <p:nvSpPr>
          <p:cNvPr id="21" name="">
            <a:extLst xmlns:a="http://schemas.openxmlformats.org/drawingml/2006/main">
              <a:ext uri="{FF2B5EF4-FFF2-40B4-BE49-F238E27FC236}">
                <a16:creationId xmlns:a16="http://schemas.microsoft.com/office/drawing/2014/main" id="{57188A29-CB34-4C1F-9271-FE31A110E355}"/>
              </a:ext>
            </a:extLst>
          </p:cNvPr>
          <p:cNvSpPr>
            <a:spLocks xmlns:a="http://schemas.openxmlformats.org/drawingml/2006/main" noGrp="1"/>
          </p:cNvSpPr>
          <p:nvPr/>
        </p:nvSpPr>
        <p:spPr>
          <a:xfrm xmlns:a="http://schemas.openxmlformats.org/drawingml/2006/main">
            <a:off x="3429000" y="42767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132238"/>
                </a:solidFill>
              </a:defRPr>
            </a:pPr>
            <a:r>
              <a:rPr sz="2250" b="1" i="0">
                <a:solidFill>
                  <a:srgbClr val="132238"/>
                </a:solidFill>
              </a:rPr>
              <a:t>1,696</a:t>
            </a:r>
          </a:p>
        </p:txBody>
      </p:sp>
      <p:sp>
        <p:nvSpPr>
          <p:cNvPr id="22" name="">
            <a:extLst xmlns:a="http://schemas.openxmlformats.org/drawingml/2006/main">
              <a:ext uri="{FF2B5EF4-FFF2-40B4-BE49-F238E27FC236}">
                <a16:creationId xmlns:a16="http://schemas.microsoft.com/office/drawing/2014/main" id="{AC4718C2-BE44-4661-9265-4384933A3B96}"/>
              </a:ext>
            </a:extLst>
          </p:cNvPr>
          <p:cNvSpPr>
            <a:spLocks xmlns:a="http://schemas.openxmlformats.org/drawingml/2006/main" noGrp="1"/>
          </p:cNvSpPr>
          <p:nvPr/>
        </p:nvSpPr>
        <p:spPr>
          <a:xfrm xmlns:a="http://schemas.openxmlformats.org/drawingml/2006/main">
            <a:off x="3429000" y="46863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E7B"/>
                </a:solidFill>
              </a:defRPr>
            </a:pPr>
            <a:r>
              <a:rPr sz="975" b="0" i="0">
                <a:solidFill>
                  <a:srgbClr val="5F6E7B"/>
                </a:solidFill>
              </a:rPr>
              <a:t>kept linked to each parent</a:t>
            </a:r>
          </a:p>
        </p:txBody>
      </p:sp>
      <p:sp>
        <p:nvSpPr>
          <p:cNvPr id="23" name="">
            <a:extLst xmlns:a="http://schemas.openxmlformats.org/drawingml/2006/main">
              <a:ext uri="{FF2B5EF4-FFF2-40B4-BE49-F238E27FC236}">
                <a16:creationId xmlns:a16="http://schemas.microsoft.com/office/drawing/2014/main" id="{BEA27D6B-3FBC-4250-8501-0C1DA4C70D95}"/>
              </a:ext>
            </a:extLst>
          </p:cNvPr>
          <p:cNvSpPr>
            <a:spLocks xmlns:a="http://schemas.openxmlformats.org/drawingml/2006/main" noGrp="1"/>
          </p:cNvSpPr>
          <p:nvPr/>
        </p:nvSpPr>
        <p:spPr>
          <a:xfrm xmlns:a="http://schemas.openxmlformats.org/drawingml/2006/main">
            <a:off x="6858000" y="40386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C75850"/>
                </a:solidFill>
              </a:defRPr>
            </a:pPr>
            <a:r>
              <a:rPr sz="825" b="1" i="0">
                <a:solidFill>
                  <a:srgbClr val="C75850"/>
                </a:solidFill>
              </a:rPr>
              <a:t>COMPLETED LLM CALLS</a:t>
            </a:r>
          </a:p>
        </p:txBody>
      </p:sp>
      <p:sp>
        <p:nvSpPr>
          <p:cNvPr id="24" name="">
            <a:extLst xmlns:a="http://schemas.openxmlformats.org/drawingml/2006/main">
              <a:ext uri="{FF2B5EF4-FFF2-40B4-BE49-F238E27FC236}">
                <a16:creationId xmlns:a16="http://schemas.microsoft.com/office/drawing/2014/main" id="{9DB0E4D8-76D2-4C96-B5BE-10C259478AE3}"/>
              </a:ext>
            </a:extLst>
          </p:cNvPr>
          <p:cNvSpPr>
            <a:spLocks xmlns:a="http://schemas.openxmlformats.org/drawingml/2006/main" noGrp="1"/>
          </p:cNvSpPr>
          <p:nvPr/>
        </p:nvSpPr>
        <p:spPr>
          <a:xfrm xmlns:a="http://schemas.openxmlformats.org/drawingml/2006/main">
            <a:off x="6858000" y="427672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132238"/>
                </a:solidFill>
              </a:defRPr>
            </a:pPr>
            <a:r>
              <a:rPr sz="2250" b="1" i="0">
                <a:solidFill>
                  <a:srgbClr val="132238"/>
                </a:solidFill>
              </a:rPr>
              <a:t>16,044</a:t>
            </a:r>
          </a:p>
        </p:txBody>
      </p:sp>
      <p:sp>
        <p:nvSpPr>
          <p:cNvPr id="25" name="">
            <a:extLst xmlns:a="http://schemas.openxmlformats.org/drawingml/2006/main">
              <a:ext uri="{FF2B5EF4-FFF2-40B4-BE49-F238E27FC236}">
                <a16:creationId xmlns:a16="http://schemas.microsoft.com/office/drawing/2014/main" id="{3E25C4F5-C780-4DC6-A88E-73F8FA98D757}"/>
              </a:ext>
            </a:extLst>
          </p:cNvPr>
          <p:cNvSpPr>
            <a:spLocks xmlns:a="http://schemas.openxmlformats.org/drawingml/2006/main" noGrp="1"/>
          </p:cNvSpPr>
          <p:nvPr/>
        </p:nvSpPr>
        <p:spPr>
          <a:xfrm xmlns:a="http://schemas.openxmlformats.org/drawingml/2006/main">
            <a:off x="6858000" y="46863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E7B"/>
                </a:solidFill>
              </a:defRPr>
            </a:pPr>
            <a:r>
              <a:rPr sz="975" b="0" i="0">
                <a:solidFill>
                  <a:srgbClr val="5F6E7B"/>
                </a:solidFill>
              </a:rPr>
              <a:t>all cells complete</a:t>
            </a:r>
          </a:p>
        </p:txBody>
      </p:sp>
      <p:sp>
        <p:nvSpPr>
          <p:cNvPr id="26" name="">
            <a:extLst xmlns:a="http://schemas.openxmlformats.org/drawingml/2006/main">
              <a:ext uri="{FF2B5EF4-FFF2-40B4-BE49-F238E27FC236}">
                <a16:creationId xmlns:a16="http://schemas.microsoft.com/office/drawing/2014/main" id="{8DE6D081-37EB-4302-8618-91D87F679F89}"/>
              </a:ext>
            </a:extLst>
          </p:cNvPr>
          <p:cNvSpPr>
            <a:spLocks xmlns:a="http://schemas.openxmlformats.org/drawingml/2006/main" noGrp="1"/>
          </p:cNvSpPr>
          <p:nvPr/>
        </p:nvSpPr>
        <p:spPr>
          <a:xfrm xmlns:a="http://schemas.openxmlformats.org/drawingml/2006/main">
            <a:off x="685800" y="5391150"/>
            <a:ext cx="10172700" cy="552450"/>
          </a:xfrm>
          <a:prstGeom xmlns:a="http://schemas.openxmlformats.org/drawingml/2006/main" prst="rect">
            <a:avLst/>
          </a:prstGeom>
          <a:solidFill xmlns:a="http://schemas.openxmlformats.org/drawingml/2006/main">
            <a:srgbClr val="E8EEF4"/>
          </a:solidFill>
          <a:ln xmlns:a="http://schemas.openxmlformats.org/drawingml/2006/main" w="5715">
            <a:solidFill>
              <a:srgbClr val="E8EEF4"/>
            </a:solidFill>
            <a:prstDash val="solid"/>
          </a:ln>
        </p:spPr>
      </p:sp>
      <p:sp>
        <p:nvSpPr>
          <p:cNvPr id="27" name="">
            <a:extLst xmlns:a="http://schemas.openxmlformats.org/drawingml/2006/main">
              <a:ext uri="{FF2B5EF4-FFF2-40B4-BE49-F238E27FC236}">
                <a16:creationId xmlns:a16="http://schemas.microsoft.com/office/drawing/2014/main" id="{EFDECC90-6F61-4527-BC65-8AB4CDA20E8A}"/>
              </a:ext>
            </a:extLst>
          </p:cNvPr>
          <p:cNvSpPr>
            <a:spLocks xmlns:a="http://schemas.openxmlformats.org/drawingml/2006/main" noGrp="1"/>
          </p:cNvSpPr>
          <p:nvPr/>
        </p:nvSpPr>
        <p:spPr>
          <a:xfrm xmlns:a="http://schemas.openxmlformats.org/drawingml/2006/main">
            <a:off x="685800" y="5391150"/>
            <a:ext cx="76200" cy="552450"/>
          </a:xfrm>
          <a:prstGeom xmlns:a="http://schemas.openxmlformats.org/drawingml/2006/main" prst="rect">
            <a:avLst/>
          </a:prstGeom>
          <a:solidFill xmlns:a="http://schemas.openxmlformats.org/drawingml/2006/main">
            <a:srgbClr val="24547A"/>
          </a:solidFill>
          <a:ln xmlns:a="http://schemas.openxmlformats.org/drawingml/2006/main" w="5715">
            <a:solidFill>
              <a:srgbClr val="24547A"/>
            </a:solidFill>
            <a:prstDash val="solid"/>
          </a:ln>
        </p:spPr>
      </p:sp>
      <p:sp>
        <p:nvSpPr>
          <p:cNvPr id="28" name="">
            <a:extLst xmlns:a="http://schemas.openxmlformats.org/drawingml/2006/main">
              <a:ext uri="{FF2B5EF4-FFF2-40B4-BE49-F238E27FC236}">
                <a16:creationId xmlns:a16="http://schemas.microsoft.com/office/drawing/2014/main" id="{1089004C-2128-43C3-B16B-A6148EE4982F}"/>
              </a:ext>
            </a:extLst>
          </p:cNvPr>
          <p:cNvSpPr>
            <a:spLocks xmlns:a="http://schemas.openxmlformats.org/drawingml/2006/main" noGrp="1"/>
          </p:cNvSpPr>
          <p:nvPr/>
        </p:nvSpPr>
        <p:spPr>
          <a:xfrm xmlns:a="http://schemas.openxmlformats.org/drawingml/2006/main">
            <a:off x="952500" y="5524500"/>
            <a:ext cx="9696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238"/>
                </a:solidFill>
              </a:defRPr>
            </a:pPr>
            <a:r>
              <a:rPr sz="1275" b="1" i="0">
                <a:solidFill>
                  <a:srgbClr val="132238"/>
                </a:solidFill>
              </a:rPr>
              <a:t>Guidance and model comparisons use identical tasks. Task-format comparisons use equal parent weighting.</a:t>
            </a:r>
          </a:p>
        </p:txBody>
      </p:sp>
    </p:spTree>
    <p:extLst>
      <p:ext uri="{BB962C8B-B14F-4D97-AF65-F5344CB8AC3E}">
        <p14:creationId xmlns:p14="http://schemas.microsoft.com/office/powerpoint/2010/main" val="770731995"/>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0AA0D86-B7B7-4DC5-9C36-11E1FA4BA23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1B3A0A8D-9511-455C-B157-F7BAA0014DCE}"/>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HOW TO READ THE COMPARISONS</a:t>
            </a:r>
          </a:p>
        </p:txBody>
      </p:sp>
      <p:sp>
        <p:nvSpPr>
          <p:cNvPr id="3" name="">
            <a:extLst xmlns:a="http://schemas.openxmlformats.org/drawingml/2006/main">
              <a:ext uri="{FF2B5EF4-FFF2-40B4-BE49-F238E27FC236}">
                <a16:creationId xmlns:a16="http://schemas.microsoft.com/office/drawing/2014/main" id="{52B7C6DD-5C0B-40F6-A59D-50AB832A1DE7}"/>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E0 proportion is the headline outcome; scoring guidance has three tested levels</a:t>
            </a:r>
          </a:p>
        </p:txBody>
      </p:sp>
      <p:sp>
        <p:nvSpPr>
          <p:cNvPr id="4" name="">
            <a:extLst xmlns:a="http://schemas.openxmlformats.org/drawingml/2006/main">
              <a:ext uri="{FF2B5EF4-FFF2-40B4-BE49-F238E27FC236}">
                <a16:creationId xmlns:a16="http://schemas.microsoft.com/office/drawing/2014/main" id="{F8A1C207-4359-4E53-A37B-EADE8A9EB549}"/>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E0 is the clearest single summary of AI impact, while E1 and E23 remain available for the full distribution.</a:t>
            </a:r>
          </a:p>
        </p:txBody>
      </p:sp>
      <p:sp>
        <p:nvSpPr>
          <p:cNvPr id="5" name="">
            <a:extLst xmlns:a="http://schemas.openxmlformats.org/drawingml/2006/main">
              <a:ext uri="{FF2B5EF4-FFF2-40B4-BE49-F238E27FC236}">
                <a16:creationId xmlns:a16="http://schemas.microsoft.com/office/drawing/2014/main" id="{56394AE8-E99A-46C1-881E-17DB5D465BD4}"/>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B181679B-499D-4453-89B0-F35BA76D277F}"/>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3DD016F9-4D19-4691-B522-FF1FB7CCB3F4}"/>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07</a:t>
            </a:r>
          </a:p>
        </p:txBody>
      </p:sp>
      <p:sp>
        <p:nvSpPr>
          <p:cNvPr id="8" name="">
            <a:extLst xmlns:a="http://schemas.openxmlformats.org/drawingml/2006/main">
              <a:ext uri="{FF2B5EF4-FFF2-40B4-BE49-F238E27FC236}">
                <a16:creationId xmlns:a16="http://schemas.microsoft.com/office/drawing/2014/main" id="{B13DD3D2-FEC6-464E-A0B5-A2F62F785D80}"/>
              </a:ext>
            </a:extLst>
          </p:cNvPr>
          <p:cNvSpPr>
            <a:spLocks xmlns:a="http://schemas.openxmlformats.org/drawingml/2006/main" noGrp="1"/>
          </p:cNvSpPr>
          <p:nvPr/>
        </p:nvSpPr>
        <p:spPr>
          <a:xfrm xmlns:a="http://schemas.openxmlformats.org/drawingml/2006/main">
            <a:off x="685800" y="2324100"/>
            <a:ext cx="4762500" cy="2381250"/>
          </a:xfrm>
          <a:prstGeom xmlns:a="http://schemas.openxmlformats.org/drawingml/2006/main" prst="rect">
            <a:avLst/>
          </a:prstGeom>
          <a:solidFill xmlns:a="http://schemas.openxmlformats.org/drawingml/2006/main">
            <a:srgbClr val="E1F0EC"/>
          </a:solidFill>
          <a:ln xmlns:a="http://schemas.openxmlformats.org/drawingml/2006/main" w="5715">
            <a:solidFill>
              <a:srgbClr val="E1F0EC"/>
            </a:solidFill>
            <a:prstDash val="solid"/>
          </a:ln>
        </p:spPr>
      </p:sp>
      <p:sp>
        <p:nvSpPr>
          <p:cNvPr id="9" name="">
            <a:extLst xmlns:a="http://schemas.openxmlformats.org/drawingml/2006/main">
              <a:ext uri="{FF2B5EF4-FFF2-40B4-BE49-F238E27FC236}">
                <a16:creationId xmlns:a16="http://schemas.microsoft.com/office/drawing/2014/main" id="{2C569760-DE96-4E35-BB9E-C51E20EC82B4}"/>
              </a:ext>
            </a:extLst>
          </p:cNvPr>
          <p:cNvSpPr>
            <a:spLocks xmlns:a="http://schemas.openxmlformats.org/drawingml/2006/main" noGrp="1"/>
          </p:cNvSpPr>
          <p:nvPr/>
        </p:nvSpPr>
        <p:spPr>
          <a:xfrm xmlns:a="http://schemas.openxmlformats.org/drawingml/2006/main">
            <a:off x="933450" y="2571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WHY E0 IS THE HEADLINE</a:t>
            </a:r>
          </a:p>
        </p:txBody>
      </p:sp>
      <p:sp>
        <p:nvSpPr>
          <p:cNvPr id="10" name="">
            <a:extLst xmlns:a="http://schemas.openxmlformats.org/drawingml/2006/main">
              <a:ext uri="{FF2B5EF4-FFF2-40B4-BE49-F238E27FC236}">
                <a16:creationId xmlns:a16="http://schemas.microsoft.com/office/drawing/2014/main" id="{6F21E1B7-6927-474A-BF3F-0C802AE8071B}"/>
              </a:ext>
            </a:extLst>
          </p:cNvPr>
          <p:cNvSpPr>
            <a:spLocks xmlns:a="http://schemas.openxmlformats.org/drawingml/2006/main" noGrp="1"/>
          </p:cNvSpPr>
          <p:nvPr/>
        </p:nvSpPr>
        <p:spPr>
          <a:xfrm xmlns:a="http://schemas.openxmlformats.org/drawingml/2006/main">
            <a:off x="933450" y="2952750"/>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238"/>
                </a:solidFill>
              </a:defRPr>
            </a:pPr>
            <a:r>
              <a:rPr sz="1725" b="1" i="0">
                <a:solidFill>
                  <a:srgbClr val="132238"/>
                </a:solidFill>
              </a:rPr>
              <a:t>E0 = no material AI impact</a:t>
            </a:r>
          </a:p>
        </p:txBody>
      </p:sp>
      <p:sp>
        <p:nvSpPr>
          <p:cNvPr id="11" name="">
            <a:extLst xmlns:a="http://schemas.openxmlformats.org/drawingml/2006/main">
              <a:ext uri="{FF2B5EF4-FFF2-40B4-BE49-F238E27FC236}">
                <a16:creationId xmlns:a16="http://schemas.microsoft.com/office/drawing/2014/main" id="{FFC48259-A8BB-4A26-BBC4-9A942C1F4071}"/>
              </a:ext>
            </a:extLst>
          </p:cNvPr>
          <p:cNvSpPr>
            <a:spLocks xmlns:a="http://schemas.openxmlformats.org/drawingml/2006/main" noGrp="1"/>
          </p:cNvSpPr>
          <p:nvPr/>
        </p:nvSpPr>
        <p:spPr>
          <a:xfrm xmlns:a="http://schemas.openxmlformats.org/drawingml/2006/main">
            <a:off x="933450" y="3486150"/>
            <a:ext cx="400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238"/>
                </a:solidFill>
              </a:defRPr>
            </a:pPr>
            <a:r>
              <a:rPr sz="1275" b="0" i="0">
                <a:solidFill>
                  <a:srgbClr val="132238"/>
                </a:solidFill>
              </a:rPr>
              <a:t>It is the share of tasks assessed as not having their required time materially reduced by AI.</a:t>
            </a:r>
          </a:p>
        </p:txBody>
      </p:sp>
      <p:sp>
        <p:nvSpPr>
          <p:cNvPr id="12" name="">
            <a:extLst xmlns:a="http://schemas.openxmlformats.org/drawingml/2006/main">
              <a:ext uri="{FF2B5EF4-FFF2-40B4-BE49-F238E27FC236}">
                <a16:creationId xmlns:a16="http://schemas.microsoft.com/office/drawing/2014/main" id="{AD4636F7-2C38-45B8-81A0-FF8C837FA650}"/>
              </a:ext>
            </a:extLst>
          </p:cNvPr>
          <p:cNvSpPr>
            <a:spLocks xmlns:a="http://schemas.openxmlformats.org/drawingml/2006/main" noGrp="1"/>
          </p:cNvSpPr>
          <p:nvPr/>
        </p:nvSpPr>
        <p:spPr>
          <a:xfrm xmlns:a="http://schemas.openxmlformats.org/drawingml/2006/main">
            <a:off x="933450" y="41910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087A76"/>
                </a:solidFill>
              </a:defRPr>
            </a:pPr>
            <a:r>
              <a:rPr sz="1275" b="1" i="0">
                <a:solidFill>
                  <a:srgbClr val="087A76"/>
                </a:solidFill>
              </a:rPr>
              <a:t>Lower E0 means a larger AI-impacted share.</a:t>
            </a:r>
          </a:p>
        </p:txBody>
      </p:sp>
      <p:sp>
        <p:nvSpPr>
          <p:cNvPr id="13" name="">
            <a:extLst xmlns:a="http://schemas.openxmlformats.org/drawingml/2006/main">
              <a:ext uri="{FF2B5EF4-FFF2-40B4-BE49-F238E27FC236}">
                <a16:creationId xmlns:a16="http://schemas.microsoft.com/office/drawing/2014/main" id="{617F0B7E-78A3-40F8-A7BF-D3816B5B29A4}"/>
              </a:ext>
            </a:extLst>
          </p:cNvPr>
          <p:cNvSpPr>
            <a:spLocks xmlns:a="http://schemas.openxmlformats.org/drawingml/2006/main" noGrp="1"/>
          </p:cNvSpPr>
          <p:nvPr/>
        </p:nvSpPr>
        <p:spPr>
          <a:xfrm xmlns:a="http://schemas.openxmlformats.org/drawingml/2006/main">
            <a:off x="6019800" y="2324100"/>
            <a:ext cx="4838700" cy="23812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14" name="">
            <a:extLst xmlns:a="http://schemas.openxmlformats.org/drawingml/2006/main">
              <a:ext uri="{FF2B5EF4-FFF2-40B4-BE49-F238E27FC236}">
                <a16:creationId xmlns:a16="http://schemas.microsoft.com/office/drawing/2014/main" id="{198EA621-79F6-4394-886E-95A3C30E9A7A}"/>
              </a:ext>
            </a:extLst>
          </p:cNvPr>
          <p:cNvSpPr>
            <a:spLocks xmlns:a="http://schemas.openxmlformats.org/drawingml/2006/main" noGrp="1"/>
          </p:cNvSpPr>
          <p:nvPr/>
        </p:nvSpPr>
        <p:spPr>
          <a:xfrm xmlns:a="http://schemas.openxmlformats.org/drawingml/2006/main">
            <a:off x="6267450" y="2571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D9771F"/>
                </a:solidFill>
              </a:defRPr>
            </a:pPr>
            <a:r>
              <a:rPr sz="900" b="1" i="0">
                <a:solidFill>
                  <a:srgbClr val="D9771F"/>
                </a:solidFill>
              </a:rPr>
              <a:t>THREE SCORING-GUIDANCE LEVELS</a:t>
            </a:r>
          </a:p>
        </p:txBody>
      </p:sp>
      <p:sp>
        <p:nvSpPr>
          <p:cNvPr id="15" name="">
            <a:extLst xmlns:a="http://schemas.openxmlformats.org/drawingml/2006/main">
              <a:ext uri="{FF2B5EF4-FFF2-40B4-BE49-F238E27FC236}">
                <a16:creationId xmlns:a16="http://schemas.microsoft.com/office/drawing/2014/main" id="{FDB182DB-75D6-4ED4-9213-7AD0A4489C51}"/>
              </a:ext>
            </a:extLst>
          </p:cNvPr>
          <p:cNvSpPr>
            <a:spLocks xmlns:a="http://schemas.openxmlformats.org/drawingml/2006/main" noGrp="1"/>
          </p:cNvSpPr>
          <p:nvPr/>
        </p:nvSpPr>
        <p:spPr>
          <a:xfrm xmlns:a="http://schemas.openxmlformats.org/drawingml/2006/main">
            <a:off x="6267450" y="2952750"/>
            <a:ext cx="266700" cy="266700"/>
          </a:xfrm>
          <a:prstGeom xmlns:a="http://schemas.openxmlformats.org/drawingml/2006/main" prst="ellipse">
            <a:avLst/>
          </a:prstGeom>
          <a:solidFill xmlns:a="http://schemas.openxmlformats.org/drawingml/2006/main">
            <a:srgbClr val="087A76"/>
          </a:solidFill>
          <a:ln xmlns:a="http://schemas.openxmlformats.org/drawingml/2006/main" w="9525">
            <a:solidFill>
              <a:srgbClr val="087A76"/>
            </a:solidFill>
            <a:prstDash val="solid"/>
          </a:ln>
        </p:spPr>
      </p:sp>
      <p:sp>
        <p:nvSpPr>
          <p:cNvPr id="16" name="">
            <a:extLst xmlns:a="http://schemas.openxmlformats.org/drawingml/2006/main">
              <a:ext uri="{FF2B5EF4-FFF2-40B4-BE49-F238E27FC236}">
                <a16:creationId xmlns:a16="http://schemas.microsoft.com/office/drawing/2014/main" id="{214459B6-1400-4B97-89CE-0396B0DD1320}"/>
              </a:ext>
            </a:extLst>
          </p:cNvPr>
          <p:cNvSpPr>
            <a:spLocks xmlns:a="http://schemas.openxmlformats.org/drawingml/2006/main" noGrp="1"/>
          </p:cNvSpPr>
          <p:nvPr/>
        </p:nvSpPr>
        <p:spPr>
          <a:xfrm xmlns:a="http://schemas.openxmlformats.org/drawingml/2006/main">
            <a:off x="6267450" y="3009900"/>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1</a:t>
            </a:r>
          </a:p>
        </p:txBody>
      </p:sp>
      <p:sp>
        <p:nvSpPr>
          <p:cNvPr id="17" name="">
            <a:extLst xmlns:a="http://schemas.openxmlformats.org/drawingml/2006/main">
              <a:ext uri="{FF2B5EF4-FFF2-40B4-BE49-F238E27FC236}">
                <a16:creationId xmlns:a16="http://schemas.microsoft.com/office/drawing/2014/main" id="{983519C9-33D8-45A1-ADB7-D45FDEA02E4B}"/>
              </a:ext>
            </a:extLst>
          </p:cNvPr>
          <p:cNvSpPr>
            <a:spLocks xmlns:a="http://schemas.openxmlformats.org/drawingml/2006/main" noGrp="1"/>
          </p:cNvSpPr>
          <p:nvPr/>
        </p:nvSpPr>
        <p:spPr>
          <a:xfrm xmlns:a="http://schemas.openxmlformats.org/drawingml/2006/main">
            <a:off x="6705600" y="29337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132238"/>
                </a:solidFill>
              </a:defRPr>
            </a:pPr>
            <a:r>
              <a:rPr sz="1125" b="1" i="0">
                <a:solidFill>
                  <a:srgbClr val="132238"/>
                </a:solidFill>
              </a:rPr>
              <a:t>Historical dashboard guidance</a:t>
            </a:r>
          </a:p>
        </p:txBody>
      </p:sp>
      <p:sp>
        <p:nvSpPr>
          <p:cNvPr id="18" name="">
            <a:extLst xmlns:a="http://schemas.openxmlformats.org/drawingml/2006/main">
              <a:ext uri="{FF2B5EF4-FFF2-40B4-BE49-F238E27FC236}">
                <a16:creationId xmlns:a16="http://schemas.microsoft.com/office/drawing/2014/main" id="{D5F49A0B-FA9C-4956-87A4-69D688C34741}"/>
              </a:ext>
            </a:extLst>
          </p:cNvPr>
          <p:cNvSpPr>
            <a:spLocks xmlns:a="http://schemas.openxmlformats.org/drawingml/2006/main" noGrp="1"/>
          </p:cNvSpPr>
          <p:nvPr/>
        </p:nvSpPr>
        <p:spPr>
          <a:xfrm xmlns:a="http://schemas.openxmlformats.org/drawingml/2006/main">
            <a:off x="9124950" y="29337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E7B"/>
                </a:solidFill>
              </a:defRPr>
            </a:pPr>
            <a:r>
              <a:rPr sz="975" b="0" i="0">
                <a:solidFill>
                  <a:srgbClr val="5F6E7B"/>
                </a:solidFill>
              </a:rPr>
              <a:t>Historical reference</a:t>
            </a:r>
          </a:p>
        </p:txBody>
      </p:sp>
      <p:sp>
        <p:nvSpPr>
          <p:cNvPr id="19" name="">
            <a:extLst xmlns:a="http://schemas.openxmlformats.org/drawingml/2006/main">
              <a:ext uri="{FF2B5EF4-FFF2-40B4-BE49-F238E27FC236}">
                <a16:creationId xmlns:a16="http://schemas.microsoft.com/office/drawing/2014/main" id="{1C6FE343-B87C-456D-8468-F978B905F5BF}"/>
              </a:ext>
            </a:extLst>
          </p:cNvPr>
          <p:cNvSpPr>
            <a:spLocks xmlns:a="http://schemas.openxmlformats.org/drawingml/2006/main" noGrp="1"/>
          </p:cNvSpPr>
          <p:nvPr/>
        </p:nvSpPr>
        <p:spPr>
          <a:xfrm xmlns:a="http://schemas.openxmlformats.org/drawingml/2006/main">
            <a:off x="6267450" y="3467100"/>
            <a:ext cx="266700" cy="266700"/>
          </a:xfrm>
          <a:prstGeom xmlns:a="http://schemas.openxmlformats.org/drawingml/2006/main" prst="ellipse">
            <a:avLst/>
          </a:prstGeom>
          <a:solidFill xmlns:a="http://schemas.openxmlformats.org/drawingml/2006/main">
            <a:srgbClr val="D9771F"/>
          </a:solidFill>
          <a:ln xmlns:a="http://schemas.openxmlformats.org/drawingml/2006/main" w="9525">
            <a:solidFill>
              <a:srgbClr val="D9771F"/>
            </a:solidFill>
            <a:prstDash val="solid"/>
          </a:ln>
        </p:spPr>
      </p:sp>
      <p:sp>
        <p:nvSpPr>
          <p:cNvPr id="20" name="">
            <a:extLst xmlns:a="http://schemas.openxmlformats.org/drawingml/2006/main">
              <a:ext uri="{FF2B5EF4-FFF2-40B4-BE49-F238E27FC236}">
                <a16:creationId xmlns:a16="http://schemas.microsoft.com/office/drawing/2014/main" id="{D4AB7243-9A05-4274-AFC4-4EB08082E307}"/>
              </a:ext>
            </a:extLst>
          </p:cNvPr>
          <p:cNvSpPr>
            <a:spLocks xmlns:a="http://schemas.openxmlformats.org/drawingml/2006/main" noGrp="1"/>
          </p:cNvSpPr>
          <p:nvPr/>
        </p:nvSpPr>
        <p:spPr>
          <a:xfrm xmlns:a="http://schemas.openxmlformats.org/drawingml/2006/main">
            <a:off x="6267450" y="3524250"/>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2</a:t>
            </a:r>
          </a:p>
        </p:txBody>
      </p:sp>
      <p:sp>
        <p:nvSpPr>
          <p:cNvPr id="21" name="">
            <a:extLst xmlns:a="http://schemas.openxmlformats.org/drawingml/2006/main">
              <a:ext uri="{FF2B5EF4-FFF2-40B4-BE49-F238E27FC236}">
                <a16:creationId xmlns:a16="http://schemas.microsoft.com/office/drawing/2014/main" id="{430FC05C-5E9F-4F87-B9BD-0680CDB45000}"/>
              </a:ext>
            </a:extLst>
          </p:cNvPr>
          <p:cNvSpPr>
            <a:spLocks xmlns:a="http://schemas.openxmlformats.org/drawingml/2006/main" noGrp="1"/>
          </p:cNvSpPr>
          <p:nvPr/>
        </p:nvSpPr>
        <p:spPr>
          <a:xfrm xmlns:a="http://schemas.openxmlformats.org/drawingml/2006/main">
            <a:off x="6705600" y="34480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132238"/>
                </a:solidFill>
              </a:defRPr>
            </a:pPr>
            <a:r>
              <a:rPr sz="1125" b="1" i="0">
                <a:solidFill>
                  <a:srgbClr val="132238"/>
                </a:solidFill>
              </a:rPr>
              <a:t>Current POC guidance</a:t>
            </a:r>
          </a:p>
        </p:txBody>
      </p:sp>
      <p:sp>
        <p:nvSpPr>
          <p:cNvPr id="22" name="">
            <a:extLst xmlns:a="http://schemas.openxmlformats.org/drawingml/2006/main">
              <a:ext uri="{FF2B5EF4-FFF2-40B4-BE49-F238E27FC236}">
                <a16:creationId xmlns:a16="http://schemas.microsoft.com/office/drawing/2014/main" id="{A9CDF529-4B54-46DF-AB10-5B855BED494F}"/>
              </a:ext>
            </a:extLst>
          </p:cNvPr>
          <p:cNvSpPr>
            <a:spLocks xmlns:a="http://schemas.openxmlformats.org/drawingml/2006/main" noGrp="1"/>
          </p:cNvSpPr>
          <p:nvPr/>
        </p:nvSpPr>
        <p:spPr>
          <a:xfrm xmlns:a="http://schemas.openxmlformats.org/drawingml/2006/main">
            <a:off x="9124950" y="34480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E7B"/>
                </a:solidFill>
              </a:defRPr>
            </a:pPr>
            <a:r>
              <a:rPr sz="975" b="0" i="0">
                <a:solidFill>
                  <a:srgbClr val="5F6E7B"/>
                </a:solidFill>
              </a:rPr>
              <a:t>Current operational workflow</a:t>
            </a:r>
          </a:p>
        </p:txBody>
      </p:sp>
      <p:sp>
        <p:nvSpPr>
          <p:cNvPr id="23" name="">
            <a:extLst xmlns:a="http://schemas.openxmlformats.org/drawingml/2006/main">
              <a:ext uri="{FF2B5EF4-FFF2-40B4-BE49-F238E27FC236}">
                <a16:creationId xmlns:a16="http://schemas.microsoft.com/office/drawing/2014/main" id="{A52A4680-4729-47BF-A32D-FBBC5E98727A}"/>
              </a:ext>
            </a:extLst>
          </p:cNvPr>
          <p:cNvSpPr>
            <a:spLocks xmlns:a="http://schemas.openxmlformats.org/drawingml/2006/main" noGrp="1"/>
          </p:cNvSpPr>
          <p:nvPr/>
        </p:nvSpPr>
        <p:spPr>
          <a:xfrm xmlns:a="http://schemas.openxmlformats.org/drawingml/2006/main">
            <a:off x="6267450" y="3981450"/>
            <a:ext cx="266700" cy="266700"/>
          </a:xfrm>
          <a:prstGeom xmlns:a="http://schemas.openxmlformats.org/drawingml/2006/main" prst="ellipse">
            <a:avLst/>
          </a:prstGeom>
          <a:solidFill xmlns:a="http://schemas.openxmlformats.org/drawingml/2006/main">
            <a:srgbClr val="24547A"/>
          </a:solidFill>
          <a:ln xmlns:a="http://schemas.openxmlformats.org/drawingml/2006/main" w="9525">
            <a:solidFill>
              <a:srgbClr val="24547A"/>
            </a:solidFill>
            <a:prstDash val="solid"/>
          </a:ln>
        </p:spPr>
      </p:sp>
      <p:sp>
        <p:nvSpPr>
          <p:cNvPr id="24" name="">
            <a:extLst xmlns:a="http://schemas.openxmlformats.org/drawingml/2006/main">
              <a:ext uri="{FF2B5EF4-FFF2-40B4-BE49-F238E27FC236}">
                <a16:creationId xmlns:a16="http://schemas.microsoft.com/office/drawing/2014/main" id="{B4D752A3-23A9-4895-B7EA-30F8A5F770AB}"/>
              </a:ext>
            </a:extLst>
          </p:cNvPr>
          <p:cNvSpPr>
            <a:spLocks xmlns:a="http://schemas.openxmlformats.org/drawingml/2006/main" noGrp="1"/>
          </p:cNvSpPr>
          <p:nvPr/>
        </p:nvSpPr>
        <p:spPr>
          <a:xfrm xmlns:a="http://schemas.openxmlformats.org/drawingml/2006/main">
            <a:off x="6267450" y="4038600"/>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3</a:t>
            </a:r>
          </a:p>
        </p:txBody>
      </p:sp>
      <p:sp>
        <p:nvSpPr>
          <p:cNvPr id="25" name="">
            <a:extLst xmlns:a="http://schemas.openxmlformats.org/drawingml/2006/main">
              <a:ext uri="{FF2B5EF4-FFF2-40B4-BE49-F238E27FC236}">
                <a16:creationId xmlns:a16="http://schemas.microsoft.com/office/drawing/2014/main" id="{D8B5CE20-F16D-41C8-B847-3ED245329252}"/>
              </a:ext>
            </a:extLst>
          </p:cNvPr>
          <p:cNvSpPr>
            <a:spLocks xmlns:a="http://schemas.openxmlformats.org/drawingml/2006/main" noGrp="1"/>
          </p:cNvSpPr>
          <p:nvPr/>
        </p:nvSpPr>
        <p:spPr>
          <a:xfrm xmlns:a="http://schemas.openxmlformats.org/drawingml/2006/main">
            <a:off x="6705600" y="39624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132238"/>
                </a:solidFill>
              </a:defRPr>
            </a:pPr>
            <a:r>
              <a:rPr sz="1125" b="1" i="0">
                <a:solidFill>
                  <a:srgbClr val="132238"/>
                </a:solidFill>
              </a:rPr>
              <a:t>Current POC + historical examples</a:t>
            </a:r>
          </a:p>
        </p:txBody>
      </p:sp>
      <p:sp>
        <p:nvSpPr>
          <p:cNvPr id="26" name="">
            <a:extLst xmlns:a="http://schemas.openxmlformats.org/drawingml/2006/main">
              <a:ext uri="{FF2B5EF4-FFF2-40B4-BE49-F238E27FC236}">
                <a16:creationId xmlns:a16="http://schemas.microsoft.com/office/drawing/2014/main" id="{2A181E42-676F-48FE-BFC0-8721E865E53E}"/>
              </a:ext>
            </a:extLst>
          </p:cNvPr>
          <p:cNvSpPr>
            <a:spLocks xmlns:a="http://schemas.openxmlformats.org/drawingml/2006/main" noGrp="1"/>
          </p:cNvSpPr>
          <p:nvPr/>
        </p:nvSpPr>
        <p:spPr>
          <a:xfrm xmlns:a="http://schemas.openxmlformats.org/drawingml/2006/main">
            <a:off x="9124950" y="39624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E7B"/>
                </a:solidFill>
              </a:defRPr>
            </a:pPr>
            <a:r>
              <a:rPr sz="975" b="0" i="0">
                <a:solidFill>
                  <a:srgbClr val="5F6E7B"/>
                </a:solidFill>
              </a:rPr>
              <a:t>Historical examples added</a:t>
            </a:r>
          </a:p>
        </p:txBody>
      </p:sp>
      <p:sp>
        <p:nvSpPr>
          <p:cNvPr id="27" name="">
            <a:extLst xmlns:a="http://schemas.openxmlformats.org/drawingml/2006/main">
              <a:ext uri="{FF2B5EF4-FFF2-40B4-BE49-F238E27FC236}">
                <a16:creationId xmlns:a16="http://schemas.microsoft.com/office/drawing/2014/main" id="{1F91EBEC-4D4F-495F-8577-3DAC4FF8FE76}"/>
              </a:ext>
            </a:extLst>
          </p:cNvPr>
          <p:cNvSpPr>
            <a:spLocks xmlns:a="http://schemas.openxmlformats.org/drawingml/2006/main" noGrp="1"/>
          </p:cNvSpPr>
          <p:nvPr/>
        </p:nvSpPr>
        <p:spPr>
          <a:xfrm xmlns:a="http://schemas.openxmlformats.org/drawingml/2006/main">
            <a:off x="685800" y="5219700"/>
            <a:ext cx="10172700" cy="495300"/>
          </a:xfrm>
          <a:prstGeom xmlns:a="http://schemas.openxmlformats.org/drawingml/2006/main" prst="rect">
            <a:avLst/>
          </a:prstGeom>
          <a:solidFill xmlns:a="http://schemas.openxmlformats.org/drawingml/2006/main">
            <a:srgbClr val="E8EEF4"/>
          </a:solidFill>
          <a:ln xmlns:a="http://schemas.openxmlformats.org/drawingml/2006/main" w="5715">
            <a:solidFill>
              <a:srgbClr val="E8EEF4"/>
            </a:solidFill>
            <a:prstDash val="solid"/>
          </a:ln>
        </p:spPr>
      </p:sp>
      <p:sp>
        <p:nvSpPr>
          <p:cNvPr id="28" name="">
            <a:extLst xmlns:a="http://schemas.openxmlformats.org/drawingml/2006/main">
              <a:ext uri="{FF2B5EF4-FFF2-40B4-BE49-F238E27FC236}">
                <a16:creationId xmlns:a16="http://schemas.microsoft.com/office/drawing/2014/main" id="{DF70F342-B808-4CA4-9D47-8926718F3C86}"/>
              </a:ext>
            </a:extLst>
          </p:cNvPr>
          <p:cNvSpPr>
            <a:spLocks xmlns:a="http://schemas.openxmlformats.org/drawingml/2006/main" noGrp="1"/>
          </p:cNvSpPr>
          <p:nvPr/>
        </p:nvSpPr>
        <p:spPr>
          <a:xfrm xmlns:a="http://schemas.openxmlformats.org/drawingml/2006/main">
            <a:off x="685800" y="5219700"/>
            <a:ext cx="76200" cy="495300"/>
          </a:xfrm>
          <a:prstGeom xmlns:a="http://schemas.openxmlformats.org/drawingml/2006/main" prst="rect">
            <a:avLst/>
          </a:prstGeom>
          <a:solidFill xmlns:a="http://schemas.openxmlformats.org/drawingml/2006/main">
            <a:srgbClr val="24547A"/>
          </a:solidFill>
          <a:ln xmlns:a="http://schemas.openxmlformats.org/drawingml/2006/main" w="5715">
            <a:solidFill>
              <a:srgbClr val="24547A"/>
            </a:solidFill>
            <a:prstDash val="solid"/>
          </a:ln>
        </p:spPr>
      </p:sp>
      <p:sp>
        <p:nvSpPr>
          <p:cNvPr id="29" name="">
            <a:extLst xmlns:a="http://schemas.openxmlformats.org/drawingml/2006/main">
              <a:ext uri="{FF2B5EF4-FFF2-40B4-BE49-F238E27FC236}">
                <a16:creationId xmlns:a16="http://schemas.microsoft.com/office/drawing/2014/main" id="{B86617D5-8B59-4725-95FC-C98C609EBC3C}"/>
              </a:ext>
            </a:extLst>
          </p:cNvPr>
          <p:cNvSpPr>
            <a:spLocks xmlns:a="http://schemas.openxmlformats.org/drawingml/2006/main" noGrp="1"/>
          </p:cNvSpPr>
          <p:nvPr/>
        </p:nvSpPr>
        <p:spPr>
          <a:xfrm xmlns:a="http://schemas.openxmlformats.org/drawingml/2006/main">
            <a:off x="952500" y="5353050"/>
            <a:ext cx="9696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238"/>
                </a:solidFill>
              </a:defRPr>
            </a:pPr>
            <a:r>
              <a:rPr sz="1275" b="1" i="0">
                <a:solidFill>
                  <a:srgbClr val="132238"/>
                </a:solidFill>
              </a:rPr>
              <a:t>The complete study tests every combination; each headline comparison changes one factor while the others stay fixed.</a:t>
            </a:r>
          </a:p>
        </p:txBody>
      </p:sp>
    </p:spTree>
    <p:extLst>
      <p:ext uri="{BB962C8B-B14F-4D97-AF65-F5344CB8AC3E}">
        <p14:creationId xmlns:p14="http://schemas.microsoft.com/office/powerpoint/2010/main" val="1193277503"/>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6559445-2314-4DE4-B8D0-4FFE55BAAAD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555B4C7C-272C-4080-9237-F5849DAE1F03}"/>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HISTORICAL VALIDATION</a:t>
            </a:r>
          </a:p>
        </p:txBody>
      </p:sp>
      <p:sp>
        <p:nvSpPr>
          <p:cNvPr id="3" name="">
            <a:extLst xmlns:a="http://schemas.openxmlformats.org/drawingml/2006/main">
              <a:ext uri="{FF2B5EF4-FFF2-40B4-BE49-F238E27FC236}">
                <a16:creationId xmlns:a16="http://schemas.microsoft.com/office/drawing/2014/main" id="{5A0AB53B-A69F-42FC-A811-626700C9DEB6}"/>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The published 23.6% result is reproducible when the historical method is used</a:t>
            </a:r>
          </a:p>
        </p:txBody>
      </p:sp>
      <p:sp>
        <p:nvSpPr>
          <p:cNvPr id="4" name="">
            <a:extLst xmlns:a="http://schemas.openxmlformats.org/drawingml/2006/main">
              <a:ext uri="{FF2B5EF4-FFF2-40B4-BE49-F238E27FC236}">
                <a16:creationId xmlns:a16="http://schemas.microsoft.com/office/drawing/2014/main" id="{B7FBA656-C465-4CB7-B933-B75137BF6D0B}"/>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This validates the recovered method as an audit reference; it does not make historical labels objective ground truth.</a:t>
            </a:r>
          </a:p>
        </p:txBody>
      </p:sp>
      <p:sp>
        <p:nvSpPr>
          <p:cNvPr id="5" name="">
            <a:extLst xmlns:a="http://schemas.openxmlformats.org/drawingml/2006/main">
              <a:ext uri="{FF2B5EF4-FFF2-40B4-BE49-F238E27FC236}">
                <a16:creationId xmlns:a16="http://schemas.microsoft.com/office/drawing/2014/main" id="{38A14766-4F20-4F31-AC8E-E085B625EC67}"/>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7D1A88B0-0A2F-4E65-929C-B5ECC6B61FBD}"/>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D5A051FF-47F1-427D-9F32-9F73BD2AAEA3}"/>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08</a:t>
            </a:r>
          </a:p>
        </p:txBody>
      </p:sp>
      <p:sp>
        <p:nvSpPr>
          <p:cNvPr id="8" name="">
            <a:extLst xmlns:a="http://schemas.openxmlformats.org/drawingml/2006/main">
              <a:ext uri="{FF2B5EF4-FFF2-40B4-BE49-F238E27FC236}">
                <a16:creationId xmlns:a16="http://schemas.microsoft.com/office/drawing/2014/main" id="{97171B2A-E2DC-42ED-869E-7E4DD08D9CDB}"/>
              </a:ext>
            </a:extLst>
          </p:cNvPr>
          <p:cNvSpPr>
            <a:spLocks xmlns:a="http://schemas.openxmlformats.org/drawingml/2006/main" noGrp="1"/>
          </p:cNvSpPr>
          <p:nvPr/>
        </p:nvSpPr>
        <p:spPr>
          <a:xfrm xmlns:a="http://schemas.openxmlformats.org/drawingml/2006/main">
            <a:off x="685800" y="2190750"/>
            <a:ext cx="3200400" cy="2076450"/>
          </a:xfrm>
          <a:prstGeom xmlns:a="http://schemas.openxmlformats.org/drawingml/2006/main" prst="rect">
            <a:avLst/>
          </a:prstGeom>
          <a:solidFill xmlns:a="http://schemas.openxmlformats.org/drawingml/2006/main">
            <a:srgbClr val="E1F0EC"/>
          </a:solidFill>
          <a:ln xmlns:a="http://schemas.openxmlformats.org/drawingml/2006/main" w="5715">
            <a:solidFill>
              <a:srgbClr val="E1F0EC"/>
            </a:solidFill>
            <a:prstDash val="solid"/>
          </a:ln>
        </p:spPr>
      </p:sp>
      <p:sp>
        <p:nvSpPr>
          <p:cNvPr id="9" name="">
            <a:extLst xmlns:a="http://schemas.openxmlformats.org/drawingml/2006/main">
              <a:ext uri="{FF2B5EF4-FFF2-40B4-BE49-F238E27FC236}">
                <a16:creationId xmlns:a16="http://schemas.microsoft.com/office/drawing/2014/main" id="{876A950A-2360-48A0-A2CE-D803A63E1C3B}"/>
              </a:ext>
            </a:extLst>
          </p:cNvPr>
          <p:cNvSpPr>
            <a:spLocks xmlns:a="http://schemas.openxmlformats.org/drawingml/2006/main" noGrp="1"/>
          </p:cNvSpPr>
          <p:nvPr/>
        </p:nvSpPr>
        <p:spPr>
          <a:xfrm xmlns:a="http://schemas.openxmlformats.org/drawingml/2006/main">
            <a:off x="685800" y="2190750"/>
            <a:ext cx="76200" cy="207645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10" name="">
            <a:extLst xmlns:a="http://schemas.openxmlformats.org/drawingml/2006/main">
              <a:ext uri="{FF2B5EF4-FFF2-40B4-BE49-F238E27FC236}">
                <a16:creationId xmlns:a16="http://schemas.microsoft.com/office/drawing/2014/main" id="{93402AAA-EC13-49D6-9C5C-83C8AAB43FFF}"/>
              </a:ext>
            </a:extLst>
          </p:cNvPr>
          <p:cNvSpPr>
            <a:spLocks xmlns:a="http://schemas.openxmlformats.org/drawingml/2006/main" noGrp="1"/>
          </p:cNvSpPr>
          <p:nvPr/>
        </p:nvSpPr>
        <p:spPr>
          <a:xfrm xmlns:a="http://schemas.openxmlformats.org/drawingml/2006/main">
            <a:off x="952500" y="2352675"/>
            <a:ext cx="2724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87A76"/>
                </a:solidFill>
              </a:defRPr>
            </a:pPr>
            <a:r>
              <a:rPr sz="825" b="1" i="0">
                <a:solidFill>
                  <a:srgbClr val="087A76"/>
                </a:solidFill>
              </a:rPr>
              <a:t>HISTORICAL LABELS</a:t>
            </a:r>
          </a:p>
        </p:txBody>
      </p:sp>
      <p:sp>
        <p:nvSpPr>
          <p:cNvPr id="11" name="">
            <a:extLst xmlns:a="http://schemas.openxmlformats.org/drawingml/2006/main">
              <a:ext uri="{FF2B5EF4-FFF2-40B4-BE49-F238E27FC236}">
                <a16:creationId xmlns:a16="http://schemas.microsoft.com/office/drawing/2014/main" id="{153229B7-50BC-4ABD-8206-BF0A477E59C2}"/>
              </a:ext>
            </a:extLst>
          </p:cNvPr>
          <p:cNvSpPr>
            <a:spLocks xmlns:a="http://schemas.openxmlformats.org/drawingml/2006/main" noGrp="1"/>
          </p:cNvSpPr>
          <p:nvPr/>
        </p:nvSpPr>
        <p:spPr>
          <a:xfrm xmlns:a="http://schemas.openxmlformats.org/drawingml/2006/main">
            <a:off x="952500" y="2619375"/>
            <a:ext cx="27241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32238"/>
                </a:solidFill>
              </a:defRPr>
            </a:pPr>
            <a:r>
              <a:rPr sz="1350" b="1" i="0">
                <a:solidFill>
                  <a:srgbClr val="132238"/>
                </a:solidFill>
              </a:rPr>
              <a:t>E0 proportion</a:t>
            </a:r>
          </a:p>
          <a:p xmlns:a="http://schemas.openxmlformats.org/drawingml/2006/main">
            <a:pPr algn="l">
              <a:defRPr sz="1350" b="1" i="0">
                <a:solidFill>
                  <a:srgbClr val="132238"/>
                </a:solidFill>
              </a:defRPr>
            </a:pPr>
            <a:r>
              <a:rPr sz="1350" b="1" i="0">
                <a:solidFill>
                  <a:srgbClr val="132238"/>
                </a:solidFill>
              </a:rPr>
              <a:t>76.4%</a:t>
            </a:r>
          </a:p>
          <a:p xmlns:a="http://schemas.openxmlformats.org/drawingml/2006/main">
            <a:r>
              <a:t/>
            </a:r>
          </a:p>
          <a:p xmlns:a="http://schemas.openxmlformats.org/drawingml/2006/main">
            <a:pPr algn="l">
              <a:defRPr sz="1350" b="1" i="0">
                <a:solidFill>
                  <a:srgbClr val="132238"/>
                </a:solidFill>
              </a:defRPr>
            </a:pPr>
            <a:r>
              <a:rPr sz="1350" b="1" i="0">
                <a:solidFill>
                  <a:srgbClr val="132238"/>
                </a:solidFill>
              </a:rPr>
              <a:t>AI-impacted share</a:t>
            </a:r>
          </a:p>
          <a:p xmlns:a="http://schemas.openxmlformats.org/drawingml/2006/main">
            <a:pPr algn="l">
              <a:defRPr sz="1350" b="1" i="0">
                <a:solidFill>
                  <a:srgbClr val="132238"/>
                </a:solidFill>
              </a:defRPr>
            </a:pPr>
            <a:r>
              <a:rPr sz="1350" b="1" i="0">
                <a:solidFill>
                  <a:srgbClr val="132238"/>
                </a:solidFill>
              </a:rPr>
              <a:t>23.6%</a:t>
            </a:r>
          </a:p>
        </p:txBody>
      </p:sp>
      <p:sp>
        <p:nvSpPr>
          <p:cNvPr id="12" name="">
            <a:extLst xmlns:a="http://schemas.openxmlformats.org/drawingml/2006/main">
              <a:ext uri="{FF2B5EF4-FFF2-40B4-BE49-F238E27FC236}">
                <a16:creationId xmlns:a16="http://schemas.microsoft.com/office/drawing/2014/main" id="{ABFE16BF-245D-435C-9DB3-5CEE83636C07}"/>
              </a:ext>
            </a:extLst>
          </p:cNvPr>
          <p:cNvSpPr>
            <a:spLocks xmlns:a="http://schemas.openxmlformats.org/drawingml/2006/main" noGrp="1"/>
          </p:cNvSpPr>
          <p:nvPr/>
        </p:nvSpPr>
        <p:spPr>
          <a:xfrm xmlns:a="http://schemas.openxmlformats.org/drawingml/2006/main">
            <a:off x="4495800" y="2190750"/>
            <a:ext cx="3200400" cy="2076450"/>
          </a:xfrm>
          <a:prstGeom xmlns:a="http://schemas.openxmlformats.org/drawingml/2006/main" prst="rect">
            <a:avLst/>
          </a:prstGeom>
          <a:solidFill xmlns:a="http://schemas.openxmlformats.org/drawingml/2006/main">
            <a:srgbClr val="F8EBDD"/>
          </a:solidFill>
          <a:ln xmlns:a="http://schemas.openxmlformats.org/drawingml/2006/main" w="5715">
            <a:solidFill>
              <a:srgbClr val="F8EBDD"/>
            </a:solidFill>
            <a:prstDash val="solid"/>
          </a:ln>
        </p:spPr>
      </p:sp>
      <p:sp>
        <p:nvSpPr>
          <p:cNvPr id="13" name="">
            <a:extLst xmlns:a="http://schemas.openxmlformats.org/drawingml/2006/main">
              <a:ext uri="{FF2B5EF4-FFF2-40B4-BE49-F238E27FC236}">
                <a16:creationId xmlns:a16="http://schemas.microsoft.com/office/drawing/2014/main" id="{16399DDC-0F89-4B18-854D-4AE21EBB0A99}"/>
              </a:ext>
            </a:extLst>
          </p:cNvPr>
          <p:cNvSpPr>
            <a:spLocks xmlns:a="http://schemas.openxmlformats.org/drawingml/2006/main" noGrp="1"/>
          </p:cNvSpPr>
          <p:nvPr/>
        </p:nvSpPr>
        <p:spPr>
          <a:xfrm xmlns:a="http://schemas.openxmlformats.org/drawingml/2006/main">
            <a:off x="4495800" y="2190750"/>
            <a:ext cx="76200" cy="207645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14" name="">
            <a:extLst xmlns:a="http://schemas.openxmlformats.org/drawingml/2006/main">
              <a:ext uri="{FF2B5EF4-FFF2-40B4-BE49-F238E27FC236}">
                <a16:creationId xmlns:a16="http://schemas.microsoft.com/office/drawing/2014/main" id="{232F1669-DDB2-4425-9646-8071C67FD9C1}"/>
              </a:ext>
            </a:extLst>
          </p:cNvPr>
          <p:cNvSpPr>
            <a:spLocks xmlns:a="http://schemas.openxmlformats.org/drawingml/2006/main" noGrp="1"/>
          </p:cNvSpPr>
          <p:nvPr/>
        </p:nvSpPr>
        <p:spPr>
          <a:xfrm xmlns:a="http://schemas.openxmlformats.org/drawingml/2006/main">
            <a:off x="4762500" y="2352675"/>
            <a:ext cx="2724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D9771F"/>
                </a:solidFill>
              </a:defRPr>
            </a:pPr>
            <a:r>
              <a:rPr sz="825" b="1" i="0">
                <a:solidFill>
                  <a:srgbClr val="D9771F"/>
                </a:solidFill>
              </a:rPr>
              <a:t>RECREATED HISTORICAL METHOD</a:t>
            </a:r>
          </a:p>
        </p:txBody>
      </p:sp>
      <p:sp>
        <p:nvSpPr>
          <p:cNvPr id="15" name="">
            <a:extLst xmlns:a="http://schemas.openxmlformats.org/drawingml/2006/main">
              <a:ext uri="{FF2B5EF4-FFF2-40B4-BE49-F238E27FC236}">
                <a16:creationId xmlns:a16="http://schemas.microsoft.com/office/drawing/2014/main" id="{899D23AA-BD46-4FEF-8F9B-BABD54FF29CA}"/>
              </a:ext>
            </a:extLst>
          </p:cNvPr>
          <p:cNvSpPr>
            <a:spLocks xmlns:a="http://schemas.openxmlformats.org/drawingml/2006/main" noGrp="1"/>
          </p:cNvSpPr>
          <p:nvPr/>
        </p:nvSpPr>
        <p:spPr>
          <a:xfrm xmlns:a="http://schemas.openxmlformats.org/drawingml/2006/main">
            <a:off x="4762500" y="2619375"/>
            <a:ext cx="27241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32238"/>
                </a:solidFill>
              </a:defRPr>
            </a:pPr>
            <a:r>
              <a:rPr sz="1350" b="1" i="0">
                <a:solidFill>
                  <a:srgbClr val="132238"/>
                </a:solidFill>
              </a:rPr>
              <a:t>E0 proportion</a:t>
            </a:r>
          </a:p>
          <a:p xmlns:a="http://schemas.openxmlformats.org/drawingml/2006/main">
            <a:pPr algn="l">
              <a:defRPr sz="1350" b="1" i="0">
                <a:solidFill>
                  <a:srgbClr val="132238"/>
                </a:solidFill>
              </a:defRPr>
            </a:pPr>
            <a:r>
              <a:rPr sz="1350" b="1" i="0">
                <a:solidFill>
                  <a:srgbClr val="132238"/>
                </a:solidFill>
              </a:rPr>
              <a:t>77.0%</a:t>
            </a:r>
          </a:p>
          <a:p xmlns:a="http://schemas.openxmlformats.org/drawingml/2006/main">
            <a:r>
              <a:t/>
            </a:r>
          </a:p>
          <a:p xmlns:a="http://schemas.openxmlformats.org/drawingml/2006/main">
            <a:pPr algn="l">
              <a:defRPr sz="1350" b="1" i="0">
                <a:solidFill>
                  <a:srgbClr val="132238"/>
                </a:solidFill>
              </a:defRPr>
            </a:pPr>
            <a:r>
              <a:rPr sz="1350" b="1" i="0">
                <a:solidFill>
                  <a:srgbClr val="132238"/>
                </a:solidFill>
              </a:rPr>
              <a:t>AI-impacted share</a:t>
            </a:r>
          </a:p>
          <a:p xmlns:a="http://schemas.openxmlformats.org/drawingml/2006/main">
            <a:pPr algn="l">
              <a:defRPr sz="1350" b="1" i="0">
                <a:solidFill>
                  <a:srgbClr val="132238"/>
                </a:solidFill>
              </a:defRPr>
            </a:pPr>
            <a:r>
              <a:rPr sz="1350" b="1" i="0">
                <a:solidFill>
                  <a:srgbClr val="132238"/>
                </a:solidFill>
              </a:rPr>
              <a:t>23.0%</a:t>
            </a:r>
          </a:p>
        </p:txBody>
      </p:sp>
      <p:sp>
        <p:nvSpPr>
          <p:cNvPr id="16" name="">
            <a:extLst xmlns:a="http://schemas.openxmlformats.org/drawingml/2006/main">
              <a:ext uri="{FF2B5EF4-FFF2-40B4-BE49-F238E27FC236}">
                <a16:creationId xmlns:a16="http://schemas.microsoft.com/office/drawing/2014/main" id="{78F3EDA6-0FD7-4E54-80C5-32A47CC03EDA}"/>
              </a:ext>
            </a:extLst>
          </p:cNvPr>
          <p:cNvSpPr>
            <a:spLocks xmlns:a="http://schemas.openxmlformats.org/drawingml/2006/main" noGrp="1"/>
          </p:cNvSpPr>
          <p:nvPr/>
        </p:nvSpPr>
        <p:spPr>
          <a:xfrm xmlns:a="http://schemas.openxmlformats.org/drawingml/2006/main">
            <a:off x="8305800" y="2190750"/>
            <a:ext cx="2552700" cy="20764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17" name="">
            <a:extLst xmlns:a="http://schemas.openxmlformats.org/drawingml/2006/main">
              <a:ext uri="{FF2B5EF4-FFF2-40B4-BE49-F238E27FC236}">
                <a16:creationId xmlns:a16="http://schemas.microsoft.com/office/drawing/2014/main" id="{23A2C173-C242-4919-8F42-BD0DD65494A1}"/>
              </a:ext>
            </a:extLst>
          </p:cNvPr>
          <p:cNvSpPr>
            <a:spLocks xmlns:a="http://schemas.openxmlformats.org/drawingml/2006/main" noGrp="1"/>
          </p:cNvSpPr>
          <p:nvPr/>
        </p:nvSpPr>
        <p:spPr>
          <a:xfrm xmlns:a="http://schemas.openxmlformats.org/drawingml/2006/main">
            <a:off x="8553450" y="24193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C75850"/>
                </a:solidFill>
              </a:defRPr>
            </a:pPr>
            <a:r>
              <a:rPr sz="825" b="1" i="0">
                <a:solidFill>
                  <a:srgbClr val="C75850"/>
                </a:solidFill>
              </a:rPr>
              <a:t>ROW-LEVEL CHECK</a:t>
            </a:r>
          </a:p>
        </p:txBody>
      </p:sp>
      <p:sp>
        <p:nvSpPr>
          <p:cNvPr id="18" name="">
            <a:extLst xmlns:a="http://schemas.openxmlformats.org/drawingml/2006/main">
              <a:ext uri="{FF2B5EF4-FFF2-40B4-BE49-F238E27FC236}">
                <a16:creationId xmlns:a16="http://schemas.microsoft.com/office/drawing/2014/main" id="{0C09E4C1-5DF8-4B47-AEAA-6D407143C7BA}"/>
              </a:ext>
            </a:extLst>
          </p:cNvPr>
          <p:cNvSpPr>
            <a:spLocks xmlns:a="http://schemas.openxmlformats.org/drawingml/2006/main" noGrp="1"/>
          </p:cNvSpPr>
          <p:nvPr/>
        </p:nvSpPr>
        <p:spPr>
          <a:xfrm xmlns:a="http://schemas.openxmlformats.org/drawingml/2006/main">
            <a:off x="8553450" y="2781300"/>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C75850"/>
                </a:solidFill>
              </a:defRPr>
            </a:pPr>
            <a:r>
              <a:rPr sz="2550" b="1" i="0">
                <a:solidFill>
                  <a:srgbClr val="C75850"/>
                </a:solidFill>
              </a:rPr>
              <a:t>95.3%</a:t>
            </a:r>
          </a:p>
        </p:txBody>
      </p:sp>
      <p:sp>
        <p:nvSpPr>
          <p:cNvPr id="19" name="">
            <a:extLst xmlns:a="http://schemas.openxmlformats.org/drawingml/2006/main">
              <a:ext uri="{FF2B5EF4-FFF2-40B4-BE49-F238E27FC236}">
                <a16:creationId xmlns:a16="http://schemas.microsoft.com/office/drawing/2014/main" id="{9E28B5ED-01F1-4105-9AB9-63CDBAB7F58F}"/>
              </a:ext>
            </a:extLst>
          </p:cNvPr>
          <p:cNvSpPr>
            <a:spLocks xmlns:a="http://schemas.openxmlformats.org/drawingml/2006/main" noGrp="1"/>
          </p:cNvSpPr>
          <p:nvPr/>
        </p:nvSpPr>
        <p:spPr>
          <a:xfrm xmlns:a="http://schemas.openxmlformats.org/drawingml/2006/main">
            <a:off x="8553450" y="32385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E7B"/>
                </a:solidFill>
              </a:defRPr>
            </a:pPr>
            <a:r>
              <a:rPr sz="975" b="0" i="0">
                <a:solidFill>
                  <a:srgbClr val="5F6E7B"/>
                </a:solidFill>
              </a:rPr>
              <a:t>exact four-class agreement</a:t>
            </a:r>
          </a:p>
        </p:txBody>
      </p:sp>
      <p:sp>
        <p:nvSpPr>
          <p:cNvPr id="20" name="">
            <a:extLst xmlns:a="http://schemas.openxmlformats.org/drawingml/2006/main">
              <a:ext uri="{FF2B5EF4-FFF2-40B4-BE49-F238E27FC236}">
                <a16:creationId xmlns:a16="http://schemas.microsoft.com/office/drawing/2014/main" id="{20862F9E-5D23-4395-BFDB-E88F29A364A0}"/>
              </a:ext>
            </a:extLst>
          </p:cNvPr>
          <p:cNvSpPr>
            <a:spLocks xmlns:a="http://schemas.openxmlformats.org/drawingml/2006/main" noGrp="1"/>
          </p:cNvSpPr>
          <p:nvPr/>
        </p:nvSpPr>
        <p:spPr>
          <a:xfrm xmlns:a="http://schemas.openxmlformats.org/drawingml/2006/main">
            <a:off x="8553450" y="366712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24547A"/>
                </a:solidFill>
              </a:defRPr>
            </a:pPr>
            <a:r>
              <a:rPr sz="2025" b="1" i="0">
                <a:solidFill>
                  <a:srgbClr val="24547A"/>
                </a:solidFill>
              </a:rPr>
              <a:t>96.1%</a:t>
            </a:r>
          </a:p>
        </p:txBody>
      </p:sp>
      <p:sp>
        <p:nvSpPr>
          <p:cNvPr id="21" name="">
            <a:extLst xmlns:a="http://schemas.openxmlformats.org/drawingml/2006/main">
              <a:ext uri="{FF2B5EF4-FFF2-40B4-BE49-F238E27FC236}">
                <a16:creationId xmlns:a16="http://schemas.microsoft.com/office/drawing/2014/main" id="{0B1DB838-562D-44C5-9A26-9985A0FBDB8E}"/>
              </a:ext>
            </a:extLst>
          </p:cNvPr>
          <p:cNvSpPr>
            <a:spLocks xmlns:a="http://schemas.openxmlformats.org/drawingml/2006/main" noGrp="1"/>
          </p:cNvSpPr>
          <p:nvPr/>
        </p:nvSpPr>
        <p:spPr>
          <a:xfrm xmlns:a="http://schemas.openxmlformats.org/drawingml/2006/main">
            <a:off x="8553450" y="4010025"/>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F6E7B"/>
                </a:solidFill>
              </a:defRPr>
            </a:pPr>
            <a:r>
              <a:rPr sz="900" b="0" i="0">
                <a:solidFill>
                  <a:srgbClr val="5F6E7B"/>
                </a:solidFill>
              </a:rPr>
              <a:t>E0 versus impacted agreement</a:t>
            </a:r>
          </a:p>
        </p:txBody>
      </p:sp>
      <p:sp>
        <p:nvSpPr>
          <p:cNvPr id="22" name="">
            <a:extLst xmlns:a="http://schemas.openxmlformats.org/drawingml/2006/main">
              <a:ext uri="{FF2B5EF4-FFF2-40B4-BE49-F238E27FC236}">
                <a16:creationId xmlns:a16="http://schemas.microsoft.com/office/drawing/2014/main" id="{FF8C9407-44BA-4647-B3D7-077F18783BCE}"/>
              </a:ext>
            </a:extLst>
          </p:cNvPr>
          <p:cNvSpPr>
            <a:spLocks xmlns:a="http://schemas.openxmlformats.org/drawingml/2006/main" noGrp="1"/>
          </p:cNvSpPr>
          <p:nvPr/>
        </p:nvSpPr>
        <p:spPr>
          <a:xfrm xmlns:a="http://schemas.openxmlformats.org/drawingml/2006/main">
            <a:off x="685800" y="4857750"/>
            <a:ext cx="10172700" cy="838200"/>
          </a:xfrm>
          <a:prstGeom xmlns:a="http://schemas.openxmlformats.org/drawingml/2006/main" prst="rect">
            <a:avLst/>
          </a:prstGeom>
          <a:solidFill xmlns:a="http://schemas.openxmlformats.org/drawingml/2006/main">
            <a:srgbClr val="F6E7E5"/>
          </a:solidFill>
          <a:ln xmlns:a="http://schemas.openxmlformats.org/drawingml/2006/main" w="5715">
            <a:solidFill>
              <a:srgbClr val="F6E7E5"/>
            </a:solidFill>
            <a:prstDash val="solid"/>
          </a:ln>
        </p:spPr>
      </p:sp>
      <p:sp>
        <p:nvSpPr>
          <p:cNvPr id="23" name="">
            <a:extLst xmlns:a="http://schemas.openxmlformats.org/drawingml/2006/main">
              <a:ext uri="{FF2B5EF4-FFF2-40B4-BE49-F238E27FC236}">
                <a16:creationId xmlns:a16="http://schemas.microsoft.com/office/drawing/2014/main" id="{730F1626-DE42-469B-B22D-B4B6530EE212}"/>
              </a:ext>
            </a:extLst>
          </p:cNvPr>
          <p:cNvSpPr>
            <a:spLocks xmlns:a="http://schemas.openxmlformats.org/drawingml/2006/main" noGrp="1"/>
          </p:cNvSpPr>
          <p:nvPr/>
        </p:nvSpPr>
        <p:spPr>
          <a:xfrm xmlns:a="http://schemas.openxmlformats.org/drawingml/2006/main">
            <a:off x="685800" y="4857750"/>
            <a:ext cx="76200" cy="8382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24" name="">
            <a:extLst xmlns:a="http://schemas.openxmlformats.org/drawingml/2006/main">
              <a:ext uri="{FF2B5EF4-FFF2-40B4-BE49-F238E27FC236}">
                <a16:creationId xmlns:a16="http://schemas.microsoft.com/office/drawing/2014/main" id="{468D1217-7A42-4210-B58F-FDE181B60AFC}"/>
              </a:ext>
            </a:extLst>
          </p:cNvPr>
          <p:cNvSpPr>
            <a:spLocks xmlns:a="http://schemas.openxmlformats.org/drawingml/2006/main" noGrp="1"/>
          </p:cNvSpPr>
          <p:nvPr/>
        </p:nvSpPr>
        <p:spPr>
          <a:xfrm xmlns:a="http://schemas.openxmlformats.org/drawingml/2006/main">
            <a:off x="952500" y="5019675"/>
            <a:ext cx="9696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C75850"/>
                </a:solidFill>
              </a:defRPr>
            </a:pPr>
            <a:r>
              <a:rPr sz="825" b="1" i="0">
                <a:solidFill>
                  <a:srgbClr val="C75850"/>
                </a:solidFill>
              </a:rPr>
              <a:t>WHAT THIS ESTABLISHES</a:t>
            </a:r>
          </a:p>
        </p:txBody>
      </p:sp>
      <p:sp>
        <p:nvSpPr>
          <p:cNvPr id="25" name="">
            <a:extLst xmlns:a="http://schemas.openxmlformats.org/drawingml/2006/main">
              <a:ext uri="{FF2B5EF4-FFF2-40B4-BE49-F238E27FC236}">
                <a16:creationId xmlns:a16="http://schemas.microsoft.com/office/drawing/2014/main" id="{5D0F936A-FF66-4010-845A-2BAD275CB8A2}"/>
              </a:ext>
            </a:extLst>
          </p:cNvPr>
          <p:cNvSpPr>
            <a:spLocks xmlns:a="http://schemas.openxmlformats.org/drawingml/2006/main" noGrp="1"/>
          </p:cNvSpPr>
          <p:nvPr/>
        </p:nvSpPr>
        <p:spPr>
          <a:xfrm xmlns:a="http://schemas.openxmlformats.org/drawingml/2006/main">
            <a:off x="952500" y="5286375"/>
            <a:ext cx="969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32238"/>
                </a:solidFill>
              </a:defRPr>
            </a:pPr>
            <a:r>
              <a:rPr sz="1350" b="1" i="0">
                <a:solidFill>
                  <a:srgbClr val="132238"/>
                </a:solidFill>
              </a:rPr>
              <a:t>The historical 23.6% figure reflects a reproducible historical scoring method, not an obvious sampling accident in this study.</a:t>
            </a:r>
          </a:p>
        </p:txBody>
      </p:sp>
    </p:spTree>
    <p:extLst>
      <p:ext uri="{BB962C8B-B14F-4D97-AF65-F5344CB8AC3E}">
        <p14:creationId xmlns:p14="http://schemas.microsoft.com/office/powerpoint/2010/main" val="1233496902"/>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EBE8D2A-45E2-4973-95E1-2C220F48FDB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39FB1BCF-3829-4217-A0E1-8AF833F9AE56}"/>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THE COMPLETE PICTURE</a:t>
            </a:r>
          </a:p>
        </p:txBody>
      </p:sp>
      <p:sp>
        <p:nvSpPr>
          <p:cNvPr id="3" name="">
            <a:extLst xmlns:a="http://schemas.openxmlformats.org/drawingml/2006/main">
              <a:ext uri="{FF2B5EF4-FFF2-40B4-BE49-F238E27FC236}">
                <a16:creationId xmlns:a16="http://schemas.microsoft.com/office/drawing/2014/main" id="{82A045D4-0B76-4AFA-AE51-5609FBC1553A}"/>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On the same tasks, E0 proportion ranges from 31.9% to 77.0%</a:t>
            </a:r>
          </a:p>
        </p:txBody>
      </p:sp>
      <p:sp>
        <p:nvSpPr>
          <p:cNvPr id="4" name="">
            <a:extLst xmlns:a="http://schemas.openxmlformats.org/drawingml/2006/main">
              <a:ext uri="{FF2B5EF4-FFF2-40B4-BE49-F238E27FC236}">
                <a16:creationId xmlns:a16="http://schemas.microsoft.com/office/drawing/2014/main" id="{6F725BF1-6287-45E1-BDAB-6D11F176CDC7}"/>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Every cell below scores the same 978 original tasks. The range comes from the scoring method, not from a changing sample.</a:t>
            </a:r>
          </a:p>
        </p:txBody>
      </p:sp>
      <p:sp>
        <p:nvSpPr>
          <p:cNvPr id="5" name="">
            <a:extLst xmlns:a="http://schemas.openxmlformats.org/drawingml/2006/main">
              <a:ext uri="{FF2B5EF4-FFF2-40B4-BE49-F238E27FC236}">
                <a16:creationId xmlns:a16="http://schemas.microsoft.com/office/drawing/2014/main" id="{499B4C95-35BC-43F4-AC56-1A73633C3BED}"/>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22A967F1-EB3E-4F14-851F-FFF0D15446C4}"/>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1069AF7E-7263-4B8D-B32D-461A022CF1C1}"/>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09</a:t>
            </a:r>
          </a:p>
        </p:txBody>
      </p:sp>
      <p:sp>
        <p:nvSpPr>
          <p:cNvPr id="8" name="">
            <a:extLst xmlns:a="http://schemas.openxmlformats.org/drawingml/2006/main">
              <a:ext uri="{FF2B5EF4-FFF2-40B4-BE49-F238E27FC236}">
                <a16:creationId xmlns:a16="http://schemas.microsoft.com/office/drawing/2014/main" id="{C9B1197F-CA60-4C43-B63F-1B421CF9522F}"/>
              </a:ext>
            </a:extLst>
          </p:cNvPr>
          <p:cNvSpPr>
            <a:spLocks xmlns:a="http://schemas.openxmlformats.org/drawingml/2006/main" noGrp="1"/>
          </p:cNvSpPr>
          <p:nvPr/>
        </p:nvSpPr>
        <p:spPr>
          <a:xfrm xmlns:a="http://schemas.openxmlformats.org/drawingml/2006/main">
            <a:off x="4095750" y="209550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24547A"/>
                </a:solidFill>
              </a:defRPr>
            </a:pPr>
            <a:r>
              <a:rPr sz="1350" b="1" i="0">
                <a:solidFill>
                  <a:srgbClr val="24547A"/>
                </a:solidFill>
              </a:rPr>
              <a:t>GPT-4o</a:t>
            </a:r>
          </a:p>
        </p:txBody>
      </p:sp>
      <p:sp>
        <p:nvSpPr>
          <p:cNvPr id="9" name="">
            <a:extLst xmlns:a="http://schemas.openxmlformats.org/drawingml/2006/main">
              <a:ext uri="{FF2B5EF4-FFF2-40B4-BE49-F238E27FC236}">
                <a16:creationId xmlns:a16="http://schemas.microsoft.com/office/drawing/2014/main" id="{4675F260-7329-4AB9-95C8-EA96E3BE9DA4}"/>
              </a:ext>
            </a:extLst>
          </p:cNvPr>
          <p:cNvSpPr>
            <a:spLocks xmlns:a="http://schemas.openxmlformats.org/drawingml/2006/main" noGrp="1"/>
          </p:cNvSpPr>
          <p:nvPr/>
        </p:nvSpPr>
        <p:spPr>
          <a:xfrm xmlns:a="http://schemas.openxmlformats.org/drawingml/2006/main">
            <a:off x="7239000" y="209550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D9771F"/>
                </a:solidFill>
              </a:defRPr>
            </a:pPr>
            <a:r>
              <a:rPr sz="1350" b="1" i="0">
                <a:solidFill>
                  <a:srgbClr val="D9771F"/>
                </a:solidFill>
              </a:rPr>
              <a:t>GPT-5.2</a:t>
            </a:r>
          </a:p>
        </p:txBody>
      </p:sp>
      <p:sp>
        <p:nvSpPr>
          <p:cNvPr id="10" name="">
            <a:extLst xmlns:a="http://schemas.openxmlformats.org/drawingml/2006/main">
              <a:ext uri="{FF2B5EF4-FFF2-40B4-BE49-F238E27FC236}">
                <a16:creationId xmlns:a16="http://schemas.microsoft.com/office/drawing/2014/main" id="{14DECD37-67BB-4274-ACC0-A89E0B9A5CB4}"/>
              </a:ext>
            </a:extLst>
          </p:cNvPr>
          <p:cNvSpPr>
            <a:spLocks xmlns:a="http://schemas.openxmlformats.org/drawingml/2006/main" noGrp="1"/>
          </p:cNvSpPr>
          <p:nvPr/>
        </p:nvSpPr>
        <p:spPr>
          <a:xfrm xmlns:a="http://schemas.openxmlformats.org/drawingml/2006/main">
            <a:off x="704850" y="276225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32238"/>
                </a:solidFill>
              </a:defRPr>
            </a:pPr>
            <a:r>
              <a:rPr sz="1200" b="1" i="0">
                <a:solidFill>
                  <a:srgbClr val="132238"/>
                </a:solidFill>
              </a:rPr>
              <a:t>Historical dashboard guidance</a:t>
            </a:r>
          </a:p>
        </p:txBody>
      </p:sp>
      <p:sp>
        <p:nvSpPr>
          <p:cNvPr id="11" name="">
            <a:extLst xmlns:a="http://schemas.openxmlformats.org/drawingml/2006/main">
              <a:ext uri="{FF2B5EF4-FFF2-40B4-BE49-F238E27FC236}">
                <a16:creationId xmlns:a16="http://schemas.microsoft.com/office/drawing/2014/main" id="{051092DB-DF7C-4FF2-B06B-2115087AC665}"/>
              </a:ext>
            </a:extLst>
          </p:cNvPr>
          <p:cNvSpPr>
            <a:spLocks xmlns:a="http://schemas.openxmlformats.org/drawingml/2006/main" noGrp="1"/>
          </p:cNvSpPr>
          <p:nvPr/>
        </p:nvSpPr>
        <p:spPr>
          <a:xfrm xmlns:a="http://schemas.openxmlformats.org/drawingml/2006/main">
            <a:off x="3905250" y="2514600"/>
            <a:ext cx="2571750" cy="800100"/>
          </a:xfrm>
          <a:prstGeom xmlns:a="http://schemas.openxmlformats.org/drawingml/2006/main" prst="rect">
            <a:avLst/>
          </a:prstGeom>
          <a:solidFill xmlns:a="http://schemas.openxmlformats.org/drawingml/2006/main">
            <a:srgbClr val="E1F0EC"/>
          </a:solidFill>
          <a:ln xmlns:a="http://schemas.openxmlformats.org/drawingml/2006/main" w="5715">
            <a:solidFill>
              <a:srgbClr val="E1F0EC"/>
            </a:solidFill>
            <a:prstDash val="solid"/>
          </a:ln>
        </p:spPr>
      </p:sp>
      <p:sp>
        <p:nvSpPr>
          <p:cNvPr id="12" name="">
            <a:extLst xmlns:a="http://schemas.openxmlformats.org/drawingml/2006/main">
              <a:ext uri="{FF2B5EF4-FFF2-40B4-BE49-F238E27FC236}">
                <a16:creationId xmlns:a16="http://schemas.microsoft.com/office/drawing/2014/main" id="{90E96035-30C7-4A29-AFED-AF24CF45CDD5}"/>
              </a:ext>
            </a:extLst>
          </p:cNvPr>
          <p:cNvSpPr>
            <a:spLocks xmlns:a="http://schemas.openxmlformats.org/drawingml/2006/main" noGrp="1"/>
          </p:cNvSpPr>
          <p:nvPr/>
        </p:nvSpPr>
        <p:spPr>
          <a:xfrm xmlns:a="http://schemas.openxmlformats.org/drawingml/2006/main">
            <a:off x="4057650" y="2638425"/>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132238"/>
                </a:solidFill>
              </a:defRPr>
            </a:pPr>
            <a:r>
              <a:rPr sz="900" b="1" i="0">
                <a:solidFill>
                  <a:srgbClr val="132238"/>
                </a:solidFill>
              </a:rPr>
              <a:t>E0 proportion</a:t>
            </a:r>
          </a:p>
        </p:txBody>
      </p:sp>
      <p:sp>
        <p:nvSpPr>
          <p:cNvPr id="13" name="">
            <a:extLst xmlns:a="http://schemas.openxmlformats.org/drawingml/2006/main">
              <a:ext uri="{FF2B5EF4-FFF2-40B4-BE49-F238E27FC236}">
                <a16:creationId xmlns:a16="http://schemas.microsoft.com/office/drawing/2014/main" id="{F16DD6BE-BCE9-4E59-B598-5AF2996CBE95}"/>
              </a:ext>
            </a:extLst>
          </p:cNvPr>
          <p:cNvSpPr>
            <a:spLocks xmlns:a="http://schemas.openxmlformats.org/drawingml/2006/main" noGrp="1"/>
          </p:cNvSpPr>
          <p:nvPr/>
        </p:nvSpPr>
        <p:spPr>
          <a:xfrm xmlns:a="http://schemas.openxmlformats.org/drawingml/2006/main">
            <a:off x="4057650" y="2857500"/>
            <a:ext cx="2266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132238"/>
                </a:solidFill>
              </a:defRPr>
            </a:pPr>
            <a:r>
              <a:rPr sz="2100" b="1" i="0">
                <a:solidFill>
                  <a:srgbClr val="132238"/>
                </a:solidFill>
              </a:rPr>
              <a:t>77.0%</a:t>
            </a:r>
          </a:p>
        </p:txBody>
      </p:sp>
      <p:sp>
        <p:nvSpPr>
          <p:cNvPr id="14" name="">
            <a:extLst xmlns:a="http://schemas.openxmlformats.org/drawingml/2006/main">
              <a:ext uri="{FF2B5EF4-FFF2-40B4-BE49-F238E27FC236}">
                <a16:creationId xmlns:a16="http://schemas.microsoft.com/office/drawing/2014/main" id="{7D74B8FA-C91D-421C-9675-71EFACABECB8}"/>
              </a:ext>
            </a:extLst>
          </p:cNvPr>
          <p:cNvSpPr>
            <a:spLocks xmlns:a="http://schemas.openxmlformats.org/drawingml/2006/main" noGrp="1"/>
          </p:cNvSpPr>
          <p:nvPr/>
        </p:nvSpPr>
        <p:spPr>
          <a:xfrm xmlns:a="http://schemas.openxmlformats.org/drawingml/2006/main">
            <a:off x="7048500" y="2514600"/>
            <a:ext cx="2571750" cy="800100"/>
          </a:xfrm>
          <a:prstGeom xmlns:a="http://schemas.openxmlformats.org/drawingml/2006/main" prst="rect">
            <a:avLst/>
          </a:prstGeom>
          <a:solidFill xmlns:a="http://schemas.openxmlformats.org/drawingml/2006/main">
            <a:srgbClr val="E1F0EC"/>
          </a:solidFill>
          <a:ln xmlns:a="http://schemas.openxmlformats.org/drawingml/2006/main" w="5715">
            <a:solidFill>
              <a:srgbClr val="E1F0EC"/>
            </a:solidFill>
            <a:prstDash val="solid"/>
          </a:ln>
        </p:spPr>
      </p:sp>
      <p:sp>
        <p:nvSpPr>
          <p:cNvPr id="15" name="">
            <a:extLst xmlns:a="http://schemas.openxmlformats.org/drawingml/2006/main">
              <a:ext uri="{FF2B5EF4-FFF2-40B4-BE49-F238E27FC236}">
                <a16:creationId xmlns:a16="http://schemas.microsoft.com/office/drawing/2014/main" id="{6F1D3A8A-2B78-41F7-BA62-4DD6406B9869}"/>
              </a:ext>
            </a:extLst>
          </p:cNvPr>
          <p:cNvSpPr>
            <a:spLocks xmlns:a="http://schemas.openxmlformats.org/drawingml/2006/main" noGrp="1"/>
          </p:cNvSpPr>
          <p:nvPr/>
        </p:nvSpPr>
        <p:spPr>
          <a:xfrm xmlns:a="http://schemas.openxmlformats.org/drawingml/2006/main">
            <a:off x="7200900" y="2638425"/>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132238"/>
                </a:solidFill>
              </a:defRPr>
            </a:pPr>
            <a:r>
              <a:rPr sz="900" b="1" i="0">
                <a:solidFill>
                  <a:srgbClr val="132238"/>
                </a:solidFill>
              </a:rPr>
              <a:t>E0 proportion</a:t>
            </a:r>
          </a:p>
        </p:txBody>
      </p:sp>
      <p:sp>
        <p:nvSpPr>
          <p:cNvPr id="16" name="">
            <a:extLst xmlns:a="http://schemas.openxmlformats.org/drawingml/2006/main">
              <a:ext uri="{FF2B5EF4-FFF2-40B4-BE49-F238E27FC236}">
                <a16:creationId xmlns:a16="http://schemas.microsoft.com/office/drawing/2014/main" id="{6A7B2DE2-38E6-4562-9489-08B216FA0CF1}"/>
              </a:ext>
            </a:extLst>
          </p:cNvPr>
          <p:cNvSpPr>
            <a:spLocks xmlns:a="http://schemas.openxmlformats.org/drawingml/2006/main" noGrp="1"/>
          </p:cNvSpPr>
          <p:nvPr/>
        </p:nvSpPr>
        <p:spPr>
          <a:xfrm xmlns:a="http://schemas.openxmlformats.org/drawingml/2006/main">
            <a:off x="7200900" y="2857500"/>
            <a:ext cx="2266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132238"/>
                </a:solidFill>
              </a:defRPr>
            </a:pPr>
            <a:r>
              <a:rPr sz="2100" b="1" i="0">
                <a:solidFill>
                  <a:srgbClr val="132238"/>
                </a:solidFill>
              </a:rPr>
              <a:t>38.5%</a:t>
            </a:r>
          </a:p>
        </p:txBody>
      </p:sp>
      <p:sp>
        <p:nvSpPr>
          <p:cNvPr id="17" name="">
            <a:extLst xmlns:a="http://schemas.openxmlformats.org/drawingml/2006/main">
              <a:ext uri="{FF2B5EF4-FFF2-40B4-BE49-F238E27FC236}">
                <a16:creationId xmlns:a16="http://schemas.microsoft.com/office/drawing/2014/main" id="{006A48AB-C029-4773-8C63-135CE2090F92}"/>
              </a:ext>
            </a:extLst>
          </p:cNvPr>
          <p:cNvSpPr>
            <a:spLocks xmlns:a="http://schemas.openxmlformats.org/drawingml/2006/main" noGrp="1"/>
          </p:cNvSpPr>
          <p:nvPr/>
        </p:nvSpPr>
        <p:spPr>
          <a:xfrm xmlns:a="http://schemas.openxmlformats.org/drawingml/2006/main">
            <a:off x="704850" y="373380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32238"/>
                </a:solidFill>
              </a:defRPr>
            </a:pPr>
            <a:r>
              <a:rPr sz="1200" b="1" i="0">
                <a:solidFill>
                  <a:srgbClr val="132238"/>
                </a:solidFill>
              </a:rPr>
              <a:t>Current POC guidance</a:t>
            </a:r>
          </a:p>
        </p:txBody>
      </p:sp>
      <p:sp>
        <p:nvSpPr>
          <p:cNvPr id="18" name="">
            <a:extLst xmlns:a="http://schemas.openxmlformats.org/drawingml/2006/main">
              <a:ext uri="{FF2B5EF4-FFF2-40B4-BE49-F238E27FC236}">
                <a16:creationId xmlns:a16="http://schemas.microsoft.com/office/drawing/2014/main" id="{560B57CC-A5B8-4C1A-AA92-5E4308C55661}"/>
              </a:ext>
            </a:extLst>
          </p:cNvPr>
          <p:cNvSpPr>
            <a:spLocks xmlns:a="http://schemas.openxmlformats.org/drawingml/2006/main" noGrp="1"/>
          </p:cNvSpPr>
          <p:nvPr/>
        </p:nvSpPr>
        <p:spPr>
          <a:xfrm xmlns:a="http://schemas.openxmlformats.org/drawingml/2006/main">
            <a:off x="3905250" y="3486150"/>
            <a:ext cx="2571750" cy="800100"/>
          </a:xfrm>
          <a:prstGeom xmlns:a="http://schemas.openxmlformats.org/drawingml/2006/main" prst="rect">
            <a:avLst/>
          </a:prstGeom>
          <a:solidFill xmlns:a="http://schemas.openxmlformats.org/drawingml/2006/main">
            <a:srgbClr val="E9F0F5"/>
          </a:solidFill>
          <a:ln xmlns:a="http://schemas.openxmlformats.org/drawingml/2006/main" w="5715">
            <a:solidFill>
              <a:srgbClr val="E9F0F5"/>
            </a:solidFill>
            <a:prstDash val="solid"/>
          </a:ln>
        </p:spPr>
      </p:sp>
      <p:sp>
        <p:nvSpPr>
          <p:cNvPr id="19" name="">
            <a:extLst xmlns:a="http://schemas.openxmlformats.org/drawingml/2006/main">
              <a:ext uri="{FF2B5EF4-FFF2-40B4-BE49-F238E27FC236}">
                <a16:creationId xmlns:a16="http://schemas.microsoft.com/office/drawing/2014/main" id="{58F132D1-FE83-4CE3-805C-6E92DA164FDC}"/>
              </a:ext>
            </a:extLst>
          </p:cNvPr>
          <p:cNvSpPr>
            <a:spLocks xmlns:a="http://schemas.openxmlformats.org/drawingml/2006/main" noGrp="1"/>
          </p:cNvSpPr>
          <p:nvPr/>
        </p:nvSpPr>
        <p:spPr>
          <a:xfrm xmlns:a="http://schemas.openxmlformats.org/drawingml/2006/main">
            <a:off x="4057650" y="3609975"/>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132238"/>
                </a:solidFill>
              </a:defRPr>
            </a:pPr>
            <a:r>
              <a:rPr sz="900" b="1" i="0">
                <a:solidFill>
                  <a:srgbClr val="132238"/>
                </a:solidFill>
              </a:rPr>
              <a:t>E0 proportion</a:t>
            </a:r>
          </a:p>
        </p:txBody>
      </p:sp>
      <p:sp>
        <p:nvSpPr>
          <p:cNvPr id="20" name="">
            <a:extLst xmlns:a="http://schemas.openxmlformats.org/drawingml/2006/main">
              <a:ext uri="{FF2B5EF4-FFF2-40B4-BE49-F238E27FC236}">
                <a16:creationId xmlns:a16="http://schemas.microsoft.com/office/drawing/2014/main" id="{A8B92D8D-7A8B-430F-BFC4-021EADC60AAB}"/>
              </a:ext>
            </a:extLst>
          </p:cNvPr>
          <p:cNvSpPr>
            <a:spLocks xmlns:a="http://schemas.openxmlformats.org/drawingml/2006/main" noGrp="1"/>
          </p:cNvSpPr>
          <p:nvPr/>
        </p:nvSpPr>
        <p:spPr>
          <a:xfrm xmlns:a="http://schemas.openxmlformats.org/drawingml/2006/main">
            <a:off x="4057650" y="3829050"/>
            <a:ext cx="2266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132238"/>
                </a:solidFill>
              </a:defRPr>
            </a:pPr>
            <a:r>
              <a:rPr sz="2100" b="1" i="0">
                <a:solidFill>
                  <a:srgbClr val="132238"/>
                </a:solidFill>
              </a:rPr>
              <a:t>41.1%</a:t>
            </a:r>
          </a:p>
        </p:txBody>
      </p:sp>
      <p:sp>
        <p:nvSpPr>
          <p:cNvPr id="21" name="">
            <a:extLst xmlns:a="http://schemas.openxmlformats.org/drawingml/2006/main">
              <a:ext uri="{FF2B5EF4-FFF2-40B4-BE49-F238E27FC236}">
                <a16:creationId xmlns:a16="http://schemas.microsoft.com/office/drawing/2014/main" id="{8FF60487-169B-4273-9CAC-5A1E1B5E4BE5}"/>
              </a:ext>
            </a:extLst>
          </p:cNvPr>
          <p:cNvSpPr>
            <a:spLocks xmlns:a="http://schemas.openxmlformats.org/drawingml/2006/main" noGrp="1"/>
          </p:cNvSpPr>
          <p:nvPr/>
        </p:nvSpPr>
        <p:spPr>
          <a:xfrm xmlns:a="http://schemas.openxmlformats.org/drawingml/2006/main">
            <a:off x="7048500" y="3486150"/>
            <a:ext cx="2571750" cy="800100"/>
          </a:xfrm>
          <a:prstGeom xmlns:a="http://schemas.openxmlformats.org/drawingml/2006/main" prst="rect">
            <a:avLst/>
          </a:prstGeom>
          <a:solidFill xmlns:a="http://schemas.openxmlformats.org/drawingml/2006/main">
            <a:srgbClr val="F9E2D3"/>
          </a:solidFill>
          <a:ln xmlns:a="http://schemas.openxmlformats.org/drawingml/2006/main" w="5715">
            <a:solidFill>
              <a:srgbClr val="F9E2D3"/>
            </a:solidFill>
            <a:prstDash val="solid"/>
          </a:ln>
        </p:spPr>
      </p:sp>
      <p:sp>
        <p:nvSpPr>
          <p:cNvPr id="22" name="">
            <a:extLst xmlns:a="http://schemas.openxmlformats.org/drawingml/2006/main">
              <a:ext uri="{FF2B5EF4-FFF2-40B4-BE49-F238E27FC236}">
                <a16:creationId xmlns:a16="http://schemas.microsoft.com/office/drawing/2014/main" id="{2EA38126-35ED-45A4-AF70-EFB42E2F8039}"/>
              </a:ext>
            </a:extLst>
          </p:cNvPr>
          <p:cNvSpPr>
            <a:spLocks xmlns:a="http://schemas.openxmlformats.org/drawingml/2006/main" noGrp="1"/>
          </p:cNvSpPr>
          <p:nvPr/>
        </p:nvSpPr>
        <p:spPr>
          <a:xfrm xmlns:a="http://schemas.openxmlformats.org/drawingml/2006/main">
            <a:off x="7200900" y="3609975"/>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132238"/>
                </a:solidFill>
              </a:defRPr>
            </a:pPr>
            <a:r>
              <a:rPr sz="900" b="1" i="0">
                <a:solidFill>
                  <a:srgbClr val="132238"/>
                </a:solidFill>
              </a:rPr>
              <a:t>E0 proportion</a:t>
            </a:r>
          </a:p>
        </p:txBody>
      </p:sp>
      <p:sp>
        <p:nvSpPr>
          <p:cNvPr id="23" name="">
            <a:extLst xmlns:a="http://schemas.openxmlformats.org/drawingml/2006/main">
              <a:ext uri="{FF2B5EF4-FFF2-40B4-BE49-F238E27FC236}">
                <a16:creationId xmlns:a16="http://schemas.microsoft.com/office/drawing/2014/main" id="{3D3F8984-4C0A-486C-B1DB-519FB46C975A}"/>
              </a:ext>
            </a:extLst>
          </p:cNvPr>
          <p:cNvSpPr>
            <a:spLocks xmlns:a="http://schemas.openxmlformats.org/drawingml/2006/main" noGrp="1"/>
          </p:cNvSpPr>
          <p:nvPr/>
        </p:nvSpPr>
        <p:spPr>
          <a:xfrm xmlns:a="http://schemas.openxmlformats.org/drawingml/2006/main">
            <a:off x="7200900" y="3829050"/>
            <a:ext cx="2266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132238"/>
                </a:solidFill>
              </a:defRPr>
            </a:pPr>
            <a:r>
              <a:rPr sz="2100" b="1" i="0">
                <a:solidFill>
                  <a:srgbClr val="132238"/>
                </a:solidFill>
              </a:rPr>
              <a:t>31.9%</a:t>
            </a:r>
          </a:p>
        </p:txBody>
      </p:sp>
      <p:sp>
        <p:nvSpPr>
          <p:cNvPr id="24" name="">
            <a:extLst xmlns:a="http://schemas.openxmlformats.org/drawingml/2006/main">
              <a:ext uri="{FF2B5EF4-FFF2-40B4-BE49-F238E27FC236}">
                <a16:creationId xmlns:a16="http://schemas.microsoft.com/office/drawing/2014/main" id="{049F412C-77AB-4583-AE21-4731FCB11C8C}"/>
              </a:ext>
            </a:extLst>
          </p:cNvPr>
          <p:cNvSpPr>
            <a:spLocks xmlns:a="http://schemas.openxmlformats.org/drawingml/2006/main" noGrp="1"/>
          </p:cNvSpPr>
          <p:nvPr/>
        </p:nvSpPr>
        <p:spPr>
          <a:xfrm xmlns:a="http://schemas.openxmlformats.org/drawingml/2006/main">
            <a:off x="704850" y="470535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32238"/>
                </a:solidFill>
              </a:defRPr>
            </a:pPr>
            <a:r>
              <a:rPr sz="1200" b="1" i="0">
                <a:solidFill>
                  <a:srgbClr val="132238"/>
                </a:solidFill>
              </a:rPr>
              <a:t>Current POC guidance</a:t>
            </a:r>
          </a:p>
          <a:p xmlns:a="http://schemas.openxmlformats.org/drawingml/2006/main">
            <a:pPr algn="l">
              <a:defRPr sz="1200" b="1" i="0">
                <a:solidFill>
                  <a:srgbClr val="132238"/>
                </a:solidFill>
              </a:defRPr>
            </a:pPr>
            <a:r>
              <a:rPr sz="1200" b="1" i="0">
                <a:solidFill>
                  <a:srgbClr val="132238"/>
                </a:solidFill>
              </a:rPr>
              <a:t>+ historical examples</a:t>
            </a:r>
          </a:p>
        </p:txBody>
      </p:sp>
      <p:sp>
        <p:nvSpPr>
          <p:cNvPr id="25" name="">
            <a:extLst xmlns:a="http://schemas.openxmlformats.org/drawingml/2006/main">
              <a:ext uri="{FF2B5EF4-FFF2-40B4-BE49-F238E27FC236}">
                <a16:creationId xmlns:a16="http://schemas.microsoft.com/office/drawing/2014/main" id="{2FA45F81-DC4D-4ED5-986B-7CCE327E57CC}"/>
              </a:ext>
            </a:extLst>
          </p:cNvPr>
          <p:cNvSpPr>
            <a:spLocks xmlns:a="http://schemas.openxmlformats.org/drawingml/2006/main" noGrp="1"/>
          </p:cNvSpPr>
          <p:nvPr/>
        </p:nvSpPr>
        <p:spPr>
          <a:xfrm xmlns:a="http://schemas.openxmlformats.org/drawingml/2006/main">
            <a:off x="3905250" y="4457700"/>
            <a:ext cx="2571750" cy="800100"/>
          </a:xfrm>
          <a:prstGeom xmlns:a="http://schemas.openxmlformats.org/drawingml/2006/main" prst="rect">
            <a:avLst/>
          </a:prstGeom>
          <a:solidFill xmlns:a="http://schemas.openxmlformats.org/drawingml/2006/main">
            <a:srgbClr val="E9F1EC"/>
          </a:solidFill>
          <a:ln xmlns:a="http://schemas.openxmlformats.org/drawingml/2006/main" w="5715">
            <a:solidFill>
              <a:srgbClr val="E9F1EC"/>
            </a:solidFill>
            <a:prstDash val="solid"/>
          </a:ln>
        </p:spPr>
      </p:sp>
      <p:sp>
        <p:nvSpPr>
          <p:cNvPr id="26" name="">
            <a:extLst xmlns:a="http://schemas.openxmlformats.org/drawingml/2006/main">
              <a:ext uri="{FF2B5EF4-FFF2-40B4-BE49-F238E27FC236}">
                <a16:creationId xmlns:a16="http://schemas.microsoft.com/office/drawing/2014/main" id="{71526336-6BC8-4165-9BD8-573BF4F6212A}"/>
              </a:ext>
            </a:extLst>
          </p:cNvPr>
          <p:cNvSpPr>
            <a:spLocks xmlns:a="http://schemas.openxmlformats.org/drawingml/2006/main" noGrp="1"/>
          </p:cNvSpPr>
          <p:nvPr/>
        </p:nvSpPr>
        <p:spPr>
          <a:xfrm xmlns:a="http://schemas.openxmlformats.org/drawingml/2006/main">
            <a:off x="4057650" y="4581525"/>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132238"/>
                </a:solidFill>
              </a:defRPr>
            </a:pPr>
            <a:r>
              <a:rPr sz="900" b="1" i="0">
                <a:solidFill>
                  <a:srgbClr val="132238"/>
                </a:solidFill>
              </a:rPr>
              <a:t>E0 proportion</a:t>
            </a:r>
          </a:p>
        </p:txBody>
      </p:sp>
      <p:sp>
        <p:nvSpPr>
          <p:cNvPr id="27" name="">
            <a:extLst xmlns:a="http://schemas.openxmlformats.org/drawingml/2006/main">
              <a:ext uri="{FF2B5EF4-FFF2-40B4-BE49-F238E27FC236}">
                <a16:creationId xmlns:a16="http://schemas.microsoft.com/office/drawing/2014/main" id="{42AD7D50-BA4A-4B2A-847B-D4A226DE219E}"/>
              </a:ext>
            </a:extLst>
          </p:cNvPr>
          <p:cNvSpPr>
            <a:spLocks xmlns:a="http://schemas.openxmlformats.org/drawingml/2006/main" noGrp="1"/>
          </p:cNvSpPr>
          <p:nvPr/>
        </p:nvSpPr>
        <p:spPr>
          <a:xfrm xmlns:a="http://schemas.openxmlformats.org/drawingml/2006/main">
            <a:off x="4057650" y="4800600"/>
            <a:ext cx="2266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132238"/>
                </a:solidFill>
              </a:defRPr>
            </a:pPr>
            <a:r>
              <a:rPr sz="2100" b="1" i="0">
                <a:solidFill>
                  <a:srgbClr val="132238"/>
                </a:solidFill>
              </a:rPr>
              <a:t>54.2%</a:t>
            </a:r>
          </a:p>
        </p:txBody>
      </p:sp>
      <p:sp>
        <p:nvSpPr>
          <p:cNvPr id="28" name="">
            <a:extLst xmlns:a="http://schemas.openxmlformats.org/drawingml/2006/main">
              <a:ext uri="{FF2B5EF4-FFF2-40B4-BE49-F238E27FC236}">
                <a16:creationId xmlns:a16="http://schemas.microsoft.com/office/drawing/2014/main" id="{67DD7BD1-E639-4507-95E2-E08B796CA7C5}"/>
              </a:ext>
            </a:extLst>
          </p:cNvPr>
          <p:cNvSpPr>
            <a:spLocks xmlns:a="http://schemas.openxmlformats.org/drawingml/2006/main" noGrp="1"/>
          </p:cNvSpPr>
          <p:nvPr/>
        </p:nvSpPr>
        <p:spPr>
          <a:xfrm xmlns:a="http://schemas.openxmlformats.org/drawingml/2006/main">
            <a:off x="7048500" y="4457700"/>
            <a:ext cx="2571750" cy="800100"/>
          </a:xfrm>
          <a:prstGeom xmlns:a="http://schemas.openxmlformats.org/drawingml/2006/main" prst="rect">
            <a:avLst/>
          </a:prstGeom>
          <a:solidFill xmlns:a="http://schemas.openxmlformats.org/drawingml/2006/main">
            <a:srgbClr val="F7EBD9"/>
          </a:solidFill>
          <a:ln xmlns:a="http://schemas.openxmlformats.org/drawingml/2006/main" w="5715">
            <a:solidFill>
              <a:srgbClr val="F7EBD9"/>
            </a:solidFill>
            <a:prstDash val="solid"/>
          </a:ln>
        </p:spPr>
      </p:sp>
      <p:sp>
        <p:nvSpPr>
          <p:cNvPr id="29" name="">
            <a:extLst xmlns:a="http://schemas.openxmlformats.org/drawingml/2006/main">
              <a:ext uri="{FF2B5EF4-FFF2-40B4-BE49-F238E27FC236}">
                <a16:creationId xmlns:a16="http://schemas.microsoft.com/office/drawing/2014/main" id="{1E39C119-3E1F-4DCB-B6A8-E5258266AC48}"/>
              </a:ext>
            </a:extLst>
          </p:cNvPr>
          <p:cNvSpPr>
            <a:spLocks xmlns:a="http://schemas.openxmlformats.org/drawingml/2006/main" noGrp="1"/>
          </p:cNvSpPr>
          <p:nvPr/>
        </p:nvSpPr>
        <p:spPr>
          <a:xfrm xmlns:a="http://schemas.openxmlformats.org/drawingml/2006/main">
            <a:off x="7200900" y="4581525"/>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132238"/>
                </a:solidFill>
              </a:defRPr>
            </a:pPr>
            <a:r>
              <a:rPr sz="900" b="1" i="0">
                <a:solidFill>
                  <a:srgbClr val="132238"/>
                </a:solidFill>
              </a:rPr>
              <a:t>E0 proportion</a:t>
            </a:r>
          </a:p>
        </p:txBody>
      </p:sp>
      <p:sp>
        <p:nvSpPr>
          <p:cNvPr id="30" name="">
            <a:extLst xmlns:a="http://schemas.openxmlformats.org/drawingml/2006/main">
              <a:ext uri="{FF2B5EF4-FFF2-40B4-BE49-F238E27FC236}">
                <a16:creationId xmlns:a16="http://schemas.microsoft.com/office/drawing/2014/main" id="{74967996-8B1F-429C-968A-6BD1197F2FC6}"/>
              </a:ext>
            </a:extLst>
          </p:cNvPr>
          <p:cNvSpPr>
            <a:spLocks xmlns:a="http://schemas.openxmlformats.org/drawingml/2006/main" noGrp="1"/>
          </p:cNvSpPr>
          <p:nvPr/>
        </p:nvSpPr>
        <p:spPr>
          <a:xfrm xmlns:a="http://schemas.openxmlformats.org/drawingml/2006/main">
            <a:off x="7200900" y="4800600"/>
            <a:ext cx="2266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132238"/>
                </a:solidFill>
              </a:defRPr>
            </a:pPr>
            <a:r>
              <a:rPr sz="2100" b="1" i="0">
                <a:solidFill>
                  <a:srgbClr val="132238"/>
                </a:solidFill>
              </a:rPr>
              <a:t>35.8%</a:t>
            </a:r>
          </a:p>
        </p:txBody>
      </p:sp>
      <p:sp>
        <p:nvSpPr>
          <p:cNvPr id="31" name="">
            <a:extLst xmlns:a="http://schemas.openxmlformats.org/drawingml/2006/main">
              <a:ext uri="{FF2B5EF4-FFF2-40B4-BE49-F238E27FC236}">
                <a16:creationId xmlns:a16="http://schemas.microsoft.com/office/drawing/2014/main" id="{9E4EA2E7-8FDB-46B9-8719-31F5AA099202}"/>
              </a:ext>
            </a:extLst>
          </p:cNvPr>
          <p:cNvSpPr>
            <a:spLocks xmlns:a="http://schemas.openxmlformats.org/drawingml/2006/main" noGrp="1"/>
          </p:cNvSpPr>
          <p:nvPr/>
        </p:nvSpPr>
        <p:spPr>
          <a:xfrm xmlns:a="http://schemas.openxmlformats.org/drawingml/2006/main">
            <a:off x="685800" y="560070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F6E7B"/>
                </a:solidFill>
              </a:defRPr>
            </a:pPr>
            <a:r>
              <a:rPr sz="1200" b="0" i="0">
                <a:solidFill>
                  <a:srgbClr val="5F6E7B"/>
                </a:solidFill>
              </a:rPr>
              <a:t>Lower E0 means a larger AI-impacted share. The next slides isolate each source of change.</a:t>
            </a:r>
          </a:p>
        </p:txBody>
      </p:sp>
    </p:spTree>
    <p:extLst>
      <p:ext uri="{BB962C8B-B14F-4D97-AF65-F5344CB8AC3E}">
        <p14:creationId xmlns:p14="http://schemas.microsoft.com/office/powerpoint/2010/main" val="429167661"/>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9933FFD2-E987-47A0-BFE2-7D7C814FCB3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EF328955-73C6-4C47-943E-702C113362C0}"/>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SCORING-GUIDANCE EFFECT</a:t>
            </a:r>
          </a:p>
        </p:txBody>
      </p:sp>
      <p:sp>
        <p:nvSpPr>
          <p:cNvPr id="3" name="">
            <a:extLst xmlns:a="http://schemas.openxmlformats.org/drawingml/2006/main">
              <a:ext uri="{FF2B5EF4-FFF2-40B4-BE49-F238E27FC236}">
                <a16:creationId xmlns:a16="http://schemas.microsoft.com/office/drawing/2014/main" id="{D4894C61-2A3E-4EF7-9DFE-1FBCFD0D10B1}"/>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i="0">
                <a:solidFill>
                  <a:srgbClr val="132238"/>
                </a:solidFill>
              </a:defRPr>
            </a:pPr>
            <a:r>
              <a:rPr sz="2325" b="1" i="0">
                <a:solidFill>
                  <a:srgbClr val="132238"/>
                </a:solidFill>
              </a:rPr>
              <a:t>Current POC guidance lowers E0 by 35.9 points with GPT-4o and 6.6 with GPT-5.2</a:t>
            </a:r>
          </a:p>
        </p:txBody>
      </p:sp>
      <p:sp>
        <p:nvSpPr>
          <p:cNvPr id="4" name="">
            <a:extLst xmlns:a="http://schemas.openxmlformats.org/drawingml/2006/main">
              <a:ext uri="{FF2B5EF4-FFF2-40B4-BE49-F238E27FC236}">
                <a16:creationId xmlns:a16="http://schemas.microsoft.com/office/drawing/2014/main" id="{BBB19380-A49A-4DE7-941A-B2D382A6E5F2}"/>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Held constant: the same original tasks and the same LLM version. Lower E0 means a larger AI-impacted share.</a:t>
            </a:r>
          </a:p>
        </p:txBody>
      </p:sp>
      <p:sp>
        <p:nvSpPr>
          <p:cNvPr id="5" name="">
            <a:extLst xmlns:a="http://schemas.openxmlformats.org/drawingml/2006/main">
              <a:ext uri="{FF2B5EF4-FFF2-40B4-BE49-F238E27FC236}">
                <a16:creationId xmlns:a16="http://schemas.microsoft.com/office/drawing/2014/main" id="{A6ED866F-D627-4F31-A414-9B3271A29F41}"/>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11ECBF8C-AF91-4410-84DC-75E2D3BFEDDD}"/>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D5AB1B43-15ED-4340-AC86-CAE6FF705D9F}"/>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10</a:t>
            </a:r>
          </a:p>
        </p:txBody>
      </p:sp>
      <p:sp>
        <p:nvSpPr>
          <p:cNvPr id="8" name="">
            <a:extLst xmlns:a="http://schemas.openxmlformats.org/drawingml/2006/main">
              <a:ext uri="{FF2B5EF4-FFF2-40B4-BE49-F238E27FC236}">
                <a16:creationId xmlns:a16="http://schemas.microsoft.com/office/drawing/2014/main" id="{FCD2DD75-B918-44E5-AEAE-C11B18ED1710}"/>
              </a:ext>
            </a:extLst>
          </p:cNvPr>
          <p:cNvSpPr>
            <a:spLocks xmlns:a="http://schemas.openxmlformats.org/drawingml/2006/main" noGrp="1"/>
          </p:cNvSpPr>
          <p:nvPr/>
        </p:nvSpPr>
        <p:spPr>
          <a:xfrm xmlns:a="http://schemas.openxmlformats.org/drawingml/2006/main">
            <a:off x="685800" y="1962150"/>
            <a:ext cx="704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HISTORICAL DASHBOARD GUIDANCE  →  CURRENT POC GUIDANCE</a:t>
            </a:r>
          </a:p>
        </p:txBody>
      </p:sp>
      <p:sp>
        <p:nvSpPr>
          <p:cNvPr id="9" name="">
            <a:extLst xmlns:a="http://schemas.openxmlformats.org/drawingml/2006/main">
              <a:ext uri="{FF2B5EF4-FFF2-40B4-BE49-F238E27FC236}">
                <a16:creationId xmlns:a16="http://schemas.microsoft.com/office/drawing/2014/main" id="{F13F7E83-7C25-4B44-95A8-7BDBC10C5FF4}"/>
              </a:ext>
            </a:extLst>
          </p:cNvPr>
          <p:cNvSpPr>
            <a:spLocks xmlns:a="http://schemas.openxmlformats.org/drawingml/2006/main" noGrp="1"/>
          </p:cNvSpPr>
          <p:nvPr/>
        </p:nvSpPr>
        <p:spPr>
          <a:xfrm xmlns:a="http://schemas.openxmlformats.org/drawingml/2006/main">
            <a:off x="685800" y="2381250"/>
            <a:ext cx="157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32238"/>
                </a:solidFill>
              </a:defRPr>
            </a:pPr>
            <a:r>
              <a:rPr sz="1050" b="1" i="0">
                <a:solidFill>
                  <a:srgbClr val="132238"/>
                </a:solidFill>
              </a:rPr>
              <a:t>GPT-4o</a:t>
            </a:r>
          </a:p>
        </p:txBody>
      </p:sp>
      <p:sp>
        <p:nvSpPr>
          <p:cNvPr id="10" name="">
            <a:extLst xmlns:a="http://schemas.openxmlformats.org/drawingml/2006/main">
              <a:ext uri="{FF2B5EF4-FFF2-40B4-BE49-F238E27FC236}">
                <a16:creationId xmlns:a16="http://schemas.microsoft.com/office/drawing/2014/main" id="{A273464A-1E73-4C5C-9D1F-56E45555AB04}"/>
              </a:ext>
            </a:extLst>
          </p:cNvPr>
          <p:cNvSpPr>
            <a:spLocks xmlns:a="http://schemas.openxmlformats.org/drawingml/2006/main" noGrp="1"/>
          </p:cNvSpPr>
          <p:nvPr/>
        </p:nvSpPr>
        <p:spPr>
          <a:xfrm xmlns:a="http://schemas.openxmlformats.org/drawingml/2006/main">
            <a:off x="2400300" y="2609850"/>
            <a:ext cx="5905500" cy="0"/>
          </a:xfrm>
          <a:prstGeom xmlns:a="http://schemas.openxmlformats.org/drawingml/2006/main" prst="line">
            <a:avLst/>
          </a:prstGeom>
          <a:noFill xmlns:a="http://schemas.openxmlformats.org/drawingml/2006/main"/>
          <a:ln xmlns:a="http://schemas.openxmlformats.org/drawingml/2006/main" w="19050">
            <a:solidFill>
              <a:srgbClr val="D5DCDD"/>
            </a:solidFill>
            <a:prstDash val="solid"/>
          </a:ln>
        </p:spPr>
      </p:sp>
      <p:sp>
        <p:nvSpPr>
          <p:cNvPr id="11" name="">
            <a:extLst xmlns:a="http://schemas.openxmlformats.org/drawingml/2006/main">
              <a:ext uri="{FF2B5EF4-FFF2-40B4-BE49-F238E27FC236}">
                <a16:creationId xmlns:a16="http://schemas.microsoft.com/office/drawing/2014/main" id="{1ABB354D-3360-4880-8D57-CDFCFDBC07AA}"/>
              </a:ext>
            </a:extLst>
          </p:cNvPr>
          <p:cNvSpPr>
            <a:spLocks xmlns:a="http://schemas.openxmlformats.org/drawingml/2006/main" noGrp="1"/>
          </p:cNvSpPr>
          <p:nvPr/>
        </p:nvSpPr>
        <p:spPr>
          <a:xfrm xmlns:a="http://schemas.openxmlformats.org/drawingml/2006/main">
            <a:off x="2400300" y="25527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2" name="">
            <a:extLst xmlns:a="http://schemas.openxmlformats.org/drawingml/2006/main">
              <a:ext uri="{FF2B5EF4-FFF2-40B4-BE49-F238E27FC236}">
                <a16:creationId xmlns:a16="http://schemas.microsoft.com/office/drawing/2014/main" id="{C9D0BB93-8B5C-481F-8DDC-1A01C7AE16C7}"/>
              </a:ext>
            </a:extLst>
          </p:cNvPr>
          <p:cNvSpPr>
            <a:spLocks xmlns:a="http://schemas.openxmlformats.org/drawingml/2006/main" noGrp="1"/>
          </p:cNvSpPr>
          <p:nvPr/>
        </p:nvSpPr>
        <p:spPr>
          <a:xfrm xmlns:a="http://schemas.openxmlformats.org/drawingml/2006/main">
            <a:off x="2228850" y="27146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0</a:t>
            </a:r>
          </a:p>
        </p:txBody>
      </p:sp>
      <p:sp>
        <p:nvSpPr>
          <p:cNvPr id="13" name="">
            <a:extLst xmlns:a="http://schemas.openxmlformats.org/drawingml/2006/main">
              <a:ext uri="{FF2B5EF4-FFF2-40B4-BE49-F238E27FC236}">
                <a16:creationId xmlns:a16="http://schemas.microsoft.com/office/drawing/2014/main" id="{7055EFFE-F58A-495B-8678-EA8A251D80E1}"/>
              </a:ext>
            </a:extLst>
          </p:cNvPr>
          <p:cNvSpPr>
            <a:spLocks xmlns:a="http://schemas.openxmlformats.org/drawingml/2006/main" noGrp="1"/>
          </p:cNvSpPr>
          <p:nvPr/>
        </p:nvSpPr>
        <p:spPr>
          <a:xfrm xmlns:a="http://schemas.openxmlformats.org/drawingml/2006/main">
            <a:off x="3876675" y="25527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4" name="">
            <a:extLst xmlns:a="http://schemas.openxmlformats.org/drawingml/2006/main">
              <a:ext uri="{FF2B5EF4-FFF2-40B4-BE49-F238E27FC236}">
                <a16:creationId xmlns:a16="http://schemas.microsoft.com/office/drawing/2014/main" id="{E7024E96-4DB7-46CF-A490-5E8079FB9236}"/>
              </a:ext>
            </a:extLst>
          </p:cNvPr>
          <p:cNvSpPr>
            <a:spLocks xmlns:a="http://schemas.openxmlformats.org/drawingml/2006/main" noGrp="1"/>
          </p:cNvSpPr>
          <p:nvPr/>
        </p:nvSpPr>
        <p:spPr>
          <a:xfrm xmlns:a="http://schemas.openxmlformats.org/drawingml/2006/main">
            <a:off x="3705225" y="27146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25</a:t>
            </a:r>
          </a:p>
        </p:txBody>
      </p:sp>
      <p:sp>
        <p:nvSpPr>
          <p:cNvPr id="15" name="">
            <a:extLst xmlns:a="http://schemas.openxmlformats.org/drawingml/2006/main">
              <a:ext uri="{FF2B5EF4-FFF2-40B4-BE49-F238E27FC236}">
                <a16:creationId xmlns:a16="http://schemas.microsoft.com/office/drawing/2014/main" id="{EB4E1478-DDF8-4518-8BEA-0634C156DAE6}"/>
              </a:ext>
            </a:extLst>
          </p:cNvPr>
          <p:cNvSpPr>
            <a:spLocks xmlns:a="http://schemas.openxmlformats.org/drawingml/2006/main" noGrp="1"/>
          </p:cNvSpPr>
          <p:nvPr/>
        </p:nvSpPr>
        <p:spPr>
          <a:xfrm xmlns:a="http://schemas.openxmlformats.org/drawingml/2006/main">
            <a:off x="5353050" y="25527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6" name="">
            <a:extLst xmlns:a="http://schemas.openxmlformats.org/drawingml/2006/main">
              <a:ext uri="{FF2B5EF4-FFF2-40B4-BE49-F238E27FC236}">
                <a16:creationId xmlns:a16="http://schemas.microsoft.com/office/drawing/2014/main" id="{72B43FE7-FD38-4EC7-BAAA-60CDFCA18CCA}"/>
              </a:ext>
            </a:extLst>
          </p:cNvPr>
          <p:cNvSpPr>
            <a:spLocks xmlns:a="http://schemas.openxmlformats.org/drawingml/2006/main" noGrp="1"/>
          </p:cNvSpPr>
          <p:nvPr/>
        </p:nvSpPr>
        <p:spPr>
          <a:xfrm xmlns:a="http://schemas.openxmlformats.org/drawingml/2006/main">
            <a:off x="5181600" y="27146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50</a:t>
            </a:r>
          </a:p>
        </p:txBody>
      </p:sp>
      <p:sp>
        <p:nvSpPr>
          <p:cNvPr id="17" name="">
            <a:extLst xmlns:a="http://schemas.openxmlformats.org/drawingml/2006/main">
              <a:ext uri="{FF2B5EF4-FFF2-40B4-BE49-F238E27FC236}">
                <a16:creationId xmlns:a16="http://schemas.microsoft.com/office/drawing/2014/main" id="{82DF09AF-9F2C-40B8-8EC3-A8ACF59A7AE4}"/>
              </a:ext>
            </a:extLst>
          </p:cNvPr>
          <p:cNvSpPr>
            <a:spLocks xmlns:a="http://schemas.openxmlformats.org/drawingml/2006/main" noGrp="1"/>
          </p:cNvSpPr>
          <p:nvPr/>
        </p:nvSpPr>
        <p:spPr>
          <a:xfrm xmlns:a="http://schemas.openxmlformats.org/drawingml/2006/main">
            <a:off x="6829425" y="25527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8" name="">
            <a:extLst xmlns:a="http://schemas.openxmlformats.org/drawingml/2006/main">
              <a:ext uri="{FF2B5EF4-FFF2-40B4-BE49-F238E27FC236}">
                <a16:creationId xmlns:a16="http://schemas.microsoft.com/office/drawing/2014/main" id="{4803F379-E835-4A9C-B04D-3BAE45474D84}"/>
              </a:ext>
            </a:extLst>
          </p:cNvPr>
          <p:cNvSpPr>
            <a:spLocks xmlns:a="http://schemas.openxmlformats.org/drawingml/2006/main" noGrp="1"/>
          </p:cNvSpPr>
          <p:nvPr/>
        </p:nvSpPr>
        <p:spPr>
          <a:xfrm xmlns:a="http://schemas.openxmlformats.org/drawingml/2006/main">
            <a:off x="6657975" y="27146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75</a:t>
            </a:r>
          </a:p>
        </p:txBody>
      </p:sp>
      <p:sp>
        <p:nvSpPr>
          <p:cNvPr id="19" name="">
            <a:extLst xmlns:a="http://schemas.openxmlformats.org/drawingml/2006/main">
              <a:ext uri="{FF2B5EF4-FFF2-40B4-BE49-F238E27FC236}">
                <a16:creationId xmlns:a16="http://schemas.microsoft.com/office/drawing/2014/main" id="{0FE7D54F-E2B5-4DCF-BD6B-9B83F56220FA}"/>
              </a:ext>
            </a:extLst>
          </p:cNvPr>
          <p:cNvSpPr>
            <a:spLocks xmlns:a="http://schemas.openxmlformats.org/drawingml/2006/main" noGrp="1"/>
          </p:cNvSpPr>
          <p:nvPr/>
        </p:nvSpPr>
        <p:spPr>
          <a:xfrm xmlns:a="http://schemas.openxmlformats.org/drawingml/2006/main">
            <a:off x="8305800" y="25527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20" name="">
            <a:extLst xmlns:a="http://schemas.openxmlformats.org/drawingml/2006/main">
              <a:ext uri="{FF2B5EF4-FFF2-40B4-BE49-F238E27FC236}">
                <a16:creationId xmlns:a16="http://schemas.microsoft.com/office/drawing/2014/main" id="{AE15E630-FB5C-4CC0-9BE9-ECBD0EAD5B0D}"/>
              </a:ext>
            </a:extLst>
          </p:cNvPr>
          <p:cNvSpPr>
            <a:spLocks xmlns:a="http://schemas.openxmlformats.org/drawingml/2006/main" noGrp="1"/>
          </p:cNvSpPr>
          <p:nvPr/>
        </p:nvSpPr>
        <p:spPr>
          <a:xfrm xmlns:a="http://schemas.openxmlformats.org/drawingml/2006/main">
            <a:off x="8134350" y="27146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100</a:t>
            </a:r>
          </a:p>
        </p:txBody>
      </p:sp>
      <p:sp>
        <p:nvSpPr>
          <p:cNvPr id="21" name="">
            <a:extLst xmlns:a="http://schemas.openxmlformats.org/drawingml/2006/main">
              <a:ext uri="{FF2B5EF4-FFF2-40B4-BE49-F238E27FC236}">
                <a16:creationId xmlns:a16="http://schemas.microsoft.com/office/drawing/2014/main" id="{EBFEDDFB-8FA2-46F3-925D-ED19B95F9D94}"/>
              </a:ext>
            </a:extLst>
          </p:cNvPr>
          <p:cNvSpPr>
            <a:spLocks xmlns:a="http://schemas.openxmlformats.org/drawingml/2006/main" noGrp="1"/>
          </p:cNvSpPr>
          <p:nvPr/>
        </p:nvSpPr>
        <p:spPr>
          <a:xfrm xmlns:a="http://schemas.openxmlformats.org/drawingml/2006/main">
            <a:off x="4827461" y="2609850"/>
            <a:ext cx="2120075" cy="0"/>
          </a:xfrm>
          <a:prstGeom xmlns:a="http://schemas.openxmlformats.org/drawingml/2006/main" prst="line">
            <a:avLst/>
          </a:prstGeom>
          <a:noFill xmlns:a="http://schemas.openxmlformats.org/drawingml/2006/main"/>
          <a:ln xmlns:a="http://schemas.openxmlformats.org/drawingml/2006/main" w="38100">
            <a:solidFill>
              <a:srgbClr val="C75850"/>
            </a:solidFill>
            <a:prstDash val="solid"/>
          </a:ln>
        </p:spPr>
      </p:sp>
      <p:sp>
        <p:nvSpPr>
          <p:cNvPr id="22" name="">
            <a:extLst xmlns:a="http://schemas.openxmlformats.org/drawingml/2006/main">
              <a:ext uri="{FF2B5EF4-FFF2-40B4-BE49-F238E27FC236}">
                <a16:creationId xmlns:a16="http://schemas.microsoft.com/office/drawing/2014/main" id="{B594877C-C67C-4248-BBAC-727FA84ECBF9}"/>
              </a:ext>
            </a:extLst>
          </p:cNvPr>
          <p:cNvSpPr>
            <a:spLocks xmlns:a="http://schemas.openxmlformats.org/drawingml/2006/main" noGrp="1"/>
          </p:cNvSpPr>
          <p:nvPr/>
        </p:nvSpPr>
        <p:spPr>
          <a:xfrm xmlns:a="http://schemas.openxmlformats.org/drawingml/2006/main">
            <a:off x="6880860" y="2543175"/>
            <a:ext cx="133350" cy="133350"/>
          </a:xfrm>
          <a:prstGeom xmlns:a="http://schemas.openxmlformats.org/drawingml/2006/main" prst="ellipse">
            <a:avLst/>
          </a:prstGeom>
          <a:solidFill xmlns:a="http://schemas.openxmlformats.org/drawingml/2006/main">
            <a:srgbClr val="24547A"/>
          </a:solidFill>
          <a:ln xmlns:a="http://schemas.openxmlformats.org/drawingml/2006/main" w="9525">
            <a:solidFill>
              <a:srgbClr val="24547A"/>
            </a:solidFill>
            <a:prstDash val="solid"/>
          </a:ln>
        </p:spPr>
      </p:sp>
      <p:sp>
        <p:nvSpPr>
          <p:cNvPr id="23" name="">
            <a:extLst xmlns:a="http://schemas.openxmlformats.org/drawingml/2006/main">
              <a:ext uri="{FF2B5EF4-FFF2-40B4-BE49-F238E27FC236}">
                <a16:creationId xmlns:a16="http://schemas.microsoft.com/office/drawing/2014/main" id="{66A6F355-F328-4171-833D-7FAA19A58C2C}"/>
              </a:ext>
            </a:extLst>
          </p:cNvPr>
          <p:cNvSpPr>
            <a:spLocks xmlns:a="http://schemas.openxmlformats.org/drawingml/2006/main" noGrp="1"/>
          </p:cNvSpPr>
          <p:nvPr/>
        </p:nvSpPr>
        <p:spPr>
          <a:xfrm xmlns:a="http://schemas.openxmlformats.org/drawingml/2006/main">
            <a:off x="4760786" y="2543175"/>
            <a:ext cx="133350" cy="133350"/>
          </a:xfrm>
          <a:prstGeom xmlns:a="http://schemas.openxmlformats.org/drawingml/2006/main" prst="ellipse">
            <a:avLst/>
          </a:prstGeom>
          <a:solidFill xmlns:a="http://schemas.openxmlformats.org/drawingml/2006/main">
            <a:srgbClr val="C75850"/>
          </a:solidFill>
          <a:ln xmlns:a="http://schemas.openxmlformats.org/drawingml/2006/main" w="9525">
            <a:solidFill>
              <a:srgbClr val="C75850"/>
            </a:solidFill>
            <a:prstDash val="solid"/>
          </a:ln>
        </p:spPr>
      </p:sp>
      <p:sp>
        <p:nvSpPr>
          <p:cNvPr id="24" name="">
            <a:extLst xmlns:a="http://schemas.openxmlformats.org/drawingml/2006/main">
              <a:ext uri="{FF2B5EF4-FFF2-40B4-BE49-F238E27FC236}">
                <a16:creationId xmlns:a16="http://schemas.microsoft.com/office/drawing/2014/main" id="{EC24C86C-07CD-4D83-949A-5C59C44102E0}"/>
              </a:ext>
            </a:extLst>
          </p:cNvPr>
          <p:cNvSpPr>
            <a:spLocks xmlns:a="http://schemas.openxmlformats.org/drawingml/2006/main" noGrp="1"/>
          </p:cNvSpPr>
          <p:nvPr/>
        </p:nvSpPr>
        <p:spPr>
          <a:xfrm xmlns:a="http://schemas.openxmlformats.org/drawingml/2006/main">
            <a:off x="6642735" y="211455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24547A"/>
                </a:solidFill>
              </a:defRPr>
            </a:pPr>
            <a:r>
              <a:rPr sz="900" b="1" i="0">
                <a:solidFill>
                  <a:srgbClr val="24547A"/>
                </a:solidFill>
              </a:rPr>
              <a:t>77.0%</a:t>
            </a:r>
          </a:p>
        </p:txBody>
      </p:sp>
      <p:sp>
        <p:nvSpPr>
          <p:cNvPr id="25" name="">
            <a:extLst xmlns:a="http://schemas.openxmlformats.org/drawingml/2006/main">
              <a:ext uri="{FF2B5EF4-FFF2-40B4-BE49-F238E27FC236}">
                <a16:creationId xmlns:a16="http://schemas.microsoft.com/office/drawing/2014/main" id="{9BD1040F-D76C-4EBC-B81C-4910B47D51B1}"/>
              </a:ext>
            </a:extLst>
          </p:cNvPr>
          <p:cNvSpPr>
            <a:spLocks xmlns:a="http://schemas.openxmlformats.org/drawingml/2006/main" noGrp="1"/>
          </p:cNvSpPr>
          <p:nvPr/>
        </p:nvSpPr>
        <p:spPr>
          <a:xfrm xmlns:a="http://schemas.openxmlformats.org/drawingml/2006/main">
            <a:off x="4522661" y="291465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C75850"/>
                </a:solidFill>
              </a:defRPr>
            </a:pPr>
            <a:r>
              <a:rPr sz="900" b="1" i="0">
                <a:solidFill>
                  <a:srgbClr val="C75850"/>
                </a:solidFill>
              </a:rPr>
              <a:t>41.1%</a:t>
            </a:r>
          </a:p>
        </p:txBody>
      </p:sp>
      <p:sp>
        <p:nvSpPr>
          <p:cNvPr id="26" name="">
            <a:extLst xmlns:a="http://schemas.openxmlformats.org/drawingml/2006/main">
              <a:ext uri="{FF2B5EF4-FFF2-40B4-BE49-F238E27FC236}">
                <a16:creationId xmlns:a16="http://schemas.microsoft.com/office/drawing/2014/main" id="{9096411C-BCD0-452F-9AFC-90F87CB5131E}"/>
              </a:ext>
            </a:extLst>
          </p:cNvPr>
          <p:cNvSpPr>
            <a:spLocks xmlns:a="http://schemas.openxmlformats.org/drawingml/2006/main" noGrp="1"/>
          </p:cNvSpPr>
          <p:nvPr/>
        </p:nvSpPr>
        <p:spPr>
          <a:xfrm xmlns:a="http://schemas.openxmlformats.org/drawingml/2006/main">
            <a:off x="8401050" y="24193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i="0">
                <a:solidFill>
                  <a:srgbClr val="C75850"/>
                </a:solidFill>
              </a:defRPr>
            </a:pPr>
            <a:r>
              <a:rPr sz="1125" b="1" i="0">
                <a:solidFill>
                  <a:srgbClr val="C75850"/>
                </a:solidFill>
              </a:rPr>
              <a:t>−35.9 pp</a:t>
            </a:r>
          </a:p>
        </p:txBody>
      </p:sp>
      <p:sp>
        <p:nvSpPr>
          <p:cNvPr id="27" name="">
            <a:extLst xmlns:a="http://schemas.openxmlformats.org/drawingml/2006/main">
              <a:ext uri="{FF2B5EF4-FFF2-40B4-BE49-F238E27FC236}">
                <a16:creationId xmlns:a16="http://schemas.microsoft.com/office/drawing/2014/main" id="{98635697-7380-42AD-AB75-8C89D42471B7}"/>
              </a:ext>
            </a:extLst>
          </p:cNvPr>
          <p:cNvSpPr>
            <a:spLocks xmlns:a="http://schemas.openxmlformats.org/drawingml/2006/main" noGrp="1"/>
          </p:cNvSpPr>
          <p:nvPr/>
        </p:nvSpPr>
        <p:spPr>
          <a:xfrm xmlns:a="http://schemas.openxmlformats.org/drawingml/2006/main">
            <a:off x="2400300" y="320040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5F6E7B"/>
                </a:solidFill>
              </a:defRPr>
            </a:pPr>
            <a:r>
              <a:rPr sz="825" b="0" i="0">
                <a:solidFill>
                  <a:srgbClr val="5F6E7B"/>
                </a:solidFill>
              </a:rPr>
              <a:t>historical  •  current POC</a:t>
            </a:r>
          </a:p>
        </p:txBody>
      </p:sp>
      <p:sp>
        <p:nvSpPr>
          <p:cNvPr id="28" name="">
            <a:extLst xmlns:a="http://schemas.openxmlformats.org/drawingml/2006/main">
              <a:ext uri="{FF2B5EF4-FFF2-40B4-BE49-F238E27FC236}">
                <a16:creationId xmlns:a16="http://schemas.microsoft.com/office/drawing/2014/main" id="{CFF47CC0-BF64-47FA-94F4-A0FE29E47E25}"/>
              </a:ext>
            </a:extLst>
          </p:cNvPr>
          <p:cNvSpPr>
            <a:spLocks xmlns:a="http://schemas.openxmlformats.org/drawingml/2006/main" noGrp="1"/>
          </p:cNvSpPr>
          <p:nvPr/>
        </p:nvSpPr>
        <p:spPr>
          <a:xfrm xmlns:a="http://schemas.openxmlformats.org/drawingml/2006/main">
            <a:off x="685800" y="3752850"/>
            <a:ext cx="157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32238"/>
                </a:solidFill>
              </a:defRPr>
            </a:pPr>
            <a:r>
              <a:rPr sz="1050" b="1" i="0">
                <a:solidFill>
                  <a:srgbClr val="132238"/>
                </a:solidFill>
              </a:rPr>
              <a:t>GPT-5.2</a:t>
            </a:r>
          </a:p>
        </p:txBody>
      </p:sp>
      <p:sp>
        <p:nvSpPr>
          <p:cNvPr id="29" name="">
            <a:extLst xmlns:a="http://schemas.openxmlformats.org/drawingml/2006/main">
              <a:ext uri="{FF2B5EF4-FFF2-40B4-BE49-F238E27FC236}">
                <a16:creationId xmlns:a16="http://schemas.microsoft.com/office/drawing/2014/main" id="{3C4826DE-3140-47CD-8F71-A06D020BA36E}"/>
              </a:ext>
            </a:extLst>
          </p:cNvPr>
          <p:cNvSpPr>
            <a:spLocks xmlns:a="http://schemas.openxmlformats.org/drawingml/2006/main" noGrp="1"/>
          </p:cNvSpPr>
          <p:nvPr/>
        </p:nvSpPr>
        <p:spPr>
          <a:xfrm xmlns:a="http://schemas.openxmlformats.org/drawingml/2006/main">
            <a:off x="2400300" y="3981450"/>
            <a:ext cx="5905500" cy="0"/>
          </a:xfrm>
          <a:prstGeom xmlns:a="http://schemas.openxmlformats.org/drawingml/2006/main" prst="line">
            <a:avLst/>
          </a:prstGeom>
          <a:noFill xmlns:a="http://schemas.openxmlformats.org/drawingml/2006/main"/>
          <a:ln xmlns:a="http://schemas.openxmlformats.org/drawingml/2006/main" w="19050">
            <a:solidFill>
              <a:srgbClr val="D5DCDD"/>
            </a:solidFill>
            <a:prstDash val="solid"/>
          </a:ln>
        </p:spPr>
      </p:sp>
      <p:sp>
        <p:nvSpPr>
          <p:cNvPr id="30" name="">
            <a:extLst xmlns:a="http://schemas.openxmlformats.org/drawingml/2006/main">
              <a:ext uri="{FF2B5EF4-FFF2-40B4-BE49-F238E27FC236}">
                <a16:creationId xmlns:a16="http://schemas.microsoft.com/office/drawing/2014/main" id="{9DF77B5D-F973-4729-AF45-2D6C69265557}"/>
              </a:ext>
            </a:extLst>
          </p:cNvPr>
          <p:cNvSpPr>
            <a:spLocks xmlns:a="http://schemas.openxmlformats.org/drawingml/2006/main" noGrp="1"/>
          </p:cNvSpPr>
          <p:nvPr/>
        </p:nvSpPr>
        <p:spPr>
          <a:xfrm xmlns:a="http://schemas.openxmlformats.org/drawingml/2006/main">
            <a:off x="2400300" y="39243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31" name="">
            <a:extLst xmlns:a="http://schemas.openxmlformats.org/drawingml/2006/main">
              <a:ext uri="{FF2B5EF4-FFF2-40B4-BE49-F238E27FC236}">
                <a16:creationId xmlns:a16="http://schemas.microsoft.com/office/drawing/2014/main" id="{44D3041E-E4A7-4CC6-9AEA-A3121128DB6F}"/>
              </a:ext>
            </a:extLst>
          </p:cNvPr>
          <p:cNvSpPr>
            <a:spLocks xmlns:a="http://schemas.openxmlformats.org/drawingml/2006/main" noGrp="1"/>
          </p:cNvSpPr>
          <p:nvPr/>
        </p:nvSpPr>
        <p:spPr>
          <a:xfrm xmlns:a="http://schemas.openxmlformats.org/drawingml/2006/main">
            <a:off x="2228850" y="40862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0</a:t>
            </a:r>
          </a:p>
        </p:txBody>
      </p:sp>
      <p:sp>
        <p:nvSpPr>
          <p:cNvPr id="32" name="">
            <a:extLst xmlns:a="http://schemas.openxmlformats.org/drawingml/2006/main">
              <a:ext uri="{FF2B5EF4-FFF2-40B4-BE49-F238E27FC236}">
                <a16:creationId xmlns:a16="http://schemas.microsoft.com/office/drawing/2014/main" id="{7BDB6414-9BA0-426C-ACD4-1BFFA15DA17F}"/>
              </a:ext>
            </a:extLst>
          </p:cNvPr>
          <p:cNvSpPr>
            <a:spLocks xmlns:a="http://schemas.openxmlformats.org/drawingml/2006/main" noGrp="1"/>
          </p:cNvSpPr>
          <p:nvPr/>
        </p:nvSpPr>
        <p:spPr>
          <a:xfrm xmlns:a="http://schemas.openxmlformats.org/drawingml/2006/main">
            <a:off x="3876675" y="39243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33" name="">
            <a:extLst xmlns:a="http://schemas.openxmlformats.org/drawingml/2006/main">
              <a:ext uri="{FF2B5EF4-FFF2-40B4-BE49-F238E27FC236}">
                <a16:creationId xmlns:a16="http://schemas.microsoft.com/office/drawing/2014/main" id="{2C7AC16A-24AF-4EB0-8585-A3890ABED498}"/>
              </a:ext>
            </a:extLst>
          </p:cNvPr>
          <p:cNvSpPr>
            <a:spLocks xmlns:a="http://schemas.openxmlformats.org/drawingml/2006/main" noGrp="1"/>
          </p:cNvSpPr>
          <p:nvPr/>
        </p:nvSpPr>
        <p:spPr>
          <a:xfrm xmlns:a="http://schemas.openxmlformats.org/drawingml/2006/main">
            <a:off x="3705225" y="40862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25</a:t>
            </a:r>
          </a:p>
        </p:txBody>
      </p:sp>
      <p:sp>
        <p:nvSpPr>
          <p:cNvPr id="34" name="">
            <a:extLst xmlns:a="http://schemas.openxmlformats.org/drawingml/2006/main">
              <a:ext uri="{FF2B5EF4-FFF2-40B4-BE49-F238E27FC236}">
                <a16:creationId xmlns:a16="http://schemas.microsoft.com/office/drawing/2014/main" id="{30D7F221-4595-41A9-9D5E-5896226AF837}"/>
              </a:ext>
            </a:extLst>
          </p:cNvPr>
          <p:cNvSpPr>
            <a:spLocks xmlns:a="http://schemas.openxmlformats.org/drawingml/2006/main" noGrp="1"/>
          </p:cNvSpPr>
          <p:nvPr/>
        </p:nvSpPr>
        <p:spPr>
          <a:xfrm xmlns:a="http://schemas.openxmlformats.org/drawingml/2006/main">
            <a:off x="5353050" y="39243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35" name="">
            <a:extLst xmlns:a="http://schemas.openxmlformats.org/drawingml/2006/main">
              <a:ext uri="{FF2B5EF4-FFF2-40B4-BE49-F238E27FC236}">
                <a16:creationId xmlns:a16="http://schemas.microsoft.com/office/drawing/2014/main" id="{BDB22162-F6EB-48BE-BB68-A1426BEEE768}"/>
              </a:ext>
            </a:extLst>
          </p:cNvPr>
          <p:cNvSpPr>
            <a:spLocks xmlns:a="http://schemas.openxmlformats.org/drawingml/2006/main" noGrp="1"/>
          </p:cNvSpPr>
          <p:nvPr/>
        </p:nvSpPr>
        <p:spPr>
          <a:xfrm xmlns:a="http://schemas.openxmlformats.org/drawingml/2006/main">
            <a:off x="5181600" y="40862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50</a:t>
            </a:r>
          </a:p>
        </p:txBody>
      </p:sp>
      <p:sp>
        <p:nvSpPr>
          <p:cNvPr id="36" name="">
            <a:extLst xmlns:a="http://schemas.openxmlformats.org/drawingml/2006/main">
              <a:ext uri="{FF2B5EF4-FFF2-40B4-BE49-F238E27FC236}">
                <a16:creationId xmlns:a16="http://schemas.microsoft.com/office/drawing/2014/main" id="{2ABFC602-E1AE-42EE-82A5-D0D114D6DDBD}"/>
              </a:ext>
            </a:extLst>
          </p:cNvPr>
          <p:cNvSpPr>
            <a:spLocks xmlns:a="http://schemas.openxmlformats.org/drawingml/2006/main" noGrp="1"/>
          </p:cNvSpPr>
          <p:nvPr/>
        </p:nvSpPr>
        <p:spPr>
          <a:xfrm xmlns:a="http://schemas.openxmlformats.org/drawingml/2006/main">
            <a:off x="6829425" y="39243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37" name="">
            <a:extLst xmlns:a="http://schemas.openxmlformats.org/drawingml/2006/main">
              <a:ext uri="{FF2B5EF4-FFF2-40B4-BE49-F238E27FC236}">
                <a16:creationId xmlns:a16="http://schemas.microsoft.com/office/drawing/2014/main" id="{E3EC3BDB-1BD2-4465-B334-AE8DD2C256E4}"/>
              </a:ext>
            </a:extLst>
          </p:cNvPr>
          <p:cNvSpPr>
            <a:spLocks xmlns:a="http://schemas.openxmlformats.org/drawingml/2006/main" noGrp="1"/>
          </p:cNvSpPr>
          <p:nvPr/>
        </p:nvSpPr>
        <p:spPr>
          <a:xfrm xmlns:a="http://schemas.openxmlformats.org/drawingml/2006/main">
            <a:off x="6657975" y="40862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75</a:t>
            </a:r>
          </a:p>
        </p:txBody>
      </p:sp>
      <p:sp>
        <p:nvSpPr>
          <p:cNvPr id="38" name="">
            <a:extLst xmlns:a="http://schemas.openxmlformats.org/drawingml/2006/main">
              <a:ext uri="{FF2B5EF4-FFF2-40B4-BE49-F238E27FC236}">
                <a16:creationId xmlns:a16="http://schemas.microsoft.com/office/drawing/2014/main" id="{F383EC12-BB9E-4589-BF93-5A3BC3AB7CDD}"/>
              </a:ext>
            </a:extLst>
          </p:cNvPr>
          <p:cNvSpPr>
            <a:spLocks xmlns:a="http://schemas.openxmlformats.org/drawingml/2006/main" noGrp="1"/>
          </p:cNvSpPr>
          <p:nvPr/>
        </p:nvSpPr>
        <p:spPr>
          <a:xfrm xmlns:a="http://schemas.openxmlformats.org/drawingml/2006/main">
            <a:off x="8305800" y="39243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39" name="">
            <a:extLst xmlns:a="http://schemas.openxmlformats.org/drawingml/2006/main">
              <a:ext uri="{FF2B5EF4-FFF2-40B4-BE49-F238E27FC236}">
                <a16:creationId xmlns:a16="http://schemas.microsoft.com/office/drawing/2014/main" id="{889C14C1-A658-4BE8-AFB2-F40A4509451B}"/>
              </a:ext>
            </a:extLst>
          </p:cNvPr>
          <p:cNvSpPr>
            <a:spLocks xmlns:a="http://schemas.openxmlformats.org/drawingml/2006/main" noGrp="1"/>
          </p:cNvSpPr>
          <p:nvPr/>
        </p:nvSpPr>
        <p:spPr>
          <a:xfrm xmlns:a="http://schemas.openxmlformats.org/drawingml/2006/main">
            <a:off x="8134350" y="40862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100</a:t>
            </a:r>
          </a:p>
        </p:txBody>
      </p:sp>
      <p:sp>
        <p:nvSpPr>
          <p:cNvPr id="40" name="">
            <a:extLst xmlns:a="http://schemas.openxmlformats.org/drawingml/2006/main">
              <a:ext uri="{FF2B5EF4-FFF2-40B4-BE49-F238E27FC236}">
                <a16:creationId xmlns:a16="http://schemas.microsoft.com/office/drawing/2014/main" id="{E82C106C-0F86-454A-818E-F60CFE28DF8B}"/>
              </a:ext>
            </a:extLst>
          </p:cNvPr>
          <p:cNvSpPr>
            <a:spLocks xmlns:a="http://schemas.openxmlformats.org/drawingml/2006/main" noGrp="1"/>
          </p:cNvSpPr>
          <p:nvPr/>
        </p:nvSpPr>
        <p:spPr>
          <a:xfrm xmlns:a="http://schemas.openxmlformats.org/drawingml/2006/main">
            <a:off x="4284155" y="3981450"/>
            <a:ext cx="389763" cy="0"/>
          </a:xfrm>
          <a:prstGeom xmlns:a="http://schemas.openxmlformats.org/drawingml/2006/main" prst="line">
            <a:avLst/>
          </a:prstGeom>
          <a:noFill xmlns:a="http://schemas.openxmlformats.org/drawingml/2006/main"/>
          <a:ln xmlns:a="http://schemas.openxmlformats.org/drawingml/2006/main" w="38100">
            <a:solidFill>
              <a:srgbClr val="D9771F"/>
            </a:solidFill>
            <a:prstDash val="solid"/>
          </a:ln>
        </p:spPr>
      </p:sp>
      <p:sp>
        <p:nvSpPr>
          <p:cNvPr id="41" name="">
            <a:extLst xmlns:a="http://schemas.openxmlformats.org/drawingml/2006/main">
              <a:ext uri="{FF2B5EF4-FFF2-40B4-BE49-F238E27FC236}">
                <a16:creationId xmlns:a16="http://schemas.microsoft.com/office/drawing/2014/main" id="{22704F69-7E2E-45AA-9C95-2EE3CACF2536}"/>
              </a:ext>
            </a:extLst>
          </p:cNvPr>
          <p:cNvSpPr>
            <a:spLocks xmlns:a="http://schemas.openxmlformats.org/drawingml/2006/main" noGrp="1"/>
          </p:cNvSpPr>
          <p:nvPr/>
        </p:nvSpPr>
        <p:spPr>
          <a:xfrm xmlns:a="http://schemas.openxmlformats.org/drawingml/2006/main">
            <a:off x="4607243" y="3914775"/>
            <a:ext cx="133350" cy="133350"/>
          </a:xfrm>
          <a:prstGeom xmlns:a="http://schemas.openxmlformats.org/drawingml/2006/main" prst="ellipse">
            <a:avLst/>
          </a:prstGeom>
          <a:solidFill xmlns:a="http://schemas.openxmlformats.org/drawingml/2006/main">
            <a:srgbClr val="24547A"/>
          </a:solidFill>
          <a:ln xmlns:a="http://schemas.openxmlformats.org/drawingml/2006/main" w="9525">
            <a:solidFill>
              <a:srgbClr val="24547A"/>
            </a:solidFill>
            <a:prstDash val="solid"/>
          </a:ln>
        </p:spPr>
      </p:sp>
      <p:sp>
        <p:nvSpPr>
          <p:cNvPr id="42" name="">
            <a:extLst xmlns:a="http://schemas.openxmlformats.org/drawingml/2006/main">
              <a:ext uri="{FF2B5EF4-FFF2-40B4-BE49-F238E27FC236}">
                <a16:creationId xmlns:a16="http://schemas.microsoft.com/office/drawing/2014/main" id="{115AD006-88F7-4128-93E0-5BD1002EA74D}"/>
              </a:ext>
            </a:extLst>
          </p:cNvPr>
          <p:cNvSpPr>
            <a:spLocks xmlns:a="http://schemas.openxmlformats.org/drawingml/2006/main" noGrp="1"/>
          </p:cNvSpPr>
          <p:nvPr/>
        </p:nvSpPr>
        <p:spPr>
          <a:xfrm xmlns:a="http://schemas.openxmlformats.org/drawingml/2006/main">
            <a:off x="4217480" y="3914775"/>
            <a:ext cx="133350" cy="133350"/>
          </a:xfrm>
          <a:prstGeom xmlns:a="http://schemas.openxmlformats.org/drawingml/2006/main" prst="ellipse">
            <a:avLst/>
          </a:prstGeom>
          <a:solidFill xmlns:a="http://schemas.openxmlformats.org/drawingml/2006/main">
            <a:srgbClr val="D9771F"/>
          </a:solidFill>
          <a:ln xmlns:a="http://schemas.openxmlformats.org/drawingml/2006/main" w="9525">
            <a:solidFill>
              <a:srgbClr val="D9771F"/>
            </a:solidFill>
            <a:prstDash val="solid"/>
          </a:ln>
        </p:spPr>
      </p:sp>
      <p:sp>
        <p:nvSpPr>
          <p:cNvPr id="43" name="">
            <a:extLst xmlns:a="http://schemas.openxmlformats.org/drawingml/2006/main">
              <a:ext uri="{FF2B5EF4-FFF2-40B4-BE49-F238E27FC236}">
                <a16:creationId xmlns:a16="http://schemas.microsoft.com/office/drawing/2014/main" id="{54B23E3B-37D6-4BA6-8DB9-28376646A8FA}"/>
              </a:ext>
            </a:extLst>
          </p:cNvPr>
          <p:cNvSpPr>
            <a:spLocks xmlns:a="http://schemas.openxmlformats.org/drawingml/2006/main" noGrp="1"/>
          </p:cNvSpPr>
          <p:nvPr/>
        </p:nvSpPr>
        <p:spPr>
          <a:xfrm xmlns:a="http://schemas.openxmlformats.org/drawingml/2006/main">
            <a:off x="4369118" y="348615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24547A"/>
                </a:solidFill>
              </a:defRPr>
            </a:pPr>
            <a:r>
              <a:rPr sz="900" b="1" i="0">
                <a:solidFill>
                  <a:srgbClr val="24547A"/>
                </a:solidFill>
              </a:rPr>
              <a:t>38.5%</a:t>
            </a:r>
          </a:p>
        </p:txBody>
      </p:sp>
      <p:sp>
        <p:nvSpPr>
          <p:cNvPr id="44" name="">
            <a:extLst xmlns:a="http://schemas.openxmlformats.org/drawingml/2006/main">
              <a:ext uri="{FF2B5EF4-FFF2-40B4-BE49-F238E27FC236}">
                <a16:creationId xmlns:a16="http://schemas.microsoft.com/office/drawing/2014/main" id="{8B24117C-5857-413A-BD24-903693290B47}"/>
              </a:ext>
            </a:extLst>
          </p:cNvPr>
          <p:cNvSpPr>
            <a:spLocks xmlns:a="http://schemas.openxmlformats.org/drawingml/2006/main" noGrp="1"/>
          </p:cNvSpPr>
          <p:nvPr/>
        </p:nvSpPr>
        <p:spPr>
          <a:xfrm xmlns:a="http://schemas.openxmlformats.org/drawingml/2006/main">
            <a:off x="3979354" y="428625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D9771F"/>
                </a:solidFill>
              </a:defRPr>
            </a:pPr>
            <a:r>
              <a:rPr sz="900" b="1" i="0">
                <a:solidFill>
                  <a:srgbClr val="D9771F"/>
                </a:solidFill>
              </a:rPr>
              <a:t>31.9%</a:t>
            </a:r>
          </a:p>
        </p:txBody>
      </p:sp>
      <p:sp>
        <p:nvSpPr>
          <p:cNvPr id="45" name="">
            <a:extLst xmlns:a="http://schemas.openxmlformats.org/drawingml/2006/main">
              <a:ext uri="{FF2B5EF4-FFF2-40B4-BE49-F238E27FC236}">
                <a16:creationId xmlns:a16="http://schemas.microsoft.com/office/drawing/2014/main" id="{BA37A722-24D8-4773-A4B4-D18EA4412B30}"/>
              </a:ext>
            </a:extLst>
          </p:cNvPr>
          <p:cNvSpPr>
            <a:spLocks xmlns:a="http://schemas.openxmlformats.org/drawingml/2006/main" noGrp="1"/>
          </p:cNvSpPr>
          <p:nvPr/>
        </p:nvSpPr>
        <p:spPr>
          <a:xfrm xmlns:a="http://schemas.openxmlformats.org/drawingml/2006/main">
            <a:off x="8401050" y="37909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i="0">
                <a:solidFill>
                  <a:srgbClr val="D9771F"/>
                </a:solidFill>
              </a:defRPr>
            </a:pPr>
            <a:r>
              <a:rPr sz="1125" b="1" i="0">
                <a:solidFill>
                  <a:srgbClr val="D9771F"/>
                </a:solidFill>
              </a:rPr>
              <a:t>−6.6 pp</a:t>
            </a:r>
          </a:p>
        </p:txBody>
      </p:sp>
      <p:sp>
        <p:nvSpPr>
          <p:cNvPr id="46" name="">
            <a:extLst xmlns:a="http://schemas.openxmlformats.org/drawingml/2006/main">
              <a:ext uri="{FF2B5EF4-FFF2-40B4-BE49-F238E27FC236}">
                <a16:creationId xmlns:a16="http://schemas.microsoft.com/office/drawing/2014/main" id="{277EF934-EE41-4D06-8994-787B594FC36B}"/>
              </a:ext>
            </a:extLst>
          </p:cNvPr>
          <p:cNvSpPr>
            <a:spLocks xmlns:a="http://schemas.openxmlformats.org/drawingml/2006/main" noGrp="1"/>
          </p:cNvSpPr>
          <p:nvPr/>
        </p:nvSpPr>
        <p:spPr>
          <a:xfrm xmlns:a="http://schemas.openxmlformats.org/drawingml/2006/main">
            <a:off x="2400300" y="457200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5F6E7B"/>
                </a:solidFill>
              </a:defRPr>
            </a:pPr>
            <a:r>
              <a:rPr sz="825" b="0" i="0">
                <a:solidFill>
                  <a:srgbClr val="5F6E7B"/>
                </a:solidFill>
              </a:rPr>
              <a:t>historical  •  current POC</a:t>
            </a:r>
          </a:p>
        </p:txBody>
      </p:sp>
      <p:sp>
        <p:nvSpPr>
          <p:cNvPr id="47" name="">
            <a:extLst xmlns:a="http://schemas.openxmlformats.org/drawingml/2006/main">
              <a:ext uri="{FF2B5EF4-FFF2-40B4-BE49-F238E27FC236}">
                <a16:creationId xmlns:a16="http://schemas.microsoft.com/office/drawing/2014/main" id="{51F58990-11D7-4761-B79A-DCB8EA574866}"/>
              </a:ext>
            </a:extLst>
          </p:cNvPr>
          <p:cNvSpPr>
            <a:spLocks xmlns:a="http://schemas.openxmlformats.org/drawingml/2006/main" noGrp="1"/>
          </p:cNvSpPr>
          <p:nvPr/>
        </p:nvSpPr>
        <p:spPr>
          <a:xfrm xmlns:a="http://schemas.openxmlformats.org/drawingml/2006/main">
            <a:off x="685800" y="5143500"/>
            <a:ext cx="10172700" cy="571500"/>
          </a:xfrm>
          <a:prstGeom xmlns:a="http://schemas.openxmlformats.org/drawingml/2006/main" prst="rect">
            <a:avLst/>
          </a:prstGeom>
          <a:solidFill xmlns:a="http://schemas.openxmlformats.org/drawingml/2006/main">
            <a:srgbClr val="E1F0EC"/>
          </a:solidFill>
          <a:ln xmlns:a="http://schemas.openxmlformats.org/drawingml/2006/main" w="5715">
            <a:solidFill>
              <a:srgbClr val="E1F0EC"/>
            </a:solidFill>
            <a:prstDash val="solid"/>
          </a:ln>
        </p:spPr>
      </p:sp>
      <p:sp>
        <p:nvSpPr>
          <p:cNvPr id="48" name="">
            <a:extLst xmlns:a="http://schemas.openxmlformats.org/drawingml/2006/main">
              <a:ext uri="{FF2B5EF4-FFF2-40B4-BE49-F238E27FC236}">
                <a16:creationId xmlns:a16="http://schemas.microsoft.com/office/drawing/2014/main" id="{2D98CF9E-9F2D-48B2-A5D9-B5EADE388E05}"/>
              </a:ext>
            </a:extLst>
          </p:cNvPr>
          <p:cNvSpPr>
            <a:spLocks xmlns:a="http://schemas.openxmlformats.org/drawingml/2006/main" noGrp="1"/>
          </p:cNvSpPr>
          <p:nvPr/>
        </p:nvSpPr>
        <p:spPr>
          <a:xfrm xmlns:a="http://schemas.openxmlformats.org/drawingml/2006/main">
            <a:off x="685800" y="5143500"/>
            <a:ext cx="76200" cy="5715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49" name="">
            <a:extLst xmlns:a="http://schemas.openxmlformats.org/drawingml/2006/main">
              <a:ext uri="{FF2B5EF4-FFF2-40B4-BE49-F238E27FC236}">
                <a16:creationId xmlns:a16="http://schemas.microsoft.com/office/drawing/2014/main" id="{0AF940A1-5035-468E-9BDE-60E6C419A3BC}"/>
              </a:ext>
            </a:extLst>
          </p:cNvPr>
          <p:cNvSpPr>
            <a:spLocks xmlns:a="http://schemas.openxmlformats.org/drawingml/2006/main" noGrp="1"/>
          </p:cNvSpPr>
          <p:nvPr/>
        </p:nvSpPr>
        <p:spPr>
          <a:xfrm xmlns:a="http://schemas.openxmlformats.org/drawingml/2006/main">
            <a:off x="952500" y="5276850"/>
            <a:ext cx="9696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238"/>
                </a:solidFill>
              </a:defRPr>
            </a:pPr>
            <a:r>
              <a:rPr sz="1275" b="1" i="0">
                <a:solidFill>
                  <a:srgbClr val="132238"/>
                </a:solidFill>
              </a:rPr>
              <a:t>The guidance update classifies more tasks as AI-impacted under both models, but its magnitude depends strongly on the LLM version.</a:t>
            </a:r>
          </a:p>
        </p:txBody>
      </p:sp>
    </p:spTree>
    <p:extLst>
      <p:ext uri="{BB962C8B-B14F-4D97-AF65-F5344CB8AC3E}">
        <p14:creationId xmlns:p14="http://schemas.microsoft.com/office/powerpoint/2010/main" val="8598945"/>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937A0AFE-2BC7-4BAF-88C4-EAF8CD1BE34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97F99007-6BD0-4081-9CB4-630A997AE17E}"/>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ROLE OF HISTORICAL EXAMPLES</a:t>
            </a:r>
          </a:p>
        </p:txBody>
      </p:sp>
      <p:sp>
        <p:nvSpPr>
          <p:cNvPr id="3" name="">
            <a:extLst xmlns:a="http://schemas.openxmlformats.org/drawingml/2006/main">
              <a:ext uri="{FF2B5EF4-FFF2-40B4-BE49-F238E27FC236}">
                <a16:creationId xmlns:a16="http://schemas.microsoft.com/office/drawing/2014/main" id="{1E5D5596-D30E-4BD6-9ED1-AB8AC94FF6C8}"/>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Adding the historical examples back partially reverses the shift</a:t>
            </a:r>
          </a:p>
        </p:txBody>
      </p:sp>
      <p:sp>
        <p:nvSpPr>
          <p:cNvPr id="4" name="">
            <a:extLst xmlns:a="http://schemas.openxmlformats.org/drawingml/2006/main">
              <a:ext uri="{FF2B5EF4-FFF2-40B4-BE49-F238E27FC236}">
                <a16:creationId xmlns:a16="http://schemas.microsoft.com/office/drawing/2014/main" id="{DF55836C-41E2-463F-8AE9-6BC52052116B}"/>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Held constant: the same tasks, LLM version, and current POC rubric. Only the five recovered historical examples are added.</a:t>
            </a:r>
          </a:p>
        </p:txBody>
      </p:sp>
      <p:sp>
        <p:nvSpPr>
          <p:cNvPr id="5" name="">
            <a:extLst xmlns:a="http://schemas.openxmlformats.org/drawingml/2006/main">
              <a:ext uri="{FF2B5EF4-FFF2-40B4-BE49-F238E27FC236}">
                <a16:creationId xmlns:a16="http://schemas.microsoft.com/office/drawing/2014/main" id="{B45E957E-D08C-49B7-94C8-72E6E8EF84F7}"/>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BB8D7C24-F367-4048-9B9C-15951BF9060F}"/>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EDA4F6D4-8747-4B25-808D-CF71B32597E1}"/>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11</a:t>
            </a:r>
          </a:p>
        </p:txBody>
      </p:sp>
      <p:sp>
        <p:nvSpPr>
          <p:cNvPr id="8" name="">
            <a:extLst xmlns:a="http://schemas.openxmlformats.org/drawingml/2006/main">
              <a:ext uri="{FF2B5EF4-FFF2-40B4-BE49-F238E27FC236}">
                <a16:creationId xmlns:a16="http://schemas.microsoft.com/office/drawing/2014/main" id="{2C753740-036B-4BAA-9401-8A3FC5D89417}"/>
              </a:ext>
            </a:extLst>
          </p:cNvPr>
          <p:cNvSpPr>
            <a:spLocks xmlns:a="http://schemas.openxmlformats.org/drawingml/2006/main" noGrp="1"/>
          </p:cNvSpPr>
          <p:nvPr/>
        </p:nvSpPr>
        <p:spPr>
          <a:xfrm xmlns:a="http://schemas.openxmlformats.org/drawingml/2006/main">
            <a:off x="685800" y="1962150"/>
            <a:ext cx="809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D9771F"/>
                </a:solidFill>
              </a:defRPr>
            </a:pPr>
            <a:r>
              <a:rPr sz="900" b="1" i="0">
                <a:solidFill>
                  <a:srgbClr val="D9771F"/>
                </a:solidFill>
              </a:rPr>
              <a:t>CURRENT POC GUIDANCE  →  CURRENT POC GUIDANCE + HISTORICAL EXAMPLES</a:t>
            </a:r>
          </a:p>
        </p:txBody>
      </p:sp>
      <p:sp>
        <p:nvSpPr>
          <p:cNvPr id="9" name="">
            <a:extLst xmlns:a="http://schemas.openxmlformats.org/drawingml/2006/main">
              <a:ext uri="{FF2B5EF4-FFF2-40B4-BE49-F238E27FC236}">
                <a16:creationId xmlns:a16="http://schemas.microsoft.com/office/drawing/2014/main" id="{0CBA63E5-11B6-4886-9418-15E61B3F1D78}"/>
              </a:ext>
            </a:extLst>
          </p:cNvPr>
          <p:cNvSpPr>
            <a:spLocks xmlns:a="http://schemas.openxmlformats.org/drawingml/2006/main" noGrp="1"/>
          </p:cNvSpPr>
          <p:nvPr/>
        </p:nvSpPr>
        <p:spPr>
          <a:xfrm xmlns:a="http://schemas.openxmlformats.org/drawingml/2006/main">
            <a:off x="685800" y="2381250"/>
            <a:ext cx="157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32238"/>
                </a:solidFill>
              </a:defRPr>
            </a:pPr>
            <a:r>
              <a:rPr sz="1050" b="1" i="0">
                <a:solidFill>
                  <a:srgbClr val="132238"/>
                </a:solidFill>
              </a:rPr>
              <a:t>GPT-4o</a:t>
            </a:r>
          </a:p>
        </p:txBody>
      </p:sp>
      <p:sp>
        <p:nvSpPr>
          <p:cNvPr id="10" name="">
            <a:extLst xmlns:a="http://schemas.openxmlformats.org/drawingml/2006/main">
              <a:ext uri="{FF2B5EF4-FFF2-40B4-BE49-F238E27FC236}">
                <a16:creationId xmlns:a16="http://schemas.microsoft.com/office/drawing/2014/main" id="{B079B7B1-42BB-482F-97BD-08A2AF5C22B6}"/>
              </a:ext>
            </a:extLst>
          </p:cNvPr>
          <p:cNvSpPr>
            <a:spLocks xmlns:a="http://schemas.openxmlformats.org/drawingml/2006/main" noGrp="1"/>
          </p:cNvSpPr>
          <p:nvPr/>
        </p:nvSpPr>
        <p:spPr>
          <a:xfrm xmlns:a="http://schemas.openxmlformats.org/drawingml/2006/main">
            <a:off x="2400300" y="2609850"/>
            <a:ext cx="5905500" cy="0"/>
          </a:xfrm>
          <a:prstGeom xmlns:a="http://schemas.openxmlformats.org/drawingml/2006/main" prst="line">
            <a:avLst/>
          </a:prstGeom>
          <a:noFill xmlns:a="http://schemas.openxmlformats.org/drawingml/2006/main"/>
          <a:ln xmlns:a="http://schemas.openxmlformats.org/drawingml/2006/main" w="19050">
            <a:solidFill>
              <a:srgbClr val="D5DCDD"/>
            </a:solidFill>
            <a:prstDash val="solid"/>
          </a:ln>
        </p:spPr>
      </p:sp>
      <p:sp>
        <p:nvSpPr>
          <p:cNvPr id="11" name="">
            <a:extLst xmlns:a="http://schemas.openxmlformats.org/drawingml/2006/main">
              <a:ext uri="{FF2B5EF4-FFF2-40B4-BE49-F238E27FC236}">
                <a16:creationId xmlns:a16="http://schemas.microsoft.com/office/drawing/2014/main" id="{71EFE80D-55F1-443C-B668-2D18E2A77655}"/>
              </a:ext>
            </a:extLst>
          </p:cNvPr>
          <p:cNvSpPr>
            <a:spLocks xmlns:a="http://schemas.openxmlformats.org/drawingml/2006/main" noGrp="1"/>
          </p:cNvSpPr>
          <p:nvPr/>
        </p:nvSpPr>
        <p:spPr>
          <a:xfrm xmlns:a="http://schemas.openxmlformats.org/drawingml/2006/main">
            <a:off x="2400300" y="25527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2" name="">
            <a:extLst xmlns:a="http://schemas.openxmlformats.org/drawingml/2006/main">
              <a:ext uri="{FF2B5EF4-FFF2-40B4-BE49-F238E27FC236}">
                <a16:creationId xmlns:a16="http://schemas.microsoft.com/office/drawing/2014/main" id="{68396546-6643-4AC8-BAF0-BAA5CDA2C522}"/>
              </a:ext>
            </a:extLst>
          </p:cNvPr>
          <p:cNvSpPr>
            <a:spLocks xmlns:a="http://schemas.openxmlformats.org/drawingml/2006/main" noGrp="1"/>
          </p:cNvSpPr>
          <p:nvPr/>
        </p:nvSpPr>
        <p:spPr>
          <a:xfrm xmlns:a="http://schemas.openxmlformats.org/drawingml/2006/main">
            <a:off x="2228850" y="27146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0</a:t>
            </a:r>
          </a:p>
        </p:txBody>
      </p:sp>
      <p:sp>
        <p:nvSpPr>
          <p:cNvPr id="13" name="">
            <a:extLst xmlns:a="http://schemas.openxmlformats.org/drawingml/2006/main">
              <a:ext uri="{FF2B5EF4-FFF2-40B4-BE49-F238E27FC236}">
                <a16:creationId xmlns:a16="http://schemas.microsoft.com/office/drawing/2014/main" id="{31836C77-C722-42D5-80C8-4C4F4042FE4D}"/>
              </a:ext>
            </a:extLst>
          </p:cNvPr>
          <p:cNvSpPr>
            <a:spLocks xmlns:a="http://schemas.openxmlformats.org/drawingml/2006/main" noGrp="1"/>
          </p:cNvSpPr>
          <p:nvPr/>
        </p:nvSpPr>
        <p:spPr>
          <a:xfrm xmlns:a="http://schemas.openxmlformats.org/drawingml/2006/main">
            <a:off x="3876675" y="25527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4" name="">
            <a:extLst xmlns:a="http://schemas.openxmlformats.org/drawingml/2006/main">
              <a:ext uri="{FF2B5EF4-FFF2-40B4-BE49-F238E27FC236}">
                <a16:creationId xmlns:a16="http://schemas.microsoft.com/office/drawing/2014/main" id="{DE908ABE-08C5-46E6-9123-9CF5B08FDA50}"/>
              </a:ext>
            </a:extLst>
          </p:cNvPr>
          <p:cNvSpPr>
            <a:spLocks xmlns:a="http://schemas.openxmlformats.org/drawingml/2006/main" noGrp="1"/>
          </p:cNvSpPr>
          <p:nvPr/>
        </p:nvSpPr>
        <p:spPr>
          <a:xfrm xmlns:a="http://schemas.openxmlformats.org/drawingml/2006/main">
            <a:off x="3705225" y="27146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25</a:t>
            </a:r>
          </a:p>
        </p:txBody>
      </p:sp>
      <p:sp>
        <p:nvSpPr>
          <p:cNvPr id="15" name="">
            <a:extLst xmlns:a="http://schemas.openxmlformats.org/drawingml/2006/main">
              <a:ext uri="{FF2B5EF4-FFF2-40B4-BE49-F238E27FC236}">
                <a16:creationId xmlns:a16="http://schemas.microsoft.com/office/drawing/2014/main" id="{BC92E060-AA50-4980-AB33-350DEBA3003A}"/>
              </a:ext>
            </a:extLst>
          </p:cNvPr>
          <p:cNvSpPr>
            <a:spLocks xmlns:a="http://schemas.openxmlformats.org/drawingml/2006/main" noGrp="1"/>
          </p:cNvSpPr>
          <p:nvPr/>
        </p:nvSpPr>
        <p:spPr>
          <a:xfrm xmlns:a="http://schemas.openxmlformats.org/drawingml/2006/main">
            <a:off x="5353050" y="25527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6" name="">
            <a:extLst xmlns:a="http://schemas.openxmlformats.org/drawingml/2006/main">
              <a:ext uri="{FF2B5EF4-FFF2-40B4-BE49-F238E27FC236}">
                <a16:creationId xmlns:a16="http://schemas.microsoft.com/office/drawing/2014/main" id="{880B2375-A346-471E-84E4-0BB49CC318FE}"/>
              </a:ext>
            </a:extLst>
          </p:cNvPr>
          <p:cNvSpPr>
            <a:spLocks xmlns:a="http://schemas.openxmlformats.org/drawingml/2006/main" noGrp="1"/>
          </p:cNvSpPr>
          <p:nvPr/>
        </p:nvSpPr>
        <p:spPr>
          <a:xfrm xmlns:a="http://schemas.openxmlformats.org/drawingml/2006/main">
            <a:off x="5181600" y="27146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50</a:t>
            </a:r>
          </a:p>
        </p:txBody>
      </p:sp>
      <p:sp>
        <p:nvSpPr>
          <p:cNvPr id="17" name="">
            <a:extLst xmlns:a="http://schemas.openxmlformats.org/drawingml/2006/main">
              <a:ext uri="{FF2B5EF4-FFF2-40B4-BE49-F238E27FC236}">
                <a16:creationId xmlns:a16="http://schemas.microsoft.com/office/drawing/2014/main" id="{CAD58499-06F6-4A88-B2E7-7C8D9F024C82}"/>
              </a:ext>
            </a:extLst>
          </p:cNvPr>
          <p:cNvSpPr>
            <a:spLocks xmlns:a="http://schemas.openxmlformats.org/drawingml/2006/main" noGrp="1"/>
          </p:cNvSpPr>
          <p:nvPr/>
        </p:nvSpPr>
        <p:spPr>
          <a:xfrm xmlns:a="http://schemas.openxmlformats.org/drawingml/2006/main">
            <a:off x="6829425" y="25527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8" name="">
            <a:extLst xmlns:a="http://schemas.openxmlformats.org/drawingml/2006/main">
              <a:ext uri="{FF2B5EF4-FFF2-40B4-BE49-F238E27FC236}">
                <a16:creationId xmlns:a16="http://schemas.microsoft.com/office/drawing/2014/main" id="{2DD3EA52-8740-4A79-9BE0-CCA926317009}"/>
              </a:ext>
            </a:extLst>
          </p:cNvPr>
          <p:cNvSpPr>
            <a:spLocks xmlns:a="http://schemas.openxmlformats.org/drawingml/2006/main" noGrp="1"/>
          </p:cNvSpPr>
          <p:nvPr/>
        </p:nvSpPr>
        <p:spPr>
          <a:xfrm xmlns:a="http://schemas.openxmlformats.org/drawingml/2006/main">
            <a:off x="6657975" y="27146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75</a:t>
            </a:r>
          </a:p>
        </p:txBody>
      </p:sp>
      <p:sp>
        <p:nvSpPr>
          <p:cNvPr id="19" name="">
            <a:extLst xmlns:a="http://schemas.openxmlformats.org/drawingml/2006/main">
              <a:ext uri="{FF2B5EF4-FFF2-40B4-BE49-F238E27FC236}">
                <a16:creationId xmlns:a16="http://schemas.microsoft.com/office/drawing/2014/main" id="{C720E2A2-4B4D-4F2C-BF01-DA595EA7A342}"/>
              </a:ext>
            </a:extLst>
          </p:cNvPr>
          <p:cNvSpPr>
            <a:spLocks xmlns:a="http://schemas.openxmlformats.org/drawingml/2006/main" noGrp="1"/>
          </p:cNvSpPr>
          <p:nvPr/>
        </p:nvSpPr>
        <p:spPr>
          <a:xfrm xmlns:a="http://schemas.openxmlformats.org/drawingml/2006/main">
            <a:off x="8305800" y="25527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20" name="">
            <a:extLst xmlns:a="http://schemas.openxmlformats.org/drawingml/2006/main">
              <a:ext uri="{FF2B5EF4-FFF2-40B4-BE49-F238E27FC236}">
                <a16:creationId xmlns:a16="http://schemas.microsoft.com/office/drawing/2014/main" id="{B7E708AB-DEA3-4DC8-AA29-0DBC27B3662E}"/>
              </a:ext>
            </a:extLst>
          </p:cNvPr>
          <p:cNvSpPr>
            <a:spLocks xmlns:a="http://schemas.openxmlformats.org/drawingml/2006/main" noGrp="1"/>
          </p:cNvSpPr>
          <p:nvPr/>
        </p:nvSpPr>
        <p:spPr>
          <a:xfrm xmlns:a="http://schemas.openxmlformats.org/drawingml/2006/main">
            <a:off x="8134350" y="27146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100</a:t>
            </a:r>
          </a:p>
        </p:txBody>
      </p:sp>
      <p:sp>
        <p:nvSpPr>
          <p:cNvPr id="21" name="">
            <a:extLst xmlns:a="http://schemas.openxmlformats.org/drawingml/2006/main">
              <a:ext uri="{FF2B5EF4-FFF2-40B4-BE49-F238E27FC236}">
                <a16:creationId xmlns:a16="http://schemas.microsoft.com/office/drawing/2014/main" id="{229D8455-C1C7-408C-82E1-21D72D983196}"/>
              </a:ext>
            </a:extLst>
          </p:cNvPr>
          <p:cNvSpPr>
            <a:spLocks xmlns:a="http://schemas.openxmlformats.org/drawingml/2006/main" noGrp="1"/>
          </p:cNvSpPr>
          <p:nvPr/>
        </p:nvSpPr>
        <p:spPr>
          <a:xfrm xmlns:a="http://schemas.openxmlformats.org/drawingml/2006/main">
            <a:off x="4827461" y="2609850"/>
            <a:ext cx="773620" cy="0"/>
          </a:xfrm>
          <a:prstGeom xmlns:a="http://schemas.openxmlformats.org/drawingml/2006/main" prst="line">
            <a:avLst/>
          </a:prstGeom>
          <a:noFill xmlns:a="http://schemas.openxmlformats.org/drawingml/2006/main"/>
          <a:ln xmlns:a="http://schemas.openxmlformats.org/drawingml/2006/main" w="38100">
            <a:solidFill>
              <a:srgbClr val="087A76"/>
            </a:solidFill>
            <a:prstDash val="solid"/>
          </a:ln>
        </p:spPr>
      </p:sp>
      <p:sp>
        <p:nvSpPr>
          <p:cNvPr id="22" name="">
            <a:extLst xmlns:a="http://schemas.openxmlformats.org/drawingml/2006/main">
              <a:ext uri="{FF2B5EF4-FFF2-40B4-BE49-F238E27FC236}">
                <a16:creationId xmlns:a16="http://schemas.microsoft.com/office/drawing/2014/main" id="{ADE80DAB-99BB-4F46-84A0-907D49AD83AF}"/>
              </a:ext>
            </a:extLst>
          </p:cNvPr>
          <p:cNvSpPr>
            <a:spLocks xmlns:a="http://schemas.openxmlformats.org/drawingml/2006/main" noGrp="1"/>
          </p:cNvSpPr>
          <p:nvPr/>
        </p:nvSpPr>
        <p:spPr>
          <a:xfrm xmlns:a="http://schemas.openxmlformats.org/drawingml/2006/main">
            <a:off x="4760786" y="2543175"/>
            <a:ext cx="133350" cy="133350"/>
          </a:xfrm>
          <a:prstGeom xmlns:a="http://schemas.openxmlformats.org/drawingml/2006/main" prst="ellipse">
            <a:avLst/>
          </a:prstGeom>
          <a:solidFill xmlns:a="http://schemas.openxmlformats.org/drawingml/2006/main">
            <a:srgbClr val="24547A"/>
          </a:solidFill>
          <a:ln xmlns:a="http://schemas.openxmlformats.org/drawingml/2006/main" w="9525">
            <a:solidFill>
              <a:srgbClr val="24547A"/>
            </a:solidFill>
            <a:prstDash val="solid"/>
          </a:ln>
        </p:spPr>
      </p:sp>
      <p:sp>
        <p:nvSpPr>
          <p:cNvPr id="23" name="">
            <a:extLst xmlns:a="http://schemas.openxmlformats.org/drawingml/2006/main">
              <a:ext uri="{FF2B5EF4-FFF2-40B4-BE49-F238E27FC236}">
                <a16:creationId xmlns:a16="http://schemas.microsoft.com/office/drawing/2014/main" id="{70D57112-A61C-4867-8D63-FD5A242B9EB0}"/>
              </a:ext>
            </a:extLst>
          </p:cNvPr>
          <p:cNvSpPr>
            <a:spLocks xmlns:a="http://schemas.openxmlformats.org/drawingml/2006/main" noGrp="1"/>
          </p:cNvSpPr>
          <p:nvPr/>
        </p:nvSpPr>
        <p:spPr>
          <a:xfrm xmlns:a="http://schemas.openxmlformats.org/drawingml/2006/main">
            <a:off x="5534406" y="2543175"/>
            <a:ext cx="133350" cy="133350"/>
          </a:xfrm>
          <a:prstGeom xmlns:a="http://schemas.openxmlformats.org/drawingml/2006/main" prst="ellipse">
            <a:avLst/>
          </a:prstGeom>
          <a:solidFill xmlns:a="http://schemas.openxmlformats.org/drawingml/2006/main">
            <a:srgbClr val="087A76"/>
          </a:solidFill>
          <a:ln xmlns:a="http://schemas.openxmlformats.org/drawingml/2006/main" w="9525">
            <a:solidFill>
              <a:srgbClr val="087A76"/>
            </a:solidFill>
            <a:prstDash val="solid"/>
          </a:ln>
        </p:spPr>
      </p:sp>
      <p:sp>
        <p:nvSpPr>
          <p:cNvPr id="24" name="">
            <a:extLst xmlns:a="http://schemas.openxmlformats.org/drawingml/2006/main">
              <a:ext uri="{FF2B5EF4-FFF2-40B4-BE49-F238E27FC236}">
                <a16:creationId xmlns:a16="http://schemas.microsoft.com/office/drawing/2014/main" id="{7CA1B0FD-5352-41B1-9D69-F3E1BBDEC3FE}"/>
              </a:ext>
            </a:extLst>
          </p:cNvPr>
          <p:cNvSpPr>
            <a:spLocks xmlns:a="http://schemas.openxmlformats.org/drawingml/2006/main" noGrp="1"/>
          </p:cNvSpPr>
          <p:nvPr/>
        </p:nvSpPr>
        <p:spPr>
          <a:xfrm xmlns:a="http://schemas.openxmlformats.org/drawingml/2006/main">
            <a:off x="4522661" y="211455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24547A"/>
                </a:solidFill>
              </a:defRPr>
            </a:pPr>
            <a:r>
              <a:rPr sz="900" b="1" i="0">
                <a:solidFill>
                  <a:srgbClr val="24547A"/>
                </a:solidFill>
              </a:rPr>
              <a:t>41.1%</a:t>
            </a:r>
          </a:p>
        </p:txBody>
      </p:sp>
      <p:sp>
        <p:nvSpPr>
          <p:cNvPr id="25" name="">
            <a:extLst xmlns:a="http://schemas.openxmlformats.org/drawingml/2006/main">
              <a:ext uri="{FF2B5EF4-FFF2-40B4-BE49-F238E27FC236}">
                <a16:creationId xmlns:a16="http://schemas.microsoft.com/office/drawing/2014/main" id="{6E245D8C-4610-443C-BD7A-5CA0BF83F452}"/>
              </a:ext>
            </a:extLst>
          </p:cNvPr>
          <p:cNvSpPr>
            <a:spLocks xmlns:a="http://schemas.openxmlformats.org/drawingml/2006/main" noGrp="1"/>
          </p:cNvSpPr>
          <p:nvPr/>
        </p:nvSpPr>
        <p:spPr>
          <a:xfrm xmlns:a="http://schemas.openxmlformats.org/drawingml/2006/main">
            <a:off x="5296281" y="291465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087A76"/>
                </a:solidFill>
              </a:defRPr>
            </a:pPr>
            <a:r>
              <a:rPr sz="900" b="1" i="0">
                <a:solidFill>
                  <a:srgbClr val="087A76"/>
                </a:solidFill>
              </a:rPr>
              <a:t>54.2%</a:t>
            </a:r>
          </a:p>
        </p:txBody>
      </p:sp>
      <p:sp>
        <p:nvSpPr>
          <p:cNvPr id="26" name="">
            <a:extLst xmlns:a="http://schemas.openxmlformats.org/drawingml/2006/main">
              <a:ext uri="{FF2B5EF4-FFF2-40B4-BE49-F238E27FC236}">
                <a16:creationId xmlns:a16="http://schemas.microsoft.com/office/drawing/2014/main" id="{BFDC17A5-C218-435D-B19E-281299F00DA4}"/>
              </a:ext>
            </a:extLst>
          </p:cNvPr>
          <p:cNvSpPr>
            <a:spLocks xmlns:a="http://schemas.openxmlformats.org/drawingml/2006/main" noGrp="1"/>
          </p:cNvSpPr>
          <p:nvPr/>
        </p:nvSpPr>
        <p:spPr>
          <a:xfrm xmlns:a="http://schemas.openxmlformats.org/drawingml/2006/main">
            <a:off x="8401050" y="24193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i="0">
                <a:solidFill>
                  <a:srgbClr val="087A76"/>
                </a:solidFill>
              </a:defRPr>
            </a:pPr>
            <a:r>
              <a:rPr sz="1125" b="1" i="0">
                <a:solidFill>
                  <a:srgbClr val="087A76"/>
                </a:solidFill>
              </a:rPr>
              <a:t>+13.1 pp</a:t>
            </a:r>
          </a:p>
        </p:txBody>
      </p:sp>
      <p:sp>
        <p:nvSpPr>
          <p:cNvPr id="27" name="">
            <a:extLst xmlns:a="http://schemas.openxmlformats.org/drawingml/2006/main">
              <a:ext uri="{FF2B5EF4-FFF2-40B4-BE49-F238E27FC236}">
                <a16:creationId xmlns:a16="http://schemas.microsoft.com/office/drawing/2014/main" id="{D9AA5BED-2E54-4366-B6A7-3632B7FF280D}"/>
              </a:ext>
            </a:extLst>
          </p:cNvPr>
          <p:cNvSpPr>
            <a:spLocks xmlns:a="http://schemas.openxmlformats.org/drawingml/2006/main" noGrp="1"/>
          </p:cNvSpPr>
          <p:nvPr/>
        </p:nvSpPr>
        <p:spPr>
          <a:xfrm xmlns:a="http://schemas.openxmlformats.org/drawingml/2006/main">
            <a:off x="2400300" y="320040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5F6E7B"/>
                </a:solidFill>
              </a:defRPr>
            </a:pPr>
            <a:r>
              <a:rPr sz="825" b="0" i="0">
                <a:solidFill>
                  <a:srgbClr val="5F6E7B"/>
                </a:solidFill>
              </a:rPr>
              <a:t>current POC  •  + examples</a:t>
            </a:r>
          </a:p>
        </p:txBody>
      </p:sp>
      <p:sp>
        <p:nvSpPr>
          <p:cNvPr id="28" name="">
            <a:extLst xmlns:a="http://schemas.openxmlformats.org/drawingml/2006/main">
              <a:ext uri="{FF2B5EF4-FFF2-40B4-BE49-F238E27FC236}">
                <a16:creationId xmlns:a16="http://schemas.microsoft.com/office/drawing/2014/main" id="{92177445-C67B-4E60-826B-E21D6B7B1E03}"/>
              </a:ext>
            </a:extLst>
          </p:cNvPr>
          <p:cNvSpPr>
            <a:spLocks xmlns:a="http://schemas.openxmlformats.org/drawingml/2006/main" noGrp="1"/>
          </p:cNvSpPr>
          <p:nvPr/>
        </p:nvSpPr>
        <p:spPr>
          <a:xfrm xmlns:a="http://schemas.openxmlformats.org/drawingml/2006/main">
            <a:off x="685800" y="3752850"/>
            <a:ext cx="157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32238"/>
                </a:solidFill>
              </a:defRPr>
            </a:pPr>
            <a:r>
              <a:rPr sz="1050" b="1" i="0">
                <a:solidFill>
                  <a:srgbClr val="132238"/>
                </a:solidFill>
              </a:rPr>
              <a:t>GPT-5.2</a:t>
            </a:r>
          </a:p>
        </p:txBody>
      </p:sp>
      <p:sp>
        <p:nvSpPr>
          <p:cNvPr id="29" name="">
            <a:extLst xmlns:a="http://schemas.openxmlformats.org/drawingml/2006/main">
              <a:ext uri="{FF2B5EF4-FFF2-40B4-BE49-F238E27FC236}">
                <a16:creationId xmlns:a16="http://schemas.microsoft.com/office/drawing/2014/main" id="{368EDB53-FFDE-40EB-BA8A-8C05C856DEA3}"/>
              </a:ext>
            </a:extLst>
          </p:cNvPr>
          <p:cNvSpPr>
            <a:spLocks xmlns:a="http://schemas.openxmlformats.org/drawingml/2006/main" noGrp="1"/>
          </p:cNvSpPr>
          <p:nvPr/>
        </p:nvSpPr>
        <p:spPr>
          <a:xfrm xmlns:a="http://schemas.openxmlformats.org/drawingml/2006/main">
            <a:off x="2400300" y="3981450"/>
            <a:ext cx="5905500" cy="0"/>
          </a:xfrm>
          <a:prstGeom xmlns:a="http://schemas.openxmlformats.org/drawingml/2006/main" prst="line">
            <a:avLst/>
          </a:prstGeom>
          <a:noFill xmlns:a="http://schemas.openxmlformats.org/drawingml/2006/main"/>
          <a:ln xmlns:a="http://schemas.openxmlformats.org/drawingml/2006/main" w="19050">
            <a:solidFill>
              <a:srgbClr val="D5DCDD"/>
            </a:solidFill>
            <a:prstDash val="solid"/>
          </a:ln>
        </p:spPr>
      </p:sp>
      <p:sp>
        <p:nvSpPr>
          <p:cNvPr id="30" name="">
            <a:extLst xmlns:a="http://schemas.openxmlformats.org/drawingml/2006/main">
              <a:ext uri="{FF2B5EF4-FFF2-40B4-BE49-F238E27FC236}">
                <a16:creationId xmlns:a16="http://schemas.microsoft.com/office/drawing/2014/main" id="{73FFE3E7-E78E-421A-BD4B-5DB5089EC5EE}"/>
              </a:ext>
            </a:extLst>
          </p:cNvPr>
          <p:cNvSpPr>
            <a:spLocks xmlns:a="http://schemas.openxmlformats.org/drawingml/2006/main" noGrp="1"/>
          </p:cNvSpPr>
          <p:nvPr/>
        </p:nvSpPr>
        <p:spPr>
          <a:xfrm xmlns:a="http://schemas.openxmlformats.org/drawingml/2006/main">
            <a:off x="2400300" y="39243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31" name="">
            <a:extLst xmlns:a="http://schemas.openxmlformats.org/drawingml/2006/main">
              <a:ext uri="{FF2B5EF4-FFF2-40B4-BE49-F238E27FC236}">
                <a16:creationId xmlns:a16="http://schemas.microsoft.com/office/drawing/2014/main" id="{306339A5-2E5C-4003-97CF-95E4B0B40A4F}"/>
              </a:ext>
            </a:extLst>
          </p:cNvPr>
          <p:cNvSpPr>
            <a:spLocks xmlns:a="http://schemas.openxmlformats.org/drawingml/2006/main" noGrp="1"/>
          </p:cNvSpPr>
          <p:nvPr/>
        </p:nvSpPr>
        <p:spPr>
          <a:xfrm xmlns:a="http://schemas.openxmlformats.org/drawingml/2006/main">
            <a:off x="2228850" y="40862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0</a:t>
            </a:r>
          </a:p>
        </p:txBody>
      </p:sp>
      <p:sp>
        <p:nvSpPr>
          <p:cNvPr id="32" name="">
            <a:extLst xmlns:a="http://schemas.openxmlformats.org/drawingml/2006/main">
              <a:ext uri="{FF2B5EF4-FFF2-40B4-BE49-F238E27FC236}">
                <a16:creationId xmlns:a16="http://schemas.microsoft.com/office/drawing/2014/main" id="{471B95CF-29FD-4D6E-B3B9-108423873A4D}"/>
              </a:ext>
            </a:extLst>
          </p:cNvPr>
          <p:cNvSpPr>
            <a:spLocks xmlns:a="http://schemas.openxmlformats.org/drawingml/2006/main" noGrp="1"/>
          </p:cNvSpPr>
          <p:nvPr/>
        </p:nvSpPr>
        <p:spPr>
          <a:xfrm xmlns:a="http://schemas.openxmlformats.org/drawingml/2006/main">
            <a:off x="3876675" y="39243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33" name="">
            <a:extLst xmlns:a="http://schemas.openxmlformats.org/drawingml/2006/main">
              <a:ext uri="{FF2B5EF4-FFF2-40B4-BE49-F238E27FC236}">
                <a16:creationId xmlns:a16="http://schemas.microsoft.com/office/drawing/2014/main" id="{E3763BD2-ADE2-4CDD-97B6-E8105D34ED76}"/>
              </a:ext>
            </a:extLst>
          </p:cNvPr>
          <p:cNvSpPr>
            <a:spLocks xmlns:a="http://schemas.openxmlformats.org/drawingml/2006/main" noGrp="1"/>
          </p:cNvSpPr>
          <p:nvPr/>
        </p:nvSpPr>
        <p:spPr>
          <a:xfrm xmlns:a="http://schemas.openxmlformats.org/drawingml/2006/main">
            <a:off x="3705225" y="40862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25</a:t>
            </a:r>
          </a:p>
        </p:txBody>
      </p:sp>
      <p:sp>
        <p:nvSpPr>
          <p:cNvPr id="34" name="">
            <a:extLst xmlns:a="http://schemas.openxmlformats.org/drawingml/2006/main">
              <a:ext uri="{FF2B5EF4-FFF2-40B4-BE49-F238E27FC236}">
                <a16:creationId xmlns:a16="http://schemas.microsoft.com/office/drawing/2014/main" id="{6556E15A-6A7A-4222-96B2-4029E9929733}"/>
              </a:ext>
            </a:extLst>
          </p:cNvPr>
          <p:cNvSpPr>
            <a:spLocks xmlns:a="http://schemas.openxmlformats.org/drawingml/2006/main" noGrp="1"/>
          </p:cNvSpPr>
          <p:nvPr/>
        </p:nvSpPr>
        <p:spPr>
          <a:xfrm xmlns:a="http://schemas.openxmlformats.org/drawingml/2006/main">
            <a:off x="5353050" y="39243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35" name="">
            <a:extLst xmlns:a="http://schemas.openxmlformats.org/drawingml/2006/main">
              <a:ext uri="{FF2B5EF4-FFF2-40B4-BE49-F238E27FC236}">
                <a16:creationId xmlns:a16="http://schemas.microsoft.com/office/drawing/2014/main" id="{D637B162-297D-4242-9490-D206C6ED2FC4}"/>
              </a:ext>
            </a:extLst>
          </p:cNvPr>
          <p:cNvSpPr>
            <a:spLocks xmlns:a="http://schemas.openxmlformats.org/drawingml/2006/main" noGrp="1"/>
          </p:cNvSpPr>
          <p:nvPr/>
        </p:nvSpPr>
        <p:spPr>
          <a:xfrm xmlns:a="http://schemas.openxmlformats.org/drawingml/2006/main">
            <a:off x="5181600" y="40862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50</a:t>
            </a:r>
          </a:p>
        </p:txBody>
      </p:sp>
      <p:sp>
        <p:nvSpPr>
          <p:cNvPr id="36" name="">
            <a:extLst xmlns:a="http://schemas.openxmlformats.org/drawingml/2006/main">
              <a:ext uri="{FF2B5EF4-FFF2-40B4-BE49-F238E27FC236}">
                <a16:creationId xmlns:a16="http://schemas.microsoft.com/office/drawing/2014/main" id="{AE5AEE48-5D9B-471E-B867-ADAD3107B705}"/>
              </a:ext>
            </a:extLst>
          </p:cNvPr>
          <p:cNvSpPr>
            <a:spLocks xmlns:a="http://schemas.openxmlformats.org/drawingml/2006/main" noGrp="1"/>
          </p:cNvSpPr>
          <p:nvPr/>
        </p:nvSpPr>
        <p:spPr>
          <a:xfrm xmlns:a="http://schemas.openxmlformats.org/drawingml/2006/main">
            <a:off x="6829425" y="39243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37" name="">
            <a:extLst xmlns:a="http://schemas.openxmlformats.org/drawingml/2006/main">
              <a:ext uri="{FF2B5EF4-FFF2-40B4-BE49-F238E27FC236}">
                <a16:creationId xmlns:a16="http://schemas.microsoft.com/office/drawing/2014/main" id="{4A7E47C7-8384-4D94-A077-2254FF7C6F11}"/>
              </a:ext>
            </a:extLst>
          </p:cNvPr>
          <p:cNvSpPr>
            <a:spLocks xmlns:a="http://schemas.openxmlformats.org/drawingml/2006/main" noGrp="1"/>
          </p:cNvSpPr>
          <p:nvPr/>
        </p:nvSpPr>
        <p:spPr>
          <a:xfrm xmlns:a="http://schemas.openxmlformats.org/drawingml/2006/main">
            <a:off x="6657975" y="40862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75</a:t>
            </a:r>
          </a:p>
        </p:txBody>
      </p:sp>
      <p:sp>
        <p:nvSpPr>
          <p:cNvPr id="38" name="">
            <a:extLst xmlns:a="http://schemas.openxmlformats.org/drawingml/2006/main">
              <a:ext uri="{FF2B5EF4-FFF2-40B4-BE49-F238E27FC236}">
                <a16:creationId xmlns:a16="http://schemas.microsoft.com/office/drawing/2014/main" id="{0C7312B2-0640-4C5A-A0FB-02E32DB3C011}"/>
              </a:ext>
            </a:extLst>
          </p:cNvPr>
          <p:cNvSpPr>
            <a:spLocks xmlns:a="http://schemas.openxmlformats.org/drawingml/2006/main" noGrp="1"/>
          </p:cNvSpPr>
          <p:nvPr/>
        </p:nvSpPr>
        <p:spPr>
          <a:xfrm xmlns:a="http://schemas.openxmlformats.org/drawingml/2006/main">
            <a:off x="8305800" y="39243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39" name="">
            <a:extLst xmlns:a="http://schemas.openxmlformats.org/drawingml/2006/main">
              <a:ext uri="{FF2B5EF4-FFF2-40B4-BE49-F238E27FC236}">
                <a16:creationId xmlns:a16="http://schemas.microsoft.com/office/drawing/2014/main" id="{BF7CB666-9195-4D72-A430-55898BBF9AC6}"/>
              </a:ext>
            </a:extLst>
          </p:cNvPr>
          <p:cNvSpPr>
            <a:spLocks xmlns:a="http://schemas.openxmlformats.org/drawingml/2006/main" noGrp="1"/>
          </p:cNvSpPr>
          <p:nvPr/>
        </p:nvSpPr>
        <p:spPr>
          <a:xfrm xmlns:a="http://schemas.openxmlformats.org/drawingml/2006/main">
            <a:off x="8134350" y="40862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100</a:t>
            </a:r>
          </a:p>
        </p:txBody>
      </p:sp>
      <p:sp>
        <p:nvSpPr>
          <p:cNvPr id="40" name="">
            <a:extLst xmlns:a="http://schemas.openxmlformats.org/drawingml/2006/main">
              <a:ext uri="{FF2B5EF4-FFF2-40B4-BE49-F238E27FC236}">
                <a16:creationId xmlns:a16="http://schemas.microsoft.com/office/drawing/2014/main" id="{0587B164-BE2E-494E-A2C9-0EF0BB163356}"/>
              </a:ext>
            </a:extLst>
          </p:cNvPr>
          <p:cNvSpPr>
            <a:spLocks xmlns:a="http://schemas.openxmlformats.org/drawingml/2006/main" noGrp="1"/>
          </p:cNvSpPr>
          <p:nvPr/>
        </p:nvSpPr>
        <p:spPr>
          <a:xfrm xmlns:a="http://schemas.openxmlformats.org/drawingml/2006/main">
            <a:off x="4284155" y="3981450"/>
            <a:ext cx="230315" cy="0"/>
          </a:xfrm>
          <a:prstGeom xmlns:a="http://schemas.openxmlformats.org/drawingml/2006/main" prst="line">
            <a:avLst/>
          </a:prstGeom>
          <a:noFill xmlns:a="http://schemas.openxmlformats.org/drawingml/2006/main"/>
          <a:ln xmlns:a="http://schemas.openxmlformats.org/drawingml/2006/main" w="38100">
            <a:solidFill>
              <a:srgbClr val="087A76"/>
            </a:solidFill>
            <a:prstDash val="solid"/>
          </a:ln>
        </p:spPr>
      </p:sp>
      <p:sp>
        <p:nvSpPr>
          <p:cNvPr id="41" name="">
            <a:extLst xmlns:a="http://schemas.openxmlformats.org/drawingml/2006/main">
              <a:ext uri="{FF2B5EF4-FFF2-40B4-BE49-F238E27FC236}">
                <a16:creationId xmlns:a16="http://schemas.microsoft.com/office/drawing/2014/main" id="{DAAB5184-E5F3-4548-90E5-CE3BE2721628}"/>
              </a:ext>
            </a:extLst>
          </p:cNvPr>
          <p:cNvSpPr>
            <a:spLocks xmlns:a="http://schemas.openxmlformats.org/drawingml/2006/main" noGrp="1"/>
          </p:cNvSpPr>
          <p:nvPr/>
        </p:nvSpPr>
        <p:spPr>
          <a:xfrm xmlns:a="http://schemas.openxmlformats.org/drawingml/2006/main">
            <a:off x="4217480" y="3914775"/>
            <a:ext cx="133350" cy="133350"/>
          </a:xfrm>
          <a:prstGeom xmlns:a="http://schemas.openxmlformats.org/drawingml/2006/main" prst="ellipse">
            <a:avLst/>
          </a:prstGeom>
          <a:solidFill xmlns:a="http://schemas.openxmlformats.org/drawingml/2006/main">
            <a:srgbClr val="24547A"/>
          </a:solidFill>
          <a:ln xmlns:a="http://schemas.openxmlformats.org/drawingml/2006/main" w="9525">
            <a:solidFill>
              <a:srgbClr val="24547A"/>
            </a:solidFill>
            <a:prstDash val="solid"/>
          </a:ln>
        </p:spPr>
      </p:sp>
      <p:sp>
        <p:nvSpPr>
          <p:cNvPr id="42" name="">
            <a:extLst xmlns:a="http://schemas.openxmlformats.org/drawingml/2006/main">
              <a:ext uri="{FF2B5EF4-FFF2-40B4-BE49-F238E27FC236}">
                <a16:creationId xmlns:a16="http://schemas.microsoft.com/office/drawing/2014/main" id="{F57A4134-8F75-4DA4-9A23-B49901750F8C}"/>
              </a:ext>
            </a:extLst>
          </p:cNvPr>
          <p:cNvSpPr>
            <a:spLocks xmlns:a="http://schemas.openxmlformats.org/drawingml/2006/main" noGrp="1"/>
          </p:cNvSpPr>
          <p:nvPr/>
        </p:nvSpPr>
        <p:spPr>
          <a:xfrm xmlns:a="http://schemas.openxmlformats.org/drawingml/2006/main">
            <a:off x="4447794" y="3914775"/>
            <a:ext cx="133350" cy="133350"/>
          </a:xfrm>
          <a:prstGeom xmlns:a="http://schemas.openxmlformats.org/drawingml/2006/main" prst="ellipse">
            <a:avLst/>
          </a:prstGeom>
          <a:solidFill xmlns:a="http://schemas.openxmlformats.org/drawingml/2006/main">
            <a:srgbClr val="087A76"/>
          </a:solidFill>
          <a:ln xmlns:a="http://schemas.openxmlformats.org/drawingml/2006/main" w="9525">
            <a:solidFill>
              <a:srgbClr val="087A76"/>
            </a:solidFill>
            <a:prstDash val="solid"/>
          </a:ln>
        </p:spPr>
      </p:sp>
      <p:sp>
        <p:nvSpPr>
          <p:cNvPr id="43" name="">
            <a:extLst xmlns:a="http://schemas.openxmlformats.org/drawingml/2006/main">
              <a:ext uri="{FF2B5EF4-FFF2-40B4-BE49-F238E27FC236}">
                <a16:creationId xmlns:a16="http://schemas.microsoft.com/office/drawing/2014/main" id="{1FF1AF20-58B5-4C39-A741-3375E4D39C09}"/>
              </a:ext>
            </a:extLst>
          </p:cNvPr>
          <p:cNvSpPr>
            <a:spLocks xmlns:a="http://schemas.openxmlformats.org/drawingml/2006/main" noGrp="1"/>
          </p:cNvSpPr>
          <p:nvPr/>
        </p:nvSpPr>
        <p:spPr>
          <a:xfrm xmlns:a="http://schemas.openxmlformats.org/drawingml/2006/main">
            <a:off x="3979354" y="348615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24547A"/>
                </a:solidFill>
              </a:defRPr>
            </a:pPr>
            <a:r>
              <a:rPr sz="900" b="1" i="0">
                <a:solidFill>
                  <a:srgbClr val="24547A"/>
                </a:solidFill>
              </a:rPr>
              <a:t>31.9%</a:t>
            </a:r>
          </a:p>
        </p:txBody>
      </p:sp>
      <p:sp>
        <p:nvSpPr>
          <p:cNvPr id="44" name="">
            <a:extLst xmlns:a="http://schemas.openxmlformats.org/drawingml/2006/main">
              <a:ext uri="{FF2B5EF4-FFF2-40B4-BE49-F238E27FC236}">
                <a16:creationId xmlns:a16="http://schemas.microsoft.com/office/drawing/2014/main" id="{B6F0E463-66BE-4D12-AB90-A86F071239A6}"/>
              </a:ext>
            </a:extLst>
          </p:cNvPr>
          <p:cNvSpPr>
            <a:spLocks xmlns:a="http://schemas.openxmlformats.org/drawingml/2006/main" noGrp="1"/>
          </p:cNvSpPr>
          <p:nvPr/>
        </p:nvSpPr>
        <p:spPr>
          <a:xfrm xmlns:a="http://schemas.openxmlformats.org/drawingml/2006/main">
            <a:off x="4209669" y="428625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087A76"/>
                </a:solidFill>
              </a:defRPr>
            </a:pPr>
            <a:r>
              <a:rPr sz="900" b="1" i="0">
                <a:solidFill>
                  <a:srgbClr val="087A76"/>
                </a:solidFill>
              </a:rPr>
              <a:t>35.8%</a:t>
            </a:r>
          </a:p>
        </p:txBody>
      </p:sp>
      <p:sp>
        <p:nvSpPr>
          <p:cNvPr id="45" name="">
            <a:extLst xmlns:a="http://schemas.openxmlformats.org/drawingml/2006/main">
              <a:ext uri="{FF2B5EF4-FFF2-40B4-BE49-F238E27FC236}">
                <a16:creationId xmlns:a16="http://schemas.microsoft.com/office/drawing/2014/main" id="{6A1CC319-DC48-4698-ABB5-4537CBDBAD3C}"/>
              </a:ext>
            </a:extLst>
          </p:cNvPr>
          <p:cNvSpPr>
            <a:spLocks xmlns:a="http://schemas.openxmlformats.org/drawingml/2006/main" noGrp="1"/>
          </p:cNvSpPr>
          <p:nvPr/>
        </p:nvSpPr>
        <p:spPr>
          <a:xfrm xmlns:a="http://schemas.openxmlformats.org/drawingml/2006/main">
            <a:off x="8401050" y="37909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i="0">
                <a:solidFill>
                  <a:srgbClr val="087A76"/>
                </a:solidFill>
              </a:defRPr>
            </a:pPr>
            <a:r>
              <a:rPr sz="1125" b="1" i="0">
                <a:solidFill>
                  <a:srgbClr val="087A76"/>
                </a:solidFill>
              </a:rPr>
              <a:t>+3.9 pp</a:t>
            </a:r>
          </a:p>
        </p:txBody>
      </p:sp>
      <p:sp>
        <p:nvSpPr>
          <p:cNvPr id="46" name="">
            <a:extLst xmlns:a="http://schemas.openxmlformats.org/drawingml/2006/main">
              <a:ext uri="{FF2B5EF4-FFF2-40B4-BE49-F238E27FC236}">
                <a16:creationId xmlns:a16="http://schemas.microsoft.com/office/drawing/2014/main" id="{AD331639-B690-4823-AD62-B0DA0F5294F1}"/>
              </a:ext>
            </a:extLst>
          </p:cNvPr>
          <p:cNvSpPr>
            <a:spLocks xmlns:a="http://schemas.openxmlformats.org/drawingml/2006/main" noGrp="1"/>
          </p:cNvSpPr>
          <p:nvPr/>
        </p:nvSpPr>
        <p:spPr>
          <a:xfrm xmlns:a="http://schemas.openxmlformats.org/drawingml/2006/main">
            <a:off x="2400300" y="457200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5F6E7B"/>
                </a:solidFill>
              </a:defRPr>
            </a:pPr>
            <a:r>
              <a:rPr sz="825" b="0" i="0">
                <a:solidFill>
                  <a:srgbClr val="5F6E7B"/>
                </a:solidFill>
              </a:rPr>
              <a:t>current POC  •  + examples</a:t>
            </a:r>
          </a:p>
        </p:txBody>
      </p:sp>
      <p:sp>
        <p:nvSpPr>
          <p:cNvPr id="47" name="">
            <a:extLst xmlns:a="http://schemas.openxmlformats.org/drawingml/2006/main">
              <a:ext uri="{FF2B5EF4-FFF2-40B4-BE49-F238E27FC236}">
                <a16:creationId xmlns:a16="http://schemas.microsoft.com/office/drawing/2014/main" id="{C7A20B44-50D2-4247-B4D1-8F20BD3651A0}"/>
              </a:ext>
            </a:extLst>
          </p:cNvPr>
          <p:cNvSpPr>
            <a:spLocks xmlns:a="http://schemas.openxmlformats.org/drawingml/2006/main" noGrp="1"/>
          </p:cNvSpPr>
          <p:nvPr/>
        </p:nvSpPr>
        <p:spPr>
          <a:xfrm xmlns:a="http://schemas.openxmlformats.org/drawingml/2006/main">
            <a:off x="685800" y="5143500"/>
            <a:ext cx="10172700" cy="571500"/>
          </a:xfrm>
          <a:prstGeom xmlns:a="http://schemas.openxmlformats.org/drawingml/2006/main" prst="rect">
            <a:avLst/>
          </a:prstGeom>
          <a:solidFill xmlns:a="http://schemas.openxmlformats.org/drawingml/2006/main">
            <a:srgbClr val="F8EBDD"/>
          </a:solidFill>
          <a:ln xmlns:a="http://schemas.openxmlformats.org/drawingml/2006/main" w="5715">
            <a:solidFill>
              <a:srgbClr val="F8EBDD"/>
            </a:solidFill>
            <a:prstDash val="solid"/>
          </a:ln>
        </p:spPr>
      </p:sp>
      <p:sp>
        <p:nvSpPr>
          <p:cNvPr id="48" name="">
            <a:extLst xmlns:a="http://schemas.openxmlformats.org/drawingml/2006/main">
              <a:ext uri="{FF2B5EF4-FFF2-40B4-BE49-F238E27FC236}">
                <a16:creationId xmlns:a16="http://schemas.microsoft.com/office/drawing/2014/main" id="{3B3862F1-35E8-40C9-8632-69F988C082A6}"/>
              </a:ext>
            </a:extLst>
          </p:cNvPr>
          <p:cNvSpPr>
            <a:spLocks xmlns:a="http://schemas.openxmlformats.org/drawingml/2006/main" noGrp="1"/>
          </p:cNvSpPr>
          <p:nvPr/>
        </p:nvSpPr>
        <p:spPr>
          <a:xfrm xmlns:a="http://schemas.openxmlformats.org/drawingml/2006/main">
            <a:off x="685800" y="5143500"/>
            <a:ext cx="76200" cy="5715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49" name="">
            <a:extLst xmlns:a="http://schemas.openxmlformats.org/drawingml/2006/main">
              <a:ext uri="{FF2B5EF4-FFF2-40B4-BE49-F238E27FC236}">
                <a16:creationId xmlns:a16="http://schemas.microsoft.com/office/drawing/2014/main" id="{3380E404-A33F-4969-A7FD-CA3385D9924F}"/>
              </a:ext>
            </a:extLst>
          </p:cNvPr>
          <p:cNvSpPr>
            <a:spLocks xmlns:a="http://schemas.openxmlformats.org/drawingml/2006/main" noGrp="1"/>
          </p:cNvSpPr>
          <p:nvPr/>
        </p:nvSpPr>
        <p:spPr>
          <a:xfrm xmlns:a="http://schemas.openxmlformats.org/drawingml/2006/main">
            <a:off x="952500" y="5276850"/>
            <a:ext cx="9696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238"/>
                </a:solidFill>
              </a:defRPr>
            </a:pPr>
            <a:r>
              <a:rPr sz="1275" b="1" i="0">
                <a:solidFill>
                  <a:srgbClr val="132238"/>
                </a:solidFill>
              </a:rPr>
              <a:t>Examples materially influence the result. Retain them only if stakeholders want historical examples to continue shaping live scoring.</a:t>
            </a:r>
          </a:p>
        </p:txBody>
      </p:sp>
    </p:spTree>
    <p:extLst>
      <p:ext uri="{BB962C8B-B14F-4D97-AF65-F5344CB8AC3E}">
        <p14:creationId xmlns:p14="http://schemas.microsoft.com/office/powerpoint/2010/main" val="15329331"/>
      </p:ext>
    </p:extLst>
  </p:cSld>
</p:sld>
</file>

<file path=ppt/slides/slide1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85D5959B-DF8C-4C7A-9681-5141112B313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B5191628-7B1A-4472-AFAE-7B0103181D08}"/>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LLM-VERSION EFFECT</a:t>
            </a:r>
          </a:p>
        </p:txBody>
      </p:sp>
      <p:sp>
        <p:nvSpPr>
          <p:cNvPr id="3" name="">
            <a:extLst xmlns:a="http://schemas.openxmlformats.org/drawingml/2006/main">
              <a:ext uri="{FF2B5EF4-FFF2-40B4-BE49-F238E27FC236}">
                <a16:creationId xmlns:a16="http://schemas.microsoft.com/office/drawing/2014/main" id="{B8E49CCE-6704-4D4F-BD49-A07FE8CDB211}"/>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Changing from GPT-4o to GPT-5.2 changes E0 by 9.2 to 38.4 points</a:t>
            </a:r>
          </a:p>
        </p:txBody>
      </p:sp>
      <p:sp>
        <p:nvSpPr>
          <p:cNvPr id="4" name="">
            <a:extLst xmlns:a="http://schemas.openxmlformats.org/drawingml/2006/main">
              <a:ext uri="{FF2B5EF4-FFF2-40B4-BE49-F238E27FC236}">
                <a16:creationId xmlns:a16="http://schemas.microsoft.com/office/drawing/2014/main" id="{6AFE1359-B617-4F53-94DD-726FA05DD297}"/>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Held constant: the same original tasks and the same scoring guidance. The LLM-version effect varies with the guidance it receives.</a:t>
            </a:r>
          </a:p>
        </p:txBody>
      </p:sp>
      <p:sp>
        <p:nvSpPr>
          <p:cNvPr id="5" name="">
            <a:extLst xmlns:a="http://schemas.openxmlformats.org/drawingml/2006/main">
              <a:ext uri="{FF2B5EF4-FFF2-40B4-BE49-F238E27FC236}">
                <a16:creationId xmlns:a16="http://schemas.microsoft.com/office/drawing/2014/main" id="{AD352811-065D-4195-AEBA-998841E0E350}"/>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67EEB198-25D3-46BC-BF9A-DDECA877A8BE}"/>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2FE2B206-FDB8-4DEA-BCA2-CE134CDFD1CA}"/>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12</a:t>
            </a:r>
          </a:p>
        </p:txBody>
      </p:sp>
      <p:sp>
        <p:nvSpPr>
          <p:cNvPr id="8" name="">
            <a:extLst xmlns:a="http://schemas.openxmlformats.org/drawingml/2006/main">
              <a:ext uri="{FF2B5EF4-FFF2-40B4-BE49-F238E27FC236}">
                <a16:creationId xmlns:a16="http://schemas.microsoft.com/office/drawing/2014/main" id="{B4560241-89C9-4853-8E17-0C9822FE4964}"/>
              </a:ext>
            </a:extLst>
          </p:cNvPr>
          <p:cNvSpPr>
            <a:spLocks xmlns:a="http://schemas.openxmlformats.org/drawingml/2006/main" noGrp="1"/>
          </p:cNvSpPr>
          <p:nvPr/>
        </p:nvSpPr>
        <p:spPr>
          <a:xfrm xmlns:a="http://schemas.openxmlformats.org/drawingml/2006/main">
            <a:off x="685800" y="2400300"/>
            <a:ext cx="157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32238"/>
                </a:solidFill>
              </a:defRPr>
            </a:pPr>
            <a:r>
              <a:rPr sz="1050" b="1" i="0">
                <a:solidFill>
                  <a:srgbClr val="132238"/>
                </a:solidFill>
              </a:rPr>
              <a:t>Historical dashboard guidance</a:t>
            </a:r>
          </a:p>
        </p:txBody>
      </p:sp>
      <p:sp>
        <p:nvSpPr>
          <p:cNvPr id="9" name="">
            <a:extLst xmlns:a="http://schemas.openxmlformats.org/drawingml/2006/main">
              <a:ext uri="{FF2B5EF4-FFF2-40B4-BE49-F238E27FC236}">
                <a16:creationId xmlns:a16="http://schemas.microsoft.com/office/drawing/2014/main" id="{930A875F-82F5-4BF4-8EAA-2BF44CCBB54F}"/>
              </a:ext>
            </a:extLst>
          </p:cNvPr>
          <p:cNvSpPr>
            <a:spLocks xmlns:a="http://schemas.openxmlformats.org/drawingml/2006/main" noGrp="1"/>
          </p:cNvSpPr>
          <p:nvPr/>
        </p:nvSpPr>
        <p:spPr>
          <a:xfrm xmlns:a="http://schemas.openxmlformats.org/drawingml/2006/main">
            <a:off x="2400300" y="2628900"/>
            <a:ext cx="5905500" cy="0"/>
          </a:xfrm>
          <a:prstGeom xmlns:a="http://schemas.openxmlformats.org/drawingml/2006/main" prst="line">
            <a:avLst/>
          </a:prstGeom>
          <a:noFill xmlns:a="http://schemas.openxmlformats.org/drawingml/2006/main"/>
          <a:ln xmlns:a="http://schemas.openxmlformats.org/drawingml/2006/main" w="19050">
            <a:solidFill>
              <a:srgbClr val="D5DCDD"/>
            </a:solidFill>
            <a:prstDash val="solid"/>
          </a:ln>
        </p:spPr>
      </p:sp>
      <p:sp>
        <p:nvSpPr>
          <p:cNvPr id="10" name="">
            <a:extLst xmlns:a="http://schemas.openxmlformats.org/drawingml/2006/main">
              <a:ext uri="{FF2B5EF4-FFF2-40B4-BE49-F238E27FC236}">
                <a16:creationId xmlns:a16="http://schemas.microsoft.com/office/drawing/2014/main" id="{90E8A020-E572-466F-990D-1137BFA5940B}"/>
              </a:ext>
            </a:extLst>
          </p:cNvPr>
          <p:cNvSpPr>
            <a:spLocks xmlns:a="http://schemas.openxmlformats.org/drawingml/2006/main" noGrp="1"/>
          </p:cNvSpPr>
          <p:nvPr/>
        </p:nvSpPr>
        <p:spPr>
          <a:xfrm xmlns:a="http://schemas.openxmlformats.org/drawingml/2006/main">
            <a:off x="2400300" y="257175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1" name="">
            <a:extLst xmlns:a="http://schemas.openxmlformats.org/drawingml/2006/main">
              <a:ext uri="{FF2B5EF4-FFF2-40B4-BE49-F238E27FC236}">
                <a16:creationId xmlns:a16="http://schemas.microsoft.com/office/drawing/2014/main" id="{E147EE98-76CB-4167-8F62-68A782B41D02}"/>
              </a:ext>
            </a:extLst>
          </p:cNvPr>
          <p:cNvSpPr>
            <a:spLocks xmlns:a="http://schemas.openxmlformats.org/drawingml/2006/main" noGrp="1"/>
          </p:cNvSpPr>
          <p:nvPr/>
        </p:nvSpPr>
        <p:spPr>
          <a:xfrm xmlns:a="http://schemas.openxmlformats.org/drawingml/2006/main">
            <a:off x="2228850" y="273367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0</a:t>
            </a:r>
          </a:p>
        </p:txBody>
      </p:sp>
      <p:sp>
        <p:nvSpPr>
          <p:cNvPr id="12" name="">
            <a:extLst xmlns:a="http://schemas.openxmlformats.org/drawingml/2006/main">
              <a:ext uri="{FF2B5EF4-FFF2-40B4-BE49-F238E27FC236}">
                <a16:creationId xmlns:a16="http://schemas.microsoft.com/office/drawing/2014/main" id="{BD7548BF-CB2D-40BD-9A37-9F2A78E158F9}"/>
              </a:ext>
            </a:extLst>
          </p:cNvPr>
          <p:cNvSpPr>
            <a:spLocks xmlns:a="http://schemas.openxmlformats.org/drawingml/2006/main" noGrp="1"/>
          </p:cNvSpPr>
          <p:nvPr/>
        </p:nvSpPr>
        <p:spPr>
          <a:xfrm xmlns:a="http://schemas.openxmlformats.org/drawingml/2006/main">
            <a:off x="3876675" y="257175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3" name="">
            <a:extLst xmlns:a="http://schemas.openxmlformats.org/drawingml/2006/main">
              <a:ext uri="{FF2B5EF4-FFF2-40B4-BE49-F238E27FC236}">
                <a16:creationId xmlns:a16="http://schemas.microsoft.com/office/drawing/2014/main" id="{2BBB85A5-0087-4C43-951B-73935CD8B2C3}"/>
              </a:ext>
            </a:extLst>
          </p:cNvPr>
          <p:cNvSpPr>
            <a:spLocks xmlns:a="http://schemas.openxmlformats.org/drawingml/2006/main" noGrp="1"/>
          </p:cNvSpPr>
          <p:nvPr/>
        </p:nvSpPr>
        <p:spPr>
          <a:xfrm xmlns:a="http://schemas.openxmlformats.org/drawingml/2006/main">
            <a:off x="3705225" y="273367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25</a:t>
            </a:r>
          </a:p>
        </p:txBody>
      </p:sp>
      <p:sp>
        <p:nvSpPr>
          <p:cNvPr id="14" name="">
            <a:extLst xmlns:a="http://schemas.openxmlformats.org/drawingml/2006/main">
              <a:ext uri="{FF2B5EF4-FFF2-40B4-BE49-F238E27FC236}">
                <a16:creationId xmlns:a16="http://schemas.microsoft.com/office/drawing/2014/main" id="{08898630-982B-4EC5-96E7-0E95777C69F0}"/>
              </a:ext>
            </a:extLst>
          </p:cNvPr>
          <p:cNvSpPr>
            <a:spLocks xmlns:a="http://schemas.openxmlformats.org/drawingml/2006/main" noGrp="1"/>
          </p:cNvSpPr>
          <p:nvPr/>
        </p:nvSpPr>
        <p:spPr>
          <a:xfrm xmlns:a="http://schemas.openxmlformats.org/drawingml/2006/main">
            <a:off x="5353050" y="257175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5" name="">
            <a:extLst xmlns:a="http://schemas.openxmlformats.org/drawingml/2006/main">
              <a:ext uri="{FF2B5EF4-FFF2-40B4-BE49-F238E27FC236}">
                <a16:creationId xmlns:a16="http://schemas.microsoft.com/office/drawing/2014/main" id="{E9D4FAA1-6047-433A-A970-5FF5F39B14F3}"/>
              </a:ext>
            </a:extLst>
          </p:cNvPr>
          <p:cNvSpPr>
            <a:spLocks xmlns:a="http://schemas.openxmlformats.org/drawingml/2006/main" noGrp="1"/>
          </p:cNvSpPr>
          <p:nvPr/>
        </p:nvSpPr>
        <p:spPr>
          <a:xfrm xmlns:a="http://schemas.openxmlformats.org/drawingml/2006/main">
            <a:off x="5181600" y="273367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50</a:t>
            </a:r>
          </a:p>
        </p:txBody>
      </p:sp>
      <p:sp>
        <p:nvSpPr>
          <p:cNvPr id="16" name="">
            <a:extLst xmlns:a="http://schemas.openxmlformats.org/drawingml/2006/main">
              <a:ext uri="{FF2B5EF4-FFF2-40B4-BE49-F238E27FC236}">
                <a16:creationId xmlns:a16="http://schemas.microsoft.com/office/drawing/2014/main" id="{61F2CDC0-E8F0-4C31-BB9C-F45E48ED88A2}"/>
              </a:ext>
            </a:extLst>
          </p:cNvPr>
          <p:cNvSpPr>
            <a:spLocks xmlns:a="http://schemas.openxmlformats.org/drawingml/2006/main" noGrp="1"/>
          </p:cNvSpPr>
          <p:nvPr/>
        </p:nvSpPr>
        <p:spPr>
          <a:xfrm xmlns:a="http://schemas.openxmlformats.org/drawingml/2006/main">
            <a:off x="6829425" y="257175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7" name="">
            <a:extLst xmlns:a="http://schemas.openxmlformats.org/drawingml/2006/main">
              <a:ext uri="{FF2B5EF4-FFF2-40B4-BE49-F238E27FC236}">
                <a16:creationId xmlns:a16="http://schemas.microsoft.com/office/drawing/2014/main" id="{7B587002-7BD3-4770-AA3A-EA023EC957BA}"/>
              </a:ext>
            </a:extLst>
          </p:cNvPr>
          <p:cNvSpPr>
            <a:spLocks xmlns:a="http://schemas.openxmlformats.org/drawingml/2006/main" noGrp="1"/>
          </p:cNvSpPr>
          <p:nvPr/>
        </p:nvSpPr>
        <p:spPr>
          <a:xfrm xmlns:a="http://schemas.openxmlformats.org/drawingml/2006/main">
            <a:off x="6657975" y="273367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75</a:t>
            </a:r>
          </a:p>
        </p:txBody>
      </p:sp>
      <p:sp>
        <p:nvSpPr>
          <p:cNvPr id="18" name="">
            <a:extLst xmlns:a="http://schemas.openxmlformats.org/drawingml/2006/main">
              <a:ext uri="{FF2B5EF4-FFF2-40B4-BE49-F238E27FC236}">
                <a16:creationId xmlns:a16="http://schemas.microsoft.com/office/drawing/2014/main" id="{8F8DB8BD-68FE-40C3-8B5D-E28F3F01933C}"/>
              </a:ext>
            </a:extLst>
          </p:cNvPr>
          <p:cNvSpPr>
            <a:spLocks xmlns:a="http://schemas.openxmlformats.org/drawingml/2006/main" noGrp="1"/>
          </p:cNvSpPr>
          <p:nvPr/>
        </p:nvSpPr>
        <p:spPr>
          <a:xfrm xmlns:a="http://schemas.openxmlformats.org/drawingml/2006/main">
            <a:off x="8305800" y="257175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9" name="">
            <a:extLst xmlns:a="http://schemas.openxmlformats.org/drawingml/2006/main">
              <a:ext uri="{FF2B5EF4-FFF2-40B4-BE49-F238E27FC236}">
                <a16:creationId xmlns:a16="http://schemas.microsoft.com/office/drawing/2014/main" id="{DBB0252A-5D92-4DAB-A50C-AACA9D73A086}"/>
              </a:ext>
            </a:extLst>
          </p:cNvPr>
          <p:cNvSpPr>
            <a:spLocks xmlns:a="http://schemas.openxmlformats.org/drawingml/2006/main" noGrp="1"/>
          </p:cNvSpPr>
          <p:nvPr/>
        </p:nvSpPr>
        <p:spPr>
          <a:xfrm xmlns:a="http://schemas.openxmlformats.org/drawingml/2006/main">
            <a:off x="8134350" y="273367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100</a:t>
            </a:r>
          </a:p>
        </p:txBody>
      </p:sp>
      <p:sp>
        <p:nvSpPr>
          <p:cNvPr id="20" name="">
            <a:extLst xmlns:a="http://schemas.openxmlformats.org/drawingml/2006/main">
              <a:ext uri="{FF2B5EF4-FFF2-40B4-BE49-F238E27FC236}">
                <a16:creationId xmlns:a16="http://schemas.microsoft.com/office/drawing/2014/main" id="{2108B161-579D-4150-9FDF-5C2C90B8DA7F}"/>
              </a:ext>
            </a:extLst>
          </p:cNvPr>
          <p:cNvSpPr>
            <a:spLocks xmlns:a="http://schemas.openxmlformats.org/drawingml/2006/main" noGrp="1"/>
          </p:cNvSpPr>
          <p:nvPr/>
        </p:nvSpPr>
        <p:spPr>
          <a:xfrm xmlns:a="http://schemas.openxmlformats.org/drawingml/2006/main">
            <a:off x="4673918" y="2628900"/>
            <a:ext cx="2273618" cy="0"/>
          </a:xfrm>
          <a:prstGeom xmlns:a="http://schemas.openxmlformats.org/drawingml/2006/main" prst="line">
            <a:avLst/>
          </a:prstGeom>
          <a:noFill xmlns:a="http://schemas.openxmlformats.org/drawingml/2006/main"/>
          <a:ln xmlns:a="http://schemas.openxmlformats.org/drawingml/2006/main" w="38100">
            <a:solidFill>
              <a:srgbClr val="C75850"/>
            </a:solidFill>
            <a:prstDash val="solid"/>
          </a:ln>
        </p:spPr>
      </p:sp>
      <p:sp>
        <p:nvSpPr>
          <p:cNvPr id="21" name="">
            <a:extLst xmlns:a="http://schemas.openxmlformats.org/drawingml/2006/main">
              <a:ext uri="{FF2B5EF4-FFF2-40B4-BE49-F238E27FC236}">
                <a16:creationId xmlns:a16="http://schemas.microsoft.com/office/drawing/2014/main" id="{A651E81C-27BA-448C-969A-EC6B2CD17E64}"/>
              </a:ext>
            </a:extLst>
          </p:cNvPr>
          <p:cNvSpPr>
            <a:spLocks xmlns:a="http://schemas.openxmlformats.org/drawingml/2006/main" noGrp="1"/>
          </p:cNvSpPr>
          <p:nvPr/>
        </p:nvSpPr>
        <p:spPr>
          <a:xfrm xmlns:a="http://schemas.openxmlformats.org/drawingml/2006/main">
            <a:off x="6880860" y="2562225"/>
            <a:ext cx="133350" cy="133350"/>
          </a:xfrm>
          <a:prstGeom xmlns:a="http://schemas.openxmlformats.org/drawingml/2006/main" prst="ellipse">
            <a:avLst/>
          </a:prstGeom>
          <a:solidFill xmlns:a="http://schemas.openxmlformats.org/drawingml/2006/main">
            <a:srgbClr val="24547A"/>
          </a:solidFill>
          <a:ln xmlns:a="http://schemas.openxmlformats.org/drawingml/2006/main" w="9525">
            <a:solidFill>
              <a:srgbClr val="24547A"/>
            </a:solidFill>
            <a:prstDash val="solid"/>
          </a:ln>
        </p:spPr>
      </p:sp>
      <p:sp>
        <p:nvSpPr>
          <p:cNvPr id="22" name="">
            <a:extLst xmlns:a="http://schemas.openxmlformats.org/drawingml/2006/main">
              <a:ext uri="{FF2B5EF4-FFF2-40B4-BE49-F238E27FC236}">
                <a16:creationId xmlns:a16="http://schemas.microsoft.com/office/drawing/2014/main" id="{84263A22-D8D3-4033-AEDF-AB97041F4799}"/>
              </a:ext>
            </a:extLst>
          </p:cNvPr>
          <p:cNvSpPr>
            <a:spLocks xmlns:a="http://schemas.openxmlformats.org/drawingml/2006/main" noGrp="1"/>
          </p:cNvSpPr>
          <p:nvPr/>
        </p:nvSpPr>
        <p:spPr>
          <a:xfrm xmlns:a="http://schemas.openxmlformats.org/drawingml/2006/main">
            <a:off x="4607243" y="2562225"/>
            <a:ext cx="133350" cy="133350"/>
          </a:xfrm>
          <a:prstGeom xmlns:a="http://schemas.openxmlformats.org/drawingml/2006/main" prst="ellipse">
            <a:avLst/>
          </a:prstGeom>
          <a:solidFill xmlns:a="http://schemas.openxmlformats.org/drawingml/2006/main">
            <a:srgbClr val="C75850"/>
          </a:solidFill>
          <a:ln xmlns:a="http://schemas.openxmlformats.org/drawingml/2006/main" w="9525">
            <a:solidFill>
              <a:srgbClr val="C75850"/>
            </a:solidFill>
            <a:prstDash val="solid"/>
          </a:ln>
        </p:spPr>
      </p:sp>
      <p:sp>
        <p:nvSpPr>
          <p:cNvPr id="23" name="">
            <a:extLst xmlns:a="http://schemas.openxmlformats.org/drawingml/2006/main">
              <a:ext uri="{FF2B5EF4-FFF2-40B4-BE49-F238E27FC236}">
                <a16:creationId xmlns:a16="http://schemas.microsoft.com/office/drawing/2014/main" id="{D0B9C499-50D0-4510-9A89-B444537ED366}"/>
              </a:ext>
            </a:extLst>
          </p:cNvPr>
          <p:cNvSpPr>
            <a:spLocks xmlns:a="http://schemas.openxmlformats.org/drawingml/2006/main" noGrp="1"/>
          </p:cNvSpPr>
          <p:nvPr/>
        </p:nvSpPr>
        <p:spPr>
          <a:xfrm xmlns:a="http://schemas.openxmlformats.org/drawingml/2006/main">
            <a:off x="6642735" y="213360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24547A"/>
                </a:solidFill>
              </a:defRPr>
            </a:pPr>
            <a:r>
              <a:rPr sz="900" b="1" i="0">
                <a:solidFill>
                  <a:srgbClr val="24547A"/>
                </a:solidFill>
              </a:rPr>
              <a:t>77.0%</a:t>
            </a:r>
          </a:p>
        </p:txBody>
      </p:sp>
      <p:sp>
        <p:nvSpPr>
          <p:cNvPr id="24" name="">
            <a:extLst xmlns:a="http://schemas.openxmlformats.org/drawingml/2006/main">
              <a:ext uri="{FF2B5EF4-FFF2-40B4-BE49-F238E27FC236}">
                <a16:creationId xmlns:a16="http://schemas.microsoft.com/office/drawing/2014/main" id="{F80361D6-416A-4EB1-BB8B-1B97F5220176}"/>
              </a:ext>
            </a:extLst>
          </p:cNvPr>
          <p:cNvSpPr>
            <a:spLocks xmlns:a="http://schemas.openxmlformats.org/drawingml/2006/main" noGrp="1"/>
          </p:cNvSpPr>
          <p:nvPr/>
        </p:nvSpPr>
        <p:spPr>
          <a:xfrm xmlns:a="http://schemas.openxmlformats.org/drawingml/2006/main">
            <a:off x="4369118" y="293370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C75850"/>
                </a:solidFill>
              </a:defRPr>
            </a:pPr>
            <a:r>
              <a:rPr sz="900" b="1" i="0">
                <a:solidFill>
                  <a:srgbClr val="C75850"/>
                </a:solidFill>
              </a:rPr>
              <a:t>38.5%</a:t>
            </a:r>
          </a:p>
        </p:txBody>
      </p:sp>
      <p:sp>
        <p:nvSpPr>
          <p:cNvPr id="25" name="">
            <a:extLst xmlns:a="http://schemas.openxmlformats.org/drawingml/2006/main">
              <a:ext uri="{FF2B5EF4-FFF2-40B4-BE49-F238E27FC236}">
                <a16:creationId xmlns:a16="http://schemas.microsoft.com/office/drawing/2014/main" id="{F87ED290-DC55-493B-9E29-526216B4F326}"/>
              </a:ext>
            </a:extLst>
          </p:cNvPr>
          <p:cNvSpPr>
            <a:spLocks xmlns:a="http://schemas.openxmlformats.org/drawingml/2006/main" noGrp="1"/>
          </p:cNvSpPr>
          <p:nvPr/>
        </p:nvSpPr>
        <p:spPr>
          <a:xfrm xmlns:a="http://schemas.openxmlformats.org/drawingml/2006/main">
            <a:off x="8401050" y="243840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i="0">
                <a:solidFill>
                  <a:srgbClr val="C75850"/>
                </a:solidFill>
              </a:defRPr>
            </a:pPr>
            <a:r>
              <a:rPr sz="1125" b="1" i="0">
                <a:solidFill>
                  <a:srgbClr val="C75850"/>
                </a:solidFill>
              </a:rPr>
              <a:t>−38.4 pp</a:t>
            </a:r>
          </a:p>
        </p:txBody>
      </p:sp>
      <p:sp>
        <p:nvSpPr>
          <p:cNvPr id="26" name="">
            <a:extLst xmlns:a="http://schemas.openxmlformats.org/drawingml/2006/main">
              <a:ext uri="{FF2B5EF4-FFF2-40B4-BE49-F238E27FC236}">
                <a16:creationId xmlns:a16="http://schemas.microsoft.com/office/drawing/2014/main" id="{0EA87CCC-F7B4-41AB-8DEA-D58C17D15A6B}"/>
              </a:ext>
            </a:extLst>
          </p:cNvPr>
          <p:cNvSpPr>
            <a:spLocks xmlns:a="http://schemas.openxmlformats.org/drawingml/2006/main" noGrp="1"/>
          </p:cNvSpPr>
          <p:nvPr/>
        </p:nvSpPr>
        <p:spPr>
          <a:xfrm xmlns:a="http://schemas.openxmlformats.org/drawingml/2006/main">
            <a:off x="2400300" y="321945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5F6E7B"/>
                </a:solidFill>
              </a:defRPr>
            </a:pPr>
            <a:r>
              <a:rPr sz="825" b="0" i="0">
                <a:solidFill>
                  <a:srgbClr val="5F6E7B"/>
                </a:solidFill>
              </a:rPr>
              <a:t>GPT-4o  •  GPT-5.2</a:t>
            </a:r>
          </a:p>
        </p:txBody>
      </p:sp>
      <p:sp>
        <p:nvSpPr>
          <p:cNvPr id="27" name="">
            <a:extLst xmlns:a="http://schemas.openxmlformats.org/drawingml/2006/main">
              <a:ext uri="{FF2B5EF4-FFF2-40B4-BE49-F238E27FC236}">
                <a16:creationId xmlns:a16="http://schemas.microsoft.com/office/drawing/2014/main" id="{166082B5-13A2-4539-A173-69A473F6B531}"/>
              </a:ext>
            </a:extLst>
          </p:cNvPr>
          <p:cNvSpPr>
            <a:spLocks xmlns:a="http://schemas.openxmlformats.org/drawingml/2006/main" noGrp="1"/>
          </p:cNvSpPr>
          <p:nvPr/>
        </p:nvSpPr>
        <p:spPr>
          <a:xfrm xmlns:a="http://schemas.openxmlformats.org/drawingml/2006/main">
            <a:off x="685800" y="3562350"/>
            <a:ext cx="157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32238"/>
                </a:solidFill>
              </a:defRPr>
            </a:pPr>
            <a:r>
              <a:rPr sz="1050" b="1" i="0">
                <a:solidFill>
                  <a:srgbClr val="132238"/>
                </a:solidFill>
              </a:rPr>
              <a:t>Current POC guidance</a:t>
            </a:r>
          </a:p>
        </p:txBody>
      </p:sp>
      <p:sp>
        <p:nvSpPr>
          <p:cNvPr id="28" name="">
            <a:extLst xmlns:a="http://schemas.openxmlformats.org/drawingml/2006/main">
              <a:ext uri="{FF2B5EF4-FFF2-40B4-BE49-F238E27FC236}">
                <a16:creationId xmlns:a16="http://schemas.microsoft.com/office/drawing/2014/main" id="{E5CCDF20-073C-434B-896D-9BDD9A1CE615}"/>
              </a:ext>
            </a:extLst>
          </p:cNvPr>
          <p:cNvSpPr>
            <a:spLocks xmlns:a="http://schemas.openxmlformats.org/drawingml/2006/main" noGrp="1"/>
          </p:cNvSpPr>
          <p:nvPr/>
        </p:nvSpPr>
        <p:spPr>
          <a:xfrm xmlns:a="http://schemas.openxmlformats.org/drawingml/2006/main">
            <a:off x="2400300" y="3790950"/>
            <a:ext cx="5905500" cy="0"/>
          </a:xfrm>
          <a:prstGeom xmlns:a="http://schemas.openxmlformats.org/drawingml/2006/main" prst="line">
            <a:avLst/>
          </a:prstGeom>
          <a:noFill xmlns:a="http://schemas.openxmlformats.org/drawingml/2006/main"/>
          <a:ln xmlns:a="http://schemas.openxmlformats.org/drawingml/2006/main" w="19050">
            <a:solidFill>
              <a:srgbClr val="D5DCDD"/>
            </a:solidFill>
            <a:prstDash val="solid"/>
          </a:ln>
        </p:spPr>
      </p:sp>
      <p:sp>
        <p:nvSpPr>
          <p:cNvPr id="29" name="">
            <a:extLst xmlns:a="http://schemas.openxmlformats.org/drawingml/2006/main">
              <a:ext uri="{FF2B5EF4-FFF2-40B4-BE49-F238E27FC236}">
                <a16:creationId xmlns:a16="http://schemas.microsoft.com/office/drawing/2014/main" id="{8CE4AD66-9749-46E4-827F-18FE6BC8A85C}"/>
              </a:ext>
            </a:extLst>
          </p:cNvPr>
          <p:cNvSpPr>
            <a:spLocks xmlns:a="http://schemas.openxmlformats.org/drawingml/2006/main" noGrp="1"/>
          </p:cNvSpPr>
          <p:nvPr/>
        </p:nvSpPr>
        <p:spPr>
          <a:xfrm xmlns:a="http://schemas.openxmlformats.org/drawingml/2006/main">
            <a:off x="2400300" y="37338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30" name="">
            <a:extLst xmlns:a="http://schemas.openxmlformats.org/drawingml/2006/main">
              <a:ext uri="{FF2B5EF4-FFF2-40B4-BE49-F238E27FC236}">
                <a16:creationId xmlns:a16="http://schemas.microsoft.com/office/drawing/2014/main" id="{EC2EE219-027B-4632-8C3D-2FE79F229634}"/>
              </a:ext>
            </a:extLst>
          </p:cNvPr>
          <p:cNvSpPr>
            <a:spLocks xmlns:a="http://schemas.openxmlformats.org/drawingml/2006/main" noGrp="1"/>
          </p:cNvSpPr>
          <p:nvPr/>
        </p:nvSpPr>
        <p:spPr>
          <a:xfrm xmlns:a="http://schemas.openxmlformats.org/drawingml/2006/main">
            <a:off x="2228850" y="38957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0</a:t>
            </a:r>
          </a:p>
        </p:txBody>
      </p:sp>
      <p:sp>
        <p:nvSpPr>
          <p:cNvPr id="31" name="">
            <a:extLst xmlns:a="http://schemas.openxmlformats.org/drawingml/2006/main">
              <a:ext uri="{FF2B5EF4-FFF2-40B4-BE49-F238E27FC236}">
                <a16:creationId xmlns:a16="http://schemas.microsoft.com/office/drawing/2014/main" id="{552E7552-B1D3-4B6E-8B55-6D8F3D39951A}"/>
              </a:ext>
            </a:extLst>
          </p:cNvPr>
          <p:cNvSpPr>
            <a:spLocks xmlns:a="http://schemas.openxmlformats.org/drawingml/2006/main" noGrp="1"/>
          </p:cNvSpPr>
          <p:nvPr/>
        </p:nvSpPr>
        <p:spPr>
          <a:xfrm xmlns:a="http://schemas.openxmlformats.org/drawingml/2006/main">
            <a:off x="3876675" y="37338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32" name="">
            <a:extLst xmlns:a="http://schemas.openxmlformats.org/drawingml/2006/main">
              <a:ext uri="{FF2B5EF4-FFF2-40B4-BE49-F238E27FC236}">
                <a16:creationId xmlns:a16="http://schemas.microsoft.com/office/drawing/2014/main" id="{15BB8762-0A8A-4FE2-AF3C-D584FF37B0B5}"/>
              </a:ext>
            </a:extLst>
          </p:cNvPr>
          <p:cNvSpPr>
            <a:spLocks xmlns:a="http://schemas.openxmlformats.org/drawingml/2006/main" noGrp="1"/>
          </p:cNvSpPr>
          <p:nvPr/>
        </p:nvSpPr>
        <p:spPr>
          <a:xfrm xmlns:a="http://schemas.openxmlformats.org/drawingml/2006/main">
            <a:off x="3705225" y="38957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25</a:t>
            </a:r>
          </a:p>
        </p:txBody>
      </p:sp>
      <p:sp>
        <p:nvSpPr>
          <p:cNvPr id="33" name="">
            <a:extLst xmlns:a="http://schemas.openxmlformats.org/drawingml/2006/main">
              <a:ext uri="{FF2B5EF4-FFF2-40B4-BE49-F238E27FC236}">
                <a16:creationId xmlns:a16="http://schemas.microsoft.com/office/drawing/2014/main" id="{817C7378-BFCB-49B2-93D3-99CA1607E048}"/>
              </a:ext>
            </a:extLst>
          </p:cNvPr>
          <p:cNvSpPr>
            <a:spLocks xmlns:a="http://schemas.openxmlformats.org/drawingml/2006/main" noGrp="1"/>
          </p:cNvSpPr>
          <p:nvPr/>
        </p:nvSpPr>
        <p:spPr>
          <a:xfrm xmlns:a="http://schemas.openxmlformats.org/drawingml/2006/main">
            <a:off x="5353050" y="37338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34" name="">
            <a:extLst xmlns:a="http://schemas.openxmlformats.org/drawingml/2006/main">
              <a:ext uri="{FF2B5EF4-FFF2-40B4-BE49-F238E27FC236}">
                <a16:creationId xmlns:a16="http://schemas.microsoft.com/office/drawing/2014/main" id="{90549A40-A61C-4B82-8DD4-9FB738419185}"/>
              </a:ext>
            </a:extLst>
          </p:cNvPr>
          <p:cNvSpPr>
            <a:spLocks xmlns:a="http://schemas.openxmlformats.org/drawingml/2006/main" noGrp="1"/>
          </p:cNvSpPr>
          <p:nvPr/>
        </p:nvSpPr>
        <p:spPr>
          <a:xfrm xmlns:a="http://schemas.openxmlformats.org/drawingml/2006/main">
            <a:off x="5181600" y="38957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50</a:t>
            </a:r>
          </a:p>
        </p:txBody>
      </p:sp>
      <p:sp>
        <p:nvSpPr>
          <p:cNvPr id="35" name="">
            <a:extLst xmlns:a="http://schemas.openxmlformats.org/drawingml/2006/main">
              <a:ext uri="{FF2B5EF4-FFF2-40B4-BE49-F238E27FC236}">
                <a16:creationId xmlns:a16="http://schemas.microsoft.com/office/drawing/2014/main" id="{387E7303-AF87-43C6-ABC1-1BFF186E959C}"/>
              </a:ext>
            </a:extLst>
          </p:cNvPr>
          <p:cNvSpPr>
            <a:spLocks xmlns:a="http://schemas.openxmlformats.org/drawingml/2006/main" noGrp="1"/>
          </p:cNvSpPr>
          <p:nvPr/>
        </p:nvSpPr>
        <p:spPr>
          <a:xfrm xmlns:a="http://schemas.openxmlformats.org/drawingml/2006/main">
            <a:off x="6829425" y="37338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36" name="">
            <a:extLst xmlns:a="http://schemas.openxmlformats.org/drawingml/2006/main">
              <a:ext uri="{FF2B5EF4-FFF2-40B4-BE49-F238E27FC236}">
                <a16:creationId xmlns:a16="http://schemas.microsoft.com/office/drawing/2014/main" id="{A5124DFF-3EFF-442A-8170-A44C3DC86D2F}"/>
              </a:ext>
            </a:extLst>
          </p:cNvPr>
          <p:cNvSpPr>
            <a:spLocks xmlns:a="http://schemas.openxmlformats.org/drawingml/2006/main" noGrp="1"/>
          </p:cNvSpPr>
          <p:nvPr/>
        </p:nvSpPr>
        <p:spPr>
          <a:xfrm xmlns:a="http://schemas.openxmlformats.org/drawingml/2006/main">
            <a:off x="6657975" y="38957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75</a:t>
            </a:r>
          </a:p>
        </p:txBody>
      </p:sp>
      <p:sp>
        <p:nvSpPr>
          <p:cNvPr id="37" name="">
            <a:extLst xmlns:a="http://schemas.openxmlformats.org/drawingml/2006/main">
              <a:ext uri="{FF2B5EF4-FFF2-40B4-BE49-F238E27FC236}">
                <a16:creationId xmlns:a16="http://schemas.microsoft.com/office/drawing/2014/main" id="{5E2D7313-E37E-48C4-9602-C5D2425CC5B1}"/>
              </a:ext>
            </a:extLst>
          </p:cNvPr>
          <p:cNvSpPr>
            <a:spLocks xmlns:a="http://schemas.openxmlformats.org/drawingml/2006/main" noGrp="1"/>
          </p:cNvSpPr>
          <p:nvPr/>
        </p:nvSpPr>
        <p:spPr>
          <a:xfrm xmlns:a="http://schemas.openxmlformats.org/drawingml/2006/main">
            <a:off x="8305800" y="373380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38" name="">
            <a:extLst xmlns:a="http://schemas.openxmlformats.org/drawingml/2006/main">
              <a:ext uri="{FF2B5EF4-FFF2-40B4-BE49-F238E27FC236}">
                <a16:creationId xmlns:a16="http://schemas.microsoft.com/office/drawing/2014/main" id="{E4172B12-4B51-494B-841C-3766601AB4A9}"/>
              </a:ext>
            </a:extLst>
          </p:cNvPr>
          <p:cNvSpPr>
            <a:spLocks xmlns:a="http://schemas.openxmlformats.org/drawingml/2006/main" noGrp="1"/>
          </p:cNvSpPr>
          <p:nvPr/>
        </p:nvSpPr>
        <p:spPr>
          <a:xfrm xmlns:a="http://schemas.openxmlformats.org/drawingml/2006/main">
            <a:off x="8134350" y="389572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100</a:t>
            </a:r>
          </a:p>
        </p:txBody>
      </p:sp>
      <p:sp>
        <p:nvSpPr>
          <p:cNvPr id="39" name="">
            <a:extLst xmlns:a="http://schemas.openxmlformats.org/drawingml/2006/main">
              <a:ext uri="{FF2B5EF4-FFF2-40B4-BE49-F238E27FC236}">
                <a16:creationId xmlns:a16="http://schemas.microsoft.com/office/drawing/2014/main" id="{4DCD5DDF-6D8C-4D1B-810B-F608EC1C6E44}"/>
              </a:ext>
            </a:extLst>
          </p:cNvPr>
          <p:cNvSpPr>
            <a:spLocks xmlns:a="http://schemas.openxmlformats.org/drawingml/2006/main" noGrp="1"/>
          </p:cNvSpPr>
          <p:nvPr/>
        </p:nvSpPr>
        <p:spPr>
          <a:xfrm xmlns:a="http://schemas.openxmlformats.org/drawingml/2006/main">
            <a:off x="4284155" y="3790950"/>
            <a:ext cx="543306" cy="0"/>
          </a:xfrm>
          <a:prstGeom xmlns:a="http://schemas.openxmlformats.org/drawingml/2006/main" prst="line">
            <a:avLst/>
          </a:prstGeom>
          <a:noFill xmlns:a="http://schemas.openxmlformats.org/drawingml/2006/main"/>
          <a:ln xmlns:a="http://schemas.openxmlformats.org/drawingml/2006/main" w="38100">
            <a:solidFill>
              <a:srgbClr val="D9771F"/>
            </a:solidFill>
            <a:prstDash val="solid"/>
          </a:ln>
        </p:spPr>
      </p:sp>
      <p:sp>
        <p:nvSpPr>
          <p:cNvPr id="40" name="">
            <a:extLst xmlns:a="http://schemas.openxmlformats.org/drawingml/2006/main">
              <a:ext uri="{FF2B5EF4-FFF2-40B4-BE49-F238E27FC236}">
                <a16:creationId xmlns:a16="http://schemas.microsoft.com/office/drawing/2014/main" id="{B59CD6A9-E428-4F2A-ADA7-FA10A38F8491}"/>
              </a:ext>
            </a:extLst>
          </p:cNvPr>
          <p:cNvSpPr>
            <a:spLocks xmlns:a="http://schemas.openxmlformats.org/drawingml/2006/main" noGrp="1"/>
          </p:cNvSpPr>
          <p:nvPr/>
        </p:nvSpPr>
        <p:spPr>
          <a:xfrm xmlns:a="http://schemas.openxmlformats.org/drawingml/2006/main">
            <a:off x="4760786" y="3724275"/>
            <a:ext cx="133350" cy="133350"/>
          </a:xfrm>
          <a:prstGeom xmlns:a="http://schemas.openxmlformats.org/drawingml/2006/main" prst="ellipse">
            <a:avLst/>
          </a:prstGeom>
          <a:solidFill xmlns:a="http://schemas.openxmlformats.org/drawingml/2006/main">
            <a:srgbClr val="24547A"/>
          </a:solidFill>
          <a:ln xmlns:a="http://schemas.openxmlformats.org/drawingml/2006/main" w="9525">
            <a:solidFill>
              <a:srgbClr val="24547A"/>
            </a:solidFill>
            <a:prstDash val="solid"/>
          </a:ln>
        </p:spPr>
      </p:sp>
      <p:sp>
        <p:nvSpPr>
          <p:cNvPr id="41" name="">
            <a:extLst xmlns:a="http://schemas.openxmlformats.org/drawingml/2006/main">
              <a:ext uri="{FF2B5EF4-FFF2-40B4-BE49-F238E27FC236}">
                <a16:creationId xmlns:a16="http://schemas.microsoft.com/office/drawing/2014/main" id="{F80F2798-543E-4D97-A103-F32DA4280CB7}"/>
              </a:ext>
            </a:extLst>
          </p:cNvPr>
          <p:cNvSpPr>
            <a:spLocks xmlns:a="http://schemas.openxmlformats.org/drawingml/2006/main" noGrp="1"/>
          </p:cNvSpPr>
          <p:nvPr/>
        </p:nvSpPr>
        <p:spPr>
          <a:xfrm xmlns:a="http://schemas.openxmlformats.org/drawingml/2006/main">
            <a:off x="4217480" y="3724275"/>
            <a:ext cx="133350" cy="133350"/>
          </a:xfrm>
          <a:prstGeom xmlns:a="http://schemas.openxmlformats.org/drawingml/2006/main" prst="ellipse">
            <a:avLst/>
          </a:prstGeom>
          <a:solidFill xmlns:a="http://schemas.openxmlformats.org/drawingml/2006/main">
            <a:srgbClr val="D9771F"/>
          </a:solidFill>
          <a:ln xmlns:a="http://schemas.openxmlformats.org/drawingml/2006/main" w="9525">
            <a:solidFill>
              <a:srgbClr val="D9771F"/>
            </a:solidFill>
            <a:prstDash val="solid"/>
          </a:ln>
        </p:spPr>
      </p:sp>
      <p:sp>
        <p:nvSpPr>
          <p:cNvPr id="42" name="">
            <a:extLst xmlns:a="http://schemas.openxmlformats.org/drawingml/2006/main">
              <a:ext uri="{FF2B5EF4-FFF2-40B4-BE49-F238E27FC236}">
                <a16:creationId xmlns:a16="http://schemas.microsoft.com/office/drawing/2014/main" id="{1E7D7C05-9871-4096-A265-80775DEF9844}"/>
              </a:ext>
            </a:extLst>
          </p:cNvPr>
          <p:cNvSpPr>
            <a:spLocks xmlns:a="http://schemas.openxmlformats.org/drawingml/2006/main" noGrp="1"/>
          </p:cNvSpPr>
          <p:nvPr/>
        </p:nvSpPr>
        <p:spPr>
          <a:xfrm xmlns:a="http://schemas.openxmlformats.org/drawingml/2006/main">
            <a:off x="4522661" y="329565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24547A"/>
                </a:solidFill>
              </a:defRPr>
            </a:pPr>
            <a:r>
              <a:rPr sz="900" b="1" i="0">
                <a:solidFill>
                  <a:srgbClr val="24547A"/>
                </a:solidFill>
              </a:rPr>
              <a:t>41.1%</a:t>
            </a:r>
          </a:p>
        </p:txBody>
      </p:sp>
      <p:sp>
        <p:nvSpPr>
          <p:cNvPr id="43" name="">
            <a:extLst xmlns:a="http://schemas.openxmlformats.org/drawingml/2006/main">
              <a:ext uri="{FF2B5EF4-FFF2-40B4-BE49-F238E27FC236}">
                <a16:creationId xmlns:a16="http://schemas.microsoft.com/office/drawing/2014/main" id="{1583787C-3A0D-4872-B3F1-60AC32271CFB}"/>
              </a:ext>
            </a:extLst>
          </p:cNvPr>
          <p:cNvSpPr>
            <a:spLocks xmlns:a="http://schemas.openxmlformats.org/drawingml/2006/main" noGrp="1"/>
          </p:cNvSpPr>
          <p:nvPr/>
        </p:nvSpPr>
        <p:spPr>
          <a:xfrm xmlns:a="http://schemas.openxmlformats.org/drawingml/2006/main">
            <a:off x="3979354" y="409575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D9771F"/>
                </a:solidFill>
              </a:defRPr>
            </a:pPr>
            <a:r>
              <a:rPr sz="900" b="1" i="0">
                <a:solidFill>
                  <a:srgbClr val="D9771F"/>
                </a:solidFill>
              </a:rPr>
              <a:t>31.9%</a:t>
            </a:r>
          </a:p>
        </p:txBody>
      </p:sp>
      <p:sp>
        <p:nvSpPr>
          <p:cNvPr id="44" name="">
            <a:extLst xmlns:a="http://schemas.openxmlformats.org/drawingml/2006/main">
              <a:ext uri="{FF2B5EF4-FFF2-40B4-BE49-F238E27FC236}">
                <a16:creationId xmlns:a16="http://schemas.microsoft.com/office/drawing/2014/main" id="{64003357-335A-4B28-920A-61E8D2725E52}"/>
              </a:ext>
            </a:extLst>
          </p:cNvPr>
          <p:cNvSpPr>
            <a:spLocks xmlns:a="http://schemas.openxmlformats.org/drawingml/2006/main" noGrp="1"/>
          </p:cNvSpPr>
          <p:nvPr/>
        </p:nvSpPr>
        <p:spPr>
          <a:xfrm xmlns:a="http://schemas.openxmlformats.org/drawingml/2006/main">
            <a:off x="8401050" y="36004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i="0">
                <a:solidFill>
                  <a:srgbClr val="D9771F"/>
                </a:solidFill>
              </a:defRPr>
            </a:pPr>
            <a:r>
              <a:rPr sz="1125" b="1" i="0">
                <a:solidFill>
                  <a:srgbClr val="D9771F"/>
                </a:solidFill>
              </a:rPr>
              <a:t>−9.2 pp</a:t>
            </a:r>
          </a:p>
        </p:txBody>
      </p:sp>
      <p:sp>
        <p:nvSpPr>
          <p:cNvPr id="45" name="">
            <a:extLst xmlns:a="http://schemas.openxmlformats.org/drawingml/2006/main">
              <a:ext uri="{FF2B5EF4-FFF2-40B4-BE49-F238E27FC236}">
                <a16:creationId xmlns:a16="http://schemas.microsoft.com/office/drawing/2014/main" id="{1E17F9C0-2E5C-46B7-88A0-A58ACF7A861E}"/>
              </a:ext>
            </a:extLst>
          </p:cNvPr>
          <p:cNvSpPr>
            <a:spLocks xmlns:a="http://schemas.openxmlformats.org/drawingml/2006/main" noGrp="1"/>
          </p:cNvSpPr>
          <p:nvPr/>
        </p:nvSpPr>
        <p:spPr>
          <a:xfrm xmlns:a="http://schemas.openxmlformats.org/drawingml/2006/main">
            <a:off x="2400300" y="438150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5F6E7B"/>
                </a:solidFill>
              </a:defRPr>
            </a:pPr>
            <a:r>
              <a:rPr sz="825" b="0" i="0">
                <a:solidFill>
                  <a:srgbClr val="5F6E7B"/>
                </a:solidFill>
              </a:rPr>
              <a:t>GPT-4o  •  GPT-5.2</a:t>
            </a:r>
          </a:p>
        </p:txBody>
      </p:sp>
      <p:sp>
        <p:nvSpPr>
          <p:cNvPr id="46" name="">
            <a:extLst xmlns:a="http://schemas.openxmlformats.org/drawingml/2006/main">
              <a:ext uri="{FF2B5EF4-FFF2-40B4-BE49-F238E27FC236}">
                <a16:creationId xmlns:a16="http://schemas.microsoft.com/office/drawing/2014/main" id="{3D2CA2E7-0742-416E-9F8C-B1E2308EC3A8}"/>
              </a:ext>
            </a:extLst>
          </p:cNvPr>
          <p:cNvSpPr>
            <a:spLocks xmlns:a="http://schemas.openxmlformats.org/drawingml/2006/main" noGrp="1"/>
          </p:cNvSpPr>
          <p:nvPr/>
        </p:nvSpPr>
        <p:spPr>
          <a:xfrm xmlns:a="http://schemas.openxmlformats.org/drawingml/2006/main">
            <a:off x="685800" y="4724400"/>
            <a:ext cx="157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32238"/>
                </a:solidFill>
              </a:defRPr>
            </a:pPr>
            <a:r>
              <a:rPr sz="1050" b="1" i="0">
                <a:solidFill>
                  <a:srgbClr val="132238"/>
                </a:solidFill>
              </a:rPr>
              <a:t>Current POC + historical examples</a:t>
            </a:r>
          </a:p>
        </p:txBody>
      </p:sp>
      <p:sp>
        <p:nvSpPr>
          <p:cNvPr id="47" name="">
            <a:extLst xmlns:a="http://schemas.openxmlformats.org/drawingml/2006/main">
              <a:ext uri="{FF2B5EF4-FFF2-40B4-BE49-F238E27FC236}">
                <a16:creationId xmlns:a16="http://schemas.microsoft.com/office/drawing/2014/main" id="{D7BF8214-CA22-43EE-88A2-262DD42D800B}"/>
              </a:ext>
            </a:extLst>
          </p:cNvPr>
          <p:cNvSpPr>
            <a:spLocks xmlns:a="http://schemas.openxmlformats.org/drawingml/2006/main" noGrp="1"/>
          </p:cNvSpPr>
          <p:nvPr/>
        </p:nvSpPr>
        <p:spPr>
          <a:xfrm xmlns:a="http://schemas.openxmlformats.org/drawingml/2006/main">
            <a:off x="2400300" y="4953000"/>
            <a:ext cx="5905500" cy="0"/>
          </a:xfrm>
          <a:prstGeom xmlns:a="http://schemas.openxmlformats.org/drawingml/2006/main" prst="line">
            <a:avLst/>
          </a:prstGeom>
          <a:noFill xmlns:a="http://schemas.openxmlformats.org/drawingml/2006/main"/>
          <a:ln xmlns:a="http://schemas.openxmlformats.org/drawingml/2006/main" w="19050">
            <a:solidFill>
              <a:srgbClr val="D5DCDD"/>
            </a:solidFill>
            <a:prstDash val="solid"/>
          </a:ln>
        </p:spPr>
      </p:sp>
      <p:sp>
        <p:nvSpPr>
          <p:cNvPr id="48" name="">
            <a:extLst xmlns:a="http://schemas.openxmlformats.org/drawingml/2006/main">
              <a:ext uri="{FF2B5EF4-FFF2-40B4-BE49-F238E27FC236}">
                <a16:creationId xmlns:a16="http://schemas.microsoft.com/office/drawing/2014/main" id="{B450AF24-D5AE-4786-8FAB-FE6C65D30987}"/>
              </a:ext>
            </a:extLst>
          </p:cNvPr>
          <p:cNvSpPr>
            <a:spLocks xmlns:a="http://schemas.openxmlformats.org/drawingml/2006/main" noGrp="1"/>
          </p:cNvSpPr>
          <p:nvPr/>
        </p:nvSpPr>
        <p:spPr>
          <a:xfrm xmlns:a="http://schemas.openxmlformats.org/drawingml/2006/main">
            <a:off x="2400300" y="489585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49" name="">
            <a:extLst xmlns:a="http://schemas.openxmlformats.org/drawingml/2006/main">
              <a:ext uri="{FF2B5EF4-FFF2-40B4-BE49-F238E27FC236}">
                <a16:creationId xmlns:a16="http://schemas.microsoft.com/office/drawing/2014/main" id="{962A82DD-5EB5-496F-BD0B-3753956D63FF}"/>
              </a:ext>
            </a:extLst>
          </p:cNvPr>
          <p:cNvSpPr>
            <a:spLocks xmlns:a="http://schemas.openxmlformats.org/drawingml/2006/main" noGrp="1"/>
          </p:cNvSpPr>
          <p:nvPr/>
        </p:nvSpPr>
        <p:spPr>
          <a:xfrm xmlns:a="http://schemas.openxmlformats.org/drawingml/2006/main">
            <a:off x="2228850" y="505777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0</a:t>
            </a:r>
          </a:p>
        </p:txBody>
      </p:sp>
      <p:sp>
        <p:nvSpPr>
          <p:cNvPr id="50" name="">
            <a:extLst xmlns:a="http://schemas.openxmlformats.org/drawingml/2006/main">
              <a:ext uri="{FF2B5EF4-FFF2-40B4-BE49-F238E27FC236}">
                <a16:creationId xmlns:a16="http://schemas.microsoft.com/office/drawing/2014/main" id="{0D095A3F-CC0C-468B-A842-227D06E2C1A4}"/>
              </a:ext>
            </a:extLst>
          </p:cNvPr>
          <p:cNvSpPr>
            <a:spLocks xmlns:a="http://schemas.openxmlformats.org/drawingml/2006/main" noGrp="1"/>
          </p:cNvSpPr>
          <p:nvPr/>
        </p:nvSpPr>
        <p:spPr>
          <a:xfrm xmlns:a="http://schemas.openxmlformats.org/drawingml/2006/main">
            <a:off x="3876675" y="489585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51" name="">
            <a:extLst xmlns:a="http://schemas.openxmlformats.org/drawingml/2006/main">
              <a:ext uri="{FF2B5EF4-FFF2-40B4-BE49-F238E27FC236}">
                <a16:creationId xmlns:a16="http://schemas.microsoft.com/office/drawing/2014/main" id="{0C03214E-A6F4-4819-B7A4-D54F92C54701}"/>
              </a:ext>
            </a:extLst>
          </p:cNvPr>
          <p:cNvSpPr>
            <a:spLocks xmlns:a="http://schemas.openxmlformats.org/drawingml/2006/main" noGrp="1"/>
          </p:cNvSpPr>
          <p:nvPr/>
        </p:nvSpPr>
        <p:spPr>
          <a:xfrm xmlns:a="http://schemas.openxmlformats.org/drawingml/2006/main">
            <a:off x="3705225" y="505777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25</a:t>
            </a:r>
          </a:p>
        </p:txBody>
      </p:sp>
      <p:sp>
        <p:nvSpPr>
          <p:cNvPr id="52" name="">
            <a:extLst xmlns:a="http://schemas.openxmlformats.org/drawingml/2006/main">
              <a:ext uri="{FF2B5EF4-FFF2-40B4-BE49-F238E27FC236}">
                <a16:creationId xmlns:a16="http://schemas.microsoft.com/office/drawing/2014/main" id="{083C1B0D-DC1B-4FA4-8017-0C402AB680D7}"/>
              </a:ext>
            </a:extLst>
          </p:cNvPr>
          <p:cNvSpPr>
            <a:spLocks xmlns:a="http://schemas.openxmlformats.org/drawingml/2006/main" noGrp="1"/>
          </p:cNvSpPr>
          <p:nvPr/>
        </p:nvSpPr>
        <p:spPr>
          <a:xfrm xmlns:a="http://schemas.openxmlformats.org/drawingml/2006/main">
            <a:off x="5353050" y="489585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53" name="">
            <a:extLst xmlns:a="http://schemas.openxmlformats.org/drawingml/2006/main">
              <a:ext uri="{FF2B5EF4-FFF2-40B4-BE49-F238E27FC236}">
                <a16:creationId xmlns:a16="http://schemas.microsoft.com/office/drawing/2014/main" id="{D51B8E35-16A8-4FAF-A982-DFE02EB17C30}"/>
              </a:ext>
            </a:extLst>
          </p:cNvPr>
          <p:cNvSpPr>
            <a:spLocks xmlns:a="http://schemas.openxmlformats.org/drawingml/2006/main" noGrp="1"/>
          </p:cNvSpPr>
          <p:nvPr/>
        </p:nvSpPr>
        <p:spPr>
          <a:xfrm xmlns:a="http://schemas.openxmlformats.org/drawingml/2006/main">
            <a:off x="5181600" y="505777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50</a:t>
            </a:r>
          </a:p>
        </p:txBody>
      </p:sp>
      <p:sp>
        <p:nvSpPr>
          <p:cNvPr id="54" name="">
            <a:extLst xmlns:a="http://schemas.openxmlformats.org/drawingml/2006/main">
              <a:ext uri="{FF2B5EF4-FFF2-40B4-BE49-F238E27FC236}">
                <a16:creationId xmlns:a16="http://schemas.microsoft.com/office/drawing/2014/main" id="{8F5A2BB5-5990-433D-9BEB-603041F7DC40}"/>
              </a:ext>
            </a:extLst>
          </p:cNvPr>
          <p:cNvSpPr>
            <a:spLocks xmlns:a="http://schemas.openxmlformats.org/drawingml/2006/main" noGrp="1"/>
          </p:cNvSpPr>
          <p:nvPr/>
        </p:nvSpPr>
        <p:spPr>
          <a:xfrm xmlns:a="http://schemas.openxmlformats.org/drawingml/2006/main">
            <a:off x="6829425" y="489585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55" name="">
            <a:extLst xmlns:a="http://schemas.openxmlformats.org/drawingml/2006/main">
              <a:ext uri="{FF2B5EF4-FFF2-40B4-BE49-F238E27FC236}">
                <a16:creationId xmlns:a16="http://schemas.microsoft.com/office/drawing/2014/main" id="{0AF3C3BC-F048-4BF7-ACFA-1F5C4886B2E6}"/>
              </a:ext>
            </a:extLst>
          </p:cNvPr>
          <p:cNvSpPr>
            <a:spLocks xmlns:a="http://schemas.openxmlformats.org/drawingml/2006/main" noGrp="1"/>
          </p:cNvSpPr>
          <p:nvPr/>
        </p:nvSpPr>
        <p:spPr>
          <a:xfrm xmlns:a="http://schemas.openxmlformats.org/drawingml/2006/main">
            <a:off x="6657975" y="505777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75</a:t>
            </a:r>
          </a:p>
        </p:txBody>
      </p:sp>
      <p:sp>
        <p:nvSpPr>
          <p:cNvPr id="56" name="">
            <a:extLst xmlns:a="http://schemas.openxmlformats.org/drawingml/2006/main">
              <a:ext uri="{FF2B5EF4-FFF2-40B4-BE49-F238E27FC236}">
                <a16:creationId xmlns:a16="http://schemas.microsoft.com/office/drawing/2014/main" id="{48481108-73A8-4161-A250-7EC44C0CCD3D}"/>
              </a:ext>
            </a:extLst>
          </p:cNvPr>
          <p:cNvSpPr>
            <a:spLocks xmlns:a="http://schemas.openxmlformats.org/drawingml/2006/main" noGrp="1"/>
          </p:cNvSpPr>
          <p:nvPr/>
        </p:nvSpPr>
        <p:spPr>
          <a:xfrm xmlns:a="http://schemas.openxmlformats.org/drawingml/2006/main">
            <a:off x="8305800" y="4895850"/>
            <a:ext cx="0" cy="11430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57" name="">
            <a:extLst xmlns:a="http://schemas.openxmlformats.org/drawingml/2006/main">
              <a:ext uri="{FF2B5EF4-FFF2-40B4-BE49-F238E27FC236}">
                <a16:creationId xmlns:a16="http://schemas.microsoft.com/office/drawing/2014/main" id="{F8C83870-C27C-4FC0-9124-07AF1E4CC90C}"/>
              </a:ext>
            </a:extLst>
          </p:cNvPr>
          <p:cNvSpPr>
            <a:spLocks xmlns:a="http://schemas.openxmlformats.org/drawingml/2006/main" noGrp="1"/>
          </p:cNvSpPr>
          <p:nvPr/>
        </p:nvSpPr>
        <p:spPr>
          <a:xfrm xmlns:a="http://schemas.openxmlformats.org/drawingml/2006/main">
            <a:off x="8134350" y="5057775"/>
            <a:ext cx="342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i="0">
                <a:solidFill>
                  <a:srgbClr val="5F6E7B"/>
                </a:solidFill>
              </a:defRPr>
            </a:pPr>
            <a:r>
              <a:rPr sz="675" b="0" i="0">
                <a:solidFill>
                  <a:srgbClr val="5F6E7B"/>
                </a:solidFill>
              </a:rPr>
              <a:t>100</a:t>
            </a:r>
          </a:p>
        </p:txBody>
      </p:sp>
      <p:sp>
        <p:nvSpPr>
          <p:cNvPr id="58" name="">
            <a:extLst xmlns:a="http://schemas.openxmlformats.org/drawingml/2006/main">
              <a:ext uri="{FF2B5EF4-FFF2-40B4-BE49-F238E27FC236}">
                <a16:creationId xmlns:a16="http://schemas.microsoft.com/office/drawing/2014/main" id="{2C837E42-5C37-44B7-8269-3AD69D0FCCD4}"/>
              </a:ext>
            </a:extLst>
          </p:cNvPr>
          <p:cNvSpPr>
            <a:spLocks xmlns:a="http://schemas.openxmlformats.org/drawingml/2006/main" noGrp="1"/>
          </p:cNvSpPr>
          <p:nvPr/>
        </p:nvSpPr>
        <p:spPr>
          <a:xfrm xmlns:a="http://schemas.openxmlformats.org/drawingml/2006/main">
            <a:off x="4514469" y="4953000"/>
            <a:ext cx="1086612" cy="0"/>
          </a:xfrm>
          <a:prstGeom xmlns:a="http://schemas.openxmlformats.org/drawingml/2006/main" prst="line">
            <a:avLst/>
          </a:prstGeom>
          <a:noFill xmlns:a="http://schemas.openxmlformats.org/drawingml/2006/main"/>
          <a:ln xmlns:a="http://schemas.openxmlformats.org/drawingml/2006/main" w="38100">
            <a:solidFill>
              <a:srgbClr val="087A76"/>
            </a:solidFill>
            <a:prstDash val="solid"/>
          </a:ln>
        </p:spPr>
      </p:sp>
      <p:sp>
        <p:nvSpPr>
          <p:cNvPr id="59" name="">
            <a:extLst xmlns:a="http://schemas.openxmlformats.org/drawingml/2006/main">
              <a:ext uri="{FF2B5EF4-FFF2-40B4-BE49-F238E27FC236}">
                <a16:creationId xmlns:a16="http://schemas.microsoft.com/office/drawing/2014/main" id="{3B0203D6-C58B-4F35-9745-AB4DB40D19FA}"/>
              </a:ext>
            </a:extLst>
          </p:cNvPr>
          <p:cNvSpPr>
            <a:spLocks xmlns:a="http://schemas.openxmlformats.org/drawingml/2006/main" noGrp="1"/>
          </p:cNvSpPr>
          <p:nvPr/>
        </p:nvSpPr>
        <p:spPr>
          <a:xfrm xmlns:a="http://schemas.openxmlformats.org/drawingml/2006/main">
            <a:off x="5534406" y="4886325"/>
            <a:ext cx="133350" cy="133350"/>
          </a:xfrm>
          <a:prstGeom xmlns:a="http://schemas.openxmlformats.org/drawingml/2006/main" prst="ellipse">
            <a:avLst/>
          </a:prstGeom>
          <a:solidFill xmlns:a="http://schemas.openxmlformats.org/drawingml/2006/main">
            <a:srgbClr val="24547A"/>
          </a:solidFill>
          <a:ln xmlns:a="http://schemas.openxmlformats.org/drawingml/2006/main" w="9525">
            <a:solidFill>
              <a:srgbClr val="24547A"/>
            </a:solidFill>
            <a:prstDash val="solid"/>
          </a:ln>
        </p:spPr>
      </p:sp>
      <p:sp>
        <p:nvSpPr>
          <p:cNvPr id="60" name="">
            <a:extLst xmlns:a="http://schemas.openxmlformats.org/drawingml/2006/main">
              <a:ext uri="{FF2B5EF4-FFF2-40B4-BE49-F238E27FC236}">
                <a16:creationId xmlns:a16="http://schemas.microsoft.com/office/drawing/2014/main" id="{3038B1D7-CA73-4DF0-8D61-57FFB1F51B36}"/>
              </a:ext>
            </a:extLst>
          </p:cNvPr>
          <p:cNvSpPr>
            <a:spLocks xmlns:a="http://schemas.openxmlformats.org/drawingml/2006/main" noGrp="1"/>
          </p:cNvSpPr>
          <p:nvPr/>
        </p:nvSpPr>
        <p:spPr>
          <a:xfrm xmlns:a="http://schemas.openxmlformats.org/drawingml/2006/main">
            <a:off x="4447794" y="4886325"/>
            <a:ext cx="133350" cy="133350"/>
          </a:xfrm>
          <a:prstGeom xmlns:a="http://schemas.openxmlformats.org/drawingml/2006/main" prst="ellipse">
            <a:avLst/>
          </a:prstGeom>
          <a:solidFill xmlns:a="http://schemas.openxmlformats.org/drawingml/2006/main">
            <a:srgbClr val="087A76"/>
          </a:solidFill>
          <a:ln xmlns:a="http://schemas.openxmlformats.org/drawingml/2006/main" w="9525">
            <a:solidFill>
              <a:srgbClr val="087A76"/>
            </a:solidFill>
            <a:prstDash val="solid"/>
          </a:ln>
        </p:spPr>
      </p:sp>
      <p:sp>
        <p:nvSpPr>
          <p:cNvPr id="61" name="">
            <a:extLst xmlns:a="http://schemas.openxmlformats.org/drawingml/2006/main">
              <a:ext uri="{FF2B5EF4-FFF2-40B4-BE49-F238E27FC236}">
                <a16:creationId xmlns:a16="http://schemas.microsoft.com/office/drawing/2014/main" id="{7266743C-8216-41EC-AB2E-6020C5CD71F0}"/>
              </a:ext>
            </a:extLst>
          </p:cNvPr>
          <p:cNvSpPr>
            <a:spLocks xmlns:a="http://schemas.openxmlformats.org/drawingml/2006/main" noGrp="1"/>
          </p:cNvSpPr>
          <p:nvPr/>
        </p:nvSpPr>
        <p:spPr>
          <a:xfrm xmlns:a="http://schemas.openxmlformats.org/drawingml/2006/main">
            <a:off x="5296281" y="445770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24547A"/>
                </a:solidFill>
              </a:defRPr>
            </a:pPr>
            <a:r>
              <a:rPr sz="900" b="1" i="0">
                <a:solidFill>
                  <a:srgbClr val="24547A"/>
                </a:solidFill>
              </a:rPr>
              <a:t>54.2%</a:t>
            </a:r>
          </a:p>
        </p:txBody>
      </p:sp>
      <p:sp>
        <p:nvSpPr>
          <p:cNvPr id="62" name="">
            <a:extLst xmlns:a="http://schemas.openxmlformats.org/drawingml/2006/main">
              <a:ext uri="{FF2B5EF4-FFF2-40B4-BE49-F238E27FC236}">
                <a16:creationId xmlns:a16="http://schemas.microsoft.com/office/drawing/2014/main" id="{4A2EC805-1876-4CFD-A15B-A4CA4BA822D3}"/>
              </a:ext>
            </a:extLst>
          </p:cNvPr>
          <p:cNvSpPr>
            <a:spLocks xmlns:a="http://schemas.openxmlformats.org/drawingml/2006/main" noGrp="1"/>
          </p:cNvSpPr>
          <p:nvPr/>
        </p:nvSpPr>
        <p:spPr>
          <a:xfrm xmlns:a="http://schemas.openxmlformats.org/drawingml/2006/main">
            <a:off x="4209669" y="525780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087A76"/>
                </a:solidFill>
              </a:defRPr>
            </a:pPr>
            <a:r>
              <a:rPr sz="900" b="1" i="0">
                <a:solidFill>
                  <a:srgbClr val="087A76"/>
                </a:solidFill>
              </a:rPr>
              <a:t>35.8%</a:t>
            </a:r>
          </a:p>
        </p:txBody>
      </p:sp>
      <p:sp>
        <p:nvSpPr>
          <p:cNvPr id="63" name="">
            <a:extLst xmlns:a="http://schemas.openxmlformats.org/drawingml/2006/main">
              <a:ext uri="{FF2B5EF4-FFF2-40B4-BE49-F238E27FC236}">
                <a16:creationId xmlns:a16="http://schemas.microsoft.com/office/drawing/2014/main" id="{EE61C7F4-47DD-4318-B8BA-CCB3DD4D745E}"/>
              </a:ext>
            </a:extLst>
          </p:cNvPr>
          <p:cNvSpPr>
            <a:spLocks xmlns:a="http://schemas.openxmlformats.org/drawingml/2006/main" noGrp="1"/>
          </p:cNvSpPr>
          <p:nvPr/>
        </p:nvSpPr>
        <p:spPr>
          <a:xfrm xmlns:a="http://schemas.openxmlformats.org/drawingml/2006/main">
            <a:off x="8401050" y="476250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i="0">
                <a:solidFill>
                  <a:srgbClr val="087A76"/>
                </a:solidFill>
              </a:defRPr>
            </a:pPr>
            <a:r>
              <a:rPr sz="1125" b="1" i="0">
                <a:solidFill>
                  <a:srgbClr val="087A76"/>
                </a:solidFill>
              </a:rPr>
              <a:t>−18.4 pp</a:t>
            </a:r>
          </a:p>
        </p:txBody>
      </p:sp>
      <p:sp>
        <p:nvSpPr>
          <p:cNvPr id="64" name="">
            <a:extLst xmlns:a="http://schemas.openxmlformats.org/drawingml/2006/main">
              <a:ext uri="{FF2B5EF4-FFF2-40B4-BE49-F238E27FC236}">
                <a16:creationId xmlns:a16="http://schemas.microsoft.com/office/drawing/2014/main" id="{EF41ADC2-19E9-4D1E-A4FD-8C8313CD7BAD}"/>
              </a:ext>
            </a:extLst>
          </p:cNvPr>
          <p:cNvSpPr>
            <a:spLocks xmlns:a="http://schemas.openxmlformats.org/drawingml/2006/main" noGrp="1"/>
          </p:cNvSpPr>
          <p:nvPr/>
        </p:nvSpPr>
        <p:spPr>
          <a:xfrm xmlns:a="http://schemas.openxmlformats.org/drawingml/2006/main">
            <a:off x="2400300" y="554355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5F6E7B"/>
                </a:solidFill>
              </a:defRPr>
            </a:pPr>
            <a:r>
              <a:rPr sz="825" b="0" i="0">
                <a:solidFill>
                  <a:srgbClr val="5F6E7B"/>
                </a:solidFill>
              </a:rPr>
              <a:t>GPT-4o  •  GPT-5.2</a:t>
            </a:r>
          </a:p>
        </p:txBody>
      </p:sp>
      <p:sp>
        <p:nvSpPr>
          <p:cNvPr id="65" name="">
            <a:extLst xmlns:a="http://schemas.openxmlformats.org/drawingml/2006/main">
              <a:ext uri="{FF2B5EF4-FFF2-40B4-BE49-F238E27FC236}">
                <a16:creationId xmlns:a16="http://schemas.microsoft.com/office/drawing/2014/main" id="{173D7D1C-221C-43A8-9962-93D6F423F6ED}"/>
              </a:ext>
            </a:extLst>
          </p:cNvPr>
          <p:cNvSpPr>
            <a:spLocks xmlns:a="http://schemas.openxmlformats.org/drawingml/2006/main" noGrp="1"/>
          </p:cNvSpPr>
          <p:nvPr/>
        </p:nvSpPr>
        <p:spPr>
          <a:xfrm xmlns:a="http://schemas.openxmlformats.org/drawingml/2006/main">
            <a:off x="685800" y="5810250"/>
            <a:ext cx="10172700" cy="457200"/>
          </a:xfrm>
          <a:prstGeom xmlns:a="http://schemas.openxmlformats.org/drawingml/2006/main" prst="rect">
            <a:avLst/>
          </a:prstGeom>
          <a:solidFill xmlns:a="http://schemas.openxmlformats.org/drawingml/2006/main">
            <a:srgbClr val="F6E7E5"/>
          </a:solidFill>
          <a:ln xmlns:a="http://schemas.openxmlformats.org/drawingml/2006/main" w="5715">
            <a:solidFill>
              <a:srgbClr val="F6E7E5"/>
            </a:solidFill>
            <a:prstDash val="solid"/>
          </a:ln>
        </p:spPr>
      </p:sp>
      <p:sp>
        <p:nvSpPr>
          <p:cNvPr id="66" name="">
            <a:extLst xmlns:a="http://schemas.openxmlformats.org/drawingml/2006/main">
              <a:ext uri="{FF2B5EF4-FFF2-40B4-BE49-F238E27FC236}">
                <a16:creationId xmlns:a16="http://schemas.microsoft.com/office/drawing/2014/main" id="{3A65D14C-3F46-41E9-8554-03E2F0CCB088}"/>
              </a:ext>
            </a:extLst>
          </p:cNvPr>
          <p:cNvSpPr>
            <a:spLocks xmlns:a="http://schemas.openxmlformats.org/drawingml/2006/main" noGrp="1"/>
          </p:cNvSpPr>
          <p:nvPr/>
        </p:nvSpPr>
        <p:spPr>
          <a:xfrm xmlns:a="http://schemas.openxmlformats.org/drawingml/2006/main">
            <a:off x="685800" y="5810250"/>
            <a:ext cx="76200" cy="4572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67" name="">
            <a:extLst xmlns:a="http://schemas.openxmlformats.org/drawingml/2006/main">
              <a:ext uri="{FF2B5EF4-FFF2-40B4-BE49-F238E27FC236}">
                <a16:creationId xmlns:a16="http://schemas.microsoft.com/office/drawing/2014/main" id="{6B848B47-2E96-4D9C-ABA5-7AA03F4975BB}"/>
              </a:ext>
            </a:extLst>
          </p:cNvPr>
          <p:cNvSpPr>
            <a:spLocks xmlns:a="http://schemas.openxmlformats.org/drawingml/2006/main" noGrp="1"/>
          </p:cNvSpPr>
          <p:nvPr/>
        </p:nvSpPr>
        <p:spPr>
          <a:xfrm xmlns:a="http://schemas.openxmlformats.org/drawingml/2006/main">
            <a:off x="952500" y="5943600"/>
            <a:ext cx="9696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238"/>
                </a:solidFill>
              </a:defRPr>
            </a:pPr>
            <a:r>
              <a:rPr sz="1275" b="1" i="0">
                <a:solidFill>
                  <a:srgbClr val="132238"/>
                </a:solidFill>
              </a:rPr>
              <a:t>GPT-5.2 is not a drop-in replacement: the LLM version and scoring guidance must be approved together.</a:t>
            </a:r>
          </a:p>
        </p:txBody>
      </p:sp>
    </p:spTree>
    <p:extLst>
      <p:ext uri="{BB962C8B-B14F-4D97-AF65-F5344CB8AC3E}">
        <p14:creationId xmlns:p14="http://schemas.microsoft.com/office/powerpoint/2010/main" val="1493683890"/>
      </p:ext>
    </p:extLst>
  </p:cSld>
</p:sld>
</file>

<file path=ppt/slides/slide1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4FE29E07-4EC2-4422-9072-FD404E5619D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D56A1A52-E6CB-4F59-8FE6-0CE715070C45}"/>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TASK-FORMAT EFFECT</a:t>
            </a:r>
          </a:p>
        </p:txBody>
      </p:sp>
      <p:sp>
        <p:nvSpPr>
          <p:cNvPr id="3" name="">
            <a:extLst xmlns:a="http://schemas.openxmlformats.org/drawingml/2006/main">
              <a:ext uri="{FF2B5EF4-FFF2-40B4-BE49-F238E27FC236}">
                <a16:creationId xmlns:a16="http://schemas.microsoft.com/office/drawing/2014/main" id="{88C9D573-1B51-45E4-8BC9-17DACDC2E62D}"/>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Normalization and decomposition change E0 by no more than about 3 points in this panel</a:t>
            </a:r>
          </a:p>
        </p:txBody>
      </p:sp>
      <p:sp>
        <p:nvSpPr>
          <p:cNvPr id="4" name="">
            <a:extLst xmlns:a="http://schemas.openxmlformats.org/drawingml/2006/main">
              <a:ext uri="{FF2B5EF4-FFF2-40B4-BE49-F238E27FC236}">
                <a16:creationId xmlns:a16="http://schemas.microsoft.com/office/drawing/2014/main" id="{A6B66940-D13C-4D88-8BA5-833AE16C3790}"/>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Linked normalized/decomposed tasks are re-aggregated to their original parent before comparison, so parents with more child tasks do not receive extra weight.</a:t>
            </a:r>
          </a:p>
        </p:txBody>
      </p:sp>
      <p:sp>
        <p:nvSpPr>
          <p:cNvPr id="5" name="">
            <a:extLst xmlns:a="http://schemas.openxmlformats.org/drawingml/2006/main">
              <a:ext uri="{FF2B5EF4-FFF2-40B4-BE49-F238E27FC236}">
                <a16:creationId xmlns:a16="http://schemas.microsoft.com/office/drawing/2014/main" id="{56F5BE5C-B0B5-43DC-8083-6597337AFA6A}"/>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A2C680F2-DFA9-44A5-8256-00CCCBF7BBFD}"/>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D2147B24-1A5F-4761-8333-8BFFDD848857}"/>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13</a:t>
            </a:r>
          </a:p>
        </p:txBody>
      </p:sp>
      <p:sp>
        <p:nvSpPr>
          <p:cNvPr id="8" name="">
            <a:extLst xmlns:a="http://schemas.openxmlformats.org/drawingml/2006/main">
              <a:ext uri="{FF2B5EF4-FFF2-40B4-BE49-F238E27FC236}">
                <a16:creationId xmlns:a16="http://schemas.microsoft.com/office/drawing/2014/main" id="{BA15E19C-45CF-4E62-B1C9-BE44607F7958}"/>
              </a:ext>
            </a:extLst>
          </p:cNvPr>
          <p:cNvSpPr>
            <a:spLocks xmlns:a="http://schemas.openxmlformats.org/drawingml/2006/main" noGrp="1"/>
          </p:cNvSpPr>
          <p:nvPr/>
        </p:nvSpPr>
        <p:spPr>
          <a:xfrm xmlns:a="http://schemas.openxmlformats.org/drawingml/2006/main">
            <a:off x="933450" y="238125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24547A"/>
                </a:solidFill>
              </a:defRPr>
            </a:pPr>
            <a:r>
              <a:rPr sz="900" b="1" i="0">
                <a:solidFill>
                  <a:srgbClr val="24547A"/>
                </a:solidFill>
              </a:rPr>
              <a:t>CHILD E0 MINUS ORIGINAL-TASK E0</a:t>
            </a:r>
          </a:p>
        </p:txBody>
      </p:sp>
      <p:sp>
        <p:nvSpPr>
          <p:cNvPr id="9" name="">
            <a:extLst xmlns:a="http://schemas.openxmlformats.org/drawingml/2006/main">
              <a:ext uri="{FF2B5EF4-FFF2-40B4-BE49-F238E27FC236}">
                <a16:creationId xmlns:a16="http://schemas.microsoft.com/office/drawing/2014/main" id="{9EF62C17-1E67-4B9B-B663-014A08A502F9}"/>
              </a:ext>
            </a:extLst>
          </p:cNvPr>
          <p:cNvSpPr>
            <a:spLocks xmlns:a="http://schemas.openxmlformats.org/drawingml/2006/main" noGrp="1"/>
          </p:cNvSpPr>
          <p:nvPr/>
        </p:nvSpPr>
        <p:spPr>
          <a:xfrm xmlns:a="http://schemas.openxmlformats.org/drawingml/2006/main">
            <a:off x="5334000" y="2647950"/>
            <a:ext cx="0" cy="2543175"/>
          </a:xfrm>
          <a:prstGeom xmlns:a="http://schemas.openxmlformats.org/drawingml/2006/main" prst="line">
            <a:avLst/>
          </a:prstGeom>
          <a:noFill xmlns:a="http://schemas.openxmlformats.org/drawingml/2006/main"/>
          <a:ln xmlns:a="http://schemas.openxmlformats.org/drawingml/2006/main" w="14288">
            <a:solidFill>
              <a:srgbClr val="132238"/>
            </a:solidFill>
            <a:prstDash val="solid"/>
          </a:ln>
        </p:spPr>
      </p:sp>
      <p:sp>
        <p:nvSpPr>
          <p:cNvPr id="10" name="">
            <a:extLst xmlns:a="http://schemas.openxmlformats.org/drawingml/2006/main">
              <a:ext uri="{FF2B5EF4-FFF2-40B4-BE49-F238E27FC236}">
                <a16:creationId xmlns:a16="http://schemas.microsoft.com/office/drawing/2014/main" id="{BFD56241-0742-4301-A3A5-E077D0DE47C5}"/>
              </a:ext>
            </a:extLst>
          </p:cNvPr>
          <p:cNvSpPr>
            <a:spLocks xmlns:a="http://schemas.openxmlformats.org/drawingml/2006/main" noGrp="1"/>
          </p:cNvSpPr>
          <p:nvPr/>
        </p:nvSpPr>
        <p:spPr>
          <a:xfrm xmlns:a="http://schemas.openxmlformats.org/drawingml/2006/main">
            <a:off x="5067300" y="2400300"/>
            <a:ext cx="533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i="0">
                <a:solidFill>
                  <a:srgbClr val="132238"/>
                </a:solidFill>
              </a:defRPr>
            </a:pPr>
            <a:r>
              <a:rPr sz="825" b="1" i="0">
                <a:solidFill>
                  <a:srgbClr val="132238"/>
                </a:solidFill>
              </a:rPr>
              <a:t>0 pp</a:t>
            </a:r>
          </a:p>
        </p:txBody>
      </p:sp>
      <p:sp>
        <p:nvSpPr>
          <p:cNvPr id="11" name="">
            <a:extLst xmlns:a="http://schemas.openxmlformats.org/drawingml/2006/main">
              <a:ext uri="{FF2B5EF4-FFF2-40B4-BE49-F238E27FC236}">
                <a16:creationId xmlns:a16="http://schemas.microsoft.com/office/drawing/2014/main" id="{CBCEC0E9-13A3-40FA-BEFA-9C8A093AF59F}"/>
              </a:ext>
            </a:extLst>
          </p:cNvPr>
          <p:cNvSpPr>
            <a:spLocks xmlns:a="http://schemas.openxmlformats.org/drawingml/2006/main" noGrp="1"/>
          </p:cNvSpPr>
          <p:nvPr/>
        </p:nvSpPr>
        <p:spPr>
          <a:xfrm xmlns:a="http://schemas.openxmlformats.org/drawingml/2006/main">
            <a:off x="933450" y="2809875"/>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Historical + GPT-4o</a:t>
            </a:r>
          </a:p>
        </p:txBody>
      </p:sp>
      <p:sp>
        <p:nvSpPr>
          <p:cNvPr id="12" name="">
            <a:extLst xmlns:a="http://schemas.openxmlformats.org/drawingml/2006/main">
              <a:ext uri="{FF2B5EF4-FFF2-40B4-BE49-F238E27FC236}">
                <a16:creationId xmlns:a16="http://schemas.microsoft.com/office/drawing/2014/main" id="{4F5F5D60-89B0-41C3-AF30-97C52278AA16}"/>
              </a:ext>
            </a:extLst>
          </p:cNvPr>
          <p:cNvSpPr>
            <a:spLocks xmlns:a="http://schemas.openxmlformats.org/drawingml/2006/main" noGrp="1"/>
          </p:cNvSpPr>
          <p:nvPr/>
        </p:nvSpPr>
        <p:spPr>
          <a:xfrm xmlns:a="http://schemas.openxmlformats.org/drawingml/2006/main">
            <a:off x="2468309" y="2905125"/>
            <a:ext cx="2865691" cy="0"/>
          </a:xfrm>
          <a:prstGeom xmlns:a="http://schemas.openxmlformats.org/drawingml/2006/main" prst="line">
            <a:avLst/>
          </a:prstGeom>
          <a:noFill xmlns:a="http://schemas.openxmlformats.org/drawingml/2006/main"/>
          <a:ln xmlns:a="http://schemas.openxmlformats.org/drawingml/2006/main" w="38100">
            <a:solidFill>
              <a:srgbClr val="24547A"/>
            </a:solidFill>
            <a:prstDash val="solid"/>
          </a:ln>
        </p:spPr>
      </p:sp>
      <p:sp>
        <p:nvSpPr>
          <p:cNvPr id="13" name="">
            <a:extLst xmlns:a="http://schemas.openxmlformats.org/drawingml/2006/main">
              <a:ext uri="{FF2B5EF4-FFF2-40B4-BE49-F238E27FC236}">
                <a16:creationId xmlns:a16="http://schemas.microsoft.com/office/drawing/2014/main" id="{4D275FC6-0BBF-46B5-91FC-4D7CB938E0E1}"/>
              </a:ext>
            </a:extLst>
          </p:cNvPr>
          <p:cNvSpPr>
            <a:spLocks xmlns:a="http://schemas.openxmlformats.org/drawingml/2006/main" noGrp="1"/>
          </p:cNvSpPr>
          <p:nvPr/>
        </p:nvSpPr>
        <p:spPr>
          <a:xfrm xmlns:a="http://schemas.openxmlformats.org/drawingml/2006/main">
            <a:off x="2411159" y="2847975"/>
            <a:ext cx="114300" cy="114300"/>
          </a:xfrm>
          <a:prstGeom xmlns:a="http://schemas.openxmlformats.org/drawingml/2006/main" prst="ellipse">
            <a:avLst/>
          </a:prstGeom>
          <a:solidFill xmlns:a="http://schemas.openxmlformats.org/drawingml/2006/main">
            <a:srgbClr val="24547A"/>
          </a:solidFill>
          <a:ln xmlns:a="http://schemas.openxmlformats.org/drawingml/2006/main" w="9525">
            <a:solidFill>
              <a:srgbClr val="24547A"/>
            </a:solidFill>
            <a:prstDash val="solid"/>
          </a:ln>
        </p:spPr>
      </p:sp>
      <p:sp>
        <p:nvSpPr>
          <p:cNvPr id="14" name="">
            <a:extLst xmlns:a="http://schemas.openxmlformats.org/drawingml/2006/main">
              <a:ext uri="{FF2B5EF4-FFF2-40B4-BE49-F238E27FC236}">
                <a16:creationId xmlns:a16="http://schemas.microsoft.com/office/drawing/2014/main" id="{641A5863-F8C8-49E8-8559-A376A62645EC}"/>
              </a:ext>
            </a:extLst>
          </p:cNvPr>
          <p:cNvSpPr>
            <a:spLocks xmlns:a="http://schemas.openxmlformats.org/drawingml/2006/main" noGrp="1"/>
          </p:cNvSpPr>
          <p:nvPr/>
        </p:nvSpPr>
        <p:spPr>
          <a:xfrm xmlns:a="http://schemas.openxmlformats.org/drawingml/2006/main">
            <a:off x="6762750" y="279082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4547A"/>
                </a:solidFill>
              </a:defRPr>
            </a:pPr>
            <a:r>
              <a:rPr sz="975" b="1" i="0">
                <a:solidFill>
                  <a:srgbClr val="24547A"/>
                </a:solidFill>
              </a:rPr>
              <a:t>-3.1 pp</a:t>
            </a:r>
          </a:p>
        </p:txBody>
      </p:sp>
      <p:sp>
        <p:nvSpPr>
          <p:cNvPr id="15" name="">
            <a:extLst xmlns:a="http://schemas.openxmlformats.org/drawingml/2006/main">
              <a:ext uri="{FF2B5EF4-FFF2-40B4-BE49-F238E27FC236}">
                <a16:creationId xmlns:a16="http://schemas.microsoft.com/office/drawing/2014/main" id="{12BF4C6D-9258-40C4-9632-48E165ED8CF6}"/>
              </a:ext>
            </a:extLst>
          </p:cNvPr>
          <p:cNvSpPr>
            <a:spLocks xmlns:a="http://schemas.openxmlformats.org/drawingml/2006/main" noGrp="1"/>
          </p:cNvSpPr>
          <p:nvPr/>
        </p:nvSpPr>
        <p:spPr>
          <a:xfrm xmlns:a="http://schemas.openxmlformats.org/drawingml/2006/main">
            <a:off x="933450" y="3171825"/>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Historical + GPT-5.2</a:t>
            </a:r>
          </a:p>
        </p:txBody>
      </p:sp>
      <p:sp>
        <p:nvSpPr>
          <p:cNvPr id="16" name="">
            <a:extLst xmlns:a="http://schemas.openxmlformats.org/drawingml/2006/main">
              <a:ext uri="{FF2B5EF4-FFF2-40B4-BE49-F238E27FC236}">
                <a16:creationId xmlns:a16="http://schemas.microsoft.com/office/drawing/2014/main" id="{A772AF48-4AB1-4C0E-A640-685347C4156B}"/>
              </a:ext>
            </a:extLst>
          </p:cNvPr>
          <p:cNvSpPr>
            <a:spLocks xmlns:a="http://schemas.openxmlformats.org/drawingml/2006/main" noGrp="1"/>
          </p:cNvSpPr>
          <p:nvPr/>
        </p:nvSpPr>
        <p:spPr>
          <a:xfrm xmlns:a="http://schemas.openxmlformats.org/drawingml/2006/main">
            <a:off x="2888361" y="3267075"/>
            <a:ext cx="2445639" cy="0"/>
          </a:xfrm>
          <a:prstGeom xmlns:a="http://schemas.openxmlformats.org/drawingml/2006/main" prst="line">
            <a:avLst/>
          </a:prstGeom>
          <a:noFill xmlns:a="http://schemas.openxmlformats.org/drawingml/2006/main"/>
          <a:ln xmlns:a="http://schemas.openxmlformats.org/drawingml/2006/main" w="38100">
            <a:solidFill>
              <a:srgbClr val="24547A"/>
            </a:solidFill>
            <a:prstDash val="solid"/>
          </a:ln>
        </p:spPr>
      </p:sp>
      <p:sp>
        <p:nvSpPr>
          <p:cNvPr id="17" name="">
            <a:extLst xmlns:a="http://schemas.openxmlformats.org/drawingml/2006/main">
              <a:ext uri="{FF2B5EF4-FFF2-40B4-BE49-F238E27FC236}">
                <a16:creationId xmlns:a16="http://schemas.microsoft.com/office/drawing/2014/main" id="{A0A53FAE-A703-4099-A9F2-445A794F2262}"/>
              </a:ext>
            </a:extLst>
          </p:cNvPr>
          <p:cNvSpPr>
            <a:spLocks xmlns:a="http://schemas.openxmlformats.org/drawingml/2006/main" noGrp="1"/>
          </p:cNvSpPr>
          <p:nvPr/>
        </p:nvSpPr>
        <p:spPr>
          <a:xfrm xmlns:a="http://schemas.openxmlformats.org/drawingml/2006/main">
            <a:off x="2831211" y="3209925"/>
            <a:ext cx="114300" cy="114300"/>
          </a:xfrm>
          <a:prstGeom xmlns:a="http://schemas.openxmlformats.org/drawingml/2006/main" prst="ellipse">
            <a:avLst/>
          </a:prstGeom>
          <a:solidFill xmlns:a="http://schemas.openxmlformats.org/drawingml/2006/main">
            <a:srgbClr val="24547A"/>
          </a:solidFill>
          <a:ln xmlns:a="http://schemas.openxmlformats.org/drawingml/2006/main" w="9525">
            <a:solidFill>
              <a:srgbClr val="24547A"/>
            </a:solidFill>
            <a:prstDash val="solid"/>
          </a:ln>
        </p:spPr>
      </p:sp>
      <p:sp>
        <p:nvSpPr>
          <p:cNvPr id="18" name="">
            <a:extLst xmlns:a="http://schemas.openxmlformats.org/drawingml/2006/main">
              <a:ext uri="{FF2B5EF4-FFF2-40B4-BE49-F238E27FC236}">
                <a16:creationId xmlns:a16="http://schemas.microsoft.com/office/drawing/2014/main" id="{ECB913EE-6AED-47E1-8257-11EE755D0261}"/>
              </a:ext>
            </a:extLst>
          </p:cNvPr>
          <p:cNvSpPr>
            <a:spLocks xmlns:a="http://schemas.openxmlformats.org/drawingml/2006/main" noGrp="1"/>
          </p:cNvSpPr>
          <p:nvPr/>
        </p:nvSpPr>
        <p:spPr>
          <a:xfrm xmlns:a="http://schemas.openxmlformats.org/drawingml/2006/main">
            <a:off x="6762750" y="315277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4547A"/>
                </a:solidFill>
              </a:defRPr>
            </a:pPr>
            <a:r>
              <a:rPr sz="975" b="1" i="0">
                <a:solidFill>
                  <a:srgbClr val="24547A"/>
                </a:solidFill>
              </a:rPr>
              <a:t>-2.6 pp</a:t>
            </a:r>
          </a:p>
        </p:txBody>
      </p:sp>
      <p:sp>
        <p:nvSpPr>
          <p:cNvPr id="19" name="">
            <a:extLst xmlns:a="http://schemas.openxmlformats.org/drawingml/2006/main">
              <a:ext uri="{FF2B5EF4-FFF2-40B4-BE49-F238E27FC236}">
                <a16:creationId xmlns:a16="http://schemas.microsoft.com/office/drawing/2014/main" id="{16DD82EA-3DF0-4B09-ADEB-89C071997A6B}"/>
              </a:ext>
            </a:extLst>
          </p:cNvPr>
          <p:cNvSpPr>
            <a:spLocks xmlns:a="http://schemas.openxmlformats.org/drawingml/2006/main" noGrp="1"/>
          </p:cNvSpPr>
          <p:nvPr/>
        </p:nvSpPr>
        <p:spPr>
          <a:xfrm xmlns:a="http://schemas.openxmlformats.org/drawingml/2006/main">
            <a:off x="933450" y="3533775"/>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Current POC + GPT-4o</a:t>
            </a:r>
          </a:p>
        </p:txBody>
      </p:sp>
      <p:sp>
        <p:nvSpPr>
          <p:cNvPr id="20" name="">
            <a:extLst xmlns:a="http://schemas.openxmlformats.org/drawingml/2006/main">
              <a:ext uri="{FF2B5EF4-FFF2-40B4-BE49-F238E27FC236}">
                <a16:creationId xmlns:a16="http://schemas.microsoft.com/office/drawing/2014/main" id="{D0CFB8D1-227A-423F-AB89-3CFE6E5491EA}"/>
              </a:ext>
            </a:extLst>
          </p:cNvPr>
          <p:cNvSpPr>
            <a:spLocks xmlns:a="http://schemas.openxmlformats.org/drawingml/2006/main" noGrp="1"/>
          </p:cNvSpPr>
          <p:nvPr/>
        </p:nvSpPr>
        <p:spPr>
          <a:xfrm xmlns:a="http://schemas.openxmlformats.org/drawingml/2006/main">
            <a:off x="4839272" y="3629025"/>
            <a:ext cx="494729" cy="0"/>
          </a:xfrm>
          <a:prstGeom xmlns:a="http://schemas.openxmlformats.org/drawingml/2006/main" prst="line">
            <a:avLst/>
          </a:prstGeom>
          <a:noFill xmlns:a="http://schemas.openxmlformats.org/drawingml/2006/main"/>
          <a:ln xmlns:a="http://schemas.openxmlformats.org/drawingml/2006/main" w="38100">
            <a:solidFill>
              <a:srgbClr val="24547A"/>
            </a:solidFill>
            <a:prstDash val="solid"/>
          </a:ln>
        </p:spPr>
      </p:sp>
      <p:sp>
        <p:nvSpPr>
          <p:cNvPr id="21" name="">
            <a:extLst xmlns:a="http://schemas.openxmlformats.org/drawingml/2006/main">
              <a:ext uri="{FF2B5EF4-FFF2-40B4-BE49-F238E27FC236}">
                <a16:creationId xmlns:a16="http://schemas.microsoft.com/office/drawing/2014/main" id="{B9395568-6C46-43EE-9B21-8D29FF796A23}"/>
              </a:ext>
            </a:extLst>
          </p:cNvPr>
          <p:cNvSpPr>
            <a:spLocks xmlns:a="http://schemas.openxmlformats.org/drawingml/2006/main" noGrp="1"/>
          </p:cNvSpPr>
          <p:nvPr/>
        </p:nvSpPr>
        <p:spPr>
          <a:xfrm xmlns:a="http://schemas.openxmlformats.org/drawingml/2006/main">
            <a:off x="4782122" y="3571875"/>
            <a:ext cx="114300" cy="114300"/>
          </a:xfrm>
          <a:prstGeom xmlns:a="http://schemas.openxmlformats.org/drawingml/2006/main" prst="ellipse">
            <a:avLst/>
          </a:prstGeom>
          <a:solidFill xmlns:a="http://schemas.openxmlformats.org/drawingml/2006/main">
            <a:srgbClr val="24547A"/>
          </a:solidFill>
          <a:ln xmlns:a="http://schemas.openxmlformats.org/drawingml/2006/main" w="9525">
            <a:solidFill>
              <a:srgbClr val="24547A"/>
            </a:solidFill>
            <a:prstDash val="solid"/>
          </a:ln>
        </p:spPr>
      </p:sp>
      <p:sp>
        <p:nvSpPr>
          <p:cNvPr id="22" name="">
            <a:extLst xmlns:a="http://schemas.openxmlformats.org/drawingml/2006/main">
              <a:ext uri="{FF2B5EF4-FFF2-40B4-BE49-F238E27FC236}">
                <a16:creationId xmlns:a16="http://schemas.microsoft.com/office/drawing/2014/main" id="{65C525B3-69BD-4228-A30B-8CCB8471BC0E}"/>
              </a:ext>
            </a:extLst>
          </p:cNvPr>
          <p:cNvSpPr>
            <a:spLocks xmlns:a="http://schemas.openxmlformats.org/drawingml/2006/main" noGrp="1"/>
          </p:cNvSpPr>
          <p:nvPr/>
        </p:nvSpPr>
        <p:spPr>
          <a:xfrm xmlns:a="http://schemas.openxmlformats.org/drawingml/2006/main">
            <a:off x="6762750" y="351472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4547A"/>
                </a:solidFill>
              </a:defRPr>
            </a:pPr>
            <a:r>
              <a:rPr sz="975" b="1" i="0">
                <a:solidFill>
                  <a:srgbClr val="24547A"/>
                </a:solidFill>
              </a:rPr>
              <a:t>-0.5 pp</a:t>
            </a:r>
          </a:p>
        </p:txBody>
      </p:sp>
      <p:sp>
        <p:nvSpPr>
          <p:cNvPr id="23" name="">
            <a:extLst xmlns:a="http://schemas.openxmlformats.org/drawingml/2006/main">
              <a:ext uri="{FF2B5EF4-FFF2-40B4-BE49-F238E27FC236}">
                <a16:creationId xmlns:a16="http://schemas.microsoft.com/office/drawing/2014/main" id="{93789A45-8887-4071-9A20-A5F9644AEF7C}"/>
              </a:ext>
            </a:extLst>
          </p:cNvPr>
          <p:cNvSpPr>
            <a:spLocks xmlns:a="http://schemas.openxmlformats.org/drawingml/2006/main" noGrp="1"/>
          </p:cNvSpPr>
          <p:nvPr/>
        </p:nvSpPr>
        <p:spPr>
          <a:xfrm xmlns:a="http://schemas.openxmlformats.org/drawingml/2006/main">
            <a:off x="933450" y="3895725"/>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Current POC + GPT-5.2</a:t>
            </a:r>
          </a:p>
        </p:txBody>
      </p:sp>
      <p:sp>
        <p:nvSpPr>
          <p:cNvPr id="24" name="">
            <a:extLst xmlns:a="http://schemas.openxmlformats.org/drawingml/2006/main">
              <a:ext uri="{FF2B5EF4-FFF2-40B4-BE49-F238E27FC236}">
                <a16:creationId xmlns:a16="http://schemas.microsoft.com/office/drawing/2014/main" id="{2F259E56-AA06-4E4D-90B5-6E0505A9D468}"/>
              </a:ext>
            </a:extLst>
          </p:cNvPr>
          <p:cNvSpPr>
            <a:spLocks xmlns:a="http://schemas.openxmlformats.org/drawingml/2006/main" noGrp="1"/>
          </p:cNvSpPr>
          <p:nvPr/>
        </p:nvSpPr>
        <p:spPr>
          <a:xfrm xmlns:a="http://schemas.openxmlformats.org/drawingml/2006/main">
            <a:off x="4335209" y="3990975"/>
            <a:ext cx="998792" cy="0"/>
          </a:xfrm>
          <a:prstGeom xmlns:a="http://schemas.openxmlformats.org/drawingml/2006/main" prst="line">
            <a:avLst/>
          </a:prstGeom>
          <a:noFill xmlns:a="http://schemas.openxmlformats.org/drawingml/2006/main"/>
          <a:ln xmlns:a="http://schemas.openxmlformats.org/drawingml/2006/main" w="38100">
            <a:solidFill>
              <a:srgbClr val="24547A"/>
            </a:solidFill>
            <a:prstDash val="solid"/>
          </a:ln>
        </p:spPr>
      </p:sp>
      <p:sp>
        <p:nvSpPr>
          <p:cNvPr id="25" name="">
            <a:extLst xmlns:a="http://schemas.openxmlformats.org/drawingml/2006/main">
              <a:ext uri="{FF2B5EF4-FFF2-40B4-BE49-F238E27FC236}">
                <a16:creationId xmlns:a16="http://schemas.microsoft.com/office/drawing/2014/main" id="{8D36890E-45DE-46D7-9E62-A1FF999BF120}"/>
              </a:ext>
            </a:extLst>
          </p:cNvPr>
          <p:cNvSpPr>
            <a:spLocks xmlns:a="http://schemas.openxmlformats.org/drawingml/2006/main" noGrp="1"/>
          </p:cNvSpPr>
          <p:nvPr/>
        </p:nvSpPr>
        <p:spPr>
          <a:xfrm xmlns:a="http://schemas.openxmlformats.org/drawingml/2006/main">
            <a:off x="4278059" y="3933825"/>
            <a:ext cx="114300" cy="114300"/>
          </a:xfrm>
          <a:prstGeom xmlns:a="http://schemas.openxmlformats.org/drawingml/2006/main" prst="ellipse">
            <a:avLst/>
          </a:prstGeom>
          <a:solidFill xmlns:a="http://schemas.openxmlformats.org/drawingml/2006/main">
            <a:srgbClr val="24547A"/>
          </a:solidFill>
          <a:ln xmlns:a="http://schemas.openxmlformats.org/drawingml/2006/main" w="9525">
            <a:solidFill>
              <a:srgbClr val="24547A"/>
            </a:solidFill>
            <a:prstDash val="solid"/>
          </a:ln>
        </p:spPr>
      </p:sp>
      <p:sp>
        <p:nvSpPr>
          <p:cNvPr id="26" name="">
            <a:extLst xmlns:a="http://schemas.openxmlformats.org/drawingml/2006/main">
              <a:ext uri="{FF2B5EF4-FFF2-40B4-BE49-F238E27FC236}">
                <a16:creationId xmlns:a16="http://schemas.microsoft.com/office/drawing/2014/main" id="{D0F9C554-A883-431E-B3D7-BA0C43DBBBFB}"/>
              </a:ext>
            </a:extLst>
          </p:cNvPr>
          <p:cNvSpPr>
            <a:spLocks xmlns:a="http://schemas.openxmlformats.org/drawingml/2006/main" noGrp="1"/>
          </p:cNvSpPr>
          <p:nvPr/>
        </p:nvSpPr>
        <p:spPr>
          <a:xfrm xmlns:a="http://schemas.openxmlformats.org/drawingml/2006/main">
            <a:off x="6762750" y="387667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4547A"/>
                </a:solidFill>
              </a:defRPr>
            </a:pPr>
            <a:r>
              <a:rPr sz="975" b="1" i="0">
                <a:solidFill>
                  <a:srgbClr val="24547A"/>
                </a:solidFill>
              </a:rPr>
              <a:t>-1.1 pp</a:t>
            </a:r>
          </a:p>
        </p:txBody>
      </p:sp>
      <p:sp>
        <p:nvSpPr>
          <p:cNvPr id="27" name="">
            <a:extLst xmlns:a="http://schemas.openxmlformats.org/drawingml/2006/main">
              <a:ext uri="{FF2B5EF4-FFF2-40B4-BE49-F238E27FC236}">
                <a16:creationId xmlns:a16="http://schemas.microsoft.com/office/drawing/2014/main" id="{90F0D995-8F8D-4968-84C4-587E13A6010A}"/>
              </a:ext>
            </a:extLst>
          </p:cNvPr>
          <p:cNvSpPr>
            <a:spLocks xmlns:a="http://schemas.openxmlformats.org/drawingml/2006/main" noGrp="1"/>
          </p:cNvSpPr>
          <p:nvPr/>
        </p:nvSpPr>
        <p:spPr>
          <a:xfrm xmlns:a="http://schemas.openxmlformats.org/drawingml/2006/main">
            <a:off x="933450" y="4257675"/>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Current POC + examples + GPT-4o</a:t>
            </a:r>
          </a:p>
        </p:txBody>
      </p:sp>
      <p:sp>
        <p:nvSpPr>
          <p:cNvPr id="28" name="">
            <a:extLst xmlns:a="http://schemas.openxmlformats.org/drawingml/2006/main">
              <a:ext uri="{FF2B5EF4-FFF2-40B4-BE49-F238E27FC236}">
                <a16:creationId xmlns:a16="http://schemas.microsoft.com/office/drawing/2014/main" id="{12CBA165-5368-478A-9487-6F688F586127}"/>
              </a:ext>
            </a:extLst>
          </p:cNvPr>
          <p:cNvSpPr>
            <a:spLocks xmlns:a="http://schemas.openxmlformats.org/drawingml/2006/main" noGrp="1"/>
          </p:cNvSpPr>
          <p:nvPr/>
        </p:nvSpPr>
        <p:spPr>
          <a:xfrm xmlns:a="http://schemas.openxmlformats.org/drawingml/2006/main">
            <a:off x="3560445" y="4352925"/>
            <a:ext cx="1773555" cy="0"/>
          </a:xfrm>
          <a:prstGeom xmlns:a="http://schemas.openxmlformats.org/drawingml/2006/main" prst="line">
            <a:avLst/>
          </a:prstGeom>
          <a:noFill xmlns:a="http://schemas.openxmlformats.org/drawingml/2006/main"/>
          <a:ln xmlns:a="http://schemas.openxmlformats.org/drawingml/2006/main" w="38100">
            <a:solidFill>
              <a:srgbClr val="24547A"/>
            </a:solidFill>
            <a:prstDash val="solid"/>
          </a:ln>
        </p:spPr>
      </p:sp>
      <p:sp>
        <p:nvSpPr>
          <p:cNvPr id="29" name="">
            <a:extLst xmlns:a="http://schemas.openxmlformats.org/drawingml/2006/main">
              <a:ext uri="{FF2B5EF4-FFF2-40B4-BE49-F238E27FC236}">
                <a16:creationId xmlns:a16="http://schemas.microsoft.com/office/drawing/2014/main" id="{C6B7A941-7A27-4B52-A363-32AB8C751708}"/>
              </a:ext>
            </a:extLst>
          </p:cNvPr>
          <p:cNvSpPr>
            <a:spLocks xmlns:a="http://schemas.openxmlformats.org/drawingml/2006/main" noGrp="1"/>
          </p:cNvSpPr>
          <p:nvPr/>
        </p:nvSpPr>
        <p:spPr>
          <a:xfrm xmlns:a="http://schemas.openxmlformats.org/drawingml/2006/main">
            <a:off x="3503295" y="4295775"/>
            <a:ext cx="114300" cy="114300"/>
          </a:xfrm>
          <a:prstGeom xmlns:a="http://schemas.openxmlformats.org/drawingml/2006/main" prst="ellipse">
            <a:avLst/>
          </a:prstGeom>
          <a:solidFill xmlns:a="http://schemas.openxmlformats.org/drawingml/2006/main">
            <a:srgbClr val="24547A"/>
          </a:solidFill>
          <a:ln xmlns:a="http://schemas.openxmlformats.org/drawingml/2006/main" w="9525">
            <a:solidFill>
              <a:srgbClr val="24547A"/>
            </a:solidFill>
            <a:prstDash val="solid"/>
          </a:ln>
        </p:spPr>
      </p:sp>
      <p:sp>
        <p:nvSpPr>
          <p:cNvPr id="30" name="">
            <a:extLst xmlns:a="http://schemas.openxmlformats.org/drawingml/2006/main">
              <a:ext uri="{FF2B5EF4-FFF2-40B4-BE49-F238E27FC236}">
                <a16:creationId xmlns:a16="http://schemas.microsoft.com/office/drawing/2014/main" id="{3C3DAB73-17E8-4E62-9426-6CFB414E4F51}"/>
              </a:ext>
            </a:extLst>
          </p:cNvPr>
          <p:cNvSpPr>
            <a:spLocks xmlns:a="http://schemas.openxmlformats.org/drawingml/2006/main" noGrp="1"/>
          </p:cNvSpPr>
          <p:nvPr/>
        </p:nvSpPr>
        <p:spPr>
          <a:xfrm xmlns:a="http://schemas.openxmlformats.org/drawingml/2006/main">
            <a:off x="6762750" y="423862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4547A"/>
                </a:solidFill>
              </a:defRPr>
            </a:pPr>
            <a:r>
              <a:rPr sz="975" b="1" i="0">
                <a:solidFill>
                  <a:srgbClr val="24547A"/>
                </a:solidFill>
              </a:rPr>
              <a:t>-1.9 pp</a:t>
            </a:r>
          </a:p>
        </p:txBody>
      </p:sp>
      <p:sp>
        <p:nvSpPr>
          <p:cNvPr id="31" name="">
            <a:extLst xmlns:a="http://schemas.openxmlformats.org/drawingml/2006/main">
              <a:ext uri="{FF2B5EF4-FFF2-40B4-BE49-F238E27FC236}">
                <a16:creationId xmlns:a16="http://schemas.microsoft.com/office/drawing/2014/main" id="{247C6794-58C0-4658-A589-E58D06B97D1D}"/>
              </a:ext>
            </a:extLst>
          </p:cNvPr>
          <p:cNvSpPr>
            <a:spLocks xmlns:a="http://schemas.openxmlformats.org/drawingml/2006/main" noGrp="1"/>
          </p:cNvSpPr>
          <p:nvPr/>
        </p:nvSpPr>
        <p:spPr>
          <a:xfrm xmlns:a="http://schemas.openxmlformats.org/drawingml/2006/main">
            <a:off x="933450" y="4619625"/>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Current POC + examples + GPT-5.2</a:t>
            </a:r>
          </a:p>
        </p:txBody>
      </p:sp>
      <p:sp>
        <p:nvSpPr>
          <p:cNvPr id="32" name="">
            <a:extLst xmlns:a="http://schemas.openxmlformats.org/drawingml/2006/main">
              <a:ext uri="{FF2B5EF4-FFF2-40B4-BE49-F238E27FC236}">
                <a16:creationId xmlns:a16="http://schemas.microsoft.com/office/drawing/2014/main" id="{A10E49AC-8B56-4036-AC82-1A62583886A0}"/>
              </a:ext>
            </a:extLst>
          </p:cNvPr>
          <p:cNvSpPr>
            <a:spLocks xmlns:a="http://schemas.openxmlformats.org/drawingml/2006/main" noGrp="1"/>
          </p:cNvSpPr>
          <p:nvPr/>
        </p:nvSpPr>
        <p:spPr>
          <a:xfrm xmlns:a="http://schemas.openxmlformats.org/drawingml/2006/main">
            <a:off x="5334000" y="4714875"/>
            <a:ext cx="93345" cy="0"/>
          </a:xfrm>
          <a:prstGeom xmlns:a="http://schemas.openxmlformats.org/drawingml/2006/main" prst="line">
            <a:avLst/>
          </a:prstGeom>
          <a:noFill xmlns:a="http://schemas.openxmlformats.org/drawingml/2006/main"/>
          <a:ln xmlns:a="http://schemas.openxmlformats.org/drawingml/2006/main" w="38100">
            <a:solidFill>
              <a:srgbClr val="087A76"/>
            </a:solidFill>
            <a:prstDash val="solid"/>
          </a:ln>
        </p:spPr>
      </p:sp>
      <p:sp>
        <p:nvSpPr>
          <p:cNvPr id="33" name="">
            <a:extLst xmlns:a="http://schemas.openxmlformats.org/drawingml/2006/main">
              <a:ext uri="{FF2B5EF4-FFF2-40B4-BE49-F238E27FC236}">
                <a16:creationId xmlns:a16="http://schemas.microsoft.com/office/drawing/2014/main" id="{4A9EC844-068B-4E54-9255-937395625844}"/>
              </a:ext>
            </a:extLst>
          </p:cNvPr>
          <p:cNvSpPr>
            <a:spLocks xmlns:a="http://schemas.openxmlformats.org/drawingml/2006/main" noGrp="1"/>
          </p:cNvSpPr>
          <p:nvPr/>
        </p:nvSpPr>
        <p:spPr>
          <a:xfrm xmlns:a="http://schemas.openxmlformats.org/drawingml/2006/main">
            <a:off x="5370195" y="4657725"/>
            <a:ext cx="114300" cy="114300"/>
          </a:xfrm>
          <a:prstGeom xmlns:a="http://schemas.openxmlformats.org/drawingml/2006/main" prst="ellipse">
            <a:avLst/>
          </a:prstGeom>
          <a:solidFill xmlns:a="http://schemas.openxmlformats.org/drawingml/2006/main">
            <a:srgbClr val="087A76"/>
          </a:solidFill>
          <a:ln xmlns:a="http://schemas.openxmlformats.org/drawingml/2006/main" w="9525">
            <a:solidFill>
              <a:srgbClr val="087A76"/>
            </a:solidFill>
            <a:prstDash val="solid"/>
          </a:ln>
        </p:spPr>
      </p:sp>
      <p:sp>
        <p:nvSpPr>
          <p:cNvPr id="34" name="">
            <a:extLst xmlns:a="http://schemas.openxmlformats.org/drawingml/2006/main">
              <a:ext uri="{FF2B5EF4-FFF2-40B4-BE49-F238E27FC236}">
                <a16:creationId xmlns:a16="http://schemas.microsoft.com/office/drawing/2014/main" id="{9F7ABB4C-D3CE-4D39-A1B7-7C867E7118B5}"/>
              </a:ext>
            </a:extLst>
          </p:cNvPr>
          <p:cNvSpPr>
            <a:spLocks xmlns:a="http://schemas.openxmlformats.org/drawingml/2006/main" noGrp="1"/>
          </p:cNvSpPr>
          <p:nvPr/>
        </p:nvSpPr>
        <p:spPr>
          <a:xfrm xmlns:a="http://schemas.openxmlformats.org/drawingml/2006/main">
            <a:off x="6762750" y="460057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087A76"/>
                </a:solidFill>
              </a:defRPr>
            </a:pPr>
            <a:r>
              <a:rPr sz="975" b="1" i="0">
                <a:solidFill>
                  <a:srgbClr val="087A76"/>
                </a:solidFill>
              </a:rPr>
              <a:t>+0.1 pp</a:t>
            </a:r>
          </a:p>
        </p:txBody>
      </p:sp>
      <p:sp>
        <p:nvSpPr>
          <p:cNvPr id="35" name="">
            <a:extLst xmlns:a="http://schemas.openxmlformats.org/drawingml/2006/main">
              <a:ext uri="{FF2B5EF4-FFF2-40B4-BE49-F238E27FC236}">
                <a16:creationId xmlns:a16="http://schemas.microsoft.com/office/drawing/2014/main" id="{76E4DA82-4D30-4317-B416-D45B7C456154}"/>
              </a:ext>
            </a:extLst>
          </p:cNvPr>
          <p:cNvSpPr>
            <a:spLocks xmlns:a="http://schemas.openxmlformats.org/drawingml/2006/main" noGrp="1"/>
          </p:cNvSpPr>
          <p:nvPr/>
        </p:nvSpPr>
        <p:spPr>
          <a:xfrm xmlns:a="http://schemas.openxmlformats.org/drawingml/2006/main">
            <a:off x="7924800" y="2647950"/>
            <a:ext cx="2933700" cy="2571750"/>
          </a:xfrm>
          <a:prstGeom xmlns:a="http://schemas.openxmlformats.org/drawingml/2006/main" prst="rect">
            <a:avLst/>
          </a:prstGeom>
          <a:solidFill xmlns:a="http://schemas.openxmlformats.org/drawingml/2006/main">
            <a:srgbClr val="F8EBDD"/>
          </a:solidFill>
          <a:ln xmlns:a="http://schemas.openxmlformats.org/drawingml/2006/main" w="5715">
            <a:solidFill>
              <a:srgbClr val="F8EBDD"/>
            </a:solidFill>
            <a:prstDash val="solid"/>
          </a:ln>
        </p:spPr>
      </p:sp>
      <p:sp>
        <p:nvSpPr>
          <p:cNvPr id="36" name="">
            <a:extLst xmlns:a="http://schemas.openxmlformats.org/drawingml/2006/main">
              <a:ext uri="{FF2B5EF4-FFF2-40B4-BE49-F238E27FC236}">
                <a16:creationId xmlns:a16="http://schemas.microsoft.com/office/drawing/2014/main" id="{F2E378C4-64A3-4733-9522-39C2EE02BC80}"/>
              </a:ext>
            </a:extLst>
          </p:cNvPr>
          <p:cNvSpPr>
            <a:spLocks xmlns:a="http://schemas.openxmlformats.org/drawingml/2006/main" noGrp="1"/>
          </p:cNvSpPr>
          <p:nvPr/>
        </p:nvSpPr>
        <p:spPr>
          <a:xfrm xmlns:a="http://schemas.openxmlformats.org/drawingml/2006/main">
            <a:off x="7924800" y="2647950"/>
            <a:ext cx="76200" cy="257175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37" name="">
            <a:extLst xmlns:a="http://schemas.openxmlformats.org/drawingml/2006/main">
              <a:ext uri="{FF2B5EF4-FFF2-40B4-BE49-F238E27FC236}">
                <a16:creationId xmlns:a16="http://schemas.microsoft.com/office/drawing/2014/main" id="{33DE08F6-0B07-4297-9918-443066DBC30B}"/>
              </a:ext>
            </a:extLst>
          </p:cNvPr>
          <p:cNvSpPr>
            <a:spLocks xmlns:a="http://schemas.openxmlformats.org/drawingml/2006/main" noGrp="1"/>
          </p:cNvSpPr>
          <p:nvPr/>
        </p:nvSpPr>
        <p:spPr>
          <a:xfrm xmlns:a="http://schemas.openxmlformats.org/drawingml/2006/main">
            <a:off x="8191500" y="2809875"/>
            <a:ext cx="2457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D9771F"/>
                </a:solidFill>
              </a:defRPr>
            </a:pPr>
            <a:r>
              <a:rPr sz="825" b="1" i="0">
                <a:solidFill>
                  <a:srgbClr val="D9771F"/>
                </a:solidFill>
              </a:rPr>
              <a:t>RECOMMENDED SETUP</a:t>
            </a:r>
          </a:p>
        </p:txBody>
      </p:sp>
      <p:sp>
        <p:nvSpPr>
          <p:cNvPr id="38" name="">
            <a:extLst xmlns:a="http://schemas.openxmlformats.org/drawingml/2006/main">
              <a:ext uri="{FF2B5EF4-FFF2-40B4-BE49-F238E27FC236}">
                <a16:creationId xmlns:a16="http://schemas.microsoft.com/office/drawing/2014/main" id="{1045DCBF-C6A1-4867-8608-75162C56459C}"/>
              </a:ext>
            </a:extLst>
          </p:cNvPr>
          <p:cNvSpPr>
            <a:spLocks xmlns:a="http://schemas.openxmlformats.org/drawingml/2006/main" noGrp="1"/>
          </p:cNvSpPr>
          <p:nvPr/>
        </p:nvSpPr>
        <p:spPr>
          <a:xfrm xmlns:a="http://schemas.openxmlformats.org/drawingml/2006/main">
            <a:off x="8191500" y="3076575"/>
            <a:ext cx="2457450" cy="2057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32238"/>
                </a:solidFill>
              </a:defRPr>
            </a:pPr>
            <a:r>
              <a:rPr sz="1350" b="1" i="0">
                <a:solidFill>
                  <a:srgbClr val="132238"/>
                </a:solidFill>
              </a:rPr>
              <a:t>Current POC guidance</a:t>
            </a:r>
          </a:p>
          <a:p xmlns:a="http://schemas.openxmlformats.org/drawingml/2006/main">
            <a:pPr algn="l">
              <a:defRPr sz="1350" b="1" i="0">
                <a:solidFill>
                  <a:srgbClr val="132238"/>
                </a:solidFill>
              </a:defRPr>
            </a:pPr>
            <a:r>
              <a:rPr sz="1350" b="1" i="0">
                <a:solidFill>
                  <a:srgbClr val="132238"/>
                </a:solidFill>
              </a:rPr>
              <a:t>+ GPT-5.2</a:t>
            </a:r>
          </a:p>
          <a:p xmlns:a="http://schemas.openxmlformats.org/drawingml/2006/main">
            <a:r>
              <a:t/>
            </a:r>
          </a:p>
          <a:p xmlns:a="http://schemas.openxmlformats.org/drawingml/2006/main">
            <a:pPr algn="l">
              <a:defRPr sz="1350" b="1" i="0">
                <a:solidFill>
                  <a:srgbClr val="132238"/>
                </a:solidFill>
              </a:defRPr>
            </a:pPr>
            <a:r>
              <a:rPr sz="1350" b="1" i="0">
                <a:solidFill>
                  <a:srgbClr val="132238"/>
                </a:solidFill>
              </a:rPr>
              <a:t>31.9% original task</a:t>
            </a:r>
          </a:p>
          <a:p xmlns:a="http://schemas.openxmlformats.org/drawingml/2006/main">
            <a:pPr algn="l">
              <a:defRPr sz="1350" b="1" i="0">
                <a:solidFill>
                  <a:srgbClr val="132238"/>
                </a:solidFill>
              </a:defRPr>
            </a:pPr>
            <a:r>
              <a:rPr sz="1350" b="1" i="0">
                <a:solidFill>
                  <a:srgbClr val="132238"/>
                </a:solidFill>
              </a:rPr>
              <a:t>30.8% normalized/decomposed</a:t>
            </a:r>
          </a:p>
          <a:p xmlns:a="http://schemas.openxmlformats.org/drawingml/2006/main">
            <a:r>
              <a:t/>
            </a:r>
          </a:p>
          <a:p xmlns:a="http://schemas.openxmlformats.org/drawingml/2006/main">
            <a:pPr algn="l">
              <a:defRPr sz="1350" b="1" i="0">
                <a:solidFill>
                  <a:srgbClr val="132238"/>
                </a:solidFill>
              </a:defRPr>
            </a:pPr>
            <a:r>
              <a:rPr sz="1350" b="1" i="0">
                <a:solidFill>
                  <a:srgbClr val="132238"/>
                </a:solidFill>
              </a:rPr>
              <a:t>Difference: −1.1 points</a:t>
            </a:r>
          </a:p>
        </p:txBody>
      </p:sp>
      <p:sp>
        <p:nvSpPr>
          <p:cNvPr id="39" name="">
            <a:extLst xmlns:a="http://schemas.openxmlformats.org/drawingml/2006/main">
              <a:ext uri="{FF2B5EF4-FFF2-40B4-BE49-F238E27FC236}">
                <a16:creationId xmlns:a16="http://schemas.microsoft.com/office/drawing/2014/main" id="{2FB0358C-0220-4E7E-89A6-32122B7A952B}"/>
              </a:ext>
            </a:extLst>
          </p:cNvPr>
          <p:cNvSpPr>
            <a:spLocks xmlns:a="http://schemas.openxmlformats.org/drawingml/2006/main" noGrp="1"/>
          </p:cNvSpPr>
          <p:nvPr/>
        </p:nvSpPr>
        <p:spPr>
          <a:xfrm xmlns:a="http://schemas.openxmlformats.org/drawingml/2006/main">
            <a:off x="933450" y="5429250"/>
            <a:ext cx="895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32238"/>
                </a:solidFill>
              </a:defRPr>
            </a:pPr>
            <a:r>
              <a:rPr sz="1350" b="1" i="0">
                <a:solidFill>
                  <a:srgbClr val="132238"/>
                </a:solidFill>
              </a:rPr>
              <a:t>The task format improves the unit being scored; it does not explain the large distribution changes seen when guidance or LLM version changes.</a:t>
            </a:r>
          </a:p>
        </p:txBody>
      </p:sp>
    </p:spTree>
    <p:extLst>
      <p:ext uri="{BB962C8B-B14F-4D97-AF65-F5344CB8AC3E}">
        <p14:creationId xmlns:p14="http://schemas.microsoft.com/office/powerpoint/2010/main" val="529390988"/>
      </p:ext>
    </p:extLst>
  </p:cSld>
</p:sld>
</file>

<file path=ppt/slides/slide1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3265775-4477-4D31-B3AB-B77DE237391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51891884-86DB-4DCD-897E-EEFA4059F0D5}"/>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SYNTHESIS</a:t>
            </a:r>
          </a:p>
        </p:txBody>
      </p:sp>
      <p:sp>
        <p:nvSpPr>
          <p:cNvPr id="3" name="">
            <a:extLst xmlns:a="http://schemas.openxmlformats.org/drawingml/2006/main">
              <a:ext uri="{FF2B5EF4-FFF2-40B4-BE49-F238E27FC236}">
                <a16:creationId xmlns:a16="http://schemas.microsoft.com/office/drawing/2014/main" id="{E8E1689F-76F0-4A33-B6C7-D105CFAD7994}"/>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Scoring guidance and LLM version drive the result; task format mainly improves operational consistency</a:t>
            </a:r>
          </a:p>
        </p:txBody>
      </p:sp>
      <p:sp>
        <p:nvSpPr>
          <p:cNvPr id="4" name="">
            <a:extLst xmlns:a="http://schemas.openxmlformats.org/drawingml/2006/main">
              <a:ext uri="{FF2B5EF4-FFF2-40B4-BE49-F238E27FC236}">
                <a16:creationId xmlns:a16="http://schemas.microsoft.com/office/drawing/2014/main" id="{F633BA5E-F6FF-45A0-8252-F979DBA5313B}"/>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The ranges below summarize observed matched comparisons. They are not independent, universal effect sizes.</a:t>
            </a:r>
          </a:p>
        </p:txBody>
      </p:sp>
      <p:sp>
        <p:nvSpPr>
          <p:cNvPr id="5" name="">
            <a:extLst xmlns:a="http://schemas.openxmlformats.org/drawingml/2006/main">
              <a:ext uri="{FF2B5EF4-FFF2-40B4-BE49-F238E27FC236}">
                <a16:creationId xmlns:a16="http://schemas.microsoft.com/office/drawing/2014/main" id="{9A917FD7-3F34-4AEC-949C-F597EB651D0F}"/>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22DAE7F6-FC66-4B0F-85E2-00425A6110B0}"/>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04521B2F-3805-4096-A28C-D22E40E6D89F}"/>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14</a:t>
            </a:r>
          </a:p>
        </p:txBody>
      </p:sp>
      <p:sp>
        <p:nvSpPr>
          <p:cNvPr id="8" name="">
            <a:extLst xmlns:a="http://schemas.openxmlformats.org/drawingml/2006/main">
              <a:ext uri="{FF2B5EF4-FFF2-40B4-BE49-F238E27FC236}">
                <a16:creationId xmlns:a16="http://schemas.microsoft.com/office/drawing/2014/main" id="{10F9181A-D6CC-4414-B990-6592976FD945}"/>
              </a:ext>
            </a:extLst>
          </p:cNvPr>
          <p:cNvSpPr>
            <a:spLocks xmlns:a="http://schemas.openxmlformats.org/drawingml/2006/main" noGrp="1"/>
          </p:cNvSpPr>
          <p:nvPr/>
        </p:nvSpPr>
        <p:spPr>
          <a:xfrm xmlns:a="http://schemas.openxmlformats.org/drawingml/2006/main">
            <a:off x="685800" y="23622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32238"/>
                </a:solidFill>
              </a:defRPr>
            </a:pPr>
            <a:r>
              <a:rPr sz="1500" b="1" i="0">
                <a:solidFill>
                  <a:srgbClr val="132238"/>
                </a:solidFill>
              </a:rPr>
              <a:t>Scoring guidance</a:t>
            </a:r>
          </a:p>
        </p:txBody>
      </p:sp>
      <p:sp>
        <p:nvSpPr>
          <p:cNvPr id="9" name="">
            <a:extLst xmlns:a="http://schemas.openxmlformats.org/drawingml/2006/main">
              <a:ext uri="{FF2B5EF4-FFF2-40B4-BE49-F238E27FC236}">
                <a16:creationId xmlns:a16="http://schemas.microsoft.com/office/drawing/2014/main" id="{0EE69D30-E7F7-4468-A24C-5F4DA107D2FF}"/>
              </a:ext>
            </a:extLst>
          </p:cNvPr>
          <p:cNvSpPr>
            <a:spLocks xmlns:a="http://schemas.openxmlformats.org/drawingml/2006/main" noGrp="1"/>
          </p:cNvSpPr>
          <p:nvPr/>
        </p:nvSpPr>
        <p:spPr>
          <a:xfrm xmlns:a="http://schemas.openxmlformats.org/drawingml/2006/main">
            <a:off x="685800" y="26860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87A76"/>
                </a:solidFill>
              </a:defRPr>
            </a:pPr>
            <a:r>
              <a:rPr sz="1200" b="1" i="0">
                <a:solidFill>
                  <a:srgbClr val="087A76"/>
                </a:solidFill>
              </a:rPr>
              <a:t>3.9–35.9 pp</a:t>
            </a:r>
          </a:p>
        </p:txBody>
      </p:sp>
      <p:sp>
        <p:nvSpPr>
          <p:cNvPr id="10" name="">
            <a:extLst xmlns:a="http://schemas.openxmlformats.org/drawingml/2006/main">
              <a:ext uri="{FF2B5EF4-FFF2-40B4-BE49-F238E27FC236}">
                <a16:creationId xmlns:a16="http://schemas.microsoft.com/office/drawing/2014/main" id="{8FB1BD0E-B224-4E2C-A3B4-8A9365C81199}"/>
              </a:ext>
            </a:extLst>
          </p:cNvPr>
          <p:cNvSpPr>
            <a:spLocks xmlns:a="http://schemas.openxmlformats.org/drawingml/2006/main" noGrp="1"/>
          </p:cNvSpPr>
          <p:nvPr/>
        </p:nvSpPr>
        <p:spPr>
          <a:xfrm xmlns:a="http://schemas.openxmlformats.org/drawingml/2006/main">
            <a:off x="3333750" y="2438400"/>
            <a:ext cx="5334000" cy="266700"/>
          </a:xfrm>
          <a:prstGeom xmlns:a="http://schemas.openxmlformats.org/drawingml/2006/main" prst="rect">
            <a:avLst/>
          </a:prstGeom>
          <a:solidFill xmlns:a="http://schemas.openxmlformats.org/drawingml/2006/main">
            <a:srgbClr val="E4E9E9"/>
          </a:solidFill>
          <a:ln xmlns:a="http://schemas.openxmlformats.org/drawingml/2006/main" w="5715">
            <a:solidFill>
              <a:srgbClr val="E4E9E9"/>
            </a:solidFill>
            <a:prstDash val="solid"/>
          </a:ln>
        </p:spPr>
      </p:sp>
      <p:sp>
        <p:nvSpPr>
          <p:cNvPr id="11" name="">
            <a:extLst xmlns:a="http://schemas.openxmlformats.org/drawingml/2006/main">
              <a:ext uri="{FF2B5EF4-FFF2-40B4-BE49-F238E27FC236}">
                <a16:creationId xmlns:a16="http://schemas.microsoft.com/office/drawing/2014/main" id="{7C254D1C-1524-4709-883E-0E99B6B3B819}"/>
              </a:ext>
            </a:extLst>
          </p:cNvPr>
          <p:cNvSpPr>
            <a:spLocks xmlns:a="http://schemas.openxmlformats.org/drawingml/2006/main" noGrp="1"/>
          </p:cNvSpPr>
          <p:nvPr/>
        </p:nvSpPr>
        <p:spPr>
          <a:xfrm xmlns:a="http://schemas.openxmlformats.org/drawingml/2006/main">
            <a:off x="3333750" y="2438400"/>
            <a:ext cx="4787265" cy="2667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12" name="">
            <a:extLst xmlns:a="http://schemas.openxmlformats.org/drawingml/2006/main">
              <a:ext uri="{FF2B5EF4-FFF2-40B4-BE49-F238E27FC236}">
                <a16:creationId xmlns:a16="http://schemas.microsoft.com/office/drawing/2014/main" id="{8915CCBC-66B8-4215-927A-EF93356CE214}"/>
              </a:ext>
            </a:extLst>
          </p:cNvPr>
          <p:cNvSpPr>
            <a:spLocks xmlns:a="http://schemas.openxmlformats.org/drawingml/2006/main" noGrp="1"/>
          </p:cNvSpPr>
          <p:nvPr/>
        </p:nvSpPr>
        <p:spPr>
          <a:xfrm xmlns:a="http://schemas.openxmlformats.org/drawingml/2006/main">
            <a:off x="8953500" y="24574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E7B"/>
                </a:solidFill>
              </a:defRPr>
            </a:pPr>
            <a:r>
              <a:rPr sz="975" b="0" i="0">
                <a:solidFill>
                  <a:srgbClr val="5F6E7B"/>
                </a:solidFill>
              </a:rPr>
              <a:t>Depends on LLM version</a:t>
            </a:r>
          </a:p>
        </p:txBody>
      </p:sp>
      <p:sp>
        <p:nvSpPr>
          <p:cNvPr id="13" name="">
            <a:extLst xmlns:a="http://schemas.openxmlformats.org/drawingml/2006/main">
              <a:ext uri="{FF2B5EF4-FFF2-40B4-BE49-F238E27FC236}">
                <a16:creationId xmlns:a16="http://schemas.microsoft.com/office/drawing/2014/main" id="{B8652A6E-5BD5-4064-B1D7-EC6089617825}"/>
              </a:ext>
            </a:extLst>
          </p:cNvPr>
          <p:cNvSpPr>
            <a:spLocks xmlns:a="http://schemas.openxmlformats.org/drawingml/2006/main" noGrp="1"/>
          </p:cNvSpPr>
          <p:nvPr/>
        </p:nvSpPr>
        <p:spPr>
          <a:xfrm xmlns:a="http://schemas.openxmlformats.org/drawingml/2006/main">
            <a:off x="685800" y="33718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32238"/>
                </a:solidFill>
              </a:defRPr>
            </a:pPr>
            <a:r>
              <a:rPr sz="1500" b="1" i="0">
                <a:solidFill>
                  <a:srgbClr val="132238"/>
                </a:solidFill>
              </a:rPr>
              <a:t>LLM version</a:t>
            </a:r>
          </a:p>
        </p:txBody>
      </p:sp>
      <p:sp>
        <p:nvSpPr>
          <p:cNvPr id="14" name="">
            <a:extLst xmlns:a="http://schemas.openxmlformats.org/drawingml/2006/main">
              <a:ext uri="{FF2B5EF4-FFF2-40B4-BE49-F238E27FC236}">
                <a16:creationId xmlns:a16="http://schemas.microsoft.com/office/drawing/2014/main" id="{638EDDE8-B6BF-4F54-B921-C0DE3CB9F252}"/>
              </a:ext>
            </a:extLst>
          </p:cNvPr>
          <p:cNvSpPr>
            <a:spLocks xmlns:a="http://schemas.openxmlformats.org/drawingml/2006/main" noGrp="1"/>
          </p:cNvSpPr>
          <p:nvPr/>
        </p:nvSpPr>
        <p:spPr>
          <a:xfrm xmlns:a="http://schemas.openxmlformats.org/drawingml/2006/main">
            <a:off x="685800" y="36957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D9771F"/>
                </a:solidFill>
              </a:defRPr>
            </a:pPr>
            <a:r>
              <a:rPr sz="1200" b="1" i="0">
                <a:solidFill>
                  <a:srgbClr val="D9771F"/>
                </a:solidFill>
              </a:rPr>
              <a:t>9.2–38.4 pp</a:t>
            </a:r>
          </a:p>
        </p:txBody>
      </p:sp>
      <p:sp>
        <p:nvSpPr>
          <p:cNvPr id="15" name="">
            <a:extLst xmlns:a="http://schemas.openxmlformats.org/drawingml/2006/main">
              <a:ext uri="{FF2B5EF4-FFF2-40B4-BE49-F238E27FC236}">
                <a16:creationId xmlns:a16="http://schemas.microsoft.com/office/drawing/2014/main" id="{38AE3732-03B7-4130-BE90-CF0D28A1349A}"/>
              </a:ext>
            </a:extLst>
          </p:cNvPr>
          <p:cNvSpPr>
            <a:spLocks xmlns:a="http://schemas.openxmlformats.org/drawingml/2006/main" noGrp="1"/>
          </p:cNvSpPr>
          <p:nvPr/>
        </p:nvSpPr>
        <p:spPr>
          <a:xfrm xmlns:a="http://schemas.openxmlformats.org/drawingml/2006/main">
            <a:off x="3333750" y="3448050"/>
            <a:ext cx="5334000" cy="266700"/>
          </a:xfrm>
          <a:prstGeom xmlns:a="http://schemas.openxmlformats.org/drawingml/2006/main" prst="rect">
            <a:avLst/>
          </a:prstGeom>
          <a:solidFill xmlns:a="http://schemas.openxmlformats.org/drawingml/2006/main">
            <a:srgbClr val="E4E9E9"/>
          </a:solidFill>
          <a:ln xmlns:a="http://schemas.openxmlformats.org/drawingml/2006/main" w="5715">
            <a:solidFill>
              <a:srgbClr val="E4E9E9"/>
            </a:solidFill>
            <a:prstDash val="solid"/>
          </a:ln>
        </p:spPr>
      </p:sp>
      <p:sp>
        <p:nvSpPr>
          <p:cNvPr id="16" name="">
            <a:extLst xmlns:a="http://schemas.openxmlformats.org/drawingml/2006/main">
              <a:ext uri="{FF2B5EF4-FFF2-40B4-BE49-F238E27FC236}">
                <a16:creationId xmlns:a16="http://schemas.microsoft.com/office/drawing/2014/main" id="{908DF541-2A52-43C4-AB21-AED232625C35}"/>
              </a:ext>
            </a:extLst>
          </p:cNvPr>
          <p:cNvSpPr>
            <a:spLocks xmlns:a="http://schemas.openxmlformats.org/drawingml/2006/main" noGrp="1"/>
          </p:cNvSpPr>
          <p:nvPr/>
        </p:nvSpPr>
        <p:spPr>
          <a:xfrm xmlns:a="http://schemas.openxmlformats.org/drawingml/2006/main">
            <a:off x="3333750" y="3448050"/>
            <a:ext cx="5120640" cy="2667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17" name="">
            <a:extLst xmlns:a="http://schemas.openxmlformats.org/drawingml/2006/main">
              <a:ext uri="{FF2B5EF4-FFF2-40B4-BE49-F238E27FC236}">
                <a16:creationId xmlns:a16="http://schemas.microsoft.com/office/drawing/2014/main" id="{66CEF46E-7454-4C55-8084-9C60273F3B9B}"/>
              </a:ext>
            </a:extLst>
          </p:cNvPr>
          <p:cNvSpPr>
            <a:spLocks xmlns:a="http://schemas.openxmlformats.org/drawingml/2006/main" noGrp="1"/>
          </p:cNvSpPr>
          <p:nvPr/>
        </p:nvSpPr>
        <p:spPr>
          <a:xfrm xmlns:a="http://schemas.openxmlformats.org/drawingml/2006/main">
            <a:off x="8953500" y="346710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E7B"/>
                </a:solidFill>
              </a:defRPr>
            </a:pPr>
            <a:r>
              <a:rPr sz="975" b="0" i="0">
                <a:solidFill>
                  <a:srgbClr val="5F6E7B"/>
                </a:solidFill>
              </a:rPr>
              <a:t>Depends on scoring guidance</a:t>
            </a:r>
          </a:p>
        </p:txBody>
      </p:sp>
      <p:sp>
        <p:nvSpPr>
          <p:cNvPr id="18" name="">
            <a:extLst xmlns:a="http://schemas.openxmlformats.org/drawingml/2006/main">
              <a:ext uri="{FF2B5EF4-FFF2-40B4-BE49-F238E27FC236}">
                <a16:creationId xmlns:a16="http://schemas.microsoft.com/office/drawing/2014/main" id="{15B8B30B-8F85-404E-BD52-ACAC853C511F}"/>
              </a:ext>
            </a:extLst>
          </p:cNvPr>
          <p:cNvSpPr>
            <a:spLocks xmlns:a="http://schemas.openxmlformats.org/drawingml/2006/main" noGrp="1"/>
          </p:cNvSpPr>
          <p:nvPr/>
        </p:nvSpPr>
        <p:spPr>
          <a:xfrm xmlns:a="http://schemas.openxmlformats.org/drawingml/2006/main">
            <a:off x="685800" y="4381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32238"/>
                </a:solidFill>
              </a:defRPr>
            </a:pPr>
            <a:r>
              <a:rPr sz="1500" b="1" i="0">
                <a:solidFill>
                  <a:srgbClr val="132238"/>
                </a:solidFill>
              </a:rPr>
              <a:t>Task format</a:t>
            </a:r>
          </a:p>
        </p:txBody>
      </p:sp>
      <p:sp>
        <p:nvSpPr>
          <p:cNvPr id="19" name="">
            <a:extLst xmlns:a="http://schemas.openxmlformats.org/drawingml/2006/main">
              <a:ext uri="{FF2B5EF4-FFF2-40B4-BE49-F238E27FC236}">
                <a16:creationId xmlns:a16="http://schemas.microsoft.com/office/drawing/2014/main" id="{F7850FE3-A454-4951-93DD-2D9F1CA6D5F1}"/>
              </a:ext>
            </a:extLst>
          </p:cNvPr>
          <p:cNvSpPr>
            <a:spLocks xmlns:a="http://schemas.openxmlformats.org/drawingml/2006/main" noGrp="1"/>
          </p:cNvSpPr>
          <p:nvPr/>
        </p:nvSpPr>
        <p:spPr>
          <a:xfrm xmlns:a="http://schemas.openxmlformats.org/drawingml/2006/main">
            <a:off x="685800" y="47053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24547A"/>
                </a:solidFill>
              </a:defRPr>
            </a:pPr>
            <a:r>
              <a:rPr sz="1200" b="1" i="0">
                <a:solidFill>
                  <a:srgbClr val="24547A"/>
                </a:solidFill>
              </a:rPr>
              <a:t>0.1–3.1 pp</a:t>
            </a:r>
          </a:p>
        </p:txBody>
      </p:sp>
      <p:sp>
        <p:nvSpPr>
          <p:cNvPr id="20" name="">
            <a:extLst xmlns:a="http://schemas.openxmlformats.org/drawingml/2006/main">
              <a:ext uri="{FF2B5EF4-FFF2-40B4-BE49-F238E27FC236}">
                <a16:creationId xmlns:a16="http://schemas.microsoft.com/office/drawing/2014/main" id="{49E1A208-AB92-4A4A-845C-6E90574D226D}"/>
              </a:ext>
            </a:extLst>
          </p:cNvPr>
          <p:cNvSpPr>
            <a:spLocks xmlns:a="http://schemas.openxmlformats.org/drawingml/2006/main" noGrp="1"/>
          </p:cNvSpPr>
          <p:nvPr/>
        </p:nvSpPr>
        <p:spPr>
          <a:xfrm xmlns:a="http://schemas.openxmlformats.org/drawingml/2006/main">
            <a:off x="3333750" y="4457700"/>
            <a:ext cx="5334000" cy="266700"/>
          </a:xfrm>
          <a:prstGeom xmlns:a="http://schemas.openxmlformats.org/drawingml/2006/main" prst="rect">
            <a:avLst/>
          </a:prstGeom>
          <a:solidFill xmlns:a="http://schemas.openxmlformats.org/drawingml/2006/main">
            <a:srgbClr val="E4E9E9"/>
          </a:solidFill>
          <a:ln xmlns:a="http://schemas.openxmlformats.org/drawingml/2006/main" w="5715">
            <a:solidFill>
              <a:srgbClr val="E4E9E9"/>
            </a:solidFill>
            <a:prstDash val="solid"/>
          </a:ln>
        </p:spPr>
      </p:sp>
      <p:sp>
        <p:nvSpPr>
          <p:cNvPr id="21" name="">
            <a:extLst xmlns:a="http://schemas.openxmlformats.org/drawingml/2006/main">
              <a:ext uri="{FF2B5EF4-FFF2-40B4-BE49-F238E27FC236}">
                <a16:creationId xmlns:a16="http://schemas.microsoft.com/office/drawing/2014/main" id="{ACEC9630-3369-4246-8D4B-1632A8CF4A1C}"/>
              </a:ext>
            </a:extLst>
          </p:cNvPr>
          <p:cNvSpPr>
            <a:spLocks xmlns:a="http://schemas.openxmlformats.org/drawingml/2006/main" noGrp="1"/>
          </p:cNvSpPr>
          <p:nvPr/>
        </p:nvSpPr>
        <p:spPr>
          <a:xfrm xmlns:a="http://schemas.openxmlformats.org/drawingml/2006/main">
            <a:off x="3333750" y="4457700"/>
            <a:ext cx="413385" cy="266700"/>
          </a:xfrm>
          <a:prstGeom xmlns:a="http://schemas.openxmlformats.org/drawingml/2006/main" prst="rect">
            <a:avLst/>
          </a:prstGeom>
          <a:solidFill xmlns:a="http://schemas.openxmlformats.org/drawingml/2006/main">
            <a:srgbClr val="24547A"/>
          </a:solidFill>
          <a:ln xmlns:a="http://schemas.openxmlformats.org/drawingml/2006/main" w="5715">
            <a:solidFill>
              <a:srgbClr val="24547A"/>
            </a:solidFill>
            <a:prstDash val="solid"/>
          </a:ln>
        </p:spPr>
      </p:sp>
      <p:sp>
        <p:nvSpPr>
          <p:cNvPr id="22" name="">
            <a:extLst xmlns:a="http://schemas.openxmlformats.org/drawingml/2006/main">
              <a:ext uri="{FF2B5EF4-FFF2-40B4-BE49-F238E27FC236}">
                <a16:creationId xmlns:a16="http://schemas.microsoft.com/office/drawing/2014/main" id="{AD4D2EA7-A35E-4FE1-9A1B-625E7D6A17CE}"/>
              </a:ext>
            </a:extLst>
          </p:cNvPr>
          <p:cNvSpPr>
            <a:spLocks xmlns:a="http://schemas.openxmlformats.org/drawingml/2006/main" noGrp="1"/>
          </p:cNvSpPr>
          <p:nvPr/>
        </p:nvSpPr>
        <p:spPr>
          <a:xfrm xmlns:a="http://schemas.openxmlformats.org/drawingml/2006/main">
            <a:off x="8953500" y="44767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E7B"/>
                </a:solidFill>
              </a:defRPr>
            </a:pPr>
            <a:r>
              <a:rPr sz="975" b="0" i="0">
                <a:solidFill>
                  <a:srgbClr val="5F6E7B"/>
                </a:solidFill>
              </a:rPr>
              <a:t>Parent-weighted linked comparison</a:t>
            </a:r>
          </a:p>
        </p:txBody>
      </p:sp>
      <p:sp>
        <p:nvSpPr>
          <p:cNvPr id="23" name="">
            <a:extLst xmlns:a="http://schemas.openxmlformats.org/drawingml/2006/main">
              <a:ext uri="{FF2B5EF4-FFF2-40B4-BE49-F238E27FC236}">
                <a16:creationId xmlns:a16="http://schemas.microsoft.com/office/drawing/2014/main" id="{DD09DFE6-86C5-4775-8829-60BE1FD57597}"/>
              </a:ext>
            </a:extLst>
          </p:cNvPr>
          <p:cNvSpPr>
            <a:spLocks xmlns:a="http://schemas.openxmlformats.org/drawingml/2006/main" noGrp="1"/>
          </p:cNvSpPr>
          <p:nvPr/>
        </p:nvSpPr>
        <p:spPr>
          <a:xfrm xmlns:a="http://schemas.openxmlformats.org/drawingml/2006/main">
            <a:off x="685800" y="5467350"/>
            <a:ext cx="10172700" cy="476250"/>
          </a:xfrm>
          <a:prstGeom xmlns:a="http://schemas.openxmlformats.org/drawingml/2006/main" prst="rect">
            <a:avLst/>
          </a:prstGeom>
          <a:solidFill xmlns:a="http://schemas.openxmlformats.org/drawingml/2006/main">
            <a:srgbClr val="E1F0EC"/>
          </a:solidFill>
          <a:ln xmlns:a="http://schemas.openxmlformats.org/drawingml/2006/main" w="5715">
            <a:solidFill>
              <a:srgbClr val="E1F0EC"/>
            </a:solidFill>
            <a:prstDash val="solid"/>
          </a:ln>
        </p:spPr>
      </p:sp>
      <p:sp>
        <p:nvSpPr>
          <p:cNvPr id="24" name="">
            <a:extLst xmlns:a="http://schemas.openxmlformats.org/drawingml/2006/main">
              <a:ext uri="{FF2B5EF4-FFF2-40B4-BE49-F238E27FC236}">
                <a16:creationId xmlns:a16="http://schemas.microsoft.com/office/drawing/2014/main" id="{B527CF8A-B3E5-4AE0-B694-6028B8EEE97D}"/>
              </a:ext>
            </a:extLst>
          </p:cNvPr>
          <p:cNvSpPr>
            <a:spLocks xmlns:a="http://schemas.openxmlformats.org/drawingml/2006/main" noGrp="1"/>
          </p:cNvSpPr>
          <p:nvPr/>
        </p:nvSpPr>
        <p:spPr>
          <a:xfrm xmlns:a="http://schemas.openxmlformats.org/drawingml/2006/main">
            <a:off x="685800" y="5467350"/>
            <a:ext cx="76200" cy="47625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5" name="">
            <a:extLst xmlns:a="http://schemas.openxmlformats.org/drawingml/2006/main">
              <a:ext uri="{FF2B5EF4-FFF2-40B4-BE49-F238E27FC236}">
                <a16:creationId xmlns:a16="http://schemas.microsoft.com/office/drawing/2014/main" id="{17AD8381-C70D-4C77-9A67-FD671261C5EF}"/>
              </a:ext>
            </a:extLst>
          </p:cNvPr>
          <p:cNvSpPr>
            <a:spLocks xmlns:a="http://schemas.openxmlformats.org/drawingml/2006/main" noGrp="1"/>
          </p:cNvSpPr>
          <p:nvPr/>
        </p:nvSpPr>
        <p:spPr>
          <a:xfrm xmlns:a="http://schemas.openxmlformats.org/drawingml/2006/main">
            <a:off x="952500" y="5600700"/>
            <a:ext cx="9696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238"/>
                </a:solidFill>
              </a:defRPr>
            </a:pPr>
            <a:r>
              <a:rPr sz="1275" b="1" i="0">
                <a:solidFill>
                  <a:srgbClr val="132238"/>
                </a:solidFill>
              </a:rPr>
              <a:t>Approve scoring guidance and LLM version as one method; choose task format for operational clarity and traceability.</a:t>
            </a:r>
          </a:p>
        </p:txBody>
      </p:sp>
    </p:spTree>
    <p:extLst>
      <p:ext uri="{BB962C8B-B14F-4D97-AF65-F5344CB8AC3E}">
        <p14:creationId xmlns:p14="http://schemas.microsoft.com/office/powerpoint/2010/main" val="1075113996"/>
      </p:ext>
    </p:extLst>
  </p:cSld>
</p:sld>
</file>

<file path=ppt/slides/slide1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2395E06-EF67-4A28-8636-C7020ADFB4D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32B4B815-5DFA-40E4-95F8-B917B94EF98B}"/>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GOVERNANCE IMPLICATION</a:t>
            </a:r>
          </a:p>
        </p:txBody>
      </p:sp>
      <p:sp>
        <p:nvSpPr>
          <p:cNvPr id="3" name="">
            <a:extLst xmlns:a="http://schemas.openxmlformats.org/drawingml/2006/main">
              <a:ext uri="{FF2B5EF4-FFF2-40B4-BE49-F238E27FC236}">
                <a16:creationId xmlns:a16="http://schemas.microsoft.com/office/drawing/2014/main" id="{54C3D09D-CA5D-403F-93F1-AAD73EE69559}"/>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The historical dashboard and live tool should remain separate, versioned measures</a:t>
            </a:r>
          </a:p>
        </p:txBody>
      </p:sp>
      <p:sp>
        <p:nvSpPr>
          <p:cNvPr id="4" name="">
            <a:extLst xmlns:a="http://schemas.openxmlformats.org/drawingml/2006/main">
              <a:ext uri="{FF2B5EF4-FFF2-40B4-BE49-F238E27FC236}">
                <a16:creationId xmlns:a16="http://schemas.microsoft.com/office/drawing/2014/main" id="{590B1951-57EA-4C7A-A382-D446CF763884}"/>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Their purposes differ: one is a published historical statistic; the other is an operational task-level decision tool.</a:t>
            </a:r>
          </a:p>
        </p:txBody>
      </p:sp>
      <p:sp>
        <p:nvSpPr>
          <p:cNvPr id="5" name="">
            <a:extLst xmlns:a="http://schemas.openxmlformats.org/drawingml/2006/main">
              <a:ext uri="{FF2B5EF4-FFF2-40B4-BE49-F238E27FC236}">
                <a16:creationId xmlns:a16="http://schemas.microsoft.com/office/drawing/2014/main" id="{E3D2DC34-EFD9-4E50-926C-A1035D545D2E}"/>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A9585B17-2593-4EA6-8924-265A0BFC8CEE}"/>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86A8B7C0-A72B-4FFD-AB2B-26AD852B6071}"/>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15</a:t>
            </a:r>
          </a:p>
        </p:txBody>
      </p:sp>
      <p:sp>
        <p:nvSpPr>
          <p:cNvPr id="8" name="">
            <a:extLst xmlns:a="http://schemas.openxmlformats.org/drawingml/2006/main">
              <a:ext uri="{FF2B5EF4-FFF2-40B4-BE49-F238E27FC236}">
                <a16:creationId xmlns:a16="http://schemas.microsoft.com/office/drawing/2014/main" id="{4AEC1167-B6FA-4C47-A6CE-6C14E57B42E9}"/>
              </a:ext>
            </a:extLst>
          </p:cNvPr>
          <p:cNvSpPr>
            <a:spLocks xmlns:a="http://schemas.openxmlformats.org/drawingml/2006/main" noGrp="1"/>
          </p:cNvSpPr>
          <p:nvPr/>
        </p:nvSpPr>
        <p:spPr>
          <a:xfrm xmlns:a="http://schemas.openxmlformats.org/drawingml/2006/main">
            <a:off x="685800" y="20955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HISTORICAL DASHBOARD</a:t>
            </a:r>
          </a:p>
        </p:txBody>
      </p:sp>
      <p:sp>
        <p:nvSpPr>
          <p:cNvPr id="9" name="">
            <a:extLst xmlns:a="http://schemas.openxmlformats.org/drawingml/2006/main">
              <a:ext uri="{FF2B5EF4-FFF2-40B4-BE49-F238E27FC236}">
                <a16:creationId xmlns:a16="http://schemas.microsoft.com/office/drawing/2014/main" id="{6A057AFB-9890-4636-8AE4-95B196A08ADB}"/>
              </a:ext>
            </a:extLst>
          </p:cNvPr>
          <p:cNvSpPr>
            <a:spLocks xmlns:a="http://schemas.openxmlformats.org/drawingml/2006/main" noGrp="1"/>
          </p:cNvSpPr>
          <p:nvPr/>
        </p:nvSpPr>
        <p:spPr>
          <a:xfrm xmlns:a="http://schemas.openxmlformats.org/drawingml/2006/main">
            <a:off x="685800" y="247650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i="0">
                <a:solidFill>
                  <a:srgbClr val="132238"/>
                </a:solidFill>
              </a:defRPr>
            </a:pPr>
            <a:r>
              <a:rPr sz="2175" b="1" i="0">
                <a:solidFill>
                  <a:srgbClr val="132238"/>
                </a:solidFill>
              </a:rPr>
              <a:t>Preserve 23.6% impacted as the published historical result</a:t>
            </a:r>
          </a:p>
        </p:txBody>
      </p:sp>
      <p:sp>
        <p:nvSpPr>
          <p:cNvPr id="10" name="">
            <a:extLst xmlns:a="http://schemas.openxmlformats.org/drawingml/2006/main">
              <a:ext uri="{FF2B5EF4-FFF2-40B4-BE49-F238E27FC236}">
                <a16:creationId xmlns:a16="http://schemas.microsoft.com/office/drawing/2014/main" id="{9750D163-1DA8-4C8C-B72B-E1691A51B73C}"/>
              </a:ext>
            </a:extLst>
          </p:cNvPr>
          <p:cNvSpPr>
            <a:spLocks xmlns:a="http://schemas.openxmlformats.org/drawingml/2006/main" noGrp="1"/>
          </p:cNvSpPr>
          <p:nvPr/>
        </p:nvSpPr>
        <p:spPr>
          <a:xfrm xmlns:a="http://schemas.openxmlformats.org/drawingml/2006/main">
            <a:off x="685800" y="3486150"/>
            <a:ext cx="76200" cy="76200"/>
          </a:xfrm>
          <a:prstGeom xmlns:a="http://schemas.openxmlformats.org/drawingml/2006/main" prst="ellipse">
            <a:avLst/>
          </a:prstGeom>
          <a:solidFill xmlns:a="http://schemas.openxmlformats.org/drawingml/2006/main">
            <a:srgbClr val="087A76"/>
          </a:solidFill>
          <a:ln xmlns:a="http://schemas.openxmlformats.org/drawingml/2006/main" w="9525">
            <a:solidFill>
              <a:srgbClr val="087A76"/>
            </a:solidFill>
            <a:prstDash val="solid"/>
          </a:ln>
        </p:spPr>
      </p:sp>
      <p:sp>
        <p:nvSpPr>
          <p:cNvPr id="11" name="">
            <a:extLst xmlns:a="http://schemas.openxmlformats.org/drawingml/2006/main">
              <a:ext uri="{FF2B5EF4-FFF2-40B4-BE49-F238E27FC236}">
                <a16:creationId xmlns:a16="http://schemas.microsoft.com/office/drawing/2014/main" id="{BD4639F4-E61A-4CC0-8CC8-852EA0DE9F32}"/>
              </a:ext>
            </a:extLst>
          </p:cNvPr>
          <p:cNvSpPr>
            <a:spLocks xmlns:a="http://schemas.openxmlformats.org/drawingml/2006/main" noGrp="1"/>
          </p:cNvSpPr>
          <p:nvPr/>
        </p:nvSpPr>
        <p:spPr>
          <a:xfrm xmlns:a="http://schemas.openxmlformats.org/drawingml/2006/main">
            <a:off x="876300" y="3429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238"/>
                </a:solidFill>
              </a:defRPr>
            </a:pPr>
            <a:r>
              <a:rPr sz="1275" b="0" i="0">
                <a:solidFill>
                  <a:srgbClr val="132238"/>
                </a:solidFill>
              </a:rPr>
              <a:t>Historical dashboard guidance + GPT-4o + original task wording</a:t>
            </a:r>
          </a:p>
        </p:txBody>
      </p:sp>
      <p:sp>
        <p:nvSpPr>
          <p:cNvPr id="12" name="">
            <a:extLst xmlns:a="http://schemas.openxmlformats.org/drawingml/2006/main">
              <a:ext uri="{FF2B5EF4-FFF2-40B4-BE49-F238E27FC236}">
                <a16:creationId xmlns:a16="http://schemas.microsoft.com/office/drawing/2014/main" id="{581164CF-417A-4691-BD16-CE23C733EA40}"/>
              </a:ext>
            </a:extLst>
          </p:cNvPr>
          <p:cNvSpPr>
            <a:spLocks xmlns:a="http://schemas.openxmlformats.org/drawingml/2006/main" noGrp="1"/>
          </p:cNvSpPr>
          <p:nvPr/>
        </p:nvSpPr>
        <p:spPr>
          <a:xfrm xmlns:a="http://schemas.openxmlformats.org/drawingml/2006/main">
            <a:off x="685800" y="3914775"/>
            <a:ext cx="76200" cy="76200"/>
          </a:xfrm>
          <a:prstGeom xmlns:a="http://schemas.openxmlformats.org/drawingml/2006/main" prst="ellipse">
            <a:avLst/>
          </a:prstGeom>
          <a:solidFill xmlns:a="http://schemas.openxmlformats.org/drawingml/2006/main">
            <a:srgbClr val="087A76"/>
          </a:solidFill>
          <a:ln xmlns:a="http://schemas.openxmlformats.org/drawingml/2006/main" w="9525">
            <a:solidFill>
              <a:srgbClr val="087A76"/>
            </a:solidFill>
            <a:prstDash val="solid"/>
          </a:ln>
        </p:spPr>
      </p:sp>
      <p:sp>
        <p:nvSpPr>
          <p:cNvPr id="13" name="">
            <a:extLst xmlns:a="http://schemas.openxmlformats.org/drawingml/2006/main">
              <a:ext uri="{FF2B5EF4-FFF2-40B4-BE49-F238E27FC236}">
                <a16:creationId xmlns:a16="http://schemas.microsoft.com/office/drawing/2014/main" id="{3622D931-BDB2-4FC3-AF9A-F2D2E326DE3D}"/>
              </a:ext>
            </a:extLst>
          </p:cNvPr>
          <p:cNvSpPr>
            <a:spLocks xmlns:a="http://schemas.openxmlformats.org/drawingml/2006/main" noGrp="1"/>
          </p:cNvSpPr>
          <p:nvPr/>
        </p:nvSpPr>
        <p:spPr>
          <a:xfrm xmlns:a="http://schemas.openxmlformats.org/drawingml/2006/main">
            <a:off x="876300" y="38576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238"/>
                </a:solidFill>
              </a:defRPr>
            </a:pPr>
            <a:r>
              <a:rPr sz="1275" b="0" i="0">
                <a:solidFill>
                  <a:srgbClr val="132238"/>
                </a:solidFill>
              </a:rPr>
              <a:t>Use for continuity, audit and transparent historical reference</a:t>
            </a:r>
          </a:p>
        </p:txBody>
      </p:sp>
      <p:sp>
        <p:nvSpPr>
          <p:cNvPr id="14" name="">
            <a:extLst xmlns:a="http://schemas.openxmlformats.org/drawingml/2006/main">
              <a:ext uri="{FF2B5EF4-FFF2-40B4-BE49-F238E27FC236}">
                <a16:creationId xmlns:a16="http://schemas.microsoft.com/office/drawing/2014/main" id="{88CB74F0-13B8-4D96-BEBB-BB52F7BB6508}"/>
              </a:ext>
            </a:extLst>
          </p:cNvPr>
          <p:cNvSpPr>
            <a:spLocks xmlns:a="http://schemas.openxmlformats.org/drawingml/2006/main" noGrp="1"/>
          </p:cNvSpPr>
          <p:nvPr/>
        </p:nvSpPr>
        <p:spPr>
          <a:xfrm xmlns:a="http://schemas.openxmlformats.org/drawingml/2006/main">
            <a:off x="5715000" y="2095500"/>
            <a:ext cx="0" cy="2952750"/>
          </a:xfrm>
          <a:prstGeom xmlns:a="http://schemas.openxmlformats.org/drawingml/2006/main" prst="line">
            <a:avLst/>
          </a:prstGeom>
          <a:noFill xmlns:a="http://schemas.openxmlformats.org/drawingml/2006/main"/>
          <a:ln xmlns:a="http://schemas.openxmlformats.org/drawingml/2006/main" w="19050">
            <a:solidFill>
              <a:srgbClr val="D5DCDD"/>
            </a:solidFill>
            <a:prstDash val="solid"/>
          </a:ln>
        </p:spPr>
      </p:sp>
      <p:sp>
        <p:nvSpPr>
          <p:cNvPr id="15" name="">
            <a:extLst xmlns:a="http://schemas.openxmlformats.org/drawingml/2006/main">
              <a:ext uri="{FF2B5EF4-FFF2-40B4-BE49-F238E27FC236}">
                <a16:creationId xmlns:a16="http://schemas.microsoft.com/office/drawing/2014/main" id="{19901C4C-D897-4BBA-B1FA-95F2F1F35F94}"/>
              </a:ext>
            </a:extLst>
          </p:cNvPr>
          <p:cNvSpPr>
            <a:spLocks xmlns:a="http://schemas.openxmlformats.org/drawingml/2006/main" noGrp="1"/>
          </p:cNvSpPr>
          <p:nvPr/>
        </p:nvSpPr>
        <p:spPr>
          <a:xfrm xmlns:a="http://schemas.openxmlformats.org/drawingml/2006/main">
            <a:off x="6381750" y="20955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D9771F"/>
                </a:solidFill>
              </a:defRPr>
            </a:pPr>
            <a:r>
              <a:rPr sz="900" b="1" i="0">
                <a:solidFill>
                  <a:srgbClr val="D9771F"/>
                </a:solidFill>
              </a:rPr>
              <a:t>LIVE JOB-REDESIGN TOOL</a:t>
            </a:r>
          </a:p>
        </p:txBody>
      </p:sp>
      <p:sp>
        <p:nvSpPr>
          <p:cNvPr id="16" name="">
            <a:extLst xmlns:a="http://schemas.openxmlformats.org/drawingml/2006/main">
              <a:ext uri="{FF2B5EF4-FFF2-40B4-BE49-F238E27FC236}">
                <a16:creationId xmlns:a16="http://schemas.microsoft.com/office/drawing/2014/main" id="{CD631CD9-9BB0-4854-8B5A-B65BB423B4F2}"/>
              </a:ext>
            </a:extLst>
          </p:cNvPr>
          <p:cNvSpPr>
            <a:spLocks xmlns:a="http://schemas.openxmlformats.org/drawingml/2006/main" noGrp="1"/>
          </p:cNvSpPr>
          <p:nvPr/>
        </p:nvSpPr>
        <p:spPr>
          <a:xfrm xmlns:a="http://schemas.openxmlformats.org/drawingml/2006/main">
            <a:off x="6381750" y="247650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i="0">
                <a:solidFill>
                  <a:srgbClr val="132238"/>
                </a:solidFill>
              </a:defRPr>
            </a:pPr>
            <a:r>
              <a:rPr sz="2175" b="1" i="0">
                <a:solidFill>
                  <a:srgbClr val="132238"/>
                </a:solidFill>
              </a:rPr>
              <a:t>Approve a current scoring method for the live operational workflow</a:t>
            </a:r>
          </a:p>
        </p:txBody>
      </p:sp>
      <p:sp>
        <p:nvSpPr>
          <p:cNvPr id="17" name="">
            <a:extLst xmlns:a="http://schemas.openxmlformats.org/drawingml/2006/main">
              <a:ext uri="{FF2B5EF4-FFF2-40B4-BE49-F238E27FC236}">
                <a16:creationId xmlns:a16="http://schemas.microsoft.com/office/drawing/2014/main" id="{0DD0C6C5-AFB3-4E76-AE69-091D0F7A86E8}"/>
              </a:ext>
            </a:extLst>
          </p:cNvPr>
          <p:cNvSpPr>
            <a:spLocks xmlns:a="http://schemas.openxmlformats.org/drawingml/2006/main" noGrp="1"/>
          </p:cNvSpPr>
          <p:nvPr/>
        </p:nvSpPr>
        <p:spPr>
          <a:xfrm xmlns:a="http://schemas.openxmlformats.org/drawingml/2006/main">
            <a:off x="6381750" y="3486150"/>
            <a:ext cx="76200" cy="76200"/>
          </a:xfrm>
          <a:prstGeom xmlns:a="http://schemas.openxmlformats.org/drawingml/2006/main" prst="ellipse">
            <a:avLst/>
          </a:prstGeom>
          <a:solidFill xmlns:a="http://schemas.openxmlformats.org/drawingml/2006/main">
            <a:srgbClr val="D9771F"/>
          </a:solidFill>
          <a:ln xmlns:a="http://schemas.openxmlformats.org/drawingml/2006/main" w="9525">
            <a:solidFill>
              <a:srgbClr val="D9771F"/>
            </a:solidFill>
            <a:prstDash val="solid"/>
          </a:ln>
        </p:spPr>
      </p:sp>
      <p:sp>
        <p:nvSpPr>
          <p:cNvPr id="18" name="">
            <a:extLst xmlns:a="http://schemas.openxmlformats.org/drawingml/2006/main">
              <a:ext uri="{FF2B5EF4-FFF2-40B4-BE49-F238E27FC236}">
                <a16:creationId xmlns:a16="http://schemas.microsoft.com/office/drawing/2014/main" id="{4AF7E50B-F1EE-4FB7-9461-7622003D56E8}"/>
              </a:ext>
            </a:extLst>
          </p:cNvPr>
          <p:cNvSpPr>
            <a:spLocks xmlns:a="http://schemas.openxmlformats.org/drawingml/2006/main" noGrp="1"/>
          </p:cNvSpPr>
          <p:nvPr/>
        </p:nvSpPr>
        <p:spPr>
          <a:xfrm xmlns:a="http://schemas.openxmlformats.org/drawingml/2006/main">
            <a:off x="6572250" y="3429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238"/>
                </a:solidFill>
              </a:defRPr>
            </a:pPr>
            <a:r>
              <a:rPr sz="1275" b="0" i="0">
                <a:solidFill>
                  <a:srgbClr val="132238"/>
                </a:solidFill>
              </a:rPr>
              <a:t>Current POC guidance + GPT-5.2 + normalized/decomposed task</a:t>
            </a:r>
          </a:p>
        </p:txBody>
      </p:sp>
      <p:sp>
        <p:nvSpPr>
          <p:cNvPr id="19" name="">
            <a:extLst xmlns:a="http://schemas.openxmlformats.org/drawingml/2006/main">
              <a:ext uri="{FF2B5EF4-FFF2-40B4-BE49-F238E27FC236}">
                <a16:creationId xmlns:a16="http://schemas.microsoft.com/office/drawing/2014/main" id="{E43B44CA-00B1-4FA5-A8B8-0EE19A30E3E8}"/>
              </a:ext>
            </a:extLst>
          </p:cNvPr>
          <p:cNvSpPr>
            <a:spLocks xmlns:a="http://schemas.openxmlformats.org/drawingml/2006/main" noGrp="1"/>
          </p:cNvSpPr>
          <p:nvPr/>
        </p:nvSpPr>
        <p:spPr>
          <a:xfrm xmlns:a="http://schemas.openxmlformats.org/drawingml/2006/main">
            <a:off x="6381750" y="3914775"/>
            <a:ext cx="76200" cy="76200"/>
          </a:xfrm>
          <a:prstGeom xmlns:a="http://schemas.openxmlformats.org/drawingml/2006/main" prst="ellipse">
            <a:avLst/>
          </a:prstGeom>
          <a:solidFill xmlns:a="http://schemas.openxmlformats.org/drawingml/2006/main">
            <a:srgbClr val="D9771F"/>
          </a:solidFill>
          <a:ln xmlns:a="http://schemas.openxmlformats.org/drawingml/2006/main" w="9525">
            <a:solidFill>
              <a:srgbClr val="D9771F"/>
            </a:solidFill>
            <a:prstDash val="solid"/>
          </a:ln>
        </p:spPr>
      </p:sp>
      <p:sp>
        <p:nvSpPr>
          <p:cNvPr id="20" name="">
            <a:extLst xmlns:a="http://schemas.openxmlformats.org/drawingml/2006/main">
              <a:ext uri="{FF2B5EF4-FFF2-40B4-BE49-F238E27FC236}">
                <a16:creationId xmlns:a16="http://schemas.microsoft.com/office/drawing/2014/main" id="{92AF85EF-747C-4820-92C9-0559B698C215}"/>
              </a:ext>
            </a:extLst>
          </p:cNvPr>
          <p:cNvSpPr>
            <a:spLocks xmlns:a="http://schemas.openxmlformats.org/drawingml/2006/main" noGrp="1"/>
          </p:cNvSpPr>
          <p:nvPr/>
        </p:nvSpPr>
        <p:spPr>
          <a:xfrm xmlns:a="http://schemas.openxmlformats.org/drawingml/2006/main">
            <a:off x="6572250" y="38576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238"/>
                </a:solidFill>
              </a:defRPr>
            </a:pPr>
            <a:r>
              <a:rPr sz="1275" b="0" i="0">
                <a:solidFill>
                  <a:srgbClr val="132238"/>
                </a:solidFill>
              </a:rPr>
              <a:t>Versioned training labels, ML model and monitoring controls</a:t>
            </a:r>
          </a:p>
        </p:txBody>
      </p:sp>
      <p:sp>
        <p:nvSpPr>
          <p:cNvPr id="21" name="">
            <a:extLst xmlns:a="http://schemas.openxmlformats.org/drawingml/2006/main">
              <a:ext uri="{FF2B5EF4-FFF2-40B4-BE49-F238E27FC236}">
                <a16:creationId xmlns:a16="http://schemas.microsoft.com/office/drawing/2014/main" id="{3CCECFF6-CE92-465C-B941-53A98C43AF1C}"/>
              </a:ext>
            </a:extLst>
          </p:cNvPr>
          <p:cNvSpPr>
            <a:spLocks xmlns:a="http://schemas.openxmlformats.org/drawingml/2006/main" noGrp="1"/>
          </p:cNvSpPr>
          <p:nvPr/>
        </p:nvSpPr>
        <p:spPr>
          <a:xfrm xmlns:a="http://schemas.openxmlformats.org/drawingml/2006/main">
            <a:off x="685800" y="5391150"/>
            <a:ext cx="10172700" cy="552450"/>
          </a:xfrm>
          <a:prstGeom xmlns:a="http://schemas.openxmlformats.org/drawingml/2006/main" prst="rect">
            <a:avLst/>
          </a:prstGeom>
          <a:solidFill xmlns:a="http://schemas.openxmlformats.org/drawingml/2006/main">
            <a:srgbClr val="F6E7E5"/>
          </a:solidFill>
          <a:ln xmlns:a="http://schemas.openxmlformats.org/drawingml/2006/main" w="5715">
            <a:solidFill>
              <a:srgbClr val="F6E7E5"/>
            </a:solidFill>
            <a:prstDash val="solid"/>
          </a:ln>
        </p:spPr>
      </p:sp>
      <p:sp>
        <p:nvSpPr>
          <p:cNvPr id="22" name="">
            <a:extLst xmlns:a="http://schemas.openxmlformats.org/drawingml/2006/main">
              <a:ext uri="{FF2B5EF4-FFF2-40B4-BE49-F238E27FC236}">
                <a16:creationId xmlns:a16="http://schemas.microsoft.com/office/drawing/2014/main" id="{506866BF-A7C9-4E64-8984-7010C6BF8B85}"/>
              </a:ext>
            </a:extLst>
          </p:cNvPr>
          <p:cNvSpPr>
            <a:spLocks xmlns:a="http://schemas.openxmlformats.org/drawingml/2006/main" noGrp="1"/>
          </p:cNvSpPr>
          <p:nvPr/>
        </p:nvSpPr>
        <p:spPr>
          <a:xfrm xmlns:a="http://schemas.openxmlformats.org/drawingml/2006/main">
            <a:off x="685800" y="5391150"/>
            <a:ext cx="76200" cy="55245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23" name="">
            <a:extLst xmlns:a="http://schemas.openxmlformats.org/drawingml/2006/main">
              <a:ext uri="{FF2B5EF4-FFF2-40B4-BE49-F238E27FC236}">
                <a16:creationId xmlns:a16="http://schemas.microsoft.com/office/drawing/2014/main" id="{37B6D0C6-C154-4DF6-896C-19C33FC673B4}"/>
              </a:ext>
            </a:extLst>
          </p:cNvPr>
          <p:cNvSpPr>
            <a:spLocks xmlns:a="http://schemas.openxmlformats.org/drawingml/2006/main" noGrp="1"/>
          </p:cNvSpPr>
          <p:nvPr/>
        </p:nvSpPr>
        <p:spPr>
          <a:xfrm xmlns:a="http://schemas.openxmlformats.org/drawingml/2006/main">
            <a:off x="952500" y="5524500"/>
            <a:ext cx="9696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238"/>
                </a:solidFill>
              </a:defRPr>
            </a:pPr>
            <a:r>
              <a:rPr sz="1275" b="1" i="0">
                <a:solidFill>
                  <a:srgbClr val="132238"/>
                </a:solidFill>
              </a:rPr>
              <a:t>A change in scoring method must not be presented as a sudden national change in AI impact.</a:t>
            </a:r>
          </a:p>
        </p:txBody>
      </p:sp>
    </p:spTree>
    <p:extLst>
      <p:ext uri="{BB962C8B-B14F-4D97-AF65-F5344CB8AC3E}">
        <p14:creationId xmlns:p14="http://schemas.microsoft.com/office/powerpoint/2010/main" val="277691550"/>
      </p:ext>
    </p:extLst>
  </p:cSld>
</p:sld>
</file>

<file path=ppt/slides/slide1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C3A1ED0-22F2-4D5A-8E50-7E623D080C1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0896E43E-A353-447E-9AA7-E84AFC37BC74}"/>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DECISION OPTIONS</a:t>
            </a:r>
          </a:p>
        </p:txBody>
      </p:sp>
      <p:sp>
        <p:nvSpPr>
          <p:cNvPr id="3" name="">
            <a:extLst xmlns:a="http://schemas.openxmlformats.org/drawingml/2006/main">
              <a:ext uri="{FF2B5EF4-FFF2-40B4-BE49-F238E27FC236}">
                <a16:creationId xmlns:a16="http://schemas.microsoft.com/office/drawing/2014/main" id="{6B1FE925-5D29-4DB6-AE89-BA22919070B5}"/>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Four defensible configurations for the live tool</a:t>
            </a:r>
          </a:p>
        </p:txBody>
      </p:sp>
      <p:sp>
        <p:nvSpPr>
          <p:cNvPr id="4" name="">
            <a:extLst xmlns:a="http://schemas.openxmlformats.org/drawingml/2006/main">
              <a:ext uri="{FF2B5EF4-FFF2-40B4-BE49-F238E27FC236}">
                <a16:creationId xmlns:a16="http://schemas.microsoft.com/office/drawing/2014/main" id="{30E4D44A-3B65-4C77-86CB-BEF611F3963C}"/>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These are alternative definitions of the target labels. They are not models competing on the same target.</a:t>
            </a:r>
          </a:p>
        </p:txBody>
      </p:sp>
      <p:sp>
        <p:nvSpPr>
          <p:cNvPr id="5" name="">
            <a:extLst xmlns:a="http://schemas.openxmlformats.org/drawingml/2006/main">
              <a:ext uri="{FF2B5EF4-FFF2-40B4-BE49-F238E27FC236}">
                <a16:creationId xmlns:a16="http://schemas.microsoft.com/office/drawing/2014/main" id="{16B61822-1210-4601-BC73-BD695BB6BF71}"/>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A7A92FD6-1EC9-4A1A-A5A4-85FBBDD62841}"/>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F35FED66-D721-4D25-94A0-EA9959D70A62}"/>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16</a:t>
            </a:r>
          </a:p>
        </p:txBody>
      </p:sp>
      <p:sp>
        <p:nvSpPr>
          <p:cNvPr id="8" name="">
            <a:extLst xmlns:a="http://schemas.openxmlformats.org/drawingml/2006/main">
              <a:ext uri="{FF2B5EF4-FFF2-40B4-BE49-F238E27FC236}">
                <a16:creationId xmlns:a16="http://schemas.microsoft.com/office/drawing/2014/main" id="{B8551ECC-C2C3-44AD-9C51-27152073A52B}"/>
              </a:ext>
            </a:extLst>
          </p:cNvPr>
          <p:cNvSpPr>
            <a:spLocks xmlns:a="http://schemas.openxmlformats.org/drawingml/2006/main" noGrp="1"/>
          </p:cNvSpPr>
          <p:nvPr/>
        </p:nvSpPr>
        <p:spPr>
          <a:xfrm xmlns:a="http://schemas.openxmlformats.org/drawingml/2006/main">
            <a:off x="685800" y="2190750"/>
            <a:ext cx="4914900" cy="13906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9" name="">
            <a:extLst xmlns:a="http://schemas.openxmlformats.org/drawingml/2006/main">
              <a:ext uri="{FF2B5EF4-FFF2-40B4-BE49-F238E27FC236}">
                <a16:creationId xmlns:a16="http://schemas.microsoft.com/office/drawing/2014/main" id="{C6AC4AA1-3937-4A5A-9CB5-E2E1A7BFE873}"/>
              </a:ext>
            </a:extLst>
          </p:cNvPr>
          <p:cNvSpPr>
            <a:spLocks xmlns:a="http://schemas.openxmlformats.org/drawingml/2006/main" noGrp="1"/>
          </p:cNvSpPr>
          <p:nvPr/>
        </p:nvSpPr>
        <p:spPr>
          <a:xfrm xmlns:a="http://schemas.openxmlformats.org/drawingml/2006/main">
            <a:off x="685800" y="2190750"/>
            <a:ext cx="49149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10" name="">
            <a:extLst xmlns:a="http://schemas.openxmlformats.org/drawingml/2006/main">
              <a:ext uri="{FF2B5EF4-FFF2-40B4-BE49-F238E27FC236}">
                <a16:creationId xmlns:a16="http://schemas.microsoft.com/office/drawing/2014/main" id="{EB2B922D-6E78-4E1B-B1F2-C237A0E5FFFC}"/>
              </a:ext>
            </a:extLst>
          </p:cNvPr>
          <p:cNvSpPr>
            <a:spLocks xmlns:a="http://schemas.openxmlformats.org/drawingml/2006/main" noGrp="1"/>
          </p:cNvSpPr>
          <p:nvPr/>
        </p:nvSpPr>
        <p:spPr>
          <a:xfrm xmlns:a="http://schemas.openxmlformats.org/drawingml/2006/main">
            <a:off x="895350" y="2486025"/>
            <a:ext cx="1962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32238"/>
                </a:solidFill>
              </a:defRPr>
            </a:pPr>
            <a:r>
              <a:rPr sz="1350" b="1" i="0">
                <a:solidFill>
                  <a:srgbClr val="132238"/>
                </a:solidFill>
              </a:rPr>
              <a:t>Historical dashboard method</a:t>
            </a:r>
          </a:p>
        </p:txBody>
      </p:sp>
      <p:sp>
        <p:nvSpPr>
          <p:cNvPr id="11" name="">
            <a:extLst xmlns:a="http://schemas.openxmlformats.org/drawingml/2006/main">
              <a:ext uri="{FF2B5EF4-FFF2-40B4-BE49-F238E27FC236}">
                <a16:creationId xmlns:a16="http://schemas.microsoft.com/office/drawing/2014/main" id="{5BCF251C-7E3A-41FF-B827-7C2EFAD2C484}"/>
              </a:ext>
            </a:extLst>
          </p:cNvPr>
          <p:cNvSpPr>
            <a:spLocks xmlns:a="http://schemas.openxmlformats.org/drawingml/2006/main" noGrp="1"/>
          </p:cNvSpPr>
          <p:nvPr/>
        </p:nvSpPr>
        <p:spPr>
          <a:xfrm xmlns:a="http://schemas.openxmlformats.org/drawingml/2006/main">
            <a:off x="3028950" y="2466975"/>
            <a:ext cx="2247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87A76"/>
                </a:solidFill>
              </a:defRPr>
            </a:pPr>
            <a:r>
              <a:rPr sz="1050" b="1" i="0">
                <a:solidFill>
                  <a:srgbClr val="087A76"/>
                </a:solidFill>
              </a:rPr>
              <a:t>Historical guidance</a:t>
            </a:r>
          </a:p>
          <a:p xmlns:a="http://schemas.openxmlformats.org/drawingml/2006/main">
            <a:pPr algn="l">
              <a:defRPr sz="1050" b="1" i="0">
                <a:solidFill>
                  <a:srgbClr val="087A76"/>
                </a:solidFill>
              </a:defRPr>
            </a:pPr>
            <a:r>
              <a:rPr sz="1050" b="1" i="0">
                <a:solidFill>
                  <a:srgbClr val="087A76"/>
                </a:solidFill>
              </a:rPr>
              <a:t>GPT-4o</a:t>
            </a:r>
          </a:p>
          <a:p xmlns:a="http://schemas.openxmlformats.org/drawingml/2006/main">
            <a:pPr algn="l">
              <a:defRPr sz="1050" b="1" i="0">
                <a:solidFill>
                  <a:srgbClr val="087A76"/>
                </a:solidFill>
              </a:defRPr>
            </a:pPr>
            <a:r>
              <a:rPr sz="1050" b="1" i="0">
                <a:solidFill>
                  <a:srgbClr val="087A76"/>
                </a:solidFill>
              </a:rPr>
              <a:t>Original task wording</a:t>
            </a:r>
          </a:p>
        </p:txBody>
      </p:sp>
      <p:sp>
        <p:nvSpPr>
          <p:cNvPr id="12" name="">
            <a:extLst xmlns:a="http://schemas.openxmlformats.org/drawingml/2006/main">
              <a:ext uri="{FF2B5EF4-FFF2-40B4-BE49-F238E27FC236}">
                <a16:creationId xmlns:a16="http://schemas.microsoft.com/office/drawing/2014/main" id="{8A02BF6C-9506-414F-8153-6E40654E89D7}"/>
              </a:ext>
            </a:extLst>
          </p:cNvPr>
          <p:cNvSpPr>
            <a:spLocks xmlns:a="http://schemas.openxmlformats.org/drawingml/2006/main" noGrp="1"/>
          </p:cNvSpPr>
          <p:nvPr/>
        </p:nvSpPr>
        <p:spPr>
          <a:xfrm xmlns:a="http://schemas.openxmlformats.org/drawingml/2006/main">
            <a:off x="895350" y="3162300"/>
            <a:ext cx="447675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3" name="">
            <a:extLst xmlns:a="http://schemas.openxmlformats.org/drawingml/2006/main">
              <a:ext uri="{FF2B5EF4-FFF2-40B4-BE49-F238E27FC236}">
                <a16:creationId xmlns:a16="http://schemas.microsoft.com/office/drawing/2014/main" id="{8BC23FF6-31EE-42A2-8D5D-EC937C6752E6}"/>
              </a:ext>
            </a:extLst>
          </p:cNvPr>
          <p:cNvSpPr>
            <a:spLocks xmlns:a="http://schemas.openxmlformats.org/drawingml/2006/main" noGrp="1"/>
          </p:cNvSpPr>
          <p:nvPr/>
        </p:nvSpPr>
        <p:spPr>
          <a:xfrm xmlns:a="http://schemas.openxmlformats.org/drawingml/2006/main">
            <a:off x="895350" y="3276600"/>
            <a:ext cx="441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F6E7B"/>
                </a:solidFill>
              </a:defRPr>
            </a:pPr>
            <a:r>
              <a:rPr sz="1050" b="0" i="0">
                <a:solidFill>
                  <a:srgbClr val="5F6E7B"/>
                </a:solidFill>
              </a:rPr>
              <a:t>For dashboard continuity; not aligned to the current POC.</a:t>
            </a:r>
          </a:p>
        </p:txBody>
      </p:sp>
      <p:sp>
        <p:nvSpPr>
          <p:cNvPr id="14" name="">
            <a:extLst xmlns:a="http://schemas.openxmlformats.org/drawingml/2006/main">
              <a:ext uri="{FF2B5EF4-FFF2-40B4-BE49-F238E27FC236}">
                <a16:creationId xmlns:a16="http://schemas.microsoft.com/office/drawing/2014/main" id="{D726880B-A74C-4861-9787-45C77A142BDD}"/>
              </a:ext>
            </a:extLst>
          </p:cNvPr>
          <p:cNvSpPr>
            <a:spLocks xmlns:a="http://schemas.openxmlformats.org/drawingml/2006/main" noGrp="1"/>
          </p:cNvSpPr>
          <p:nvPr/>
        </p:nvSpPr>
        <p:spPr>
          <a:xfrm xmlns:a="http://schemas.openxmlformats.org/drawingml/2006/main">
            <a:off x="5924550" y="2190750"/>
            <a:ext cx="4914900" cy="13906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15" name="">
            <a:extLst xmlns:a="http://schemas.openxmlformats.org/drawingml/2006/main">
              <a:ext uri="{FF2B5EF4-FFF2-40B4-BE49-F238E27FC236}">
                <a16:creationId xmlns:a16="http://schemas.microsoft.com/office/drawing/2014/main" id="{B34303C2-E3A6-4AB9-A4C3-C23D8FF29016}"/>
              </a:ext>
            </a:extLst>
          </p:cNvPr>
          <p:cNvSpPr>
            <a:spLocks xmlns:a="http://schemas.openxmlformats.org/drawingml/2006/main" noGrp="1"/>
          </p:cNvSpPr>
          <p:nvPr/>
        </p:nvSpPr>
        <p:spPr>
          <a:xfrm xmlns:a="http://schemas.openxmlformats.org/drawingml/2006/main">
            <a:off x="5924550" y="2190750"/>
            <a:ext cx="4914900" cy="85725"/>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16" name="">
            <a:extLst xmlns:a="http://schemas.openxmlformats.org/drawingml/2006/main">
              <a:ext uri="{FF2B5EF4-FFF2-40B4-BE49-F238E27FC236}">
                <a16:creationId xmlns:a16="http://schemas.microsoft.com/office/drawing/2014/main" id="{32EE21D3-4940-4160-B8B4-C98FE36F9650}"/>
              </a:ext>
            </a:extLst>
          </p:cNvPr>
          <p:cNvSpPr>
            <a:spLocks xmlns:a="http://schemas.openxmlformats.org/drawingml/2006/main" noGrp="1"/>
          </p:cNvSpPr>
          <p:nvPr/>
        </p:nvSpPr>
        <p:spPr>
          <a:xfrm xmlns:a="http://schemas.openxmlformats.org/drawingml/2006/main">
            <a:off x="6134100" y="2486025"/>
            <a:ext cx="1962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32238"/>
                </a:solidFill>
              </a:defRPr>
            </a:pPr>
            <a:r>
              <a:rPr sz="1350" b="1" i="0">
                <a:solidFill>
                  <a:srgbClr val="132238"/>
                </a:solidFill>
              </a:rPr>
              <a:t>Current POC method</a:t>
            </a:r>
          </a:p>
        </p:txBody>
      </p:sp>
      <p:sp>
        <p:nvSpPr>
          <p:cNvPr id="17" name="">
            <a:extLst xmlns:a="http://schemas.openxmlformats.org/drawingml/2006/main">
              <a:ext uri="{FF2B5EF4-FFF2-40B4-BE49-F238E27FC236}">
                <a16:creationId xmlns:a16="http://schemas.microsoft.com/office/drawing/2014/main" id="{4A63781E-B6EB-4582-88F5-DF9E19A21903}"/>
              </a:ext>
            </a:extLst>
          </p:cNvPr>
          <p:cNvSpPr>
            <a:spLocks xmlns:a="http://schemas.openxmlformats.org/drawingml/2006/main" noGrp="1"/>
          </p:cNvSpPr>
          <p:nvPr/>
        </p:nvSpPr>
        <p:spPr>
          <a:xfrm xmlns:a="http://schemas.openxmlformats.org/drawingml/2006/main">
            <a:off x="8267700" y="2466975"/>
            <a:ext cx="2247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D9771F"/>
                </a:solidFill>
              </a:defRPr>
            </a:pPr>
            <a:r>
              <a:rPr sz="1050" b="1" i="0">
                <a:solidFill>
                  <a:srgbClr val="D9771F"/>
                </a:solidFill>
              </a:rPr>
              <a:t>Current POC guidance</a:t>
            </a:r>
          </a:p>
          <a:p xmlns:a="http://schemas.openxmlformats.org/drawingml/2006/main">
            <a:pPr algn="l">
              <a:defRPr sz="1050" b="1" i="0">
                <a:solidFill>
                  <a:srgbClr val="D9771F"/>
                </a:solidFill>
              </a:defRPr>
            </a:pPr>
            <a:r>
              <a:rPr sz="1050" b="1" i="0">
                <a:solidFill>
                  <a:srgbClr val="D9771F"/>
                </a:solidFill>
              </a:rPr>
              <a:t>GPT-5.2</a:t>
            </a:r>
          </a:p>
          <a:p xmlns:a="http://schemas.openxmlformats.org/drawingml/2006/main">
            <a:pPr algn="l">
              <a:defRPr sz="1050" b="1" i="0">
                <a:solidFill>
                  <a:srgbClr val="D9771F"/>
                </a:solidFill>
              </a:defRPr>
            </a:pPr>
            <a:r>
              <a:rPr sz="1050" b="1" i="0">
                <a:solidFill>
                  <a:srgbClr val="D9771F"/>
                </a:solidFill>
              </a:rPr>
              <a:t>Normalized/decomposed task</a:t>
            </a:r>
          </a:p>
        </p:txBody>
      </p:sp>
      <p:sp>
        <p:nvSpPr>
          <p:cNvPr id="18" name="">
            <a:extLst xmlns:a="http://schemas.openxmlformats.org/drawingml/2006/main">
              <a:ext uri="{FF2B5EF4-FFF2-40B4-BE49-F238E27FC236}">
                <a16:creationId xmlns:a16="http://schemas.microsoft.com/office/drawing/2014/main" id="{D16FA9D7-D08D-4B2A-A679-B793068A1F9C}"/>
              </a:ext>
            </a:extLst>
          </p:cNvPr>
          <p:cNvSpPr>
            <a:spLocks xmlns:a="http://schemas.openxmlformats.org/drawingml/2006/main" noGrp="1"/>
          </p:cNvSpPr>
          <p:nvPr/>
        </p:nvSpPr>
        <p:spPr>
          <a:xfrm xmlns:a="http://schemas.openxmlformats.org/drawingml/2006/main">
            <a:off x="6134100" y="3162300"/>
            <a:ext cx="447675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9" name="">
            <a:extLst xmlns:a="http://schemas.openxmlformats.org/drawingml/2006/main">
              <a:ext uri="{FF2B5EF4-FFF2-40B4-BE49-F238E27FC236}">
                <a16:creationId xmlns:a16="http://schemas.microsoft.com/office/drawing/2014/main" id="{617566BC-343B-46AE-A2C8-DE16BEF1E9AF}"/>
              </a:ext>
            </a:extLst>
          </p:cNvPr>
          <p:cNvSpPr>
            <a:spLocks xmlns:a="http://schemas.openxmlformats.org/drawingml/2006/main" noGrp="1"/>
          </p:cNvSpPr>
          <p:nvPr/>
        </p:nvSpPr>
        <p:spPr>
          <a:xfrm xmlns:a="http://schemas.openxmlformats.org/drawingml/2006/main">
            <a:off x="6134100" y="3276600"/>
            <a:ext cx="441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F6E7B"/>
                </a:solidFill>
              </a:defRPr>
            </a:pPr>
            <a:r>
              <a:rPr sz="1050" b="0" i="0">
                <a:solidFill>
                  <a:srgbClr val="5F6E7B"/>
                </a:solidFill>
              </a:rPr>
              <a:t>Current operational configuration; recommended for a guarded pilot.</a:t>
            </a:r>
          </a:p>
        </p:txBody>
      </p:sp>
      <p:sp>
        <p:nvSpPr>
          <p:cNvPr id="20" name="">
            <a:extLst xmlns:a="http://schemas.openxmlformats.org/drawingml/2006/main">
              <a:ext uri="{FF2B5EF4-FFF2-40B4-BE49-F238E27FC236}">
                <a16:creationId xmlns:a16="http://schemas.microsoft.com/office/drawing/2014/main" id="{0F75C4AB-682D-4101-B9CB-8FFDF35E15A9}"/>
              </a:ext>
            </a:extLst>
          </p:cNvPr>
          <p:cNvSpPr>
            <a:spLocks xmlns:a="http://schemas.openxmlformats.org/drawingml/2006/main" noGrp="1"/>
          </p:cNvSpPr>
          <p:nvPr/>
        </p:nvSpPr>
        <p:spPr>
          <a:xfrm xmlns:a="http://schemas.openxmlformats.org/drawingml/2006/main">
            <a:off x="685800" y="3810000"/>
            <a:ext cx="4914900" cy="13906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21" name="">
            <a:extLst xmlns:a="http://schemas.openxmlformats.org/drawingml/2006/main">
              <a:ext uri="{FF2B5EF4-FFF2-40B4-BE49-F238E27FC236}">
                <a16:creationId xmlns:a16="http://schemas.microsoft.com/office/drawing/2014/main" id="{BED11D89-D5DC-4A76-AA6F-CAB5AEDF7003}"/>
              </a:ext>
            </a:extLst>
          </p:cNvPr>
          <p:cNvSpPr>
            <a:spLocks xmlns:a="http://schemas.openxmlformats.org/drawingml/2006/main" noGrp="1"/>
          </p:cNvSpPr>
          <p:nvPr/>
        </p:nvSpPr>
        <p:spPr>
          <a:xfrm xmlns:a="http://schemas.openxmlformats.org/drawingml/2006/main">
            <a:off x="685800" y="3810000"/>
            <a:ext cx="4914900" cy="85725"/>
          </a:xfrm>
          <a:prstGeom xmlns:a="http://schemas.openxmlformats.org/drawingml/2006/main" prst="rect">
            <a:avLst/>
          </a:prstGeom>
          <a:solidFill xmlns:a="http://schemas.openxmlformats.org/drawingml/2006/main">
            <a:srgbClr val="24547A"/>
          </a:solidFill>
          <a:ln xmlns:a="http://schemas.openxmlformats.org/drawingml/2006/main" w="5715">
            <a:solidFill>
              <a:srgbClr val="24547A"/>
            </a:solidFill>
            <a:prstDash val="solid"/>
          </a:ln>
        </p:spPr>
      </p:sp>
      <p:sp>
        <p:nvSpPr>
          <p:cNvPr id="22" name="">
            <a:extLst xmlns:a="http://schemas.openxmlformats.org/drawingml/2006/main">
              <a:ext uri="{FF2B5EF4-FFF2-40B4-BE49-F238E27FC236}">
                <a16:creationId xmlns:a16="http://schemas.microsoft.com/office/drawing/2014/main" id="{047991CD-CEEB-4AF0-BE7D-F2F0114CFEE1}"/>
              </a:ext>
            </a:extLst>
          </p:cNvPr>
          <p:cNvSpPr>
            <a:spLocks xmlns:a="http://schemas.openxmlformats.org/drawingml/2006/main" noGrp="1"/>
          </p:cNvSpPr>
          <p:nvPr/>
        </p:nvSpPr>
        <p:spPr>
          <a:xfrm xmlns:a="http://schemas.openxmlformats.org/drawingml/2006/main">
            <a:off x="895350" y="4105275"/>
            <a:ext cx="1962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32238"/>
                </a:solidFill>
              </a:defRPr>
            </a:pPr>
            <a:r>
              <a:rPr sz="1350" b="1" i="0">
                <a:solidFill>
                  <a:srgbClr val="132238"/>
                </a:solidFill>
              </a:rPr>
              <a:t>Current POC method with</a:t>
            </a:r>
          </a:p>
          <a:p xmlns:a="http://schemas.openxmlformats.org/drawingml/2006/main">
            <a:pPr algn="l">
              <a:defRPr sz="1350" b="1" i="0">
                <a:solidFill>
                  <a:srgbClr val="132238"/>
                </a:solidFill>
              </a:defRPr>
            </a:pPr>
            <a:r>
              <a:rPr sz="1350" b="1" i="0">
                <a:solidFill>
                  <a:srgbClr val="132238"/>
                </a:solidFill>
              </a:rPr>
              <a:t>historical examples</a:t>
            </a:r>
          </a:p>
        </p:txBody>
      </p:sp>
      <p:sp>
        <p:nvSpPr>
          <p:cNvPr id="23" name="">
            <a:extLst xmlns:a="http://schemas.openxmlformats.org/drawingml/2006/main">
              <a:ext uri="{FF2B5EF4-FFF2-40B4-BE49-F238E27FC236}">
                <a16:creationId xmlns:a16="http://schemas.microsoft.com/office/drawing/2014/main" id="{45095259-4110-471E-825D-54E48EBD1983}"/>
              </a:ext>
            </a:extLst>
          </p:cNvPr>
          <p:cNvSpPr>
            <a:spLocks xmlns:a="http://schemas.openxmlformats.org/drawingml/2006/main" noGrp="1"/>
          </p:cNvSpPr>
          <p:nvPr/>
        </p:nvSpPr>
        <p:spPr>
          <a:xfrm xmlns:a="http://schemas.openxmlformats.org/drawingml/2006/main">
            <a:off x="3028950" y="4086225"/>
            <a:ext cx="2247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24547A"/>
                </a:solidFill>
              </a:defRPr>
            </a:pPr>
            <a:r>
              <a:rPr sz="1050" b="1" i="0">
                <a:solidFill>
                  <a:srgbClr val="24547A"/>
                </a:solidFill>
              </a:rPr>
              <a:t>Current POC guidance + examples</a:t>
            </a:r>
          </a:p>
          <a:p xmlns:a="http://schemas.openxmlformats.org/drawingml/2006/main">
            <a:pPr algn="l">
              <a:defRPr sz="1050" b="1" i="0">
                <a:solidFill>
                  <a:srgbClr val="24547A"/>
                </a:solidFill>
              </a:defRPr>
            </a:pPr>
            <a:r>
              <a:rPr sz="1050" b="1" i="0">
                <a:solidFill>
                  <a:srgbClr val="24547A"/>
                </a:solidFill>
              </a:rPr>
              <a:t>GPT-5.2</a:t>
            </a:r>
          </a:p>
          <a:p xmlns:a="http://schemas.openxmlformats.org/drawingml/2006/main">
            <a:pPr algn="l">
              <a:defRPr sz="1050" b="1" i="0">
                <a:solidFill>
                  <a:srgbClr val="24547A"/>
                </a:solidFill>
              </a:defRPr>
            </a:pPr>
            <a:r>
              <a:rPr sz="1050" b="1" i="0">
                <a:solidFill>
                  <a:srgbClr val="24547A"/>
                </a:solidFill>
              </a:rPr>
              <a:t>Normalized/decomposed task</a:t>
            </a:r>
          </a:p>
        </p:txBody>
      </p:sp>
      <p:sp>
        <p:nvSpPr>
          <p:cNvPr id="24" name="">
            <a:extLst xmlns:a="http://schemas.openxmlformats.org/drawingml/2006/main">
              <a:ext uri="{FF2B5EF4-FFF2-40B4-BE49-F238E27FC236}">
                <a16:creationId xmlns:a16="http://schemas.microsoft.com/office/drawing/2014/main" id="{1B2AA516-EEAD-40CA-A56F-901CD500002C}"/>
              </a:ext>
            </a:extLst>
          </p:cNvPr>
          <p:cNvSpPr>
            <a:spLocks xmlns:a="http://schemas.openxmlformats.org/drawingml/2006/main" noGrp="1"/>
          </p:cNvSpPr>
          <p:nvPr/>
        </p:nvSpPr>
        <p:spPr>
          <a:xfrm xmlns:a="http://schemas.openxmlformats.org/drawingml/2006/main">
            <a:off x="895350" y="4781550"/>
            <a:ext cx="447675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25" name="">
            <a:extLst xmlns:a="http://schemas.openxmlformats.org/drawingml/2006/main">
              <a:ext uri="{FF2B5EF4-FFF2-40B4-BE49-F238E27FC236}">
                <a16:creationId xmlns:a16="http://schemas.microsoft.com/office/drawing/2014/main" id="{81CB39F4-C8F3-4E95-86E0-1F75B2475EED}"/>
              </a:ext>
            </a:extLst>
          </p:cNvPr>
          <p:cNvSpPr>
            <a:spLocks xmlns:a="http://schemas.openxmlformats.org/drawingml/2006/main" noGrp="1"/>
          </p:cNvSpPr>
          <p:nvPr/>
        </p:nvSpPr>
        <p:spPr>
          <a:xfrm xmlns:a="http://schemas.openxmlformats.org/drawingml/2006/main">
            <a:off x="895350" y="4895850"/>
            <a:ext cx="441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F6E7B"/>
                </a:solidFill>
              </a:defRPr>
            </a:pPr>
            <a:r>
              <a:rPr sz="1050" b="0" i="0">
                <a:solidFill>
                  <a:srgbClr val="5F6E7B"/>
                </a:solidFill>
              </a:rPr>
              <a:t>Use if historical examples should continue influencing live scoring.</a:t>
            </a:r>
          </a:p>
        </p:txBody>
      </p:sp>
      <p:sp>
        <p:nvSpPr>
          <p:cNvPr id="26" name="">
            <a:extLst xmlns:a="http://schemas.openxmlformats.org/drawingml/2006/main">
              <a:ext uri="{FF2B5EF4-FFF2-40B4-BE49-F238E27FC236}">
                <a16:creationId xmlns:a16="http://schemas.microsoft.com/office/drawing/2014/main" id="{9C95DD32-8BFB-49B2-94BB-3AF3782F693F}"/>
              </a:ext>
            </a:extLst>
          </p:cNvPr>
          <p:cNvSpPr>
            <a:spLocks xmlns:a="http://schemas.openxmlformats.org/drawingml/2006/main" noGrp="1"/>
          </p:cNvSpPr>
          <p:nvPr/>
        </p:nvSpPr>
        <p:spPr>
          <a:xfrm xmlns:a="http://schemas.openxmlformats.org/drawingml/2006/main">
            <a:off x="5924550" y="3810000"/>
            <a:ext cx="4914900" cy="13906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27" name="">
            <a:extLst xmlns:a="http://schemas.openxmlformats.org/drawingml/2006/main">
              <a:ext uri="{FF2B5EF4-FFF2-40B4-BE49-F238E27FC236}">
                <a16:creationId xmlns:a16="http://schemas.microsoft.com/office/drawing/2014/main" id="{770E6947-97BF-4AE7-9BB7-28CB1B7A9A16}"/>
              </a:ext>
            </a:extLst>
          </p:cNvPr>
          <p:cNvSpPr>
            <a:spLocks xmlns:a="http://schemas.openxmlformats.org/drawingml/2006/main" noGrp="1"/>
          </p:cNvSpPr>
          <p:nvPr/>
        </p:nvSpPr>
        <p:spPr>
          <a:xfrm xmlns:a="http://schemas.openxmlformats.org/drawingml/2006/main">
            <a:off x="5924550" y="3810000"/>
            <a:ext cx="4914900" cy="85725"/>
          </a:xfrm>
          <a:prstGeom xmlns:a="http://schemas.openxmlformats.org/drawingml/2006/main" prst="rect">
            <a:avLst/>
          </a:prstGeom>
          <a:solidFill xmlns:a="http://schemas.openxmlformats.org/drawingml/2006/main">
            <a:srgbClr val="B18A2D"/>
          </a:solidFill>
          <a:ln xmlns:a="http://schemas.openxmlformats.org/drawingml/2006/main" w="5715">
            <a:solidFill>
              <a:srgbClr val="B18A2D"/>
            </a:solidFill>
            <a:prstDash val="solid"/>
          </a:ln>
        </p:spPr>
      </p:sp>
      <p:sp>
        <p:nvSpPr>
          <p:cNvPr id="28" name="">
            <a:extLst xmlns:a="http://schemas.openxmlformats.org/drawingml/2006/main">
              <a:ext uri="{FF2B5EF4-FFF2-40B4-BE49-F238E27FC236}">
                <a16:creationId xmlns:a16="http://schemas.microsoft.com/office/drawing/2014/main" id="{B22DDF4E-8B5B-463A-9330-24B0C0E42A6C}"/>
              </a:ext>
            </a:extLst>
          </p:cNvPr>
          <p:cNvSpPr>
            <a:spLocks xmlns:a="http://schemas.openxmlformats.org/drawingml/2006/main" noGrp="1"/>
          </p:cNvSpPr>
          <p:nvPr/>
        </p:nvSpPr>
        <p:spPr>
          <a:xfrm xmlns:a="http://schemas.openxmlformats.org/drawingml/2006/main">
            <a:off x="6134100" y="4105275"/>
            <a:ext cx="1962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32238"/>
                </a:solidFill>
              </a:defRPr>
            </a:pPr>
            <a:r>
              <a:rPr sz="1350" b="1" i="0">
                <a:solidFill>
                  <a:srgbClr val="132238"/>
                </a:solidFill>
              </a:rPr>
              <a:t>Current POC method + examples, GPT-4o</a:t>
            </a:r>
          </a:p>
        </p:txBody>
      </p:sp>
      <p:sp>
        <p:nvSpPr>
          <p:cNvPr id="29" name="">
            <a:extLst xmlns:a="http://schemas.openxmlformats.org/drawingml/2006/main">
              <a:ext uri="{FF2B5EF4-FFF2-40B4-BE49-F238E27FC236}">
                <a16:creationId xmlns:a16="http://schemas.microsoft.com/office/drawing/2014/main" id="{9D1E0E25-EF81-422F-9BA5-A171C7198528}"/>
              </a:ext>
            </a:extLst>
          </p:cNvPr>
          <p:cNvSpPr>
            <a:spLocks xmlns:a="http://schemas.openxmlformats.org/drawingml/2006/main" noGrp="1"/>
          </p:cNvSpPr>
          <p:nvPr/>
        </p:nvSpPr>
        <p:spPr>
          <a:xfrm xmlns:a="http://schemas.openxmlformats.org/drawingml/2006/main">
            <a:off x="8267700" y="4086225"/>
            <a:ext cx="2247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B18A2D"/>
                </a:solidFill>
              </a:defRPr>
            </a:pPr>
            <a:r>
              <a:rPr sz="1050" b="1" i="0">
                <a:solidFill>
                  <a:srgbClr val="B18A2D"/>
                </a:solidFill>
              </a:rPr>
              <a:t>Current POC guidance + examples</a:t>
            </a:r>
          </a:p>
          <a:p xmlns:a="http://schemas.openxmlformats.org/drawingml/2006/main">
            <a:pPr algn="l">
              <a:defRPr sz="1050" b="1" i="0">
                <a:solidFill>
                  <a:srgbClr val="B18A2D"/>
                </a:solidFill>
              </a:defRPr>
            </a:pPr>
            <a:r>
              <a:rPr sz="1050" b="1" i="0">
                <a:solidFill>
                  <a:srgbClr val="B18A2D"/>
                </a:solidFill>
              </a:rPr>
              <a:t>GPT-4o</a:t>
            </a:r>
          </a:p>
          <a:p xmlns:a="http://schemas.openxmlformats.org/drawingml/2006/main">
            <a:pPr algn="l">
              <a:defRPr sz="1050" b="1" i="0">
                <a:solidFill>
                  <a:srgbClr val="B18A2D"/>
                </a:solidFill>
              </a:defRPr>
            </a:pPr>
            <a:r>
              <a:rPr sz="1050" b="1" i="0">
                <a:solidFill>
                  <a:srgbClr val="B18A2D"/>
                </a:solidFill>
              </a:rPr>
              <a:t>Normalized/decomposed task</a:t>
            </a:r>
          </a:p>
        </p:txBody>
      </p:sp>
      <p:sp>
        <p:nvSpPr>
          <p:cNvPr id="30" name="">
            <a:extLst xmlns:a="http://schemas.openxmlformats.org/drawingml/2006/main">
              <a:ext uri="{FF2B5EF4-FFF2-40B4-BE49-F238E27FC236}">
                <a16:creationId xmlns:a16="http://schemas.microsoft.com/office/drawing/2014/main" id="{4C233088-25FE-4500-BCCA-FAF1DDB29D25}"/>
              </a:ext>
            </a:extLst>
          </p:cNvPr>
          <p:cNvSpPr>
            <a:spLocks xmlns:a="http://schemas.openxmlformats.org/drawingml/2006/main" noGrp="1"/>
          </p:cNvSpPr>
          <p:nvPr/>
        </p:nvSpPr>
        <p:spPr>
          <a:xfrm xmlns:a="http://schemas.openxmlformats.org/drawingml/2006/main">
            <a:off x="6134100" y="4781550"/>
            <a:ext cx="447675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31" name="">
            <a:extLst xmlns:a="http://schemas.openxmlformats.org/drawingml/2006/main">
              <a:ext uri="{FF2B5EF4-FFF2-40B4-BE49-F238E27FC236}">
                <a16:creationId xmlns:a16="http://schemas.microsoft.com/office/drawing/2014/main" id="{5B2FD8A1-F9D7-4CF0-96FA-509E7B3E584F}"/>
              </a:ext>
            </a:extLst>
          </p:cNvPr>
          <p:cNvSpPr>
            <a:spLocks xmlns:a="http://schemas.openxmlformats.org/drawingml/2006/main" noGrp="1"/>
          </p:cNvSpPr>
          <p:nvPr/>
        </p:nvSpPr>
        <p:spPr>
          <a:xfrm xmlns:a="http://schemas.openxmlformats.org/drawingml/2006/main">
            <a:off x="6134100" y="4895850"/>
            <a:ext cx="441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F6E7B"/>
                </a:solidFill>
              </a:defRPr>
            </a:pPr>
            <a:r>
              <a:rPr sz="1050" b="0" i="0">
                <a:solidFill>
                  <a:srgbClr val="5F6E7B"/>
                </a:solidFill>
              </a:rPr>
              <a:t>Middle-ground distribution: 53.1% E0 in the linked task sample.</a:t>
            </a:r>
          </a:p>
        </p:txBody>
      </p:sp>
      <p:sp>
        <p:nvSpPr>
          <p:cNvPr id="32" name="">
            <a:extLst xmlns:a="http://schemas.openxmlformats.org/drawingml/2006/main">
              <a:ext uri="{FF2B5EF4-FFF2-40B4-BE49-F238E27FC236}">
                <a16:creationId xmlns:a16="http://schemas.microsoft.com/office/drawing/2014/main" id="{5AF51E61-CB81-4E54-8EE9-84EE15C85C49}"/>
              </a:ext>
            </a:extLst>
          </p:cNvPr>
          <p:cNvSpPr>
            <a:spLocks xmlns:a="http://schemas.openxmlformats.org/drawingml/2006/main" noGrp="1"/>
          </p:cNvSpPr>
          <p:nvPr/>
        </p:nvSpPr>
        <p:spPr>
          <a:xfrm xmlns:a="http://schemas.openxmlformats.org/drawingml/2006/main">
            <a:off x="685800" y="56578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238"/>
                </a:solidFill>
              </a:defRPr>
            </a:pPr>
            <a:r>
              <a:rPr sz="1275" b="1" i="0">
                <a:solidFill>
                  <a:srgbClr val="132238"/>
                </a:solidFill>
              </a:rPr>
              <a:t>The selected configuration determines the LLM labels and therefore the target that the ML classifier will learn.</a:t>
            </a:r>
          </a:p>
        </p:txBody>
      </p:sp>
    </p:spTree>
    <p:extLst>
      <p:ext uri="{BB962C8B-B14F-4D97-AF65-F5344CB8AC3E}">
        <p14:creationId xmlns:p14="http://schemas.microsoft.com/office/powerpoint/2010/main" val="611831647"/>
      </p:ext>
    </p:extLst>
  </p:cSld>
</p:sld>
</file>

<file path=ppt/slides/slide1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3F7AB5C-4BC4-44DB-A23A-E94B11B1D76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C7A42614-B7FE-4EBE-8268-8B4EC9AAF9A3}"/>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RECOMMENDATION</a:t>
            </a:r>
          </a:p>
        </p:txBody>
      </p:sp>
      <p:sp>
        <p:nvSpPr>
          <p:cNvPr id="3" name="">
            <a:extLst xmlns:a="http://schemas.openxmlformats.org/drawingml/2006/main">
              <a:ext uri="{FF2B5EF4-FFF2-40B4-BE49-F238E27FC236}">
                <a16:creationId xmlns:a16="http://schemas.microsoft.com/office/drawing/2014/main" id="{028F173F-16F4-43D4-B3B4-74B68B86E0BE}"/>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Use the current POC method for a guarded internal pilot</a:t>
            </a:r>
          </a:p>
        </p:txBody>
      </p:sp>
      <p:sp>
        <p:nvSpPr>
          <p:cNvPr id="4" name="">
            <a:extLst xmlns:a="http://schemas.openxmlformats.org/drawingml/2006/main">
              <a:ext uri="{FF2B5EF4-FFF2-40B4-BE49-F238E27FC236}">
                <a16:creationId xmlns:a16="http://schemas.microsoft.com/office/drawing/2014/main" id="{FD44AD1D-A93D-4938-B68D-C3F321C38E66}"/>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Current POC guidance + GPT-5.2 + normalized/decomposed tasks provides the clearest operational basis for the production target.</a:t>
            </a:r>
          </a:p>
        </p:txBody>
      </p:sp>
      <p:sp>
        <p:nvSpPr>
          <p:cNvPr id="5" name="">
            <a:extLst xmlns:a="http://schemas.openxmlformats.org/drawingml/2006/main">
              <a:ext uri="{FF2B5EF4-FFF2-40B4-BE49-F238E27FC236}">
                <a16:creationId xmlns:a16="http://schemas.microsoft.com/office/drawing/2014/main" id="{7C1C9CB8-A4FC-4D79-9420-AAE823930ED1}"/>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49FF43A0-2944-462D-94B9-2B4F76BB2BE9}"/>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6CA67EF4-1F41-4E47-B2AF-E140D9A05290}"/>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17</a:t>
            </a:r>
          </a:p>
        </p:txBody>
      </p:sp>
      <p:sp>
        <p:nvSpPr>
          <p:cNvPr id="8" name="">
            <a:extLst xmlns:a="http://schemas.openxmlformats.org/drawingml/2006/main">
              <a:ext uri="{FF2B5EF4-FFF2-40B4-BE49-F238E27FC236}">
                <a16:creationId xmlns:a16="http://schemas.microsoft.com/office/drawing/2014/main" id="{AE709456-2657-4420-BE0C-E012708EF109}"/>
              </a:ext>
            </a:extLst>
          </p:cNvPr>
          <p:cNvSpPr>
            <a:spLocks xmlns:a="http://schemas.openxmlformats.org/drawingml/2006/main" noGrp="1"/>
          </p:cNvSpPr>
          <p:nvPr/>
        </p:nvSpPr>
        <p:spPr>
          <a:xfrm xmlns:a="http://schemas.openxmlformats.org/drawingml/2006/main">
            <a:off x="685800" y="2114550"/>
            <a:ext cx="10172700" cy="1047750"/>
          </a:xfrm>
          <a:prstGeom xmlns:a="http://schemas.openxmlformats.org/drawingml/2006/main" prst="rect">
            <a:avLst/>
          </a:prstGeom>
          <a:solidFill xmlns:a="http://schemas.openxmlformats.org/drawingml/2006/main">
            <a:srgbClr val="F8EBDD"/>
          </a:solidFill>
          <a:ln xmlns:a="http://schemas.openxmlformats.org/drawingml/2006/main" w="5715">
            <a:solidFill>
              <a:srgbClr val="F8EBDD"/>
            </a:solidFill>
            <a:prstDash val="solid"/>
          </a:ln>
        </p:spPr>
      </p:sp>
      <p:sp>
        <p:nvSpPr>
          <p:cNvPr id="9" name="">
            <a:extLst xmlns:a="http://schemas.openxmlformats.org/drawingml/2006/main">
              <a:ext uri="{FF2B5EF4-FFF2-40B4-BE49-F238E27FC236}">
                <a16:creationId xmlns:a16="http://schemas.microsoft.com/office/drawing/2014/main" id="{E38C8991-53E3-43E9-A22D-E7E3923B199E}"/>
              </a:ext>
            </a:extLst>
          </p:cNvPr>
          <p:cNvSpPr>
            <a:spLocks xmlns:a="http://schemas.openxmlformats.org/drawingml/2006/main" noGrp="1"/>
          </p:cNvSpPr>
          <p:nvPr/>
        </p:nvSpPr>
        <p:spPr>
          <a:xfrm xmlns:a="http://schemas.openxmlformats.org/drawingml/2006/main">
            <a:off x="685800" y="2114550"/>
            <a:ext cx="76200" cy="104775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10" name="">
            <a:extLst xmlns:a="http://schemas.openxmlformats.org/drawingml/2006/main">
              <a:ext uri="{FF2B5EF4-FFF2-40B4-BE49-F238E27FC236}">
                <a16:creationId xmlns:a16="http://schemas.microsoft.com/office/drawing/2014/main" id="{7F4B5B27-CF80-4F63-BAB3-6079AEF53DDB}"/>
              </a:ext>
            </a:extLst>
          </p:cNvPr>
          <p:cNvSpPr>
            <a:spLocks xmlns:a="http://schemas.openxmlformats.org/drawingml/2006/main" noGrp="1"/>
          </p:cNvSpPr>
          <p:nvPr/>
        </p:nvSpPr>
        <p:spPr>
          <a:xfrm xmlns:a="http://schemas.openxmlformats.org/drawingml/2006/main">
            <a:off x="952500" y="2276475"/>
            <a:ext cx="9696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D9771F"/>
                </a:solidFill>
              </a:defRPr>
            </a:pPr>
            <a:r>
              <a:rPr sz="825" b="1" i="0">
                <a:solidFill>
                  <a:srgbClr val="D9771F"/>
                </a:solidFill>
              </a:rPr>
              <a:t>RECOMMENDED METHOD</a:t>
            </a:r>
          </a:p>
        </p:txBody>
      </p:sp>
      <p:sp>
        <p:nvSpPr>
          <p:cNvPr id="11" name="">
            <a:extLst xmlns:a="http://schemas.openxmlformats.org/drawingml/2006/main">
              <a:ext uri="{FF2B5EF4-FFF2-40B4-BE49-F238E27FC236}">
                <a16:creationId xmlns:a16="http://schemas.microsoft.com/office/drawing/2014/main" id="{137F6D58-87D0-431B-9DB4-7771B9E05B84}"/>
              </a:ext>
            </a:extLst>
          </p:cNvPr>
          <p:cNvSpPr>
            <a:spLocks xmlns:a="http://schemas.openxmlformats.org/drawingml/2006/main" noGrp="1"/>
          </p:cNvSpPr>
          <p:nvPr/>
        </p:nvSpPr>
        <p:spPr>
          <a:xfrm xmlns:a="http://schemas.openxmlformats.org/drawingml/2006/main">
            <a:off x="952500" y="2543175"/>
            <a:ext cx="9696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32238"/>
                </a:solidFill>
              </a:defRPr>
            </a:pPr>
            <a:r>
              <a:rPr sz="1350" b="1" i="0">
                <a:solidFill>
                  <a:srgbClr val="132238"/>
                </a:solidFill>
              </a:rPr>
              <a:t>Current POC guidance  +  GPT-5.2  +  normalized/decomposed tasks</a:t>
            </a:r>
          </a:p>
        </p:txBody>
      </p:sp>
      <p:sp>
        <p:nvSpPr>
          <p:cNvPr id="12" name="">
            <a:extLst xmlns:a="http://schemas.openxmlformats.org/drawingml/2006/main">
              <a:ext uri="{FF2B5EF4-FFF2-40B4-BE49-F238E27FC236}">
                <a16:creationId xmlns:a16="http://schemas.microsoft.com/office/drawing/2014/main" id="{80DA3D87-F417-49F1-B540-DF241A1B53EB}"/>
              </a:ext>
            </a:extLst>
          </p:cNvPr>
          <p:cNvSpPr>
            <a:spLocks xmlns:a="http://schemas.openxmlformats.org/drawingml/2006/main" noGrp="1"/>
          </p:cNvSpPr>
          <p:nvPr/>
        </p:nvSpPr>
        <p:spPr>
          <a:xfrm xmlns:a="http://schemas.openxmlformats.org/drawingml/2006/main">
            <a:off x="876300" y="3600450"/>
            <a:ext cx="76200" cy="76200"/>
          </a:xfrm>
          <a:prstGeom xmlns:a="http://schemas.openxmlformats.org/drawingml/2006/main" prst="ellipse">
            <a:avLst/>
          </a:prstGeom>
          <a:solidFill xmlns:a="http://schemas.openxmlformats.org/drawingml/2006/main">
            <a:srgbClr val="087A76"/>
          </a:solidFill>
          <a:ln xmlns:a="http://schemas.openxmlformats.org/drawingml/2006/main" w="9525">
            <a:solidFill>
              <a:srgbClr val="087A76"/>
            </a:solidFill>
            <a:prstDash val="solid"/>
          </a:ln>
        </p:spPr>
      </p:sp>
      <p:sp>
        <p:nvSpPr>
          <p:cNvPr id="13" name="">
            <a:extLst xmlns:a="http://schemas.openxmlformats.org/drawingml/2006/main">
              <a:ext uri="{FF2B5EF4-FFF2-40B4-BE49-F238E27FC236}">
                <a16:creationId xmlns:a16="http://schemas.microsoft.com/office/drawing/2014/main" id="{88BAB378-1AF7-4193-A3F2-D054F6900977}"/>
              </a:ext>
            </a:extLst>
          </p:cNvPr>
          <p:cNvSpPr>
            <a:spLocks xmlns:a="http://schemas.openxmlformats.org/drawingml/2006/main" noGrp="1"/>
          </p:cNvSpPr>
          <p:nvPr/>
        </p:nvSpPr>
        <p:spPr>
          <a:xfrm xmlns:a="http://schemas.openxmlformats.org/drawingml/2006/main">
            <a:off x="1066800" y="35433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238"/>
                </a:solidFill>
              </a:defRPr>
            </a:pPr>
            <a:r>
              <a:rPr sz="1275" b="0" i="0">
                <a:solidFill>
                  <a:srgbClr val="132238"/>
                </a:solidFill>
              </a:rPr>
              <a:t>Matches the current job-redesign POC rather than retrofitting the POC to the historical dashboard.</a:t>
            </a:r>
          </a:p>
        </p:txBody>
      </p:sp>
      <p:sp>
        <p:nvSpPr>
          <p:cNvPr id="14" name="">
            <a:extLst xmlns:a="http://schemas.openxmlformats.org/drawingml/2006/main">
              <a:ext uri="{FF2B5EF4-FFF2-40B4-BE49-F238E27FC236}">
                <a16:creationId xmlns:a16="http://schemas.microsoft.com/office/drawing/2014/main" id="{227A3E1E-4BCB-4860-AA48-2F447AFF12F6}"/>
              </a:ext>
            </a:extLst>
          </p:cNvPr>
          <p:cNvSpPr>
            <a:spLocks xmlns:a="http://schemas.openxmlformats.org/drawingml/2006/main" noGrp="1"/>
          </p:cNvSpPr>
          <p:nvPr/>
        </p:nvSpPr>
        <p:spPr>
          <a:xfrm xmlns:a="http://schemas.openxmlformats.org/drawingml/2006/main">
            <a:off x="876300" y="4010025"/>
            <a:ext cx="76200" cy="76200"/>
          </a:xfrm>
          <a:prstGeom xmlns:a="http://schemas.openxmlformats.org/drawingml/2006/main" prst="ellipse">
            <a:avLst/>
          </a:prstGeom>
          <a:solidFill xmlns:a="http://schemas.openxmlformats.org/drawingml/2006/main">
            <a:srgbClr val="D9771F"/>
          </a:solidFill>
          <a:ln xmlns:a="http://schemas.openxmlformats.org/drawingml/2006/main" w="9525">
            <a:solidFill>
              <a:srgbClr val="D9771F"/>
            </a:solidFill>
            <a:prstDash val="solid"/>
          </a:ln>
        </p:spPr>
      </p:sp>
      <p:sp>
        <p:nvSpPr>
          <p:cNvPr id="15" name="">
            <a:extLst xmlns:a="http://schemas.openxmlformats.org/drawingml/2006/main">
              <a:ext uri="{FF2B5EF4-FFF2-40B4-BE49-F238E27FC236}">
                <a16:creationId xmlns:a16="http://schemas.microsoft.com/office/drawing/2014/main" id="{B17A3A8D-677F-42C1-94CD-8D080E23EFDB}"/>
              </a:ext>
            </a:extLst>
          </p:cNvPr>
          <p:cNvSpPr>
            <a:spLocks xmlns:a="http://schemas.openxmlformats.org/drawingml/2006/main" noGrp="1"/>
          </p:cNvSpPr>
          <p:nvPr/>
        </p:nvSpPr>
        <p:spPr>
          <a:xfrm xmlns:a="http://schemas.openxmlformats.org/drawingml/2006/main">
            <a:off x="1066800" y="3952875"/>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238"/>
                </a:solidFill>
              </a:defRPr>
            </a:pPr>
            <a:r>
              <a:rPr sz="1275" b="0" i="0">
                <a:solidFill>
                  <a:srgbClr val="132238"/>
                </a:solidFill>
              </a:rPr>
              <a:t>Uses the LLM version currently used in the POC workflow.</a:t>
            </a:r>
          </a:p>
        </p:txBody>
      </p:sp>
      <p:sp>
        <p:nvSpPr>
          <p:cNvPr id="16" name="">
            <a:extLst xmlns:a="http://schemas.openxmlformats.org/drawingml/2006/main">
              <a:ext uri="{FF2B5EF4-FFF2-40B4-BE49-F238E27FC236}">
                <a16:creationId xmlns:a16="http://schemas.microsoft.com/office/drawing/2014/main" id="{08A8BDFB-6452-4BDF-914C-DE16773A043C}"/>
              </a:ext>
            </a:extLst>
          </p:cNvPr>
          <p:cNvSpPr>
            <a:spLocks xmlns:a="http://schemas.openxmlformats.org/drawingml/2006/main" noGrp="1"/>
          </p:cNvSpPr>
          <p:nvPr/>
        </p:nvSpPr>
        <p:spPr>
          <a:xfrm xmlns:a="http://schemas.openxmlformats.org/drawingml/2006/main">
            <a:off x="876300" y="4419600"/>
            <a:ext cx="76200" cy="76200"/>
          </a:xfrm>
          <a:prstGeom xmlns:a="http://schemas.openxmlformats.org/drawingml/2006/main" prst="ellipse">
            <a:avLst/>
          </a:prstGeom>
          <a:solidFill xmlns:a="http://schemas.openxmlformats.org/drawingml/2006/main">
            <a:srgbClr val="24547A"/>
          </a:solidFill>
          <a:ln xmlns:a="http://schemas.openxmlformats.org/drawingml/2006/main" w="9525">
            <a:solidFill>
              <a:srgbClr val="24547A"/>
            </a:solidFill>
            <a:prstDash val="solid"/>
          </a:ln>
        </p:spPr>
      </p:sp>
      <p:sp>
        <p:nvSpPr>
          <p:cNvPr id="17" name="">
            <a:extLst xmlns:a="http://schemas.openxmlformats.org/drawingml/2006/main">
              <a:ext uri="{FF2B5EF4-FFF2-40B4-BE49-F238E27FC236}">
                <a16:creationId xmlns:a16="http://schemas.microsoft.com/office/drawing/2014/main" id="{650FED82-1CC2-45AD-A94F-C52B1E73D44B}"/>
              </a:ext>
            </a:extLst>
          </p:cNvPr>
          <p:cNvSpPr>
            <a:spLocks xmlns:a="http://schemas.openxmlformats.org/drawingml/2006/main" noGrp="1"/>
          </p:cNvSpPr>
          <p:nvPr/>
        </p:nvSpPr>
        <p:spPr>
          <a:xfrm xmlns:a="http://schemas.openxmlformats.org/drawingml/2006/main">
            <a:off x="1066800" y="436245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238"/>
                </a:solidFill>
              </a:defRPr>
            </a:pPr>
            <a:r>
              <a:rPr sz="1275" b="0" i="0">
                <a:solidFill>
                  <a:srgbClr val="132238"/>
                </a:solidFill>
              </a:rPr>
              <a:t>Uses a clearer, more stable task unit without being the main driver of the E0-distribution change.</a:t>
            </a:r>
          </a:p>
        </p:txBody>
      </p:sp>
      <p:sp>
        <p:nvSpPr>
          <p:cNvPr id="18" name="">
            <a:extLst xmlns:a="http://schemas.openxmlformats.org/drawingml/2006/main">
              <a:ext uri="{FF2B5EF4-FFF2-40B4-BE49-F238E27FC236}">
                <a16:creationId xmlns:a16="http://schemas.microsoft.com/office/drawing/2014/main" id="{7E7E851A-BC60-43E0-811C-CA71B68E6D9E}"/>
              </a:ext>
            </a:extLst>
          </p:cNvPr>
          <p:cNvSpPr>
            <a:spLocks xmlns:a="http://schemas.openxmlformats.org/drawingml/2006/main" noGrp="1"/>
          </p:cNvSpPr>
          <p:nvPr/>
        </p:nvSpPr>
        <p:spPr>
          <a:xfrm xmlns:a="http://schemas.openxmlformats.org/drawingml/2006/main">
            <a:off x="876300" y="4829175"/>
            <a:ext cx="76200" cy="76200"/>
          </a:xfrm>
          <a:prstGeom xmlns:a="http://schemas.openxmlformats.org/drawingml/2006/main" prst="ellipse">
            <a:avLst/>
          </a:prstGeom>
          <a:solidFill xmlns:a="http://schemas.openxmlformats.org/drawingml/2006/main">
            <a:srgbClr val="C75850"/>
          </a:solidFill>
          <a:ln xmlns:a="http://schemas.openxmlformats.org/drawingml/2006/main" w="9525">
            <a:solidFill>
              <a:srgbClr val="C75850"/>
            </a:solidFill>
            <a:prstDash val="solid"/>
          </a:ln>
        </p:spPr>
      </p:sp>
      <p:sp>
        <p:nvSpPr>
          <p:cNvPr id="19" name="">
            <a:extLst xmlns:a="http://schemas.openxmlformats.org/drawingml/2006/main">
              <a:ext uri="{FF2B5EF4-FFF2-40B4-BE49-F238E27FC236}">
                <a16:creationId xmlns:a16="http://schemas.microsoft.com/office/drawing/2014/main" id="{752BC863-5FC5-43A0-AF9A-7130148A97F9}"/>
              </a:ext>
            </a:extLst>
          </p:cNvPr>
          <p:cNvSpPr>
            <a:spLocks xmlns:a="http://schemas.openxmlformats.org/drawingml/2006/main" noGrp="1"/>
          </p:cNvSpPr>
          <p:nvPr/>
        </p:nvSpPr>
        <p:spPr>
          <a:xfrm xmlns:a="http://schemas.openxmlformats.org/drawingml/2006/main">
            <a:off x="1066800" y="4772025"/>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238"/>
                </a:solidFill>
              </a:defRPr>
            </a:pPr>
            <a:r>
              <a:rPr sz="1275" b="0" i="0">
                <a:solidFill>
                  <a:srgbClr val="132238"/>
                </a:solidFill>
              </a:rPr>
              <a:t>Can be frozen, documented, distilled into the ML model and monitored in production.</a:t>
            </a:r>
          </a:p>
        </p:txBody>
      </p:sp>
      <p:sp>
        <p:nvSpPr>
          <p:cNvPr id="20" name="">
            <a:extLst xmlns:a="http://schemas.openxmlformats.org/drawingml/2006/main">
              <a:ext uri="{FF2B5EF4-FFF2-40B4-BE49-F238E27FC236}">
                <a16:creationId xmlns:a16="http://schemas.microsoft.com/office/drawing/2014/main" id="{E5FB41D1-27C7-4F08-9447-51DF19D3B1A2}"/>
              </a:ext>
            </a:extLst>
          </p:cNvPr>
          <p:cNvSpPr>
            <a:spLocks xmlns:a="http://schemas.openxmlformats.org/drawingml/2006/main" noGrp="1"/>
          </p:cNvSpPr>
          <p:nvPr/>
        </p:nvSpPr>
        <p:spPr>
          <a:xfrm xmlns:a="http://schemas.openxmlformats.org/drawingml/2006/main">
            <a:off x="685800" y="5410200"/>
            <a:ext cx="10172700" cy="514350"/>
          </a:xfrm>
          <a:prstGeom xmlns:a="http://schemas.openxmlformats.org/drawingml/2006/main" prst="rect">
            <a:avLst/>
          </a:prstGeom>
          <a:solidFill xmlns:a="http://schemas.openxmlformats.org/drawingml/2006/main">
            <a:srgbClr val="F6E7E5"/>
          </a:solidFill>
          <a:ln xmlns:a="http://schemas.openxmlformats.org/drawingml/2006/main" w="5715">
            <a:solidFill>
              <a:srgbClr val="F6E7E5"/>
            </a:solidFill>
            <a:prstDash val="solid"/>
          </a:ln>
        </p:spPr>
      </p:sp>
      <p:sp>
        <p:nvSpPr>
          <p:cNvPr id="21" name="">
            <a:extLst xmlns:a="http://schemas.openxmlformats.org/drawingml/2006/main">
              <a:ext uri="{FF2B5EF4-FFF2-40B4-BE49-F238E27FC236}">
                <a16:creationId xmlns:a16="http://schemas.microsoft.com/office/drawing/2014/main" id="{5F047645-7EE6-4FE3-BB30-6EEC9E3E9E79}"/>
              </a:ext>
            </a:extLst>
          </p:cNvPr>
          <p:cNvSpPr>
            <a:spLocks xmlns:a="http://schemas.openxmlformats.org/drawingml/2006/main" noGrp="1"/>
          </p:cNvSpPr>
          <p:nvPr/>
        </p:nvSpPr>
        <p:spPr>
          <a:xfrm xmlns:a="http://schemas.openxmlformats.org/drawingml/2006/main">
            <a:off x="685800" y="5410200"/>
            <a:ext cx="76200" cy="51435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22" name="">
            <a:extLst xmlns:a="http://schemas.openxmlformats.org/drawingml/2006/main">
              <a:ext uri="{FF2B5EF4-FFF2-40B4-BE49-F238E27FC236}">
                <a16:creationId xmlns:a16="http://schemas.microsoft.com/office/drawing/2014/main" id="{1E50A392-37C7-4356-BA4A-9F1F61BB95F9}"/>
              </a:ext>
            </a:extLst>
          </p:cNvPr>
          <p:cNvSpPr>
            <a:spLocks xmlns:a="http://schemas.openxmlformats.org/drawingml/2006/main" noGrp="1"/>
          </p:cNvSpPr>
          <p:nvPr/>
        </p:nvSpPr>
        <p:spPr>
          <a:xfrm xmlns:a="http://schemas.openxmlformats.org/drawingml/2006/main">
            <a:off x="952500" y="5543550"/>
            <a:ext cx="9696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238"/>
                </a:solidFill>
              </a:defRPr>
            </a:pPr>
            <a:r>
              <a:rPr sz="1275" b="1" i="0">
                <a:solidFill>
                  <a:srgbClr val="132238"/>
                </a:solidFill>
              </a:rPr>
              <a:t>Preserve the historical dashboard separately; do not publish the live-tool distribution as a replacement national estimate.</a:t>
            </a:r>
          </a:p>
        </p:txBody>
      </p:sp>
    </p:spTree>
    <p:extLst>
      <p:ext uri="{BB962C8B-B14F-4D97-AF65-F5344CB8AC3E}">
        <p14:creationId xmlns:p14="http://schemas.microsoft.com/office/powerpoint/2010/main" val="1637727271"/>
      </p:ext>
    </p:extLst>
  </p:cSld>
</p:sld>
</file>

<file path=ppt/slides/slide1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8F2C523-DB67-4817-A2F2-07F3931CF42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A21C0DAB-D89E-48E9-BD91-0C7CDA34E1A0}"/>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APPROVAL AND NEXT STEPS</a:t>
            </a:r>
          </a:p>
        </p:txBody>
      </p:sp>
      <p:sp>
        <p:nvSpPr>
          <p:cNvPr id="3" name="">
            <a:extLst xmlns:a="http://schemas.openxmlformats.org/drawingml/2006/main">
              <a:ext uri="{FF2B5EF4-FFF2-40B4-BE49-F238E27FC236}">
                <a16:creationId xmlns:a16="http://schemas.microsoft.com/office/drawing/2014/main" id="{9B353616-1363-4052-BEB8-8BBB17AD0E9D}"/>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Approval unlocks one governed training dataset and a monitored ML pilot</a:t>
            </a:r>
          </a:p>
        </p:txBody>
      </p:sp>
      <p:sp>
        <p:nvSpPr>
          <p:cNvPr id="4" name="">
            <a:extLst xmlns:a="http://schemas.openxmlformats.org/drawingml/2006/main">
              <a:ext uri="{FF2B5EF4-FFF2-40B4-BE49-F238E27FC236}">
                <a16:creationId xmlns:a16="http://schemas.microsoft.com/office/drawing/2014/main" id="{739D57EB-547C-4085-930F-91E2E0859486}"/>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The live tool should not generate final labels until the scoring method is frozen and documented.</a:t>
            </a:r>
          </a:p>
        </p:txBody>
      </p:sp>
      <p:sp>
        <p:nvSpPr>
          <p:cNvPr id="5" name="">
            <a:extLst xmlns:a="http://schemas.openxmlformats.org/drawingml/2006/main">
              <a:ext uri="{FF2B5EF4-FFF2-40B4-BE49-F238E27FC236}">
                <a16:creationId xmlns:a16="http://schemas.microsoft.com/office/drawing/2014/main" id="{29EBBD2A-EA08-4AC5-8B21-FD7BC006621B}"/>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4B813BC8-4459-4692-A2D6-9CAA35584BF7}"/>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9738EDC8-67F2-4E7B-B130-87189A31A54D}"/>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18</a:t>
            </a:r>
          </a:p>
        </p:txBody>
      </p:sp>
      <p:sp>
        <p:nvSpPr>
          <p:cNvPr id="8" name="">
            <a:extLst xmlns:a="http://schemas.openxmlformats.org/drawingml/2006/main">
              <a:ext uri="{FF2B5EF4-FFF2-40B4-BE49-F238E27FC236}">
                <a16:creationId xmlns:a16="http://schemas.microsoft.com/office/drawing/2014/main" id="{86B5C4BC-E96F-4A20-931E-487325DFAFB2}"/>
              </a:ext>
            </a:extLst>
          </p:cNvPr>
          <p:cNvSpPr>
            <a:spLocks xmlns:a="http://schemas.openxmlformats.org/drawingml/2006/main" noGrp="1"/>
          </p:cNvSpPr>
          <p:nvPr/>
        </p:nvSpPr>
        <p:spPr>
          <a:xfrm xmlns:a="http://schemas.openxmlformats.org/drawingml/2006/main">
            <a:off x="685800" y="2571750"/>
            <a:ext cx="457200" cy="457200"/>
          </a:xfrm>
          <a:prstGeom xmlns:a="http://schemas.openxmlformats.org/drawingml/2006/main" prst="ellipse">
            <a:avLst/>
          </a:prstGeom>
          <a:solidFill xmlns:a="http://schemas.openxmlformats.org/drawingml/2006/main">
            <a:srgbClr val="087A76"/>
          </a:solidFill>
          <a:ln xmlns:a="http://schemas.openxmlformats.org/drawingml/2006/main" w="9525">
            <a:solidFill>
              <a:srgbClr val="087A76"/>
            </a:solidFill>
            <a:prstDash val="solid"/>
          </a:ln>
        </p:spPr>
      </p:sp>
      <p:sp>
        <p:nvSpPr>
          <p:cNvPr id="9" name="">
            <a:extLst xmlns:a="http://schemas.openxmlformats.org/drawingml/2006/main">
              <a:ext uri="{FF2B5EF4-FFF2-40B4-BE49-F238E27FC236}">
                <a16:creationId xmlns:a16="http://schemas.microsoft.com/office/drawing/2014/main" id="{98F9C909-C0D0-4280-9BE7-99C2DFFC17D6}"/>
              </a:ext>
            </a:extLst>
          </p:cNvPr>
          <p:cNvSpPr>
            <a:spLocks xmlns:a="http://schemas.openxmlformats.org/drawingml/2006/main" noGrp="1"/>
          </p:cNvSpPr>
          <p:nvPr/>
        </p:nvSpPr>
        <p:spPr>
          <a:xfrm xmlns:a="http://schemas.openxmlformats.org/drawingml/2006/main">
            <a:off x="685800" y="26860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1</a:t>
            </a:r>
          </a:p>
        </p:txBody>
      </p:sp>
      <p:sp>
        <p:nvSpPr>
          <p:cNvPr id="10" name="">
            <a:extLst xmlns:a="http://schemas.openxmlformats.org/drawingml/2006/main">
              <a:ext uri="{FF2B5EF4-FFF2-40B4-BE49-F238E27FC236}">
                <a16:creationId xmlns:a16="http://schemas.microsoft.com/office/drawing/2014/main" id="{2F35999B-9C07-4F4E-865D-5409CA422426}"/>
              </a:ext>
            </a:extLst>
          </p:cNvPr>
          <p:cNvSpPr>
            <a:spLocks xmlns:a="http://schemas.openxmlformats.org/drawingml/2006/main" noGrp="1"/>
          </p:cNvSpPr>
          <p:nvPr/>
        </p:nvSpPr>
        <p:spPr>
          <a:xfrm xmlns:a="http://schemas.openxmlformats.org/drawingml/2006/main">
            <a:off x="1181100" y="2800350"/>
            <a:ext cx="1352550" cy="0"/>
          </a:xfrm>
          <a:prstGeom xmlns:a="http://schemas.openxmlformats.org/drawingml/2006/main" prst="line">
            <a:avLst/>
          </a:prstGeom>
          <a:noFill xmlns:a="http://schemas.openxmlformats.org/drawingml/2006/main"/>
          <a:ln xmlns:a="http://schemas.openxmlformats.org/drawingml/2006/main" w="19050">
            <a:solidFill>
              <a:srgbClr val="D5DCDD"/>
            </a:solidFill>
            <a:prstDash val="solid"/>
          </a:ln>
        </p:spPr>
      </p:sp>
      <p:sp>
        <p:nvSpPr>
          <p:cNvPr id="11" name="">
            <a:extLst xmlns:a="http://schemas.openxmlformats.org/drawingml/2006/main">
              <a:ext uri="{FF2B5EF4-FFF2-40B4-BE49-F238E27FC236}">
                <a16:creationId xmlns:a16="http://schemas.microsoft.com/office/drawing/2014/main" id="{DC22B169-FA6F-49E0-B66F-68110BB65A03}"/>
              </a:ext>
            </a:extLst>
          </p:cNvPr>
          <p:cNvSpPr>
            <a:spLocks xmlns:a="http://schemas.openxmlformats.org/drawingml/2006/main" noGrp="1"/>
          </p:cNvSpPr>
          <p:nvPr/>
        </p:nvSpPr>
        <p:spPr>
          <a:xfrm xmlns:a="http://schemas.openxmlformats.org/drawingml/2006/main">
            <a:off x="647700" y="3238500"/>
            <a:ext cx="176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132238"/>
                </a:solidFill>
              </a:defRPr>
            </a:pPr>
            <a:r>
              <a:rPr sz="1200" b="1" i="0">
                <a:solidFill>
                  <a:srgbClr val="132238"/>
                </a:solidFill>
              </a:rPr>
              <a:t>Approve scoring guidance</a:t>
            </a:r>
          </a:p>
        </p:txBody>
      </p:sp>
      <p:sp>
        <p:nvSpPr>
          <p:cNvPr id="12" name="">
            <a:extLst xmlns:a="http://schemas.openxmlformats.org/drawingml/2006/main">
              <a:ext uri="{FF2B5EF4-FFF2-40B4-BE49-F238E27FC236}">
                <a16:creationId xmlns:a16="http://schemas.microsoft.com/office/drawing/2014/main" id="{55EA0DFA-D382-4303-BB51-660A6298E831}"/>
              </a:ext>
            </a:extLst>
          </p:cNvPr>
          <p:cNvSpPr>
            <a:spLocks xmlns:a="http://schemas.openxmlformats.org/drawingml/2006/main" noGrp="1"/>
          </p:cNvSpPr>
          <p:nvPr/>
        </p:nvSpPr>
        <p:spPr>
          <a:xfrm xmlns:a="http://schemas.openxmlformats.org/drawingml/2006/main">
            <a:off x="2724150" y="2571750"/>
            <a:ext cx="457200" cy="457200"/>
          </a:xfrm>
          <a:prstGeom xmlns:a="http://schemas.openxmlformats.org/drawingml/2006/main" prst="ellipse">
            <a:avLst/>
          </a:prstGeom>
          <a:solidFill xmlns:a="http://schemas.openxmlformats.org/drawingml/2006/main">
            <a:srgbClr val="D9771F"/>
          </a:solidFill>
          <a:ln xmlns:a="http://schemas.openxmlformats.org/drawingml/2006/main" w="9525">
            <a:solidFill>
              <a:srgbClr val="D9771F"/>
            </a:solidFill>
            <a:prstDash val="solid"/>
          </a:ln>
        </p:spPr>
      </p:sp>
      <p:sp>
        <p:nvSpPr>
          <p:cNvPr id="13" name="">
            <a:extLst xmlns:a="http://schemas.openxmlformats.org/drawingml/2006/main">
              <a:ext uri="{FF2B5EF4-FFF2-40B4-BE49-F238E27FC236}">
                <a16:creationId xmlns:a16="http://schemas.microsoft.com/office/drawing/2014/main" id="{B5C9B369-61F8-43B4-95E4-AD150D53C7B8}"/>
              </a:ext>
            </a:extLst>
          </p:cNvPr>
          <p:cNvSpPr>
            <a:spLocks xmlns:a="http://schemas.openxmlformats.org/drawingml/2006/main" noGrp="1"/>
          </p:cNvSpPr>
          <p:nvPr/>
        </p:nvSpPr>
        <p:spPr>
          <a:xfrm xmlns:a="http://schemas.openxmlformats.org/drawingml/2006/main">
            <a:off x="2724150" y="26860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2</a:t>
            </a:r>
          </a:p>
        </p:txBody>
      </p:sp>
      <p:sp>
        <p:nvSpPr>
          <p:cNvPr id="14" name="">
            <a:extLst xmlns:a="http://schemas.openxmlformats.org/drawingml/2006/main">
              <a:ext uri="{FF2B5EF4-FFF2-40B4-BE49-F238E27FC236}">
                <a16:creationId xmlns:a16="http://schemas.microsoft.com/office/drawing/2014/main" id="{B0D8AC3A-194A-4D6C-BCFE-A683FAF49E29}"/>
              </a:ext>
            </a:extLst>
          </p:cNvPr>
          <p:cNvSpPr>
            <a:spLocks xmlns:a="http://schemas.openxmlformats.org/drawingml/2006/main" noGrp="1"/>
          </p:cNvSpPr>
          <p:nvPr/>
        </p:nvSpPr>
        <p:spPr>
          <a:xfrm xmlns:a="http://schemas.openxmlformats.org/drawingml/2006/main">
            <a:off x="3219450" y="2800350"/>
            <a:ext cx="1352550" cy="0"/>
          </a:xfrm>
          <a:prstGeom xmlns:a="http://schemas.openxmlformats.org/drawingml/2006/main" prst="line">
            <a:avLst/>
          </a:prstGeom>
          <a:noFill xmlns:a="http://schemas.openxmlformats.org/drawingml/2006/main"/>
          <a:ln xmlns:a="http://schemas.openxmlformats.org/drawingml/2006/main" w="19050">
            <a:solidFill>
              <a:srgbClr val="D5DCDD"/>
            </a:solidFill>
            <a:prstDash val="solid"/>
          </a:ln>
        </p:spPr>
      </p:sp>
      <p:sp>
        <p:nvSpPr>
          <p:cNvPr id="15" name="">
            <a:extLst xmlns:a="http://schemas.openxmlformats.org/drawingml/2006/main">
              <a:ext uri="{FF2B5EF4-FFF2-40B4-BE49-F238E27FC236}">
                <a16:creationId xmlns:a16="http://schemas.microsoft.com/office/drawing/2014/main" id="{2E1B7E32-DF87-4BF4-BDD3-65A195D61407}"/>
              </a:ext>
            </a:extLst>
          </p:cNvPr>
          <p:cNvSpPr>
            <a:spLocks xmlns:a="http://schemas.openxmlformats.org/drawingml/2006/main" noGrp="1"/>
          </p:cNvSpPr>
          <p:nvPr/>
        </p:nvSpPr>
        <p:spPr>
          <a:xfrm xmlns:a="http://schemas.openxmlformats.org/drawingml/2006/main">
            <a:off x="2686050" y="3238500"/>
            <a:ext cx="176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132238"/>
                </a:solidFill>
              </a:defRPr>
            </a:pPr>
            <a:r>
              <a:rPr sz="1200" b="1" i="0">
                <a:solidFill>
                  <a:srgbClr val="132238"/>
                </a:solidFill>
              </a:rPr>
              <a:t>Record GPT-5.2 version and task format</a:t>
            </a:r>
          </a:p>
        </p:txBody>
      </p:sp>
      <p:sp>
        <p:nvSpPr>
          <p:cNvPr id="16" name="">
            <a:extLst xmlns:a="http://schemas.openxmlformats.org/drawingml/2006/main">
              <a:ext uri="{FF2B5EF4-FFF2-40B4-BE49-F238E27FC236}">
                <a16:creationId xmlns:a16="http://schemas.microsoft.com/office/drawing/2014/main" id="{1102216A-A6A3-4CFF-B8A2-E864D7A4912F}"/>
              </a:ext>
            </a:extLst>
          </p:cNvPr>
          <p:cNvSpPr>
            <a:spLocks xmlns:a="http://schemas.openxmlformats.org/drawingml/2006/main" noGrp="1"/>
          </p:cNvSpPr>
          <p:nvPr/>
        </p:nvSpPr>
        <p:spPr>
          <a:xfrm xmlns:a="http://schemas.openxmlformats.org/drawingml/2006/main">
            <a:off x="4762500" y="2571750"/>
            <a:ext cx="457200" cy="457200"/>
          </a:xfrm>
          <a:prstGeom xmlns:a="http://schemas.openxmlformats.org/drawingml/2006/main" prst="ellipse">
            <a:avLst/>
          </a:prstGeom>
          <a:solidFill xmlns:a="http://schemas.openxmlformats.org/drawingml/2006/main">
            <a:srgbClr val="24547A"/>
          </a:solidFill>
          <a:ln xmlns:a="http://schemas.openxmlformats.org/drawingml/2006/main" w="9525">
            <a:solidFill>
              <a:srgbClr val="24547A"/>
            </a:solidFill>
            <a:prstDash val="solid"/>
          </a:ln>
        </p:spPr>
      </p:sp>
      <p:sp>
        <p:nvSpPr>
          <p:cNvPr id="17" name="">
            <a:extLst xmlns:a="http://schemas.openxmlformats.org/drawingml/2006/main">
              <a:ext uri="{FF2B5EF4-FFF2-40B4-BE49-F238E27FC236}">
                <a16:creationId xmlns:a16="http://schemas.microsoft.com/office/drawing/2014/main" id="{F8BE76C2-C306-4999-BF1F-84C7869E67A6}"/>
              </a:ext>
            </a:extLst>
          </p:cNvPr>
          <p:cNvSpPr>
            <a:spLocks xmlns:a="http://schemas.openxmlformats.org/drawingml/2006/main" noGrp="1"/>
          </p:cNvSpPr>
          <p:nvPr/>
        </p:nvSpPr>
        <p:spPr>
          <a:xfrm xmlns:a="http://schemas.openxmlformats.org/drawingml/2006/main">
            <a:off x="4762500" y="26860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3</a:t>
            </a:r>
          </a:p>
        </p:txBody>
      </p:sp>
      <p:sp>
        <p:nvSpPr>
          <p:cNvPr id="18" name="">
            <a:extLst xmlns:a="http://schemas.openxmlformats.org/drawingml/2006/main">
              <a:ext uri="{FF2B5EF4-FFF2-40B4-BE49-F238E27FC236}">
                <a16:creationId xmlns:a16="http://schemas.microsoft.com/office/drawing/2014/main" id="{770E6DED-A636-449A-A87E-7E4E31D6BBC1}"/>
              </a:ext>
            </a:extLst>
          </p:cNvPr>
          <p:cNvSpPr>
            <a:spLocks xmlns:a="http://schemas.openxmlformats.org/drawingml/2006/main" noGrp="1"/>
          </p:cNvSpPr>
          <p:nvPr/>
        </p:nvSpPr>
        <p:spPr>
          <a:xfrm xmlns:a="http://schemas.openxmlformats.org/drawingml/2006/main">
            <a:off x="5257800" y="2800350"/>
            <a:ext cx="1352550" cy="0"/>
          </a:xfrm>
          <a:prstGeom xmlns:a="http://schemas.openxmlformats.org/drawingml/2006/main" prst="line">
            <a:avLst/>
          </a:prstGeom>
          <a:noFill xmlns:a="http://schemas.openxmlformats.org/drawingml/2006/main"/>
          <a:ln xmlns:a="http://schemas.openxmlformats.org/drawingml/2006/main" w="19050">
            <a:solidFill>
              <a:srgbClr val="D5DCDD"/>
            </a:solidFill>
            <a:prstDash val="solid"/>
          </a:ln>
        </p:spPr>
      </p:sp>
      <p:sp>
        <p:nvSpPr>
          <p:cNvPr id="19" name="">
            <a:extLst xmlns:a="http://schemas.openxmlformats.org/drawingml/2006/main">
              <a:ext uri="{FF2B5EF4-FFF2-40B4-BE49-F238E27FC236}">
                <a16:creationId xmlns:a16="http://schemas.microsoft.com/office/drawing/2014/main" id="{6C9B9390-2582-4E34-8669-62E05680CFAF}"/>
              </a:ext>
            </a:extLst>
          </p:cNvPr>
          <p:cNvSpPr>
            <a:spLocks xmlns:a="http://schemas.openxmlformats.org/drawingml/2006/main" noGrp="1"/>
          </p:cNvSpPr>
          <p:nvPr/>
        </p:nvSpPr>
        <p:spPr>
          <a:xfrm xmlns:a="http://schemas.openxmlformats.org/drawingml/2006/main">
            <a:off x="4724400" y="3238500"/>
            <a:ext cx="176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132238"/>
                </a:solidFill>
              </a:defRPr>
            </a:pPr>
            <a:r>
              <a:rPr sz="1200" b="1" i="0">
                <a:solidFill>
                  <a:srgbClr val="132238"/>
                </a:solidFill>
              </a:rPr>
              <a:t>Generate governed label dataset</a:t>
            </a:r>
          </a:p>
        </p:txBody>
      </p:sp>
      <p:sp>
        <p:nvSpPr>
          <p:cNvPr id="20" name="">
            <a:extLst xmlns:a="http://schemas.openxmlformats.org/drawingml/2006/main">
              <a:ext uri="{FF2B5EF4-FFF2-40B4-BE49-F238E27FC236}">
                <a16:creationId xmlns:a16="http://schemas.microsoft.com/office/drawing/2014/main" id="{1617DB3A-FD6D-41BA-85F4-D94A68FF6830}"/>
              </a:ext>
            </a:extLst>
          </p:cNvPr>
          <p:cNvSpPr>
            <a:spLocks xmlns:a="http://schemas.openxmlformats.org/drawingml/2006/main" noGrp="1"/>
          </p:cNvSpPr>
          <p:nvPr/>
        </p:nvSpPr>
        <p:spPr>
          <a:xfrm xmlns:a="http://schemas.openxmlformats.org/drawingml/2006/main">
            <a:off x="6800850" y="2571750"/>
            <a:ext cx="457200" cy="457200"/>
          </a:xfrm>
          <a:prstGeom xmlns:a="http://schemas.openxmlformats.org/drawingml/2006/main" prst="ellipse">
            <a:avLst/>
          </a:prstGeom>
          <a:solidFill xmlns:a="http://schemas.openxmlformats.org/drawingml/2006/main">
            <a:srgbClr val="C75850"/>
          </a:solidFill>
          <a:ln xmlns:a="http://schemas.openxmlformats.org/drawingml/2006/main" w="9525">
            <a:solidFill>
              <a:srgbClr val="C75850"/>
            </a:solidFill>
            <a:prstDash val="solid"/>
          </a:ln>
        </p:spPr>
      </p:sp>
      <p:sp>
        <p:nvSpPr>
          <p:cNvPr id="21" name="">
            <a:extLst xmlns:a="http://schemas.openxmlformats.org/drawingml/2006/main">
              <a:ext uri="{FF2B5EF4-FFF2-40B4-BE49-F238E27FC236}">
                <a16:creationId xmlns:a16="http://schemas.microsoft.com/office/drawing/2014/main" id="{8C16D9E9-2C65-466E-AC4F-8F95BBD8E692}"/>
              </a:ext>
            </a:extLst>
          </p:cNvPr>
          <p:cNvSpPr>
            <a:spLocks xmlns:a="http://schemas.openxmlformats.org/drawingml/2006/main" noGrp="1"/>
          </p:cNvSpPr>
          <p:nvPr/>
        </p:nvSpPr>
        <p:spPr>
          <a:xfrm xmlns:a="http://schemas.openxmlformats.org/drawingml/2006/main">
            <a:off x="6800850" y="26860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4</a:t>
            </a:r>
          </a:p>
        </p:txBody>
      </p:sp>
      <p:sp>
        <p:nvSpPr>
          <p:cNvPr id="22" name="">
            <a:extLst xmlns:a="http://schemas.openxmlformats.org/drawingml/2006/main">
              <a:ext uri="{FF2B5EF4-FFF2-40B4-BE49-F238E27FC236}">
                <a16:creationId xmlns:a16="http://schemas.microsoft.com/office/drawing/2014/main" id="{8D99B549-3845-4100-BD1E-87C46A4E7D02}"/>
              </a:ext>
            </a:extLst>
          </p:cNvPr>
          <p:cNvSpPr>
            <a:spLocks xmlns:a="http://schemas.openxmlformats.org/drawingml/2006/main" noGrp="1"/>
          </p:cNvSpPr>
          <p:nvPr/>
        </p:nvSpPr>
        <p:spPr>
          <a:xfrm xmlns:a="http://schemas.openxmlformats.org/drawingml/2006/main">
            <a:off x="7296150" y="2800350"/>
            <a:ext cx="1352550" cy="0"/>
          </a:xfrm>
          <a:prstGeom xmlns:a="http://schemas.openxmlformats.org/drawingml/2006/main" prst="line">
            <a:avLst/>
          </a:prstGeom>
          <a:noFill xmlns:a="http://schemas.openxmlformats.org/drawingml/2006/main"/>
          <a:ln xmlns:a="http://schemas.openxmlformats.org/drawingml/2006/main" w="19050">
            <a:solidFill>
              <a:srgbClr val="D5DCDD"/>
            </a:solidFill>
            <a:prstDash val="solid"/>
          </a:ln>
        </p:spPr>
      </p:sp>
      <p:sp>
        <p:nvSpPr>
          <p:cNvPr id="23" name="">
            <a:extLst xmlns:a="http://schemas.openxmlformats.org/drawingml/2006/main">
              <a:ext uri="{FF2B5EF4-FFF2-40B4-BE49-F238E27FC236}">
                <a16:creationId xmlns:a16="http://schemas.microsoft.com/office/drawing/2014/main" id="{4813978E-F6FB-4632-9FF6-8C635679B436}"/>
              </a:ext>
            </a:extLst>
          </p:cNvPr>
          <p:cNvSpPr>
            <a:spLocks xmlns:a="http://schemas.openxmlformats.org/drawingml/2006/main" noGrp="1"/>
          </p:cNvSpPr>
          <p:nvPr/>
        </p:nvSpPr>
        <p:spPr>
          <a:xfrm xmlns:a="http://schemas.openxmlformats.org/drawingml/2006/main">
            <a:off x="6762750" y="3238500"/>
            <a:ext cx="176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132238"/>
                </a:solidFill>
              </a:defRPr>
            </a:pPr>
            <a:r>
              <a:rPr sz="1200" b="1" i="0">
                <a:solidFill>
                  <a:srgbClr val="132238"/>
                </a:solidFill>
              </a:rPr>
              <a:t>Review labels, train ML model, run pilot</a:t>
            </a:r>
          </a:p>
        </p:txBody>
      </p:sp>
      <p:sp>
        <p:nvSpPr>
          <p:cNvPr id="24" name="">
            <a:extLst xmlns:a="http://schemas.openxmlformats.org/drawingml/2006/main">
              <a:ext uri="{FF2B5EF4-FFF2-40B4-BE49-F238E27FC236}">
                <a16:creationId xmlns:a16="http://schemas.microsoft.com/office/drawing/2014/main" id="{FFA2BBA8-676B-4892-A2A3-3481F67D93A6}"/>
              </a:ext>
            </a:extLst>
          </p:cNvPr>
          <p:cNvSpPr>
            <a:spLocks xmlns:a="http://schemas.openxmlformats.org/drawingml/2006/main" noGrp="1"/>
          </p:cNvSpPr>
          <p:nvPr/>
        </p:nvSpPr>
        <p:spPr>
          <a:xfrm xmlns:a="http://schemas.openxmlformats.org/drawingml/2006/main">
            <a:off x="8839200" y="2571750"/>
            <a:ext cx="457200" cy="457200"/>
          </a:xfrm>
          <a:prstGeom xmlns:a="http://schemas.openxmlformats.org/drawingml/2006/main" prst="ellipse">
            <a:avLst/>
          </a:prstGeom>
          <a:solidFill xmlns:a="http://schemas.openxmlformats.org/drawingml/2006/main">
            <a:srgbClr val="B18A2D"/>
          </a:solidFill>
          <a:ln xmlns:a="http://schemas.openxmlformats.org/drawingml/2006/main" w="9525">
            <a:solidFill>
              <a:srgbClr val="B18A2D"/>
            </a:solidFill>
            <a:prstDash val="solid"/>
          </a:ln>
        </p:spPr>
      </p:sp>
      <p:sp>
        <p:nvSpPr>
          <p:cNvPr id="25" name="">
            <a:extLst xmlns:a="http://schemas.openxmlformats.org/drawingml/2006/main">
              <a:ext uri="{FF2B5EF4-FFF2-40B4-BE49-F238E27FC236}">
                <a16:creationId xmlns:a16="http://schemas.microsoft.com/office/drawing/2014/main" id="{73920740-6241-49B3-AD15-2DAA7C8ABA56}"/>
              </a:ext>
            </a:extLst>
          </p:cNvPr>
          <p:cNvSpPr>
            <a:spLocks xmlns:a="http://schemas.openxmlformats.org/drawingml/2006/main" noGrp="1"/>
          </p:cNvSpPr>
          <p:nvPr/>
        </p:nvSpPr>
        <p:spPr>
          <a:xfrm xmlns:a="http://schemas.openxmlformats.org/drawingml/2006/main">
            <a:off x="8839200" y="26860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5</a:t>
            </a:r>
          </a:p>
        </p:txBody>
      </p:sp>
      <p:sp>
        <p:nvSpPr>
          <p:cNvPr id="26" name="">
            <a:extLst xmlns:a="http://schemas.openxmlformats.org/drawingml/2006/main">
              <a:ext uri="{FF2B5EF4-FFF2-40B4-BE49-F238E27FC236}">
                <a16:creationId xmlns:a16="http://schemas.microsoft.com/office/drawing/2014/main" id="{18E04F9B-7CB2-45B3-9B76-153F20A79F54}"/>
              </a:ext>
            </a:extLst>
          </p:cNvPr>
          <p:cNvSpPr>
            <a:spLocks xmlns:a="http://schemas.openxmlformats.org/drawingml/2006/main" noGrp="1"/>
          </p:cNvSpPr>
          <p:nvPr/>
        </p:nvSpPr>
        <p:spPr>
          <a:xfrm xmlns:a="http://schemas.openxmlformats.org/drawingml/2006/main">
            <a:off x="8801100" y="3238500"/>
            <a:ext cx="176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132238"/>
                </a:solidFill>
              </a:defRPr>
            </a:pPr>
            <a:r>
              <a:rPr sz="1200" b="1" i="0">
                <a:solidFill>
                  <a:srgbClr val="132238"/>
                </a:solidFill>
              </a:rPr>
              <a:t>Monitor review rate, OOV rate and drift</a:t>
            </a:r>
          </a:p>
        </p:txBody>
      </p:sp>
      <p:sp>
        <p:nvSpPr>
          <p:cNvPr id="27" name="">
            <a:extLst xmlns:a="http://schemas.openxmlformats.org/drawingml/2006/main">
              <a:ext uri="{FF2B5EF4-FFF2-40B4-BE49-F238E27FC236}">
                <a16:creationId xmlns:a16="http://schemas.microsoft.com/office/drawing/2014/main" id="{9F7C2DE3-6B79-42E2-AA1F-86CBEB1D8D51}"/>
              </a:ext>
            </a:extLst>
          </p:cNvPr>
          <p:cNvSpPr>
            <a:spLocks xmlns:a="http://schemas.openxmlformats.org/drawingml/2006/main" noGrp="1"/>
          </p:cNvSpPr>
          <p:nvPr/>
        </p:nvSpPr>
        <p:spPr>
          <a:xfrm xmlns:a="http://schemas.openxmlformats.org/drawingml/2006/main">
            <a:off x="685800" y="4476750"/>
            <a:ext cx="10172700" cy="1428750"/>
          </a:xfrm>
          <a:prstGeom xmlns:a="http://schemas.openxmlformats.org/drawingml/2006/main" prst="rect">
            <a:avLst/>
          </a:prstGeom>
          <a:solidFill xmlns:a="http://schemas.openxmlformats.org/drawingml/2006/main">
            <a:srgbClr val="E1F0EC"/>
          </a:solidFill>
          <a:ln xmlns:a="http://schemas.openxmlformats.org/drawingml/2006/main" w="5715">
            <a:solidFill>
              <a:srgbClr val="E1F0EC"/>
            </a:solidFill>
            <a:prstDash val="solid"/>
          </a:ln>
        </p:spPr>
      </p:sp>
      <p:sp>
        <p:nvSpPr>
          <p:cNvPr id="28" name="">
            <a:extLst xmlns:a="http://schemas.openxmlformats.org/drawingml/2006/main">
              <a:ext uri="{FF2B5EF4-FFF2-40B4-BE49-F238E27FC236}">
                <a16:creationId xmlns:a16="http://schemas.microsoft.com/office/drawing/2014/main" id="{AD9692D0-2FC2-4871-A085-836E50EA0A0C}"/>
              </a:ext>
            </a:extLst>
          </p:cNvPr>
          <p:cNvSpPr>
            <a:spLocks xmlns:a="http://schemas.openxmlformats.org/drawingml/2006/main" noGrp="1"/>
          </p:cNvSpPr>
          <p:nvPr/>
        </p:nvSpPr>
        <p:spPr>
          <a:xfrm xmlns:a="http://schemas.openxmlformats.org/drawingml/2006/main">
            <a:off x="685800" y="4476750"/>
            <a:ext cx="76200" cy="142875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9" name="">
            <a:extLst xmlns:a="http://schemas.openxmlformats.org/drawingml/2006/main">
              <a:ext uri="{FF2B5EF4-FFF2-40B4-BE49-F238E27FC236}">
                <a16:creationId xmlns:a16="http://schemas.microsoft.com/office/drawing/2014/main" id="{5AF30897-3FAE-418D-B4B0-6A8E799E2E25}"/>
              </a:ext>
            </a:extLst>
          </p:cNvPr>
          <p:cNvSpPr>
            <a:spLocks xmlns:a="http://schemas.openxmlformats.org/drawingml/2006/main" noGrp="1"/>
          </p:cNvSpPr>
          <p:nvPr/>
        </p:nvSpPr>
        <p:spPr>
          <a:xfrm xmlns:a="http://schemas.openxmlformats.org/drawingml/2006/main">
            <a:off x="952500" y="4638675"/>
            <a:ext cx="9696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87A76"/>
                </a:solidFill>
              </a:defRPr>
            </a:pPr>
            <a:r>
              <a:rPr sz="825" b="1" i="0">
                <a:solidFill>
                  <a:srgbClr val="087A76"/>
                </a:solidFill>
              </a:rPr>
              <a:t>APPROVALS REQUESTED</a:t>
            </a:r>
          </a:p>
        </p:txBody>
      </p:sp>
      <p:sp>
        <p:nvSpPr>
          <p:cNvPr id="30" name="">
            <a:extLst xmlns:a="http://schemas.openxmlformats.org/drawingml/2006/main">
              <a:ext uri="{FF2B5EF4-FFF2-40B4-BE49-F238E27FC236}">
                <a16:creationId xmlns:a16="http://schemas.microsoft.com/office/drawing/2014/main" id="{4B8CEEE8-B3A6-421B-8B93-C23DDFC02590}"/>
              </a:ext>
            </a:extLst>
          </p:cNvPr>
          <p:cNvSpPr>
            <a:spLocks xmlns:a="http://schemas.openxmlformats.org/drawingml/2006/main" noGrp="1"/>
          </p:cNvSpPr>
          <p:nvPr/>
        </p:nvSpPr>
        <p:spPr>
          <a:xfrm xmlns:a="http://schemas.openxmlformats.org/drawingml/2006/main">
            <a:off x="952500" y="4905375"/>
            <a:ext cx="96964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32238"/>
                </a:solidFill>
              </a:defRPr>
            </a:pPr>
            <a:r>
              <a:rPr sz="1350" b="1" i="0">
                <a:solidFill>
                  <a:srgbClr val="132238"/>
                </a:solidFill>
              </a:rPr>
              <a:t>1. Current POC scoring guidance</a:t>
            </a:r>
          </a:p>
          <a:p xmlns:a="http://schemas.openxmlformats.org/drawingml/2006/main">
            <a:pPr algn="l">
              <a:defRPr sz="1350" b="1" i="0">
                <a:solidFill>
                  <a:srgbClr val="132238"/>
                </a:solidFill>
              </a:defRPr>
            </a:pPr>
            <a:r>
              <a:rPr sz="1350" b="1" i="0">
                <a:solidFill>
                  <a:srgbClr val="132238"/>
                </a:solidFill>
              </a:rPr>
              <a:t>2. GPT-5.2 LLM version and change-control policy</a:t>
            </a:r>
          </a:p>
          <a:p xmlns:a="http://schemas.openxmlformats.org/drawingml/2006/main">
            <a:pPr algn="l">
              <a:defRPr sz="1350" b="1" i="0">
                <a:solidFill>
                  <a:srgbClr val="132238"/>
                </a:solidFill>
              </a:defRPr>
            </a:pPr>
            <a:r>
              <a:rPr sz="1350" b="1" i="0">
                <a:solidFill>
                  <a:srgbClr val="132238"/>
                </a:solidFill>
              </a:rPr>
              <a:t>3. Normalized/decomposed task format</a:t>
            </a:r>
          </a:p>
          <a:p xmlns:a="http://schemas.openxmlformats.org/drawingml/2006/main">
            <a:pPr algn="l">
              <a:defRPr sz="1350" b="1" i="0">
                <a:solidFill>
                  <a:srgbClr val="132238"/>
                </a:solidFill>
              </a:defRPr>
            </a:pPr>
            <a:r>
              <a:rPr sz="1350" b="1" i="0">
                <a:solidFill>
                  <a:srgbClr val="132238"/>
                </a:solidFill>
              </a:rPr>
              <a:t>4. E2/E3 merge and separate dashboard governance</a:t>
            </a:r>
          </a:p>
        </p:txBody>
      </p:sp>
    </p:spTree>
    <p:extLst>
      <p:ext uri="{BB962C8B-B14F-4D97-AF65-F5344CB8AC3E}">
        <p14:creationId xmlns:p14="http://schemas.microsoft.com/office/powerpoint/2010/main" val="376352934"/>
      </p:ext>
    </p:extLst>
  </p:cSld>
</p:sld>
</file>

<file path=ppt/slides/slide19.xml><?xml version="1.0" encoding="utf-8"?>
<p:sld xmlns:p="http://schemas.openxmlformats.org/presentationml/2006/main">
  <p:cSld>
    <p:bg>
      <p:bgPr>
        <a:solidFill xmlns:a="http://schemas.openxmlformats.org/drawingml/2006/main">
          <a:srgbClr val="172B4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FAF7FA-99BF-4997-B026-F00F7F9FB6E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BB6320B1-FEC6-4475-BD92-CB617D9EB737}"/>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75D0C7"/>
                </a:solidFill>
              </a:defRPr>
            </a:pPr>
            <a:r>
              <a:rPr sz="900" b="1" i="0">
                <a:solidFill>
                  <a:srgbClr val="75D0C7"/>
                </a:solidFill>
              </a:rPr>
              <a:t>APPENDIX</a:t>
            </a:r>
          </a:p>
        </p:txBody>
      </p:sp>
      <p:sp>
        <p:nvSpPr>
          <p:cNvPr id="3" name="">
            <a:extLst xmlns:a="http://schemas.openxmlformats.org/drawingml/2006/main">
              <a:ext uri="{FF2B5EF4-FFF2-40B4-BE49-F238E27FC236}">
                <a16:creationId xmlns:a16="http://schemas.microsoft.com/office/drawing/2014/main" id="{2A258DD2-F43A-445E-8DBB-89F89F7CD327}"/>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i="0">
                <a:solidFill>
                  <a:srgbClr val="FFFFFF"/>
                </a:solidFill>
              </a:defRPr>
            </a:pPr>
            <a:r>
              <a:rPr sz="3150" b="1" i="0">
                <a:solidFill>
                  <a:srgbClr val="FFFFFF"/>
                </a:solidFill>
              </a:rPr>
              <a:t>Technical evidence for the decision</a:t>
            </a:r>
          </a:p>
        </p:txBody>
      </p:sp>
      <p:sp>
        <p:nvSpPr>
          <p:cNvPr id="4" name="">
            <a:extLst xmlns:a="http://schemas.openxmlformats.org/drawingml/2006/main">
              <a:ext uri="{FF2B5EF4-FFF2-40B4-BE49-F238E27FC236}">
                <a16:creationId xmlns:a16="http://schemas.microsoft.com/office/drawing/2014/main" id="{4942E79D-6838-421F-AA90-64A76EB77D58}"/>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C9D7E3"/>
                </a:solidFill>
              </a:defRPr>
            </a:pPr>
            <a:r>
              <a:rPr sz="1350" b="0" i="0">
                <a:solidFill>
                  <a:srgbClr val="C9D7E3"/>
                </a:solidFill>
              </a:rPr>
              <a:t>Detailed distributions, controlled contrasts, prompt construction, quality checks and ML implications.</a:t>
            </a:r>
          </a:p>
        </p:txBody>
      </p:sp>
      <p:sp>
        <p:nvSpPr>
          <p:cNvPr id="5" name="">
            <a:extLst xmlns:a="http://schemas.openxmlformats.org/drawingml/2006/main">
              <a:ext uri="{FF2B5EF4-FFF2-40B4-BE49-F238E27FC236}">
                <a16:creationId xmlns:a16="http://schemas.microsoft.com/office/drawing/2014/main" id="{72CC16B5-01E0-41A5-81C2-2912F02AFC75}"/>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49657C"/>
            </a:solidFill>
            <a:prstDash val="solid"/>
          </a:ln>
        </p:spPr>
      </p:sp>
      <p:sp>
        <p:nvSpPr>
          <p:cNvPr id="6" name="">
            <a:extLst xmlns:a="http://schemas.openxmlformats.org/drawingml/2006/main">
              <a:ext uri="{FF2B5EF4-FFF2-40B4-BE49-F238E27FC236}">
                <a16:creationId xmlns:a16="http://schemas.microsoft.com/office/drawing/2014/main" id="{A32A5700-8BF5-4DE3-BE97-37C4AAAE0CC7}"/>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C9D7E3"/>
                </a:solidFill>
              </a:defRPr>
            </a:pPr>
            <a:r>
              <a:rPr sz="750" b="0" i="0">
                <a:solidFill>
                  <a:srgbClr val="C9D7E3"/>
                </a:solidFill>
              </a:rPr>
              <a:t>Appendix | completed factorial analysis</a:t>
            </a:r>
          </a:p>
        </p:txBody>
      </p:sp>
      <p:sp>
        <p:nvSpPr>
          <p:cNvPr id="7" name="">
            <a:extLst xmlns:a="http://schemas.openxmlformats.org/drawingml/2006/main">
              <a:ext uri="{FF2B5EF4-FFF2-40B4-BE49-F238E27FC236}">
                <a16:creationId xmlns:a16="http://schemas.microsoft.com/office/drawing/2014/main" id="{2846B9CA-883E-496E-BA78-E8A56C10171F}"/>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C9D7E3"/>
                </a:solidFill>
              </a:defRPr>
            </a:pPr>
            <a:r>
              <a:rPr sz="750" b="1" i="0">
                <a:solidFill>
                  <a:srgbClr val="C9D7E3"/>
                </a:solidFill>
              </a:rPr>
              <a:t>19</a:t>
            </a:r>
          </a:p>
        </p:txBody>
      </p:sp>
      <p:sp>
        <p:nvSpPr>
          <p:cNvPr id="8" name="">
            <a:extLst xmlns:a="http://schemas.openxmlformats.org/drawingml/2006/main">
              <a:ext uri="{FF2B5EF4-FFF2-40B4-BE49-F238E27FC236}">
                <a16:creationId xmlns:a16="http://schemas.microsoft.com/office/drawing/2014/main" id="{FE1D7F78-18C5-4D00-AF08-CCF0B8B50D51}"/>
              </a:ext>
            </a:extLst>
          </p:cNvPr>
          <p:cNvSpPr>
            <a:spLocks xmlns:a="http://schemas.openxmlformats.org/drawingml/2006/main" noGrp="1"/>
          </p:cNvSpPr>
          <p:nvPr/>
        </p:nvSpPr>
        <p:spPr>
          <a:xfrm xmlns:a="http://schemas.openxmlformats.org/drawingml/2006/main">
            <a:off x="685800" y="2819400"/>
            <a:ext cx="7429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FFFFFF"/>
                </a:solidFill>
              </a:defRPr>
            </a:pPr>
            <a:r>
              <a:rPr sz="2250" b="1" i="0">
                <a:solidFill>
                  <a:srgbClr val="FFFFFF"/>
                </a:solidFill>
              </a:rPr>
              <a:t>The main deck answers the decision. The appendix makes the evidence auditable.</a:t>
            </a:r>
          </a:p>
        </p:txBody>
      </p:sp>
    </p:spTree>
    <p:extLst>
      <p:ext uri="{BB962C8B-B14F-4D97-AF65-F5344CB8AC3E}">
        <p14:creationId xmlns:p14="http://schemas.microsoft.com/office/powerpoint/2010/main" val="307944651"/>
      </p:ext>
    </p:extLst>
  </p:cSld>
</p:sld>
</file>

<file path=ppt/slides/slide2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8" name="">
            <a:extLst xmlns:a="http://schemas.openxmlformats.org/drawingml/2006/main">
              <a:ext uri="{FF2B5EF4-FFF2-40B4-BE49-F238E27FC236}">
                <a16:creationId xmlns:a16="http://schemas.microsoft.com/office/drawing/2014/main" id="{32A2722B-88DF-4894-9DCB-51F345C6AAE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A7C72794-F2FF-487E-96C6-FD8014207DD2}"/>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APPENDIX A1 | FULL FACTORIAL RESULTS</a:t>
            </a:r>
          </a:p>
        </p:txBody>
      </p:sp>
      <p:sp>
        <p:nvSpPr>
          <p:cNvPr id="3" name="">
            <a:extLst xmlns:a="http://schemas.openxmlformats.org/drawingml/2006/main">
              <a:ext uri="{FF2B5EF4-FFF2-40B4-BE49-F238E27FC236}">
                <a16:creationId xmlns:a16="http://schemas.microsoft.com/office/drawing/2014/main" id="{8F13B9A7-5320-4952-AF9E-E4E48A75E788}"/>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All 12 experimental cells</a:t>
            </a:r>
          </a:p>
        </p:txBody>
      </p:sp>
      <p:sp>
        <p:nvSpPr>
          <p:cNvPr id="4" name="">
            <a:extLst xmlns:a="http://schemas.openxmlformats.org/drawingml/2006/main">
              <a:ext uri="{FF2B5EF4-FFF2-40B4-BE49-F238E27FC236}">
                <a16:creationId xmlns:a16="http://schemas.microsoft.com/office/drawing/2014/main" id="{9C7D7C3A-CBA9-4014-92C1-526C808DF27B}"/>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Percentages are within task format. E23 is the governance merge of E2 and E3.</a:t>
            </a:r>
          </a:p>
        </p:txBody>
      </p:sp>
      <p:sp>
        <p:nvSpPr>
          <p:cNvPr id="5" name="">
            <a:extLst xmlns:a="http://schemas.openxmlformats.org/drawingml/2006/main">
              <a:ext uri="{FF2B5EF4-FFF2-40B4-BE49-F238E27FC236}">
                <a16:creationId xmlns:a16="http://schemas.microsoft.com/office/drawing/2014/main" id="{0AA301DB-0AC7-45BA-AB12-3D61CB2CA6DF}"/>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F0D6C975-A289-4A4D-B51C-EDEEE83C6ACA}"/>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96840595-A10F-4713-B429-F7A1C4B43AD4}"/>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20</a:t>
            </a:r>
          </a:p>
        </p:txBody>
      </p:sp>
      <p:sp>
        <p:nvSpPr>
          <p:cNvPr id="8" name="">
            <a:extLst xmlns:a="http://schemas.openxmlformats.org/drawingml/2006/main">
              <a:ext uri="{FF2B5EF4-FFF2-40B4-BE49-F238E27FC236}">
                <a16:creationId xmlns:a16="http://schemas.microsoft.com/office/drawing/2014/main" id="{A6240226-3589-4885-9934-74562297BE3A}"/>
              </a:ext>
            </a:extLst>
          </p:cNvPr>
          <p:cNvSpPr>
            <a:spLocks xmlns:a="http://schemas.openxmlformats.org/drawingml/2006/main" noGrp="1"/>
          </p:cNvSpPr>
          <p:nvPr/>
        </p:nvSpPr>
        <p:spPr>
          <a:xfrm xmlns:a="http://schemas.openxmlformats.org/drawingml/2006/main">
            <a:off x="685800" y="19621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Scoring guidance</a:t>
            </a:r>
          </a:p>
        </p:txBody>
      </p:sp>
      <p:sp>
        <p:nvSpPr>
          <p:cNvPr id="9" name="">
            <a:extLst xmlns:a="http://schemas.openxmlformats.org/drawingml/2006/main">
              <a:ext uri="{FF2B5EF4-FFF2-40B4-BE49-F238E27FC236}">
                <a16:creationId xmlns:a16="http://schemas.microsoft.com/office/drawing/2014/main" id="{0D41CDA0-A116-4565-93FC-773BACCB75E6}"/>
              </a:ext>
            </a:extLst>
          </p:cNvPr>
          <p:cNvSpPr>
            <a:spLocks xmlns:a="http://schemas.openxmlformats.org/drawingml/2006/main" noGrp="1"/>
          </p:cNvSpPr>
          <p:nvPr/>
        </p:nvSpPr>
        <p:spPr>
          <a:xfrm xmlns:a="http://schemas.openxmlformats.org/drawingml/2006/main">
            <a:off x="3143250" y="19621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Model</a:t>
            </a:r>
          </a:p>
        </p:txBody>
      </p:sp>
      <p:sp>
        <p:nvSpPr>
          <p:cNvPr id="10" name="">
            <a:extLst xmlns:a="http://schemas.openxmlformats.org/drawingml/2006/main">
              <a:ext uri="{FF2B5EF4-FFF2-40B4-BE49-F238E27FC236}">
                <a16:creationId xmlns:a16="http://schemas.microsoft.com/office/drawing/2014/main" id="{8A8B3F25-5574-490B-A1A6-C1C943CBB35F}"/>
              </a:ext>
            </a:extLst>
          </p:cNvPr>
          <p:cNvSpPr>
            <a:spLocks xmlns:a="http://schemas.openxmlformats.org/drawingml/2006/main" noGrp="1"/>
          </p:cNvSpPr>
          <p:nvPr/>
        </p:nvSpPr>
        <p:spPr>
          <a:xfrm xmlns:a="http://schemas.openxmlformats.org/drawingml/2006/main">
            <a:off x="4095750" y="1962150"/>
            <a:ext cx="1381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Task format</a:t>
            </a:r>
          </a:p>
        </p:txBody>
      </p:sp>
      <p:sp>
        <p:nvSpPr>
          <p:cNvPr id="11" name="">
            <a:extLst xmlns:a="http://schemas.openxmlformats.org/drawingml/2006/main">
              <a:ext uri="{FF2B5EF4-FFF2-40B4-BE49-F238E27FC236}">
                <a16:creationId xmlns:a16="http://schemas.microsoft.com/office/drawing/2014/main" id="{1E709B70-2A86-4E05-B01B-52B24B1402BF}"/>
              </a:ext>
            </a:extLst>
          </p:cNvPr>
          <p:cNvSpPr>
            <a:spLocks xmlns:a="http://schemas.openxmlformats.org/drawingml/2006/main" noGrp="1"/>
          </p:cNvSpPr>
          <p:nvPr/>
        </p:nvSpPr>
        <p:spPr>
          <a:xfrm xmlns:a="http://schemas.openxmlformats.org/drawingml/2006/main">
            <a:off x="5572125" y="19621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N</a:t>
            </a:r>
          </a:p>
        </p:txBody>
      </p:sp>
      <p:sp>
        <p:nvSpPr>
          <p:cNvPr id="12" name="">
            <a:extLst xmlns:a="http://schemas.openxmlformats.org/drawingml/2006/main">
              <a:ext uri="{FF2B5EF4-FFF2-40B4-BE49-F238E27FC236}">
                <a16:creationId xmlns:a16="http://schemas.microsoft.com/office/drawing/2014/main" id="{A1326505-893A-4536-B568-3E0217ADFE06}"/>
              </a:ext>
            </a:extLst>
          </p:cNvPr>
          <p:cNvSpPr>
            <a:spLocks xmlns:a="http://schemas.openxmlformats.org/drawingml/2006/main" noGrp="1"/>
          </p:cNvSpPr>
          <p:nvPr/>
        </p:nvSpPr>
        <p:spPr>
          <a:xfrm xmlns:a="http://schemas.openxmlformats.org/drawingml/2006/main">
            <a:off x="7096125" y="1962150"/>
            <a:ext cx="619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E0</a:t>
            </a:r>
          </a:p>
        </p:txBody>
      </p:sp>
      <p:sp>
        <p:nvSpPr>
          <p:cNvPr id="13" name="">
            <a:extLst xmlns:a="http://schemas.openxmlformats.org/drawingml/2006/main">
              <a:ext uri="{FF2B5EF4-FFF2-40B4-BE49-F238E27FC236}">
                <a16:creationId xmlns:a16="http://schemas.microsoft.com/office/drawing/2014/main" id="{801202B7-01D3-4957-BB71-F2FD19CD9123}"/>
              </a:ext>
            </a:extLst>
          </p:cNvPr>
          <p:cNvSpPr>
            <a:spLocks xmlns:a="http://schemas.openxmlformats.org/drawingml/2006/main" noGrp="1"/>
          </p:cNvSpPr>
          <p:nvPr/>
        </p:nvSpPr>
        <p:spPr>
          <a:xfrm xmlns:a="http://schemas.openxmlformats.org/drawingml/2006/main">
            <a:off x="7810500" y="1962150"/>
            <a:ext cx="619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E1</a:t>
            </a:r>
          </a:p>
        </p:txBody>
      </p:sp>
      <p:sp>
        <p:nvSpPr>
          <p:cNvPr id="14" name="">
            <a:extLst xmlns:a="http://schemas.openxmlformats.org/drawingml/2006/main">
              <a:ext uri="{FF2B5EF4-FFF2-40B4-BE49-F238E27FC236}">
                <a16:creationId xmlns:a16="http://schemas.microsoft.com/office/drawing/2014/main" id="{FEC8B469-1C3F-4603-A8EB-5C3F63BBA884}"/>
              </a:ext>
            </a:extLst>
          </p:cNvPr>
          <p:cNvSpPr>
            <a:spLocks xmlns:a="http://schemas.openxmlformats.org/drawingml/2006/main" noGrp="1"/>
          </p:cNvSpPr>
          <p:nvPr/>
        </p:nvSpPr>
        <p:spPr>
          <a:xfrm xmlns:a="http://schemas.openxmlformats.org/drawingml/2006/main">
            <a:off x="8477250" y="196215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E23</a:t>
            </a:r>
          </a:p>
        </p:txBody>
      </p:sp>
      <p:sp>
        <p:nvSpPr>
          <p:cNvPr id="15" name="">
            <a:extLst xmlns:a="http://schemas.openxmlformats.org/drawingml/2006/main">
              <a:ext uri="{FF2B5EF4-FFF2-40B4-BE49-F238E27FC236}">
                <a16:creationId xmlns:a16="http://schemas.microsoft.com/office/drawing/2014/main" id="{254EE493-276E-492C-9BD6-D7D0898748A7}"/>
              </a:ext>
            </a:extLst>
          </p:cNvPr>
          <p:cNvSpPr>
            <a:spLocks xmlns:a="http://schemas.openxmlformats.org/drawingml/2006/main" noGrp="1"/>
          </p:cNvSpPr>
          <p:nvPr/>
        </p:nvSpPr>
        <p:spPr>
          <a:xfrm xmlns:a="http://schemas.openxmlformats.org/drawingml/2006/main">
            <a:off x="9334500" y="19621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Impacted</a:t>
            </a:r>
          </a:p>
        </p:txBody>
      </p:sp>
      <p:sp>
        <p:nvSpPr>
          <p:cNvPr id="16" name="">
            <a:extLst xmlns:a="http://schemas.openxmlformats.org/drawingml/2006/main">
              <a:ext uri="{FF2B5EF4-FFF2-40B4-BE49-F238E27FC236}">
                <a16:creationId xmlns:a16="http://schemas.microsoft.com/office/drawing/2014/main" id="{E7B7E239-C1C7-4DD4-8B07-7443A9C76CB9}"/>
              </a:ext>
            </a:extLst>
          </p:cNvPr>
          <p:cNvSpPr>
            <a:spLocks xmlns:a="http://schemas.openxmlformats.org/drawingml/2006/main" noGrp="1"/>
          </p:cNvSpPr>
          <p:nvPr/>
        </p:nvSpPr>
        <p:spPr>
          <a:xfrm xmlns:a="http://schemas.openxmlformats.org/drawingml/2006/main">
            <a:off x="666750" y="2171700"/>
            <a:ext cx="10172700" cy="266700"/>
          </a:xfrm>
          <a:prstGeom xmlns:a="http://schemas.openxmlformats.org/drawingml/2006/main" prst="rect">
            <a:avLst/>
          </a:prstGeom>
          <a:solidFill xmlns:a="http://schemas.openxmlformats.org/drawingml/2006/main">
            <a:srgbClr val="FFFFFF"/>
          </a:solidFill>
          <a:ln xmlns:a="http://schemas.openxmlformats.org/drawingml/2006/main" w="5715">
            <a:solidFill>
              <a:srgbClr val="FFFFFF"/>
            </a:solidFill>
            <a:prstDash val="solid"/>
          </a:ln>
        </p:spPr>
      </p:sp>
      <p:sp>
        <p:nvSpPr>
          <p:cNvPr id="17" name="">
            <a:extLst xmlns:a="http://schemas.openxmlformats.org/drawingml/2006/main">
              <a:ext uri="{FF2B5EF4-FFF2-40B4-BE49-F238E27FC236}">
                <a16:creationId xmlns:a16="http://schemas.microsoft.com/office/drawing/2014/main" id="{A4E40A63-AE6E-4A13-AEE3-2FCF89D6C60C}"/>
              </a:ext>
            </a:extLst>
          </p:cNvPr>
          <p:cNvSpPr>
            <a:spLocks xmlns:a="http://schemas.openxmlformats.org/drawingml/2006/main" noGrp="1"/>
          </p:cNvSpPr>
          <p:nvPr/>
        </p:nvSpPr>
        <p:spPr>
          <a:xfrm xmlns:a="http://schemas.openxmlformats.org/drawingml/2006/main">
            <a:off x="685800" y="22002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Historical</a:t>
            </a:r>
          </a:p>
        </p:txBody>
      </p:sp>
      <p:sp>
        <p:nvSpPr>
          <p:cNvPr id="18" name="">
            <a:extLst xmlns:a="http://schemas.openxmlformats.org/drawingml/2006/main">
              <a:ext uri="{FF2B5EF4-FFF2-40B4-BE49-F238E27FC236}">
                <a16:creationId xmlns:a16="http://schemas.microsoft.com/office/drawing/2014/main" id="{5B3C651F-B9D5-4C9D-A171-F20D3911A98D}"/>
              </a:ext>
            </a:extLst>
          </p:cNvPr>
          <p:cNvSpPr>
            <a:spLocks xmlns:a="http://schemas.openxmlformats.org/drawingml/2006/main" noGrp="1"/>
          </p:cNvSpPr>
          <p:nvPr/>
        </p:nvSpPr>
        <p:spPr>
          <a:xfrm xmlns:a="http://schemas.openxmlformats.org/drawingml/2006/main">
            <a:off x="3143250" y="2200275"/>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4o</a:t>
            </a:r>
          </a:p>
        </p:txBody>
      </p:sp>
      <p:sp>
        <p:nvSpPr>
          <p:cNvPr id="19" name="">
            <a:extLst xmlns:a="http://schemas.openxmlformats.org/drawingml/2006/main">
              <a:ext uri="{FF2B5EF4-FFF2-40B4-BE49-F238E27FC236}">
                <a16:creationId xmlns:a16="http://schemas.microsoft.com/office/drawing/2014/main" id="{614198FD-1668-4C76-B089-685A7BE5E518}"/>
              </a:ext>
            </a:extLst>
          </p:cNvPr>
          <p:cNvSpPr>
            <a:spLocks xmlns:a="http://schemas.openxmlformats.org/drawingml/2006/main" noGrp="1"/>
          </p:cNvSpPr>
          <p:nvPr/>
        </p:nvSpPr>
        <p:spPr>
          <a:xfrm xmlns:a="http://schemas.openxmlformats.org/drawingml/2006/main">
            <a:off x="4095750" y="2200275"/>
            <a:ext cx="1381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Original</a:t>
            </a:r>
          </a:p>
        </p:txBody>
      </p:sp>
      <p:sp>
        <p:nvSpPr>
          <p:cNvPr id="20" name="">
            <a:extLst xmlns:a="http://schemas.openxmlformats.org/drawingml/2006/main">
              <a:ext uri="{FF2B5EF4-FFF2-40B4-BE49-F238E27FC236}">
                <a16:creationId xmlns:a16="http://schemas.microsoft.com/office/drawing/2014/main" id="{8F9BB470-B757-4838-AAFA-30E330D749DE}"/>
              </a:ext>
            </a:extLst>
          </p:cNvPr>
          <p:cNvSpPr>
            <a:spLocks xmlns:a="http://schemas.openxmlformats.org/drawingml/2006/main" noGrp="1"/>
          </p:cNvSpPr>
          <p:nvPr/>
        </p:nvSpPr>
        <p:spPr>
          <a:xfrm xmlns:a="http://schemas.openxmlformats.org/drawingml/2006/main">
            <a:off x="5572125" y="22002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978</a:t>
            </a:r>
          </a:p>
        </p:txBody>
      </p:sp>
      <p:sp>
        <p:nvSpPr>
          <p:cNvPr id="21" name="">
            <a:extLst xmlns:a="http://schemas.openxmlformats.org/drawingml/2006/main">
              <a:ext uri="{FF2B5EF4-FFF2-40B4-BE49-F238E27FC236}">
                <a16:creationId xmlns:a16="http://schemas.microsoft.com/office/drawing/2014/main" id="{82E57273-CE86-447F-BB9D-CE421D770273}"/>
              </a:ext>
            </a:extLst>
          </p:cNvPr>
          <p:cNvSpPr>
            <a:spLocks xmlns:a="http://schemas.openxmlformats.org/drawingml/2006/main" noGrp="1"/>
          </p:cNvSpPr>
          <p:nvPr/>
        </p:nvSpPr>
        <p:spPr>
          <a:xfrm xmlns:a="http://schemas.openxmlformats.org/drawingml/2006/main">
            <a:off x="7096125" y="22002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87A76"/>
                </a:solidFill>
              </a:defRPr>
            </a:pPr>
            <a:r>
              <a:rPr sz="825" b="1" i="0">
                <a:solidFill>
                  <a:srgbClr val="087A76"/>
                </a:solidFill>
              </a:rPr>
              <a:t>77.0%</a:t>
            </a:r>
          </a:p>
        </p:txBody>
      </p:sp>
      <p:sp>
        <p:nvSpPr>
          <p:cNvPr id="22" name="">
            <a:extLst xmlns:a="http://schemas.openxmlformats.org/drawingml/2006/main">
              <a:ext uri="{FF2B5EF4-FFF2-40B4-BE49-F238E27FC236}">
                <a16:creationId xmlns:a16="http://schemas.microsoft.com/office/drawing/2014/main" id="{8E1ED0DC-A2F7-4920-8E19-ADFFAD4C619E}"/>
              </a:ext>
            </a:extLst>
          </p:cNvPr>
          <p:cNvSpPr>
            <a:spLocks xmlns:a="http://schemas.openxmlformats.org/drawingml/2006/main" noGrp="1"/>
          </p:cNvSpPr>
          <p:nvPr/>
        </p:nvSpPr>
        <p:spPr>
          <a:xfrm xmlns:a="http://schemas.openxmlformats.org/drawingml/2006/main">
            <a:off x="7810500" y="22002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12.6%</a:t>
            </a:r>
          </a:p>
        </p:txBody>
      </p:sp>
      <p:sp>
        <p:nvSpPr>
          <p:cNvPr id="23" name="">
            <a:extLst xmlns:a="http://schemas.openxmlformats.org/drawingml/2006/main">
              <a:ext uri="{FF2B5EF4-FFF2-40B4-BE49-F238E27FC236}">
                <a16:creationId xmlns:a16="http://schemas.microsoft.com/office/drawing/2014/main" id="{58C61809-8E91-4FC6-B2DA-3D17C9BA6FFB}"/>
              </a:ext>
            </a:extLst>
          </p:cNvPr>
          <p:cNvSpPr>
            <a:spLocks xmlns:a="http://schemas.openxmlformats.org/drawingml/2006/main" noGrp="1"/>
          </p:cNvSpPr>
          <p:nvPr/>
        </p:nvSpPr>
        <p:spPr>
          <a:xfrm xmlns:a="http://schemas.openxmlformats.org/drawingml/2006/main">
            <a:off x="8477250" y="2200275"/>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10.4%</a:t>
            </a:r>
          </a:p>
        </p:txBody>
      </p:sp>
      <p:sp>
        <p:nvSpPr>
          <p:cNvPr id="24" name="">
            <a:extLst xmlns:a="http://schemas.openxmlformats.org/drawingml/2006/main">
              <a:ext uri="{FF2B5EF4-FFF2-40B4-BE49-F238E27FC236}">
                <a16:creationId xmlns:a16="http://schemas.microsoft.com/office/drawing/2014/main" id="{E4F6EEAB-6E76-4E05-BD78-24BBB20E5AFD}"/>
              </a:ext>
            </a:extLst>
          </p:cNvPr>
          <p:cNvSpPr>
            <a:spLocks xmlns:a="http://schemas.openxmlformats.org/drawingml/2006/main" noGrp="1"/>
          </p:cNvSpPr>
          <p:nvPr/>
        </p:nvSpPr>
        <p:spPr>
          <a:xfrm xmlns:a="http://schemas.openxmlformats.org/drawingml/2006/main">
            <a:off x="9334500" y="22002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23.0%</a:t>
            </a:r>
          </a:p>
        </p:txBody>
      </p:sp>
      <p:sp>
        <p:nvSpPr>
          <p:cNvPr id="25" name="">
            <a:extLst xmlns:a="http://schemas.openxmlformats.org/drawingml/2006/main">
              <a:ext uri="{FF2B5EF4-FFF2-40B4-BE49-F238E27FC236}">
                <a16:creationId xmlns:a16="http://schemas.microsoft.com/office/drawing/2014/main" id="{2A7ABDD1-4CEF-4419-9B1F-5784399162D3}"/>
              </a:ext>
            </a:extLst>
          </p:cNvPr>
          <p:cNvSpPr>
            <a:spLocks xmlns:a="http://schemas.openxmlformats.org/drawingml/2006/main" noGrp="1"/>
          </p:cNvSpPr>
          <p:nvPr/>
        </p:nvSpPr>
        <p:spPr>
          <a:xfrm xmlns:a="http://schemas.openxmlformats.org/drawingml/2006/main">
            <a:off x="685800" y="25050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Historical</a:t>
            </a:r>
          </a:p>
        </p:txBody>
      </p:sp>
      <p:sp>
        <p:nvSpPr>
          <p:cNvPr id="26" name="">
            <a:extLst xmlns:a="http://schemas.openxmlformats.org/drawingml/2006/main">
              <a:ext uri="{FF2B5EF4-FFF2-40B4-BE49-F238E27FC236}">
                <a16:creationId xmlns:a16="http://schemas.microsoft.com/office/drawing/2014/main" id="{FA6028D7-C533-4DC6-B2CC-714D5FA68123}"/>
              </a:ext>
            </a:extLst>
          </p:cNvPr>
          <p:cNvSpPr>
            <a:spLocks xmlns:a="http://schemas.openxmlformats.org/drawingml/2006/main" noGrp="1"/>
          </p:cNvSpPr>
          <p:nvPr/>
        </p:nvSpPr>
        <p:spPr>
          <a:xfrm xmlns:a="http://schemas.openxmlformats.org/drawingml/2006/main">
            <a:off x="3143250" y="2505075"/>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4o</a:t>
            </a:r>
          </a:p>
        </p:txBody>
      </p:sp>
      <p:sp>
        <p:nvSpPr>
          <p:cNvPr id="27" name="">
            <a:extLst xmlns:a="http://schemas.openxmlformats.org/drawingml/2006/main">
              <a:ext uri="{FF2B5EF4-FFF2-40B4-BE49-F238E27FC236}">
                <a16:creationId xmlns:a16="http://schemas.microsoft.com/office/drawing/2014/main" id="{847C9F72-7D30-491A-925D-E24C8AB08519}"/>
              </a:ext>
            </a:extLst>
          </p:cNvPr>
          <p:cNvSpPr>
            <a:spLocks xmlns:a="http://schemas.openxmlformats.org/drawingml/2006/main" noGrp="1"/>
          </p:cNvSpPr>
          <p:nvPr/>
        </p:nvSpPr>
        <p:spPr>
          <a:xfrm xmlns:a="http://schemas.openxmlformats.org/drawingml/2006/main">
            <a:off x="4095750" y="2505075"/>
            <a:ext cx="1381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Normalized</a:t>
            </a:r>
          </a:p>
        </p:txBody>
      </p:sp>
      <p:sp>
        <p:nvSpPr>
          <p:cNvPr id="28" name="">
            <a:extLst xmlns:a="http://schemas.openxmlformats.org/drawingml/2006/main">
              <a:ext uri="{FF2B5EF4-FFF2-40B4-BE49-F238E27FC236}">
                <a16:creationId xmlns:a16="http://schemas.microsoft.com/office/drawing/2014/main" id="{A04BB448-420A-4B48-BC98-01B1C820A902}"/>
              </a:ext>
            </a:extLst>
          </p:cNvPr>
          <p:cNvSpPr>
            <a:spLocks xmlns:a="http://schemas.openxmlformats.org/drawingml/2006/main" noGrp="1"/>
          </p:cNvSpPr>
          <p:nvPr/>
        </p:nvSpPr>
        <p:spPr>
          <a:xfrm xmlns:a="http://schemas.openxmlformats.org/drawingml/2006/main">
            <a:off x="5572125" y="25050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1,696</a:t>
            </a:r>
          </a:p>
        </p:txBody>
      </p:sp>
      <p:sp>
        <p:nvSpPr>
          <p:cNvPr id="29" name="">
            <a:extLst xmlns:a="http://schemas.openxmlformats.org/drawingml/2006/main">
              <a:ext uri="{FF2B5EF4-FFF2-40B4-BE49-F238E27FC236}">
                <a16:creationId xmlns:a16="http://schemas.microsoft.com/office/drawing/2014/main" id="{51AA9AAF-5E3A-4945-866B-D51F39637B76}"/>
              </a:ext>
            </a:extLst>
          </p:cNvPr>
          <p:cNvSpPr>
            <a:spLocks xmlns:a="http://schemas.openxmlformats.org/drawingml/2006/main" noGrp="1"/>
          </p:cNvSpPr>
          <p:nvPr/>
        </p:nvSpPr>
        <p:spPr>
          <a:xfrm xmlns:a="http://schemas.openxmlformats.org/drawingml/2006/main">
            <a:off x="7096125" y="25050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87A76"/>
                </a:solidFill>
              </a:defRPr>
            </a:pPr>
            <a:r>
              <a:rPr sz="825" b="1" i="0">
                <a:solidFill>
                  <a:srgbClr val="087A76"/>
                </a:solidFill>
              </a:rPr>
              <a:t>74.5%</a:t>
            </a:r>
          </a:p>
        </p:txBody>
      </p:sp>
      <p:sp>
        <p:nvSpPr>
          <p:cNvPr id="30" name="">
            <a:extLst xmlns:a="http://schemas.openxmlformats.org/drawingml/2006/main">
              <a:ext uri="{FF2B5EF4-FFF2-40B4-BE49-F238E27FC236}">
                <a16:creationId xmlns:a16="http://schemas.microsoft.com/office/drawing/2014/main" id="{274B4EFD-F56D-477A-8CE7-289B569A2EF0}"/>
              </a:ext>
            </a:extLst>
          </p:cNvPr>
          <p:cNvSpPr>
            <a:spLocks xmlns:a="http://schemas.openxmlformats.org/drawingml/2006/main" noGrp="1"/>
          </p:cNvSpPr>
          <p:nvPr/>
        </p:nvSpPr>
        <p:spPr>
          <a:xfrm xmlns:a="http://schemas.openxmlformats.org/drawingml/2006/main">
            <a:off x="7810500" y="25050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15.9%</a:t>
            </a:r>
          </a:p>
        </p:txBody>
      </p:sp>
      <p:sp>
        <p:nvSpPr>
          <p:cNvPr id="31" name="">
            <a:extLst xmlns:a="http://schemas.openxmlformats.org/drawingml/2006/main">
              <a:ext uri="{FF2B5EF4-FFF2-40B4-BE49-F238E27FC236}">
                <a16:creationId xmlns:a16="http://schemas.microsoft.com/office/drawing/2014/main" id="{6478BED6-1586-4F80-811E-E33EF29C6F63}"/>
              </a:ext>
            </a:extLst>
          </p:cNvPr>
          <p:cNvSpPr>
            <a:spLocks xmlns:a="http://schemas.openxmlformats.org/drawingml/2006/main" noGrp="1"/>
          </p:cNvSpPr>
          <p:nvPr/>
        </p:nvSpPr>
        <p:spPr>
          <a:xfrm xmlns:a="http://schemas.openxmlformats.org/drawingml/2006/main">
            <a:off x="8477250" y="2505075"/>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9.6%</a:t>
            </a:r>
          </a:p>
        </p:txBody>
      </p:sp>
      <p:sp>
        <p:nvSpPr>
          <p:cNvPr id="32" name="">
            <a:extLst xmlns:a="http://schemas.openxmlformats.org/drawingml/2006/main">
              <a:ext uri="{FF2B5EF4-FFF2-40B4-BE49-F238E27FC236}">
                <a16:creationId xmlns:a16="http://schemas.microsoft.com/office/drawing/2014/main" id="{196CDA65-EF47-4AD6-B3E3-4A5C66050B71}"/>
              </a:ext>
            </a:extLst>
          </p:cNvPr>
          <p:cNvSpPr>
            <a:spLocks xmlns:a="http://schemas.openxmlformats.org/drawingml/2006/main" noGrp="1"/>
          </p:cNvSpPr>
          <p:nvPr/>
        </p:nvSpPr>
        <p:spPr>
          <a:xfrm xmlns:a="http://schemas.openxmlformats.org/drawingml/2006/main">
            <a:off x="9334500" y="25050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25.5%</a:t>
            </a:r>
          </a:p>
        </p:txBody>
      </p:sp>
      <p:sp>
        <p:nvSpPr>
          <p:cNvPr id="33" name="">
            <a:extLst xmlns:a="http://schemas.openxmlformats.org/drawingml/2006/main">
              <a:ext uri="{FF2B5EF4-FFF2-40B4-BE49-F238E27FC236}">
                <a16:creationId xmlns:a16="http://schemas.microsoft.com/office/drawing/2014/main" id="{09AF2D2A-6D98-43BB-AAD1-E3332BAC3951}"/>
              </a:ext>
            </a:extLst>
          </p:cNvPr>
          <p:cNvSpPr>
            <a:spLocks xmlns:a="http://schemas.openxmlformats.org/drawingml/2006/main" noGrp="1"/>
          </p:cNvSpPr>
          <p:nvPr/>
        </p:nvSpPr>
        <p:spPr>
          <a:xfrm xmlns:a="http://schemas.openxmlformats.org/drawingml/2006/main">
            <a:off x="666750" y="2781300"/>
            <a:ext cx="10172700" cy="266700"/>
          </a:xfrm>
          <a:prstGeom xmlns:a="http://schemas.openxmlformats.org/drawingml/2006/main" prst="rect">
            <a:avLst/>
          </a:prstGeom>
          <a:solidFill xmlns:a="http://schemas.openxmlformats.org/drawingml/2006/main">
            <a:srgbClr val="FFFFFF"/>
          </a:solidFill>
          <a:ln xmlns:a="http://schemas.openxmlformats.org/drawingml/2006/main" w="5715">
            <a:solidFill>
              <a:srgbClr val="FFFFFF"/>
            </a:solidFill>
            <a:prstDash val="solid"/>
          </a:ln>
        </p:spPr>
      </p:sp>
      <p:sp>
        <p:nvSpPr>
          <p:cNvPr id="34" name="">
            <a:extLst xmlns:a="http://schemas.openxmlformats.org/drawingml/2006/main">
              <a:ext uri="{FF2B5EF4-FFF2-40B4-BE49-F238E27FC236}">
                <a16:creationId xmlns:a16="http://schemas.microsoft.com/office/drawing/2014/main" id="{F484B001-F737-4447-AD9B-8B8CEC352947}"/>
              </a:ext>
            </a:extLst>
          </p:cNvPr>
          <p:cNvSpPr>
            <a:spLocks xmlns:a="http://schemas.openxmlformats.org/drawingml/2006/main" noGrp="1"/>
          </p:cNvSpPr>
          <p:nvPr/>
        </p:nvSpPr>
        <p:spPr>
          <a:xfrm xmlns:a="http://schemas.openxmlformats.org/drawingml/2006/main">
            <a:off x="685800" y="28098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Historical</a:t>
            </a:r>
          </a:p>
        </p:txBody>
      </p:sp>
      <p:sp>
        <p:nvSpPr>
          <p:cNvPr id="35" name="">
            <a:extLst xmlns:a="http://schemas.openxmlformats.org/drawingml/2006/main">
              <a:ext uri="{FF2B5EF4-FFF2-40B4-BE49-F238E27FC236}">
                <a16:creationId xmlns:a16="http://schemas.microsoft.com/office/drawing/2014/main" id="{E82BB11F-3AB7-4B3B-A327-D7E30B1B3077}"/>
              </a:ext>
            </a:extLst>
          </p:cNvPr>
          <p:cNvSpPr>
            <a:spLocks xmlns:a="http://schemas.openxmlformats.org/drawingml/2006/main" noGrp="1"/>
          </p:cNvSpPr>
          <p:nvPr/>
        </p:nvSpPr>
        <p:spPr>
          <a:xfrm xmlns:a="http://schemas.openxmlformats.org/drawingml/2006/main">
            <a:off x="3143250" y="2809875"/>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5.2</a:t>
            </a:r>
          </a:p>
        </p:txBody>
      </p:sp>
      <p:sp>
        <p:nvSpPr>
          <p:cNvPr id="36" name="">
            <a:extLst xmlns:a="http://schemas.openxmlformats.org/drawingml/2006/main">
              <a:ext uri="{FF2B5EF4-FFF2-40B4-BE49-F238E27FC236}">
                <a16:creationId xmlns:a16="http://schemas.microsoft.com/office/drawing/2014/main" id="{0693B472-1010-4009-81D6-266B95237FBD}"/>
              </a:ext>
            </a:extLst>
          </p:cNvPr>
          <p:cNvSpPr>
            <a:spLocks xmlns:a="http://schemas.openxmlformats.org/drawingml/2006/main" noGrp="1"/>
          </p:cNvSpPr>
          <p:nvPr/>
        </p:nvSpPr>
        <p:spPr>
          <a:xfrm xmlns:a="http://schemas.openxmlformats.org/drawingml/2006/main">
            <a:off x="4095750" y="2809875"/>
            <a:ext cx="1381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Original</a:t>
            </a:r>
          </a:p>
        </p:txBody>
      </p:sp>
      <p:sp>
        <p:nvSpPr>
          <p:cNvPr id="37" name="">
            <a:extLst xmlns:a="http://schemas.openxmlformats.org/drawingml/2006/main">
              <a:ext uri="{FF2B5EF4-FFF2-40B4-BE49-F238E27FC236}">
                <a16:creationId xmlns:a16="http://schemas.microsoft.com/office/drawing/2014/main" id="{A0510368-E897-4578-BA6B-94B792F7229C}"/>
              </a:ext>
            </a:extLst>
          </p:cNvPr>
          <p:cNvSpPr>
            <a:spLocks xmlns:a="http://schemas.openxmlformats.org/drawingml/2006/main" noGrp="1"/>
          </p:cNvSpPr>
          <p:nvPr/>
        </p:nvSpPr>
        <p:spPr>
          <a:xfrm xmlns:a="http://schemas.openxmlformats.org/drawingml/2006/main">
            <a:off x="5572125" y="28098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978</a:t>
            </a:r>
          </a:p>
        </p:txBody>
      </p:sp>
      <p:sp>
        <p:nvSpPr>
          <p:cNvPr id="38" name="">
            <a:extLst xmlns:a="http://schemas.openxmlformats.org/drawingml/2006/main">
              <a:ext uri="{FF2B5EF4-FFF2-40B4-BE49-F238E27FC236}">
                <a16:creationId xmlns:a16="http://schemas.microsoft.com/office/drawing/2014/main" id="{A05DB1DE-1405-4881-AACE-76CF727B0B80}"/>
              </a:ext>
            </a:extLst>
          </p:cNvPr>
          <p:cNvSpPr>
            <a:spLocks xmlns:a="http://schemas.openxmlformats.org/drawingml/2006/main" noGrp="1"/>
          </p:cNvSpPr>
          <p:nvPr/>
        </p:nvSpPr>
        <p:spPr>
          <a:xfrm xmlns:a="http://schemas.openxmlformats.org/drawingml/2006/main">
            <a:off x="7096125" y="28098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87A76"/>
                </a:solidFill>
              </a:defRPr>
            </a:pPr>
            <a:r>
              <a:rPr sz="825" b="1" i="0">
                <a:solidFill>
                  <a:srgbClr val="087A76"/>
                </a:solidFill>
              </a:rPr>
              <a:t>38.5%</a:t>
            </a:r>
          </a:p>
        </p:txBody>
      </p:sp>
      <p:sp>
        <p:nvSpPr>
          <p:cNvPr id="39" name="">
            <a:extLst xmlns:a="http://schemas.openxmlformats.org/drawingml/2006/main">
              <a:ext uri="{FF2B5EF4-FFF2-40B4-BE49-F238E27FC236}">
                <a16:creationId xmlns:a16="http://schemas.microsoft.com/office/drawing/2014/main" id="{D87163E5-5386-4495-852D-5512536986F1}"/>
              </a:ext>
            </a:extLst>
          </p:cNvPr>
          <p:cNvSpPr>
            <a:spLocks xmlns:a="http://schemas.openxmlformats.org/drawingml/2006/main" noGrp="1"/>
          </p:cNvSpPr>
          <p:nvPr/>
        </p:nvSpPr>
        <p:spPr>
          <a:xfrm xmlns:a="http://schemas.openxmlformats.org/drawingml/2006/main">
            <a:off x="7810500" y="28098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21.7%</a:t>
            </a:r>
          </a:p>
        </p:txBody>
      </p:sp>
      <p:sp>
        <p:nvSpPr>
          <p:cNvPr id="40" name="">
            <a:extLst xmlns:a="http://schemas.openxmlformats.org/drawingml/2006/main">
              <a:ext uri="{FF2B5EF4-FFF2-40B4-BE49-F238E27FC236}">
                <a16:creationId xmlns:a16="http://schemas.microsoft.com/office/drawing/2014/main" id="{FDC8589F-45DD-44CC-95BA-440AD47C4820}"/>
              </a:ext>
            </a:extLst>
          </p:cNvPr>
          <p:cNvSpPr>
            <a:spLocks xmlns:a="http://schemas.openxmlformats.org/drawingml/2006/main" noGrp="1"/>
          </p:cNvSpPr>
          <p:nvPr/>
        </p:nvSpPr>
        <p:spPr>
          <a:xfrm xmlns:a="http://schemas.openxmlformats.org/drawingml/2006/main">
            <a:off x="8477250" y="2809875"/>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39.8%</a:t>
            </a:r>
          </a:p>
        </p:txBody>
      </p:sp>
      <p:sp>
        <p:nvSpPr>
          <p:cNvPr id="41" name="">
            <a:extLst xmlns:a="http://schemas.openxmlformats.org/drawingml/2006/main">
              <a:ext uri="{FF2B5EF4-FFF2-40B4-BE49-F238E27FC236}">
                <a16:creationId xmlns:a16="http://schemas.microsoft.com/office/drawing/2014/main" id="{930875F4-F184-485E-A6E0-8B8D4B0C83E2}"/>
              </a:ext>
            </a:extLst>
          </p:cNvPr>
          <p:cNvSpPr>
            <a:spLocks xmlns:a="http://schemas.openxmlformats.org/drawingml/2006/main" noGrp="1"/>
          </p:cNvSpPr>
          <p:nvPr/>
        </p:nvSpPr>
        <p:spPr>
          <a:xfrm xmlns:a="http://schemas.openxmlformats.org/drawingml/2006/main">
            <a:off x="9334500" y="28098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61.5%</a:t>
            </a:r>
          </a:p>
        </p:txBody>
      </p:sp>
      <p:sp>
        <p:nvSpPr>
          <p:cNvPr id="42" name="">
            <a:extLst xmlns:a="http://schemas.openxmlformats.org/drawingml/2006/main">
              <a:ext uri="{FF2B5EF4-FFF2-40B4-BE49-F238E27FC236}">
                <a16:creationId xmlns:a16="http://schemas.microsoft.com/office/drawing/2014/main" id="{11647434-A872-49AE-9E75-31C2F9EC854A}"/>
              </a:ext>
            </a:extLst>
          </p:cNvPr>
          <p:cNvSpPr>
            <a:spLocks xmlns:a="http://schemas.openxmlformats.org/drawingml/2006/main" noGrp="1"/>
          </p:cNvSpPr>
          <p:nvPr/>
        </p:nvSpPr>
        <p:spPr>
          <a:xfrm xmlns:a="http://schemas.openxmlformats.org/drawingml/2006/main">
            <a:off x="685800" y="31146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Historical</a:t>
            </a:r>
          </a:p>
        </p:txBody>
      </p:sp>
      <p:sp>
        <p:nvSpPr>
          <p:cNvPr id="43" name="">
            <a:extLst xmlns:a="http://schemas.openxmlformats.org/drawingml/2006/main">
              <a:ext uri="{FF2B5EF4-FFF2-40B4-BE49-F238E27FC236}">
                <a16:creationId xmlns:a16="http://schemas.microsoft.com/office/drawing/2014/main" id="{821506C9-6A4E-4556-8E53-24DFD4F68556}"/>
              </a:ext>
            </a:extLst>
          </p:cNvPr>
          <p:cNvSpPr>
            <a:spLocks xmlns:a="http://schemas.openxmlformats.org/drawingml/2006/main" noGrp="1"/>
          </p:cNvSpPr>
          <p:nvPr/>
        </p:nvSpPr>
        <p:spPr>
          <a:xfrm xmlns:a="http://schemas.openxmlformats.org/drawingml/2006/main">
            <a:off x="3143250" y="3114675"/>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5.2</a:t>
            </a:r>
          </a:p>
        </p:txBody>
      </p:sp>
      <p:sp>
        <p:nvSpPr>
          <p:cNvPr id="44" name="">
            <a:extLst xmlns:a="http://schemas.openxmlformats.org/drawingml/2006/main">
              <a:ext uri="{FF2B5EF4-FFF2-40B4-BE49-F238E27FC236}">
                <a16:creationId xmlns:a16="http://schemas.microsoft.com/office/drawing/2014/main" id="{C4CB4090-8FA4-47EA-9D32-0E356BD6425C}"/>
              </a:ext>
            </a:extLst>
          </p:cNvPr>
          <p:cNvSpPr>
            <a:spLocks xmlns:a="http://schemas.openxmlformats.org/drawingml/2006/main" noGrp="1"/>
          </p:cNvSpPr>
          <p:nvPr/>
        </p:nvSpPr>
        <p:spPr>
          <a:xfrm xmlns:a="http://schemas.openxmlformats.org/drawingml/2006/main">
            <a:off x="4095750" y="3114675"/>
            <a:ext cx="1381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Normalized</a:t>
            </a:r>
          </a:p>
        </p:txBody>
      </p:sp>
      <p:sp>
        <p:nvSpPr>
          <p:cNvPr id="45" name="">
            <a:extLst xmlns:a="http://schemas.openxmlformats.org/drawingml/2006/main">
              <a:ext uri="{FF2B5EF4-FFF2-40B4-BE49-F238E27FC236}">
                <a16:creationId xmlns:a16="http://schemas.microsoft.com/office/drawing/2014/main" id="{A7165519-8A19-41F3-A3CF-01CA846EC805}"/>
              </a:ext>
            </a:extLst>
          </p:cNvPr>
          <p:cNvSpPr>
            <a:spLocks xmlns:a="http://schemas.openxmlformats.org/drawingml/2006/main" noGrp="1"/>
          </p:cNvSpPr>
          <p:nvPr/>
        </p:nvSpPr>
        <p:spPr>
          <a:xfrm xmlns:a="http://schemas.openxmlformats.org/drawingml/2006/main">
            <a:off x="5572125" y="31146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1,696</a:t>
            </a:r>
          </a:p>
        </p:txBody>
      </p:sp>
      <p:sp>
        <p:nvSpPr>
          <p:cNvPr id="46" name="">
            <a:extLst xmlns:a="http://schemas.openxmlformats.org/drawingml/2006/main">
              <a:ext uri="{FF2B5EF4-FFF2-40B4-BE49-F238E27FC236}">
                <a16:creationId xmlns:a16="http://schemas.microsoft.com/office/drawing/2014/main" id="{22796AF3-B7FA-45DB-903E-D490D96AA6B6}"/>
              </a:ext>
            </a:extLst>
          </p:cNvPr>
          <p:cNvSpPr>
            <a:spLocks xmlns:a="http://schemas.openxmlformats.org/drawingml/2006/main" noGrp="1"/>
          </p:cNvSpPr>
          <p:nvPr/>
        </p:nvSpPr>
        <p:spPr>
          <a:xfrm xmlns:a="http://schemas.openxmlformats.org/drawingml/2006/main">
            <a:off x="7096125" y="31146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87A76"/>
                </a:solidFill>
              </a:defRPr>
            </a:pPr>
            <a:r>
              <a:rPr sz="825" b="1" i="0">
                <a:solidFill>
                  <a:srgbClr val="087A76"/>
                </a:solidFill>
              </a:rPr>
              <a:t>37.2%</a:t>
            </a:r>
          </a:p>
        </p:txBody>
      </p:sp>
      <p:sp>
        <p:nvSpPr>
          <p:cNvPr id="47" name="">
            <a:extLst xmlns:a="http://schemas.openxmlformats.org/drawingml/2006/main">
              <a:ext uri="{FF2B5EF4-FFF2-40B4-BE49-F238E27FC236}">
                <a16:creationId xmlns:a16="http://schemas.microsoft.com/office/drawing/2014/main" id="{4EF7EE74-26DC-49E1-A716-C601240588AA}"/>
              </a:ext>
            </a:extLst>
          </p:cNvPr>
          <p:cNvSpPr>
            <a:spLocks xmlns:a="http://schemas.openxmlformats.org/drawingml/2006/main" noGrp="1"/>
          </p:cNvSpPr>
          <p:nvPr/>
        </p:nvSpPr>
        <p:spPr>
          <a:xfrm xmlns:a="http://schemas.openxmlformats.org/drawingml/2006/main">
            <a:off x="7810500" y="31146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25.2%</a:t>
            </a:r>
          </a:p>
        </p:txBody>
      </p:sp>
      <p:sp>
        <p:nvSpPr>
          <p:cNvPr id="48" name="">
            <a:extLst xmlns:a="http://schemas.openxmlformats.org/drawingml/2006/main">
              <a:ext uri="{FF2B5EF4-FFF2-40B4-BE49-F238E27FC236}">
                <a16:creationId xmlns:a16="http://schemas.microsoft.com/office/drawing/2014/main" id="{6AAC73AD-46B7-485F-A979-B34C31035425}"/>
              </a:ext>
            </a:extLst>
          </p:cNvPr>
          <p:cNvSpPr>
            <a:spLocks xmlns:a="http://schemas.openxmlformats.org/drawingml/2006/main" noGrp="1"/>
          </p:cNvSpPr>
          <p:nvPr/>
        </p:nvSpPr>
        <p:spPr>
          <a:xfrm xmlns:a="http://schemas.openxmlformats.org/drawingml/2006/main">
            <a:off x="8477250" y="3114675"/>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37.6%</a:t>
            </a:r>
          </a:p>
        </p:txBody>
      </p:sp>
      <p:sp>
        <p:nvSpPr>
          <p:cNvPr id="49" name="">
            <a:extLst xmlns:a="http://schemas.openxmlformats.org/drawingml/2006/main">
              <a:ext uri="{FF2B5EF4-FFF2-40B4-BE49-F238E27FC236}">
                <a16:creationId xmlns:a16="http://schemas.microsoft.com/office/drawing/2014/main" id="{8AE0D8FB-ECAC-42BF-8E1A-39491260885A}"/>
              </a:ext>
            </a:extLst>
          </p:cNvPr>
          <p:cNvSpPr>
            <a:spLocks xmlns:a="http://schemas.openxmlformats.org/drawingml/2006/main" noGrp="1"/>
          </p:cNvSpPr>
          <p:nvPr/>
        </p:nvSpPr>
        <p:spPr>
          <a:xfrm xmlns:a="http://schemas.openxmlformats.org/drawingml/2006/main">
            <a:off x="9334500" y="31146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62.8%</a:t>
            </a:r>
          </a:p>
        </p:txBody>
      </p:sp>
      <p:sp>
        <p:nvSpPr>
          <p:cNvPr id="50" name="">
            <a:extLst xmlns:a="http://schemas.openxmlformats.org/drawingml/2006/main">
              <a:ext uri="{FF2B5EF4-FFF2-40B4-BE49-F238E27FC236}">
                <a16:creationId xmlns:a16="http://schemas.microsoft.com/office/drawing/2014/main" id="{3030A28B-A65A-43FA-B6C0-2AFB3EDE50C0}"/>
              </a:ext>
            </a:extLst>
          </p:cNvPr>
          <p:cNvSpPr>
            <a:spLocks xmlns:a="http://schemas.openxmlformats.org/drawingml/2006/main" noGrp="1"/>
          </p:cNvSpPr>
          <p:nvPr/>
        </p:nvSpPr>
        <p:spPr>
          <a:xfrm xmlns:a="http://schemas.openxmlformats.org/drawingml/2006/main">
            <a:off x="666750" y="3390900"/>
            <a:ext cx="10172700" cy="266700"/>
          </a:xfrm>
          <a:prstGeom xmlns:a="http://schemas.openxmlformats.org/drawingml/2006/main" prst="rect">
            <a:avLst/>
          </a:prstGeom>
          <a:solidFill xmlns:a="http://schemas.openxmlformats.org/drawingml/2006/main">
            <a:srgbClr val="FFFFFF"/>
          </a:solidFill>
          <a:ln xmlns:a="http://schemas.openxmlformats.org/drawingml/2006/main" w="5715">
            <a:solidFill>
              <a:srgbClr val="FFFFFF"/>
            </a:solidFill>
            <a:prstDash val="solid"/>
          </a:ln>
        </p:spPr>
      </p:sp>
      <p:sp>
        <p:nvSpPr>
          <p:cNvPr id="51" name="">
            <a:extLst xmlns:a="http://schemas.openxmlformats.org/drawingml/2006/main">
              <a:ext uri="{FF2B5EF4-FFF2-40B4-BE49-F238E27FC236}">
                <a16:creationId xmlns:a16="http://schemas.microsoft.com/office/drawing/2014/main" id="{96B9CC97-CC14-4DCC-83C8-8CE45F32787E}"/>
              </a:ext>
            </a:extLst>
          </p:cNvPr>
          <p:cNvSpPr>
            <a:spLocks xmlns:a="http://schemas.openxmlformats.org/drawingml/2006/main" noGrp="1"/>
          </p:cNvSpPr>
          <p:nvPr/>
        </p:nvSpPr>
        <p:spPr>
          <a:xfrm xmlns:a="http://schemas.openxmlformats.org/drawingml/2006/main">
            <a:off x="685800" y="34194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Current POC</a:t>
            </a:r>
          </a:p>
        </p:txBody>
      </p:sp>
      <p:sp>
        <p:nvSpPr>
          <p:cNvPr id="52" name="">
            <a:extLst xmlns:a="http://schemas.openxmlformats.org/drawingml/2006/main">
              <a:ext uri="{FF2B5EF4-FFF2-40B4-BE49-F238E27FC236}">
                <a16:creationId xmlns:a16="http://schemas.microsoft.com/office/drawing/2014/main" id="{80677A6E-4941-4154-AEBA-666DCD4A14F2}"/>
              </a:ext>
            </a:extLst>
          </p:cNvPr>
          <p:cNvSpPr>
            <a:spLocks xmlns:a="http://schemas.openxmlformats.org/drawingml/2006/main" noGrp="1"/>
          </p:cNvSpPr>
          <p:nvPr/>
        </p:nvSpPr>
        <p:spPr>
          <a:xfrm xmlns:a="http://schemas.openxmlformats.org/drawingml/2006/main">
            <a:off x="3143250" y="3419475"/>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4o</a:t>
            </a:r>
          </a:p>
        </p:txBody>
      </p:sp>
      <p:sp>
        <p:nvSpPr>
          <p:cNvPr id="53" name="">
            <a:extLst xmlns:a="http://schemas.openxmlformats.org/drawingml/2006/main">
              <a:ext uri="{FF2B5EF4-FFF2-40B4-BE49-F238E27FC236}">
                <a16:creationId xmlns:a16="http://schemas.microsoft.com/office/drawing/2014/main" id="{05C852E2-982F-4FAC-B47A-4E3E1B6CB816}"/>
              </a:ext>
            </a:extLst>
          </p:cNvPr>
          <p:cNvSpPr>
            <a:spLocks xmlns:a="http://schemas.openxmlformats.org/drawingml/2006/main" noGrp="1"/>
          </p:cNvSpPr>
          <p:nvPr/>
        </p:nvSpPr>
        <p:spPr>
          <a:xfrm xmlns:a="http://schemas.openxmlformats.org/drawingml/2006/main">
            <a:off x="4095750" y="3419475"/>
            <a:ext cx="1381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Original</a:t>
            </a:r>
          </a:p>
        </p:txBody>
      </p:sp>
      <p:sp>
        <p:nvSpPr>
          <p:cNvPr id="54" name="">
            <a:extLst xmlns:a="http://schemas.openxmlformats.org/drawingml/2006/main">
              <a:ext uri="{FF2B5EF4-FFF2-40B4-BE49-F238E27FC236}">
                <a16:creationId xmlns:a16="http://schemas.microsoft.com/office/drawing/2014/main" id="{49EABAF8-6CF4-4E7C-A99C-5F57E9408B0D}"/>
              </a:ext>
            </a:extLst>
          </p:cNvPr>
          <p:cNvSpPr>
            <a:spLocks xmlns:a="http://schemas.openxmlformats.org/drawingml/2006/main" noGrp="1"/>
          </p:cNvSpPr>
          <p:nvPr/>
        </p:nvSpPr>
        <p:spPr>
          <a:xfrm xmlns:a="http://schemas.openxmlformats.org/drawingml/2006/main">
            <a:off x="5572125" y="34194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978</a:t>
            </a:r>
          </a:p>
        </p:txBody>
      </p:sp>
      <p:sp>
        <p:nvSpPr>
          <p:cNvPr id="55" name="">
            <a:extLst xmlns:a="http://schemas.openxmlformats.org/drawingml/2006/main">
              <a:ext uri="{FF2B5EF4-FFF2-40B4-BE49-F238E27FC236}">
                <a16:creationId xmlns:a16="http://schemas.microsoft.com/office/drawing/2014/main" id="{E664C86B-EA9B-42BE-BCB9-CECFC2B67BD9}"/>
              </a:ext>
            </a:extLst>
          </p:cNvPr>
          <p:cNvSpPr>
            <a:spLocks xmlns:a="http://schemas.openxmlformats.org/drawingml/2006/main" noGrp="1"/>
          </p:cNvSpPr>
          <p:nvPr/>
        </p:nvSpPr>
        <p:spPr>
          <a:xfrm xmlns:a="http://schemas.openxmlformats.org/drawingml/2006/main">
            <a:off x="7096125" y="34194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87A76"/>
                </a:solidFill>
              </a:defRPr>
            </a:pPr>
            <a:r>
              <a:rPr sz="825" b="1" i="0">
                <a:solidFill>
                  <a:srgbClr val="087A76"/>
                </a:solidFill>
              </a:rPr>
              <a:t>41.1%</a:t>
            </a:r>
          </a:p>
        </p:txBody>
      </p:sp>
      <p:sp>
        <p:nvSpPr>
          <p:cNvPr id="56" name="">
            <a:extLst xmlns:a="http://schemas.openxmlformats.org/drawingml/2006/main">
              <a:ext uri="{FF2B5EF4-FFF2-40B4-BE49-F238E27FC236}">
                <a16:creationId xmlns:a16="http://schemas.microsoft.com/office/drawing/2014/main" id="{F0A85F70-D245-4D20-AFF5-D22D932EB8F6}"/>
              </a:ext>
            </a:extLst>
          </p:cNvPr>
          <p:cNvSpPr>
            <a:spLocks xmlns:a="http://schemas.openxmlformats.org/drawingml/2006/main" noGrp="1"/>
          </p:cNvSpPr>
          <p:nvPr/>
        </p:nvSpPr>
        <p:spPr>
          <a:xfrm xmlns:a="http://schemas.openxmlformats.org/drawingml/2006/main">
            <a:off x="7810500" y="34194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13.8%</a:t>
            </a:r>
          </a:p>
        </p:txBody>
      </p:sp>
      <p:sp>
        <p:nvSpPr>
          <p:cNvPr id="57" name="">
            <a:extLst xmlns:a="http://schemas.openxmlformats.org/drawingml/2006/main">
              <a:ext uri="{FF2B5EF4-FFF2-40B4-BE49-F238E27FC236}">
                <a16:creationId xmlns:a16="http://schemas.microsoft.com/office/drawing/2014/main" id="{BAB5A2F8-5B63-4658-81F0-AB39C45516E8}"/>
              </a:ext>
            </a:extLst>
          </p:cNvPr>
          <p:cNvSpPr>
            <a:spLocks xmlns:a="http://schemas.openxmlformats.org/drawingml/2006/main" noGrp="1"/>
          </p:cNvSpPr>
          <p:nvPr/>
        </p:nvSpPr>
        <p:spPr>
          <a:xfrm xmlns:a="http://schemas.openxmlformats.org/drawingml/2006/main">
            <a:off x="8477250" y="3419475"/>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45.1%</a:t>
            </a:r>
          </a:p>
        </p:txBody>
      </p:sp>
      <p:sp>
        <p:nvSpPr>
          <p:cNvPr id="58" name="">
            <a:extLst xmlns:a="http://schemas.openxmlformats.org/drawingml/2006/main">
              <a:ext uri="{FF2B5EF4-FFF2-40B4-BE49-F238E27FC236}">
                <a16:creationId xmlns:a16="http://schemas.microsoft.com/office/drawing/2014/main" id="{1B706772-A275-433E-ABAE-5A0DEEB9D564}"/>
              </a:ext>
            </a:extLst>
          </p:cNvPr>
          <p:cNvSpPr>
            <a:spLocks xmlns:a="http://schemas.openxmlformats.org/drawingml/2006/main" noGrp="1"/>
          </p:cNvSpPr>
          <p:nvPr/>
        </p:nvSpPr>
        <p:spPr>
          <a:xfrm xmlns:a="http://schemas.openxmlformats.org/drawingml/2006/main">
            <a:off x="9334500" y="34194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58.9%</a:t>
            </a:r>
          </a:p>
        </p:txBody>
      </p:sp>
      <p:sp>
        <p:nvSpPr>
          <p:cNvPr id="59" name="">
            <a:extLst xmlns:a="http://schemas.openxmlformats.org/drawingml/2006/main">
              <a:ext uri="{FF2B5EF4-FFF2-40B4-BE49-F238E27FC236}">
                <a16:creationId xmlns:a16="http://schemas.microsoft.com/office/drawing/2014/main" id="{1A2ACEA9-75EF-482E-8BBA-89BB1271CB22}"/>
              </a:ext>
            </a:extLst>
          </p:cNvPr>
          <p:cNvSpPr>
            <a:spLocks xmlns:a="http://schemas.openxmlformats.org/drawingml/2006/main" noGrp="1"/>
          </p:cNvSpPr>
          <p:nvPr/>
        </p:nvSpPr>
        <p:spPr>
          <a:xfrm xmlns:a="http://schemas.openxmlformats.org/drawingml/2006/main">
            <a:off x="685800" y="37242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Current POC</a:t>
            </a:r>
          </a:p>
        </p:txBody>
      </p:sp>
      <p:sp>
        <p:nvSpPr>
          <p:cNvPr id="60" name="">
            <a:extLst xmlns:a="http://schemas.openxmlformats.org/drawingml/2006/main">
              <a:ext uri="{FF2B5EF4-FFF2-40B4-BE49-F238E27FC236}">
                <a16:creationId xmlns:a16="http://schemas.microsoft.com/office/drawing/2014/main" id="{339681A0-18FC-4013-B710-FCC33C3FE2A5}"/>
              </a:ext>
            </a:extLst>
          </p:cNvPr>
          <p:cNvSpPr>
            <a:spLocks xmlns:a="http://schemas.openxmlformats.org/drawingml/2006/main" noGrp="1"/>
          </p:cNvSpPr>
          <p:nvPr/>
        </p:nvSpPr>
        <p:spPr>
          <a:xfrm xmlns:a="http://schemas.openxmlformats.org/drawingml/2006/main">
            <a:off x="3143250" y="3724275"/>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4o</a:t>
            </a:r>
          </a:p>
        </p:txBody>
      </p:sp>
      <p:sp>
        <p:nvSpPr>
          <p:cNvPr id="61" name="">
            <a:extLst xmlns:a="http://schemas.openxmlformats.org/drawingml/2006/main">
              <a:ext uri="{FF2B5EF4-FFF2-40B4-BE49-F238E27FC236}">
                <a16:creationId xmlns:a16="http://schemas.microsoft.com/office/drawing/2014/main" id="{ECECCD3E-AA17-4244-A8E1-8F185E2A2213}"/>
              </a:ext>
            </a:extLst>
          </p:cNvPr>
          <p:cNvSpPr>
            <a:spLocks xmlns:a="http://schemas.openxmlformats.org/drawingml/2006/main" noGrp="1"/>
          </p:cNvSpPr>
          <p:nvPr/>
        </p:nvSpPr>
        <p:spPr>
          <a:xfrm xmlns:a="http://schemas.openxmlformats.org/drawingml/2006/main">
            <a:off x="4095750" y="3724275"/>
            <a:ext cx="1381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Normalized</a:t>
            </a:r>
          </a:p>
        </p:txBody>
      </p:sp>
      <p:sp>
        <p:nvSpPr>
          <p:cNvPr id="62" name="">
            <a:extLst xmlns:a="http://schemas.openxmlformats.org/drawingml/2006/main">
              <a:ext uri="{FF2B5EF4-FFF2-40B4-BE49-F238E27FC236}">
                <a16:creationId xmlns:a16="http://schemas.microsoft.com/office/drawing/2014/main" id="{45BD436A-99E2-4908-A6D1-B1515883CDC8}"/>
              </a:ext>
            </a:extLst>
          </p:cNvPr>
          <p:cNvSpPr>
            <a:spLocks xmlns:a="http://schemas.openxmlformats.org/drawingml/2006/main" noGrp="1"/>
          </p:cNvSpPr>
          <p:nvPr/>
        </p:nvSpPr>
        <p:spPr>
          <a:xfrm xmlns:a="http://schemas.openxmlformats.org/drawingml/2006/main">
            <a:off x="5572125" y="37242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1,696</a:t>
            </a:r>
          </a:p>
        </p:txBody>
      </p:sp>
      <p:sp>
        <p:nvSpPr>
          <p:cNvPr id="63" name="">
            <a:extLst xmlns:a="http://schemas.openxmlformats.org/drawingml/2006/main">
              <a:ext uri="{FF2B5EF4-FFF2-40B4-BE49-F238E27FC236}">
                <a16:creationId xmlns:a16="http://schemas.microsoft.com/office/drawing/2014/main" id="{E010D241-B91F-4AFA-AB9D-789B526DDA37}"/>
              </a:ext>
            </a:extLst>
          </p:cNvPr>
          <p:cNvSpPr>
            <a:spLocks xmlns:a="http://schemas.openxmlformats.org/drawingml/2006/main" noGrp="1"/>
          </p:cNvSpPr>
          <p:nvPr/>
        </p:nvSpPr>
        <p:spPr>
          <a:xfrm xmlns:a="http://schemas.openxmlformats.org/drawingml/2006/main">
            <a:off x="7096125" y="37242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87A76"/>
                </a:solidFill>
              </a:defRPr>
            </a:pPr>
            <a:r>
              <a:rPr sz="825" b="1" i="0">
                <a:solidFill>
                  <a:srgbClr val="087A76"/>
                </a:solidFill>
              </a:rPr>
              <a:t>41.8%</a:t>
            </a:r>
          </a:p>
        </p:txBody>
      </p:sp>
      <p:sp>
        <p:nvSpPr>
          <p:cNvPr id="64" name="">
            <a:extLst xmlns:a="http://schemas.openxmlformats.org/drawingml/2006/main">
              <a:ext uri="{FF2B5EF4-FFF2-40B4-BE49-F238E27FC236}">
                <a16:creationId xmlns:a16="http://schemas.microsoft.com/office/drawing/2014/main" id="{9664A324-EB36-4BAB-B766-0515E7D04BBF}"/>
              </a:ext>
            </a:extLst>
          </p:cNvPr>
          <p:cNvSpPr>
            <a:spLocks xmlns:a="http://schemas.openxmlformats.org/drawingml/2006/main" noGrp="1"/>
          </p:cNvSpPr>
          <p:nvPr/>
        </p:nvSpPr>
        <p:spPr>
          <a:xfrm xmlns:a="http://schemas.openxmlformats.org/drawingml/2006/main">
            <a:off x="7810500" y="37242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15.3%</a:t>
            </a:r>
          </a:p>
        </p:txBody>
      </p:sp>
      <p:sp>
        <p:nvSpPr>
          <p:cNvPr id="65" name="">
            <a:extLst xmlns:a="http://schemas.openxmlformats.org/drawingml/2006/main">
              <a:ext uri="{FF2B5EF4-FFF2-40B4-BE49-F238E27FC236}">
                <a16:creationId xmlns:a16="http://schemas.microsoft.com/office/drawing/2014/main" id="{A608D0D8-25AA-4E3C-8C22-513D4BBF8DA7}"/>
              </a:ext>
            </a:extLst>
          </p:cNvPr>
          <p:cNvSpPr>
            <a:spLocks xmlns:a="http://schemas.openxmlformats.org/drawingml/2006/main" noGrp="1"/>
          </p:cNvSpPr>
          <p:nvPr/>
        </p:nvSpPr>
        <p:spPr>
          <a:xfrm xmlns:a="http://schemas.openxmlformats.org/drawingml/2006/main">
            <a:off x="8477250" y="3724275"/>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43.0%</a:t>
            </a:r>
          </a:p>
        </p:txBody>
      </p:sp>
      <p:sp>
        <p:nvSpPr>
          <p:cNvPr id="66" name="">
            <a:extLst xmlns:a="http://schemas.openxmlformats.org/drawingml/2006/main">
              <a:ext uri="{FF2B5EF4-FFF2-40B4-BE49-F238E27FC236}">
                <a16:creationId xmlns:a16="http://schemas.microsoft.com/office/drawing/2014/main" id="{B50654F6-3A1D-4EB8-8F94-4938105C6226}"/>
              </a:ext>
            </a:extLst>
          </p:cNvPr>
          <p:cNvSpPr>
            <a:spLocks xmlns:a="http://schemas.openxmlformats.org/drawingml/2006/main" noGrp="1"/>
          </p:cNvSpPr>
          <p:nvPr/>
        </p:nvSpPr>
        <p:spPr>
          <a:xfrm xmlns:a="http://schemas.openxmlformats.org/drawingml/2006/main">
            <a:off x="9334500" y="37242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58.3%</a:t>
            </a:r>
          </a:p>
        </p:txBody>
      </p:sp>
      <p:sp>
        <p:nvSpPr>
          <p:cNvPr id="67" name="">
            <a:extLst xmlns:a="http://schemas.openxmlformats.org/drawingml/2006/main">
              <a:ext uri="{FF2B5EF4-FFF2-40B4-BE49-F238E27FC236}">
                <a16:creationId xmlns:a16="http://schemas.microsoft.com/office/drawing/2014/main" id="{0C35A02F-98A0-4510-AB27-C66C75212E85}"/>
              </a:ext>
            </a:extLst>
          </p:cNvPr>
          <p:cNvSpPr>
            <a:spLocks xmlns:a="http://schemas.openxmlformats.org/drawingml/2006/main" noGrp="1"/>
          </p:cNvSpPr>
          <p:nvPr/>
        </p:nvSpPr>
        <p:spPr>
          <a:xfrm xmlns:a="http://schemas.openxmlformats.org/drawingml/2006/main">
            <a:off x="666750" y="4000500"/>
            <a:ext cx="10172700" cy="266700"/>
          </a:xfrm>
          <a:prstGeom xmlns:a="http://schemas.openxmlformats.org/drawingml/2006/main" prst="rect">
            <a:avLst/>
          </a:prstGeom>
          <a:solidFill xmlns:a="http://schemas.openxmlformats.org/drawingml/2006/main">
            <a:srgbClr val="FFFFFF"/>
          </a:solidFill>
          <a:ln xmlns:a="http://schemas.openxmlformats.org/drawingml/2006/main" w="5715">
            <a:solidFill>
              <a:srgbClr val="FFFFFF"/>
            </a:solidFill>
            <a:prstDash val="solid"/>
          </a:ln>
        </p:spPr>
      </p:sp>
      <p:sp>
        <p:nvSpPr>
          <p:cNvPr id="68" name="">
            <a:extLst xmlns:a="http://schemas.openxmlformats.org/drawingml/2006/main">
              <a:ext uri="{FF2B5EF4-FFF2-40B4-BE49-F238E27FC236}">
                <a16:creationId xmlns:a16="http://schemas.microsoft.com/office/drawing/2014/main" id="{4452217A-2FBA-4AF0-A092-BA721D9D1BF8}"/>
              </a:ext>
            </a:extLst>
          </p:cNvPr>
          <p:cNvSpPr>
            <a:spLocks xmlns:a="http://schemas.openxmlformats.org/drawingml/2006/main" noGrp="1"/>
          </p:cNvSpPr>
          <p:nvPr/>
        </p:nvSpPr>
        <p:spPr>
          <a:xfrm xmlns:a="http://schemas.openxmlformats.org/drawingml/2006/main">
            <a:off x="685800" y="40290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Current POC</a:t>
            </a:r>
          </a:p>
        </p:txBody>
      </p:sp>
      <p:sp>
        <p:nvSpPr>
          <p:cNvPr id="69" name="">
            <a:extLst xmlns:a="http://schemas.openxmlformats.org/drawingml/2006/main">
              <a:ext uri="{FF2B5EF4-FFF2-40B4-BE49-F238E27FC236}">
                <a16:creationId xmlns:a16="http://schemas.microsoft.com/office/drawing/2014/main" id="{CE254858-1F4E-4BB8-A27D-18D5DFAEFED7}"/>
              </a:ext>
            </a:extLst>
          </p:cNvPr>
          <p:cNvSpPr>
            <a:spLocks xmlns:a="http://schemas.openxmlformats.org/drawingml/2006/main" noGrp="1"/>
          </p:cNvSpPr>
          <p:nvPr/>
        </p:nvSpPr>
        <p:spPr>
          <a:xfrm xmlns:a="http://schemas.openxmlformats.org/drawingml/2006/main">
            <a:off x="3143250" y="4029075"/>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5.2</a:t>
            </a:r>
          </a:p>
        </p:txBody>
      </p:sp>
      <p:sp>
        <p:nvSpPr>
          <p:cNvPr id="70" name="">
            <a:extLst xmlns:a="http://schemas.openxmlformats.org/drawingml/2006/main">
              <a:ext uri="{FF2B5EF4-FFF2-40B4-BE49-F238E27FC236}">
                <a16:creationId xmlns:a16="http://schemas.microsoft.com/office/drawing/2014/main" id="{290AE017-6E29-4A24-A4F2-6893BBD820E2}"/>
              </a:ext>
            </a:extLst>
          </p:cNvPr>
          <p:cNvSpPr>
            <a:spLocks xmlns:a="http://schemas.openxmlformats.org/drawingml/2006/main" noGrp="1"/>
          </p:cNvSpPr>
          <p:nvPr/>
        </p:nvSpPr>
        <p:spPr>
          <a:xfrm xmlns:a="http://schemas.openxmlformats.org/drawingml/2006/main">
            <a:off x="4095750" y="4029075"/>
            <a:ext cx="1381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Original</a:t>
            </a:r>
          </a:p>
        </p:txBody>
      </p:sp>
      <p:sp>
        <p:nvSpPr>
          <p:cNvPr id="71" name="">
            <a:extLst xmlns:a="http://schemas.openxmlformats.org/drawingml/2006/main">
              <a:ext uri="{FF2B5EF4-FFF2-40B4-BE49-F238E27FC236}">
                <a16:creationId xmlns:a16="http://schemas.microsoft.com/office/drawing/2014/main" id="{732FC163-A7E6-41A0-A001-32FCC43E6242}"/>
              </a:ext>
            </a:extLst>
          </p:cNvPr>
          <p:cNvSpPr>
            <a:spLocks xmlns:a="http://schemas.openxmlformats.org/drawingml/2006/main" noGrp="1"/>
          </p:cNvSpPr>
          <p:nvPr/>
        </p:nvSpPr>
        <p:spPr>
          <a:xfrm xmlns:a="http://schemas.openxmlformats.org/drawingml/2006/main">
            <a:off x="5572125" y="40290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978</a:t>
            </a:r>
          </a:p>
        </p:txBody>
      </p:sp>
      <p:sp>
        <p:nvSpPr>
          <p:cNvPr id="72" name="">
            <a:extLst xmlns:a="http://schemas.openxmlformats.org/drawingml/2006/main">
              <a:ext uri="{FF2B5EF4-FFF2-40B4-BE49-F238E27FC236}">
                <a16:creationId xmlns:a16="http://schemas.microsoft.com/office/drawing/2014/main" id="{70130E61-8769-41B7-8504-875E5469F91B}"/>
              </a:ext>
            </a:extLst>
          </p:cNvPr>
          <p:cNvSpPr>
            <a:spLocks xmlns:a="http://schemas.openxmlformats.org/drawingml/2006/main" noGrp="1"/>
          </p:cNvSpPr>
          <p:nvPr/>
        </p:nvSpPr>
        <p:spPr>
          <a:xfrm xmlns:a="http://schemas.openxmlformats.org/drawingml/2006/main">
            <a:off x="7096125" y="40290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87A76"/>
                </a:solidFill>
              </a:defRPr>
            </a:pPr>
            <a:r>
              <a:rPr sz="825" b="1" i="0">
                <a:solidFill>
                  <a:srgbClr val="087A76"/>
                </a:solidFill>
              </a:rPr>
              <a:t>31.9%</a:t>
            </a:r>
          </a:p>
        </p:txBody>
      </p:sp>
      <p:sp>
        <p:nvSpPr>
          <p:cNvPr id="73" name="">
            <a:extLst xmlns:a="http://schemas.openxmlformats.org/drawingml/2006/main">
              <a:ext uri="{FF2B5EF4-FFF2-40B4-BE49-F238E27FC236}">
                <a16:creationId xmlns:a16="http://schemas.microsoft.com/office/drawing/2014/main" id="{4449A5FE-1E81-40C3-8FC3-97254BB430A4}"/>
              </a:ext>
            </a:extLst>
          </p:cNvPr>
          <p:cNvSpPr>
            <a:spLocks xmlns:a="http://schemas.openxmlformats.org/drawingml/2006/main" noGrp="1"/>
          </p:cNvSpPr>
          <p:nvPr/>
        </p:nvSpPr>
        <p:spPr>
          <a:xfrm xmlns:a="http://schemas.openxmlformats.org/drawingml/2006/main">
            <a:off x="7810500" y="40290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29.2%</a:t>
            </a:r>
          </a:p>
        </p:txBody>
      </p:sp>
      <p:sp>
        <p:nvSpPr>
          <p:cNvPr id="74" name="">
            <a:extLst xmlns:a="http://schemas.openxmlformats.org/drawingml/2006/main">
              <a:ext uri="{FF2B5EF4-FFF2-40B4-BE49-F238E27FC236}">
                <a16:creationId xmlns:a16="http://schemas.microsoft.com/office/drawing/2014/main" id="{B75B65A5-245F-4157-826F-06F25ADE2FF6}"/>
              </a:ext>
            </a:extLst>
          </p:cNvPr>
          <p:cNvSpPr>
            <a:spLocks xmlns:a="http://schemas.openxmlformats.org/drawingml/2006/main" noGrp="1"/>
          </p:cNvSpPr>
          <p:nvPr/>
        </p:nvSpPr>
        <p:spPr>
          <a:xfrm xmlns:a="http://schemas.openxmlformats.org/drawingml/2006/main">
            <a:off x="8477250" y="4029075"/>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38.9%</a:t>
            </a:r>
          </a:p>
        </p:txBody>
      </p:sp>
      <p:sp>
        <p:nvSpPr>
          <p:cNvPr id="75" name="">
            <a:extLst xmlns:a="http://schemas.openxmlformats.org/drawingml/2006/main">
              <a:ext uri="{FF2B5EF4-FFF2-40B4-BE49-F238E27FC236}">
                <a16:creationId xmlns:a16="http://schemas.microsoft.com/office/drawing/2014/main" id="{8C5BDB46-30F6-4D70-AAA0-868D4DEFC9B1}"/>
              </a:ext>
            </a:extLst>
          </p:cNvPr>
          <p:cNvSpPr>
            <a:spLocks xmlns:a="http://schemas.openxmlformats.org/drawingml/2006/main" noGrp="1"/>
          </p:cNvSpPr>
          <p:nvPr/>
        </p:nvSpPr>
        <p:spPr>
          <a:xfrm xmlns:a="http://schemas.openxmlformats.org/drawingml/2006/main">
            <a:off x="9334500" y="40290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68.1%</a:t>
            </a:r>
          </a:p>
        </p:txBody>
      </p:sp>
      <p:sp>
        <p:nvSpPr>
          <p:cNvPr id="76" name="">
            <a:extLst xmlns:a="http://schemas.openxmlformats.org/drawingml/2006/main">
              <a:ext uri="{FF2B5EF4-FFF2-40B4-BE49-F238E27FC236}">
                <a16:creationId xmlns:a16="http://schemas.microsoft.com/office/drawing/2014/main" id="{6EFAD160-C404-4910-8068-5369440C1CF7}"/>
              </a:ext>
            </a:extLst>
          </p:cNvPr>
          <p:cNvSpPr>
            <a:spLocks xmlns:a="http://schemas.openxmlformats.org/drawingml/2006/main" noGrp="1"/>
          </p:cNvSpPr>
          <p:nvPr/>
        </p:nvSpPr>
        <p:spPr>
          <a:xfrm xmlns:a="http://schemas.openxmlformats.org/drawingml/2006/main">
            <a:off x="685800" y="43338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Current POC</a:t>
            </a:r>
          </a:p>
        </p:txBody>
      </p:sp>
      <p:sp>
        <p:nvSpPr>
          <p:cNvPr id="77" name="">
            <a:extLst xmlns:a="http://schemas.openxmlformats.org/drawingml/2006/main">
              <a:ext uri="{FF2B5EF4-FFF2-40B4-BE49-F238E27FC236}">
                <a16:creationId xmlns:a16="http://schemas.microsoft.com/office/drawing/2014/main" id="{9F988A7E-41FB-4265-A968-CD6F64979042}"/>
              </a:ext>
            </a:extLst>
          </p:cNvPr>
          <p:cNvSpPr>
            <a:spLocks xmlns:a="http://schemas.openxmlformats.org/drawingml/2006/main" noGrp="1"/>
          </p:cNvSpPr>
          <p:nvPr/>
        </p:nvSpPr>
        <p:spPr>
          <a:xfrm xmlns:a="http://schemas.openxmlformats.org/drawingml/2006/main">
            <a:off x="3143250" y="4333875"/>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5.2</a:t>
            </a:r>
          </a:p>
        </p:txBody>
      </p:sp>
      <p:sp>
        <p:nvSpPr>
          <p:cNvPr id="78" name="">
            <a:extLst xmlns:a="http://schemas.openxmlformats.org/drawingml/2006/main">
              <a:ext uri="{FF2B5EF4-FFF2-40B4-BE49-F238E27FC236}">
                <a16:creationId xmlns:a16="http://schemas.microsoft.com/office/drawing/2014/main" id="{C23EEE1F-AA5C-4E83-A652-CB232D3C60D6}"/>
              </a:ext>
            </a:extLst>
          </p:cNvPr>
          <p:cNvSpPr>
            <a:spLocks xmlns:a="http://schemas.openxmlformats.org/drawingml/2006/main" noGrp="1"/>
          </p:cNvSpPr>
          <p:nvPr/>
        </p:nvSpPr>
        <p:spPr>
          <a:xfrm xmlns:a="http://schemas.openxmlformats.org/drawingml/2006/main">
            <a:off x="4095750" y="4333875"/>
            <a:ext cx="1381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Normalized</a:t>
            </a:r>
          </a:p>
        </p:txBody>
      </p:sp>
      <p:sp>
        <p:nvSpPr>
          <p:cNvPr id="79" name="">
            <a:extLst xmlns:a="http://schemas.openxmlformats.org/drawingml/2006/main">
              <a:ext uri="{FF2B5EF4-FFF2-40B4-BE49-F238E27FC236}">
                <a16:creationId xmlns:a16="http://schemas.microsoft.com/office/drawing/2014/main" id="{E0956567-F08D-40D0-A49B-657E3A519246}"/>
              </a:ext>
            </a:extLst>
          </p:cNvPr>
          <p:cNvSpPr>
            <a:spLocks xmlns:a="http://schemas.openxmlformats.org/drawingml/2006/main" noGrp="1"/>
          </p:cNvSpPr>
          <p:nvPr/>
        </p:nvSpPr>
        <p:spPr>
          <a:xfrm xmlns:a="http://schemas.openxmlformats.org/drawingml/2006/main">
            <a:off x="5572125" y="43338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1,696</a:t>
            </a:r>
          </a:p>
        </p:txBody>
      </p:sp>
      <p:sp>
        <p:nvSpPr>
          <p:cNvPr id="80" name="">
            <a:extLst xmlns:a="http://schemas.openxmlformats.org/drawingml/2006/main">
              <a:ext uri="{FF2B5EF4-FFF2-40B4-BE49-F238E27FC236}">
                <a16:creationId xmlns:a16="http://schemas.microsoft.com/office/drawing/2014/main" id="{3913F9F5-66F7-4434-B807-498BEE55EEB1}"/>
              </a:ext>
            </a:extLst>
          </p:cNvPr>
          <p:cNvSpPr>
            <a:spLocks xmlns:a="http://schemas.openxmlformats.org/drawingml/2006/main" noGrp="1"/>
          </p:cNvSpPr>
          <p:nvPr/>
        </p:nvSpPr>
        <p:spPr>
          <a:xfrm xmlns:a="http://schemas.openxmlformats.org/drawingml/2006/main">
            <a:off x="7096125" y="43338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87A76"/>
                </a:solidFill>
              </a:defRPr>
            </a:pPr>
            <a:r>
              <a:rPr sz="825" b="1" i="0">
                <a:solidFill>
                  <a:srgbClr val="087A76"/>
                </a:solidFill>
              </a:rPr>
              <a:t>32.4%</a:t>
            </a:r>
          </a:p>
        </p:txBody>
      </p:sp>
      <p:sp>
        <p:nvSpPr>
          <p:cNvPr id="81" name="">
            <a:extLst xmlns:a="http://schemas.openxmlformats.org/drawingml/2006/main">
              <a:ext uri="{FF2B5EF4-FFF2-40B4-BE49-F238E27FC236}">
                <a16:creationId xmlns:a16="http://schemas.microsoft.com/office/drawing/2014/main" id="{7EEB653E-1FF9-4002-B0D1-15412065EE0F}"/>
              </a:ext>
            </a:extLst>
          </p:cNvPr>
          <p:cNvSpPr>
            <a:spLocks xmlns:a="http://schemas.openxmlformats.org/drawingml/2006/main" noGrp="1"/>
          </p:cNvSpPr>
          <p:nvPr/>
        </p:nvSpPr>
        <p:spPr>
          <a:xfrm xmlns:a="http://schemas.openxmlformats.org/drawingml/2006/main">
            <a:off x="7810500" y="43338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32.3%</a:t>
            </a:r>
          </a:p>
        </p:txBody>
      </p:sp>
      <p:sp>
        <p:nvSpPr>
          <p:cNvPr id="82" name="">
            <a:extLst xmlns:a="http://schemas.openxmlformats.org/drawingml/2006/main">
              <a:ext uri="{FF2B5EF4-FFF2-40B4-BE49-F238E27FC236}">
                <a16:creationId xmlns:a16="http://schemas.microsoft.com/office/drawing/2014/main" id="{8A9583BA-FF2D-4743-B744-E8E3697CC256}"/>
              </a:ext>
            </a:extLst>
          </p:cNvPr>
          <p:cNvSpPr>
            <a:spLocks xmlns:a="http://schemas.openxmlformats.org/drawingml/2006/main" noGrp="1"/>
          </p:cNvSpPr>
          <p:nvPr/>
        </p:nvSpPr>
        <p:spPr>
          <a:xfrm xmlns:a="http://schemas.openxmlformats.org/drawingml/2006/main">
            <a:off x="8477250" y="4333875"/>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35.3%</a:t>
            </a:r>
          </a:p>
        </p:txBody>
      </p:sp>
      <p:sp>
        <p:nvSpPr>
          <p:cNvPr id="83" name="">
            <a:extLst xmlns:a="http://schemas.openxmlformats.org/drawingml/2006/main">
              <a:ext uri="{FF2B5EF4-FFF2-40B4-BE49-F238E27FC236}">
                <a16:creationId xmlns:a16="http://schemas.microsoft.com/office/drawing/2014/main" id="{91CB1BAF-F2EF-41FA-88E1-944763DB0A1F}"/>
              </a:ext>
            </a:extLst>
          </p:cNvPr>
          <p:cNvSpPr>
            <a:spLocks xmlns:a="http://schemas.openxmlformats.org/drawingml/2006/main" noGrp="1"/>
          </p:cNvSpPr>
          <p:nvPr/>
        </p:nvSpPr>
        <p:spPr>
          <a:xfrm xmlns:a="http://schemas.openxmlformats.org/drawingml/2006/main">
            <a:off x="9334500" y="43338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67.6%</a:t>
            </a:r>
          </a:p>
        </p:txBody>
      </p:sp>
      <p:sp>
        <p:nvSpPr>
          <p:cNvPr id="84" name="">
            <a:extLst xmlns:a="http://schemas.openxmlformats.org/drawingml/2006/main">
              <a:ext uri="{FF2B5EF4-FFF2-40B4-BE49-F238E27FC236}">
                <a16:creationId xmlns:a16="http://schemas.microsoft.com/office/drawing/2014/main" id="{E0BC7B28-D6E6-448D-B339-D0453D21FBD6}"/>
              </a:ext>
            </a:extLst>
          </p:cNvPr>
          <p:cNvSpPr>
            <a:spLocks xmlns:a="http://schemas.openxmlformats.org/drawingml/2006/main" noGrp="1"/>
          </p:cNvSpPr>
          <p:nvPr/>
        </p:nvSpPr>
        <p:spPr>
          <a:xfrm xmlns:a="http://schemas.openxmlformats.org/drawingml/2006/main">
            <a:off x="666750" y="4610100"/>
            <a:ext cx="10172700" cy="266700"/>
          </a:xfrm>
          <a:prstGeom xmlns:a="http://schemas.openxmlformats.org/drawingml/2006/main" prst="rect">
            <a:avLst/>
          </a:prstGeom>
          <a:solidFill xmlns:a="http://schemas.openxmlformats.org/drawingml/2006/main">
            <a:srgbClr val="FFFFFF"/>
          </a:solidFill>
          <a:ln xmlns:a="http://schemas.openxmlformats.org/drawingml/2006/main" w="5715">
            <a:solidFill>
              <a:srgbClr val="FFFFFF"/>
            </a:solidFill>
            <a:prstDash val="solid"/>
          </a:ln>
        </p:spPr>
      </p:sp>
      <p:sp>
        <p:nvSpPr>
          <p:cNvPr id="85" name="">
            <a:extLst xmlns:a="http://schemas.openxmlformats.org/drawingml/2006/main">
              <a:ext uri="{FF2B5EF4-FFF2-40B4-BE49-F238E27FC236}">
                <a16:creationId xmlns:a16="http://schemas.microsoft.com/office/drawing/2014/main" id="{A6128C62-F503-4ECE-832A-3AB40B4BA303}"/>
              </a:ext>
            </a:extLst>
          </p:cNvPr>
          <p:cNvSpPr>
            <a:spLocks xmlns:a="http://schemas.openxmlformats.org/drawingml/2006/main" noGrp="1"/>
          </p:cNvSpPr>
          <p:nvPr/>
        </p:nvSpPr>
        <p:spPr>
          <a:xfrm xmlns:a="http://schemas.openxmlformats.org/drawingml/2006/main">
            <a:off x="685800" y="46386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Current + examples</a:t>
            </a:r>
          </a:p>
        </p:txBody>
      </p:sp>
      <p:sp>
        <p:nvSpPr>
          <p:cNvPr id="86" name="">
            <a:extLst xmlns:a="http://schemas.openxmlformats.org/drawingml/2006/main">
              <a:ext uri="{FF2B5EF4-FFF2-40B4-BE49-F238E27FC236}">
                <a16:creationId xmlns:a16="http://schemas.microsoft.com/office/drawing/2014/main" id="{C313C337-075C-4BDB-A80F-3014603C4850}"/>
              </a:ext>
            </a:extLst>
          </p:cNvPr>
          <p:cNvSpPr>
            <a:spLocks xmlns:a="http://schemas.openxmlformats.org/drawingml/2006/main" noGrp="1"/>
          </p:cNvSpPr>
          <p:nvPr/>
        </p:nvSpPr>
        <p:spPr>
          <a:xfrm xmlns:a="http://schemas.openxmlformats.org/drawingml/2006/main">
            <a:off x="3143250" y="4638675"/>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4o</a:t>
            </a:r>
          </a:p>
        </p:txBody>
      </p:sp>
      <p:sp>
        <p:nvSpPr>
          <p:cNvPr id="87" name="">
            <a:extLst xmlns:a="http://schemas.openxmlformats.org/drawingml/2006/main">
              <a:ext uri="{FF2B5EF4-FFF2-40B4-BE49-F238E27FC236}">
                <a16:creationId xmlns:a16="http://schemas.microsoft.com/office/drawing/2014/main" id="{12167FA1-5F87-4230-A083-B2EB9ACA8CBD}"/>
              </a:ext>
            </a:extLst>
          </p:cNvPr>
          <p:cNvSpPr>
            <a:spLocks xmlns:a="http://schemas.openxmlformats.org/drawingml/2006/main" noGrp="1"/>
          </p:cNvSpPr>
          <p:nvPr/>
        </p:nvSpPr>
        <p:spPr>
          <a:xfrm xmlns:a="http://schemas.openxmlformats.org/drawingml/2006/main">
            <a:off x="4095750" y="4638675"/>
            <a:ext cx="1381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Original</a:t>
            </a:r>
          </a:p>
        </p:txBody>
      </p:sp>
      <p:sp>
        <p:nvSpPr>
          <p:cNvPr id="88" name="">
            <a:extLst xmlns:a="http://schemas.openxmlformats.org/drawingml/2006/main">
              <a:ext uri="{FF2B5EF4-FFF2-40B4-BE49-F238E27FC236}">
                <a16:creationId xmlns:a16="http://schemas.microsoft.com/office/drawing/2014/main" id="{BBDC77D1-97D5-4F29-86FB-4AE3BC6E4060}"/>
              </a:ext>
            </a:extLst>
          </p:cNvPr>
          <p:cNvSpPr>
            <a:spLocks xmlns:a="http://schemas.openxmlformats.org/drawingml/2006/main" noGrp="1"/>
          </p:cNvSpPr>
          <p:nvPr/>
        </p:nvSpPr>
        <p:spPr>
          <a:xfrm xmlns:a="http://schemas.openxmlformats.org/drawingml/2006/main">
            <a:off x="5572125" y="46386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978</a:t>
            </a:r>
          </a:p>
        </p:txBody>
      </p:sp>
      <p:sp>
        <p:nvSpPr>
          <p:cNvPr id="89" name="">
            <a:extLst xmlns:a="http://schemas.openxmlformats.org/drawingml/2006/main">
              <a:ext uri="{FF2B5EF4-FFF2-40B4-BE49-F238E27FC236}">
                <a16:creationId xmlns:a16="http://schemas.microsoft.com/office/drawing/2014/main" id="{74B2D8CB-307D-4B9D-B6EA-78905FAB124E}"/>
              </a:ext>
            </a:extLst>
          </p:cNvPr>
          <p:cNvSpPr>
            <a:spLocks xmlns:a="http://schemas.openxmlformats.org/drawingml/2006/main" noGrp="1"/>
          </p:cNvSpPr>
          <p:nvPr/>
        </p:nvSpPr>
        <p:spPr>
          <a:xfrm xmlns:a="http://schemas.openxmlformats.org/drawingml/2006/main">
            <a:off x="7096125" y="46386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87A76"/>
                </a:solidFill>
              </a:defRPr>
            </a:pPr>
            <a:r>
              <a:rPr sz="825" b="1" i="0">
                <a:solidFill>
                  <a:srgbClr val="087A76"/>
                </a:solidFill>
              </a:rPr>
              <a:t>54.2%</a:t>
            </a:r>
          </a:p>
        </p:txBody>
      </p:sp>
      <p:sp>
        <p:nvSpPr>
          <p:cNvPr id="90" name="">
            <a:extLst xmlns:a="http://schemas.openxmlformats.org/drawingml/2006/main">
              <a:ext uri="{FF2B5EF4-FFF2-40B4-BE49-F238E27FC236}">
                <a16:creationId xmlns:a16="http://schemas.microsoft.com/office/drawing/2014/main" id="{67E53812-D2A1-4259-9659-1995CA809CE5}"/>
              </a:ext>
            </a:extLst>
          </p:cNvPr>
          <p:cNvSpPr>
            <a:spLocks xmlns:a="http://schemas.openxmlformats.org/drawingml/2006/main" noGrp="1"/>
          </p:cNvSpPr>
          <p:nvPr/>
        </p:nvSpPr>
        <p:spPr>
          <a:xfrm xmlns:a="http://schemas.openxmlformats.org/drawingml/2006/main">
            <a:off x="7810500" y="46386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16.7%</a:t>
            </a:r>
          </a:p>
        </p:txBody>
      </p:sp>
      <p:sp>
        <p:nvSpPr>
          <p:cNvPr id="91" name="">
            <a:extLst xmlns:a="http://schemas.openxmlformats.org/drawingml/2006/main">
              <a:ext uri="{FF2B5EF4-FFF2-40B4-BE49-F238E27FC236}">
                <a16:creationId xmlns:a16="http://schemas.microsoft.com/office/drawing/2014/main" id="{3448DF36-2D8C-47A6-9EF9-112BDC48E65B}"/>
              </a:ext>
            </a:extLst>
          </p:cNvPr>
          <p:cNvSpPr>
            <a:spLocks xmlns:a="http://schemas.openxmlformats.org/drawingml/2006/main" noGrp="1"/>
          </p:cNvSpPr>
          <p:nvPr/>
        </p:nvSpPr>
        <p:spPr>
          <a:xfrm xmlns:a="http://schemas.openxmlformats.org/drawingml/2006/main">
            <a:off x="8477250" y="4638675"/>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29.1%</a:t>
            </a:r>
          </a:p>
        </p:txBody>
      </p:sp>
      <p:sp>
        <p:nvSpPr>
          <p:cNvPr id="92" name="">
            <a:extLst xmlns:a="http://schemas.openxmlformats.org/drawingml/2006/main">
              <a:ext uri="{FF2B5EF4-FFF2-40B4-BE49-F238E27FC236}">
                <a16:creationId xmlns:a16="http://schemas.microsoft.com/office/drawing/2014/main" id="{75334D8C-DE48-4C80-84B8-84B46172FE63}"/>
              </a:ext>
            </a:extLst>
          </p:cNvPr>
          <p:cNvSpPr>
            <a:spLocks xmlns:a="http://schemas.openxmlformats.org/drawingml/2006/main" noGrp="1"/>
          </p:cNvSpPr>
          <p:nvPr/>
        </p:nvSpPr>
        <p:spPr>
          <a:xfrm xmlns:a="http://schemas.openxmlformats.org/drawingml/2006/main">
            <a:off x="9334500" y="46386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45.8%</a:t>
            </a:r>
          </a:p>
        </p:txBody>
      </p:sp>
      <p:sp>
        <p:nvSpPr>
          <p:cNvPr id="93" name="">
            <a:extLst xmlns:a="http://schemas.openxmlformats.org/drawingml/2006/main">
              <a:ext uri="{FF2B5EF4-FFF2-40B4-BE49-F238E27FC236}">
                <a16:creationId xmlns:a16="http://schemas.microsoft.com/office/drawing/2014/main" id="{6F15AF7A-5415-4C2B-BFD5-5DB924C8DBEF}"/>
              </a:ext>
            </a:extLst>
          </p:cNvPr>
          <p:cNvSpPr>
            <a:spLocks xmlns:a="http://schemas.openxmlformats.org/drawingml/2006/main" noGrp="1"/>
          </p:cNvSpPr>
          <p:nvPr/>
        </p:nvSpPr>
        <p:spPr>
          <a:xfrm xmlns:a="http://schemas.openxmlformats.org/drawingml/2006/main">
            <a:off x="685800" y="49434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Current + examples</a:t>
            </a:r>
          </a:p>
        </p:txBody>
      </p:sp>
      <p:sp>
        <p:nvSpPr>
          <p:cNvPr id="94" name="">
            <a:extLst xmlns:a="http://schemas.openxmlformats.org/drawingml/2006/main">
              <a:ext uri="{FF2B5EF4-FFF2-40B4-BE49-F238E27FC236}">
                <a16:creationId xmlns:a16="http://schemas.microsoft.com/office/drawing/2014/main" id="{BBD8F6BE-01D1-45CE-B037-6901F1EE0835}"/>
              </a:ext>
            </a:extLst>
          </p:cNvPr>
          <p:cNvSpPr>
            <a:spLocks xmlns:a="http://schemas.openxmlformats.org/drawingml/2006/main" noGrp="1"/>
          </p:cNvSpPr>
          <p:nvPr/>
        </p:nvSpPr>
        <p:spPr>
          <a:xfrm xmlns:a="http://schemas.openxmlformats.org/drawingml/2006/main">
            <a:off x="3143250" y="4943475"/>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4o</a:t>
            </a:r>
          </a:p>
        </p:txBody>
      </p:sp>
      <p:sp>
        <p:nvSpPr>
          <p:cNvPr id="95" name="">
            <a:extLst xmlns:a="http://schemas.openxmlformats.org/drawingml/2006/main">
              <a:ext uri="{FF2B5EF4-FFF2-40B4-BE49-F238E27FC236}">
                <a16:creationId xmlns:a16="http://schemas.microsoft.com/office/drawing/2014/main" id="{FCE87631-3682-470B-B7E2-1F8935C3FE83}"/>
              </a:ext>
            </a:extLst>
          </p:cNvPr>
          <p:cNvSpPr>
            <a:spLocks xmlns:a="http://schemas.openxmlformats.org/drawingml/2006/main" noGrp="1"/>
          </p:cNvSpPr>
          <p:nvPr/>
        </p:nvSpPr>
        <p:spPr>
          <a:xfrm xmlns:a="http://schemas.openxmlformats.org/drawingml/2006/main">
            <a:off x="4095750" y="4943475"/>
            <a:ext cx="1381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Normalized</a:t>
            </a:r>
          </a:p>
        </p:txBody>
      </p:sp>
      <p:sp>
        <p:nvSpPr>
          <p:cNvPr id="96" name="">
            <a:extLst xmlns:a="http://schemas.openxmlformats.org/drawingml/2006/main">
              <a:ext uri="{FF2B5EF4-FFF2-40B4-BE49-F238E27FC236}">
                <a16:creationId xmlns:a16="http://schemas.microsoft.com/office/drawing/2014/main" id="{6832F4D4-AA2B-4E54-8B00-A4B14FD3C8AB}"/>
              </a:ext>
            </a:extLst>
          </p:cNvPr>
          <p:cNvSpPr>
            <a:spLocks xmlns:a="http://schemas.openxmlformats.org/drawingml/2006/main" noGrp="1"/>
          </p:cNvSpPr>
          <p:nvPr/>
        </p:nvSpPr>
        <p:spPr>
          <a:xfrm xmlns:a="http://schemas.openxmlformats.org/drawingml/2006/main">
            <a:off x="5572125" y="49434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1,696</a:t>
            </a:r>
          </a:p>
        </p:txBody>
      </p:sp>
      <p:sp>
        <p:nvSpPr>
          <p:cNvPr id="97" name="">
            <a:extLst xmlns:a="http://schemas.openxmlformats.org/drawingml/2006/main">
              <a:ext uri="{FF2B5EF4-FFF2-40B4-BE49-F238E27FC236}">
                <a16:creationId xmlns:a16="http://schemas.microsoft.com/office/drawing/2014/main" id="{AE05A551-CB0E-484E-99B0-8A10D3CCC6F8}"/>
              </a:ext>
            </a:extLst>
          </p:cNvPr>
          <p:cNvSpPr>
            <a:spLocks xmlns:a="http://schemas.openxmlformats.org/drawingml/2006/main" noGrp="1"/>
          </p:cNvSpPr>
          <p:nvPr/>
        </p:nvSpPr>
        <p:spPr>
          <a:xfrm xmlns:a="http://schemas.openxmlformats.org/drawingml/2006/main">
            <a:off x="7096125" y="49434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87A76"/>
                </a:solidFill>
              </a:defRPr>
            </a:pPr>
            <a:r>
              <a:rPr sz="825" b="1" i="0">
                <a:solidFill>
                  <a:srgbClr val="087A76"/>
                </a:solidFill>
              </a:rPr>
              <a:t>53.1%</a:t>
            </a:r>
          </a:p>
        </p:txBody>
      </p:sp>
      <p:sp>
        <p:nvSpPr>
          <p:cNvPr id="98" name="">
            <a:extLst xmlns:a="http://schemas.openxmlformats.org/drawingml/2006/main">
              <a:ext uri="{FF2B5EF4-FFF2-40B4-BE49-F238E27FC236}">
                <a16:creationId xmlns:a16="http://schemas.microsoft.com/office/drawing/2014/main" id="{5769A685-89DF-4E4C-A96D-3BC41AB5B07E}"/>
              </a:ext>
            </a:extLst>
          </p:cNvPr>
          <p:cNvSpPr>
            <a:spLocks xmlns:a="http://schemas.openxmlformats.org/drawingml/2006/main" noGrp="1"/>
          </p:cNvSpPr>
          <p:nvPr/>
        </p:nvSpPr>
        <p:spPr>
          <a:xfrm xmlns:a="http://schemas.openxmlformats.org/drawingml/2006/main">
            <a:off x="7810500" y="49434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18.6%</a:t>
            </a:r>
          </a:p>
        </p:txBody>
      </p:sp>
      <p:sp>
        <p:nvSpPr>
          <p:cNvPr id="99" name="">
            <a:extLst xmlns:a="http://schemas.openxmlformats.org/drawingml/2006/main">
              <a:ext uri="{FF2B5EF4-FFF2-40B4-BE49-F238E27FC236}">
                <a16:creationId xmlns:a16="http://schemas.microsoft.com/office/drawing/2014/main" id="{267DE635-1AA1-4EA2-A717-E4338A3C073B}"/>
              </a:ext>
            </a:extLst>
          </p:cNvPr>
          <p:cNvSpPr>
            <a:spLocks xmlns:a="http://schemas.openxmlformats.org/drawingml/2006/main" noGrp="1"/>
          </p:cNvSpPr>
          <p:nvPr/>
        </p:nvSpPr>
        <p:spPr>
          <a:xfrm xmlns:a="http://schemas.openxmlformats.org/drawingml/2006/main">
            <a:off x="8477250" y="4943475"/>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28.2%</a:t>
            </a:r>
          </a:p>
        </p:txBody>
      </p:sp>
      <p:sp>
        <p:nvSpPr>
          <p:cNvPr id="100" name="">
            <a:extLst xmlns:a="http://schemas.openxmlformats.org/drawingml/2006/main">
              <a:ext uri="{FF2B5EF4-FFF2-40B4-BE49-F238E27FC236}">
                <a16:creationId xmlns:a16="http://schemas.microsoft.com/office/drawing/2014/main" id="{B8997D8F-F257-4F5E-AC52-CF6997444414}"/>
              </a:ext>
            </a:extLst>
          </p:cNvPr>
          <p:cNvSpPr>
            <a:spLocks xmlns:a="http://schemas.openxmlformats.org/drawingml/2006/main" noGrp="1"/>
          </p:cNvSpPr>
          <p:nvPr/>
        </p:nvSpPr>
        <p:spPr>
          <a:xfrm xmlns:a="http://schemas.openxmlformats.org/drawingml/2006/main">
            <a:off x="9334500" y="49434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46.9%</a:t>
            </a:r>
          </a:p>
        </p:txBody>
      </p:sp>
      <p:sp>
        <p:nvSpPr>
          <p:cNvPr id="101" name="">
            <a:extLst xmlns:a="http://schemas.openxmlformats.org/drawingml/2006/main">
              <a:ext uri="{FF2B5EF4-FFF2-40B4-BE49-F238E27FC236}">
                <a16:creationId xmlns:a16="http://schemas.microsoft.com/office/drawing/2014/main" id="{7FC81D67-1CDF-4BB1-AA11-0F2AD8CFEEF9}"/>
              </a:ext>
            </a:extLst>
          </p:cNvPr>
          <p:cNvSpPr>
            <a:spLocks xmlns:a="http://schemas.openxmlformats.org/drawingml/2006/main" noGrp="1"/>
          </p:cNvSpPr>
          <p:nvPr/>
        </p:nvSpPr>
        <p:spPr>
          <a:xfrm xmlns:a="http://schemas.openxmlformats.org/drawingml/2006/main">
            <a:off x="666750" y="5219700"/>
            <a:ext cx="10172700" cy="266700"/>
          </a:xfrm>
          <a:prstGeom xmlns:a="http://schemas.openxmlformats.org/drawingml/2006/main" prst="rect">
            <a:avLst/>
          </a:prstGeom>
          <a:solidFill xmlns:a="http://schemas.openxmlformats.org/drawingml/2006/main">
            <a:srgbClr val="FFFFFF"/>
          </a:solidFill>
          <a:ln xmlns:a="http://schemas.openxmlformats.org/drawingml/2006/main" w="5715">
            <a:solidFill>
              <a:srgbClr val="FFFFFF"/>
            </a:solidFill>
            <a:prstDash val="solid"/>
          </a:ln>
        </p:spPr>
      </p:sp>
      <p:sp>
        <p:nvSpPr>
          <p:cNvPr id="102" name="">
            <a:extLst xmlns:a="http://schemas.openxmlformats.org/drawingml/2006/main">
              <a:ext uri="{FF2B5EF4-FFF2-40B4-BE49-F238E27FC236}">
                <a16:creationId xmlns:a16="http://schemas.microsoft.com/office/drawing/2014/main" id="{26CDD735-9AF4-4DE1-8734-B05E650853E9}"/>
              </a:ext>
            </a:extLst>
          </p:cNvPr>
          <p:cNvSpPr>
            <a:spLocks xmlns:a="http://schemas.openxmlformats.org/drawingml/2006/main" noGrp="1"/>
          </p:cNvSpPr>
          <p:nvPr/>
        </p:nvSpPr>
        <p:spPr>
          <a:xfrm xmlns:a="http://schemas.openxmlformats.org/drawingml/2006/main">
            <a:off x="685800" y="52482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Current + examples</a:t>
            </a:r>
          </a:p>
        </p:txBody>
      </p:sp>
      <p:sp>
        <p:nvSpPr>
          <p:cNvPr id="103" name="">
            <a:extLst xmlns:a="http://schemas.openxmlformats.org/drawingml/2006/main">
              <a:ext uri="{FF2B5EF4-FFF2-40B4-BE49-F238E27FC236}">
                <a16:creationId xmlns:a16="http://schemas.microsoft.com/office/drawing/2014/main" id="{BDDD355A-8878-4D5E-9703-85D0C903FAB1}"/>
              </a:ext>
            </a:extLst>
          </p:cNvPr>
          <p:cNvSpPr>
            <a:spLocks xmlns:a="http://schemas.openxmlformats.org/drawingml/2006/main" noGrp="1"/>
          </p:cNvSpPr>
          <p:nvPr/>
        </p:nvSpPr>
        <p:spPr>
          <a:xfrm xmlns:a="http://schemas.openxmlformats.org/drawingml/2006/main">
            <a:off x="3143250" y="5248275"/>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5.2</a:t>
            </a:r>
          </a:p>
        </p:txBody>
      </p:sp>
      <p:sp>
        <p:nvSpPr>
          <p:cNvPr id="104" name="">
            <a:extLst xmlns:a="http://schemas.openxmlformats.org/drawingml/2006/main">
              <a:ext uri="{FF2B5EF4-FFF2-40B4-BE49-F238E27FC236}">
                <a16:creationId xmlns:a16="http://schemas.microsoft.com/office/drawing/2014/main" id="{059070F2-AEE6-4A71-AA59-C19242C36BA4}"/>
              </a:ext>
            </a:extLst>
          </p:cNvPr>
          <p:cNvSpPr>
            <a:spLocks xmlns:a="http://schemas.openxmlformats.org/drawingml/2006/main" noGrp="1"/>
          </p:cNvSpPr>
          <p:nvPr/>
        </p:nvSpPr>
        <p:spPr>
          <a:xfrm xmlns:a="http://schemas.openxmlformats.org/drawingml/2006/main">
            <a:off x="4095750" y="5248275"/>
            <a:ext cx="1381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Original</a:t>
            </a:r>
          </a:p>
        </p:txBody>
      </p:sp>
      <p:sp>
        <p:nvSpPr>
          <p:cNvPr id="105" name="">
            <a:extLst xmlns:a="http://schemas.openxmlformats.org/drawingml/2006/main">
              <a:ext uri="{FF2B5EF4-FFF2-40B4-BE49-F238E27FC236}">
                <a16:creationId xmlns:a16="http://schemas.microsoft.com/office/drawing/2014/main" id="{0DA41C79-D373-4932-A233-C098C8FA178B}"/>
              </a:ext>
            </a:extLst>
          </p:cNvPr>
          <p:cNvSpPr>
            <a:spLocks xmlns:a="http://schemas.openxmlformats.org/drawingml/2006/main" noGrp="1"/>
          </p:cNvSpPr>
          <p:nvPr/>
        </p:nvSpPr>
        <p:spPr>
          <a:xfrm xmlns:a="http://schemas.openxmlformats.org/drawingml/2006/main">
            <a:off x="5572125" y="52482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978</a:t>
            </a:r>
          </a:p>
        </p:txBody>
      </p:sp>
      <p:sp>
        <p:nvSpPr>
          <p:cNvPr id="106" name="">
            <a:extLst xmlns:a="http://schemas.openxmlformats.org/drawingml/2006/main">
              <a:ext uri="{FF2B5EF4-FFF2-40B4-BE49-F238E27FC236}">
                <a16:creationId xmlns:a16="http://schemas.microsoft.com/office/drawing/2014/main" id="{CC116F48-1666-42B2-8476-C234E3682D9D}"/>
              </a:ext>
            </a:extLst>
          </p:cNvPr>
          <p:cNvSpPr>
            <a:spLocks xmlns:a="http://schemas.openxmlformats.org/drawingml/2006/main" noGrp="1"/>
          </p:cNvSpPr>
          <p:nvPr/>
        </p:nvSpPr>
        <p:spPr>
          <a:xfrm xmlns:a="http://schemas.openxmlformats.org/drawingml/2006/main">
            <a:off x="7096125" y="52482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87A76"/>
                </a:solidFill>
              </a:defRPr>
            </a:pPr>
            <a:r>
              <a:rPr sz="825" b="1" i="0">
                <a:solidFill>
                  <a:srgbClr val="087A76"/>
                </a:solidFill>
              </a:rPr>
              <a:t>35.8%</a:t>
            </a:r>
          </a:p>
        </p:txBody>
      </p:sp>
      <p:sp>
        <p:nvSpPr>
          <p:cNvPr id="107" name="">
            <a:extLst xmlns:a="http://schemas.openxmlformats.org/drawingml/2006/main">
              <a:ext uri="{FF2B5EF4-FFF2-40B4-BE49-F238E27FC236}">
                <a16:creationId xmlns:a16="http://schemas.microsoft.com/office/drawing/2014/main" id="{6729E173-F0C1-4D12-B900-CFA6D8AA8E57}"/>
              </a:ext>
            </a:extLst>
          </p:cNvPr>
          <p:cNvSpPr>
            <a:spLocks xmlns:a="http://schemas.openxmlformats.org/drawingml/2006/main" noGrp="1"/>
          </p:cNvSpPr>
          <p:nvPr/>
        </p:nvSpPr>
        <p:spPr>
          <a:xfrm xmlns:a="http://schemas.openxmlformats.org/drawingml/2006/main">
            <a:off x="7810500" y="52482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31.1%</a:t>
            </a:r>
          </a:p>
        </p:txBody>
      </p:sp>
      <p:sp>
        <p:nvSpPr>
          <p:cNvPr id="108" name="">
            <a:extLst xmlns:a="http://schemas.openxmlformats.org/drawingml/2006/main">
              <a:ext uri="{FF2B5EF4-FFF2-40B4-BE49-F238E27FC236}">
                <a16:creationId xmlns:a16="http://schemas.microsoft.com/office/drawing/2014/main" id="{CD875310-1B91-4C44-A957-9861E13A39EC}"/>
              </a:ext>
            </a:extLst>
          </p:cNvPr>
          <p:cNvSpPr>
            <a:spLocks xmlns:a="http://schemas.openxmlformats.org/drawingml/2006/main" noGrp="1"/>
          </p:cNvSpPr>
          <p:nvPr/>
        </p:nvSpPr>
        <p:spPr>
          <a:xfrm xmlns:a="http://schemas.openxmlformats.org/drawingml/2006/main">
            <a:off x="8477250" y="5248275"/>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33.1%</a:t>
            </a:r>
          </a:p>
        </p:txBody>
      </p:sp>
      <p:sp>
        <p:nvSpPr>
          <p:cNvPr id="109" name="">
            <a:extLst xmlns:a="http://schemas.openxmlformats.org/drawingml/2006/main">
              <a:ext uri="{FF2B5EF4-FFF2-40B4-BE49-F238E27FC236}">
                <a16:creationId xmlns:a16="http://schemas.microsoft.com/office/drawing/2014/main" id="{2865A62A-4DDA-40FB-8B4A-E5772A5EA9A5}"/>
              </a:ext>
            </a:extLst>
          </p:cNvPr>
          <p:cNvSpPr>
            <a:spLocks xmlns:a="http://schemas.openxmlformats.org/drawingml/2006/main" noGrp="1"/>
          </p:cNvSpPr>
          <p:nvPr/>
        </p:nvSpPr>
        <p:spPr>
          <a:xfrm xmlns:a="http://schemas.openxmlformats.org/drawingml/2006/main">
            <a:off x="9334500" y="52482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64.2%</a:t>
            </a:r>
          </a:p>
        </p:txBody>
      </p:sp>
      <p:sp>
        <p:nvSpPr>
          <p:cNvPr id="110" name="">
            <a:extLst xmlns:a="http://schemas.openxmlformats.org/drawingml/2006/main">
              <a:ext uri="{FF2B5EF4-FFF2-40B4-BE49-F238E27FC236}">
                <a16:creationId xmlns:a16="http://schemas.microsoft.com/office/drawing/2014/main" id="{50A59F7D-5BC3-4AD6-99FE-01B41A283D42}"/>
              </a:ext>
            </a:extLst>
          </p:cNvPr>
          <p:cNvSpPr>
            <a:spLocks xmlns:a="http://schemas.openxmlformats.org/drawingml/2006/main" noGrp="1"/>
          </p:cNvSpPr>
          <p:nvPr/>
        </p:nvSpPr>
        <p:spPr>
          <a:xfrm xmlns:a="http://schemas.openxmlformats.org/drawingml/2006/main">
            <a:off x="685800" y="55530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Current + examples</a:t>
            </a:r>
          </a:p>
        </p:txBody>
      </p:sp>
      <p:sp>
        <p:nvSpPr>
          <p:cNvPr id="111" name="">
            <a:extLst xmlns:a="http://schemas.openxmlformats.org/drawingml/2006/main">
              <a:ext uri="{FF2B5EF4-FFF2-40B4-BE49-F238E27FC236}">
                <a16:creationId xmlns:a16="http://schemas.microsoft.com/office/drawing/2014/main" id="{0544435C-36E1-4826-B302-E037D31F279B}"/>
              </a:ext>
            </a:extLst>
          </p:cNvPr>
          <p:cNvSpPr>
            <a:spLocks xmlns:a="http://schemas.openxmlformats.org/drawingml/2006/main" noGrp="1"/>
          </p:cNvSpPr>
          <p:nvPr/>
        </p:nvSpPr>
        <p:spPr>
          <a:xfrm xmlns:a="http://schemas.openxmlformats.org/drawingml/2006/main">
            <a:off x="3143250" y="5553075"/>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5.2</a:t>
            </a:r>
          </a:p>
        </p:txBody>
      </p:sp>
      <p:sp>
        <p:nvSpPr>
          <p:cNvPr id="112" name="">
            <a:extLst xmlns:a="http://schemas.openxmlformats.org/drawingml/2006/main">
              <a:ext uri="{FF2B5EF4-FFF2-40B4-BE49-F238E27FC236}">
                <a16:creationId xmlns:a16="http://schemas.microsoft.com/office/drawing/2014/main" id="{0AD88282-C4F4-417B-842F-91C6896742E1}"/>
              </a:ext>
            </a:extLst>
          </p:cNvPr>
          <p:cNvSpPr>
            <a:spLocks xmlns:a="http://schemas.openxmlformats.org/drawingml/2006/main" noGrp="1"/>
          </p:cNvSpPr>
          <p:nvPr/>
        </p:nvSpPr>
        <p:spPr>
          <a:xfrm xmlns:a="http://schemas.openxmlformats.org/drawingml/2006/main">
            <a:off x="4095750" y="5553075"/>
            <a:ext cx="1381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Normalized</a:t>
            </a:r>
          </a:p>
        </p:txBody>
      </p:sp>
      <p:sp>
        <p:nvSpPr>
          <p:cNvPr id="113" name="">
            <a:extLst xmlns:a="http://schemas.openxmlformats.org/drawingml/2006/main">
              <a:ext uri="{FF2B5EF4-FFF2-40B4-BE49-F238E27FC236}">
                <a16:creationId xmlns:a16="http://schemas.microsoft.com/office/drawing/2014/main" id="{A71777E7-CAA4-4D30-97D0-9A4021916FEF}"/>
              </a:ext>
            </a:extLst>
          </p:cNvPr>
          <p:cNvSpPr>
            <a:spLocks xmlns:a="http://schemas.openxmlformats.org/drawingml/2006/main" noGrp="1"/>
          </p:cNvSpPr>
          <p:nvPr/>
        </p:nvSpPr>
        <p:spPr>
          <a:xfrm xmlns:a="http://schemas.openxmlformats.org/drawingml/2006/main">
            <a:off x="5572125" y="55530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1,696</a:t>
            </a:r>
          </a:p>
        </p:txBody>
      </p:sp>
      <p:sp>
        <p:nvSpPr>
          <p:cNvPr id="114" name="">
            <a:extLst xmlns:a="http://schemas.openxmlformats.org/drawingml/2006/main">
              <a:ext uri="{FF2B5EF4-FFF2-40B4-BE49-F238E27FC236}">
                <a16:creationId xmlns:a16="http://schemas.microsoft.com/office/drawing/2014/main" id="{D847E315-0F3D-4407-A6EE-A93DD1D2091E}"/>
              </a:ext>
            </a:extLst>
          </p:cNvPr>
          <p:cNvSpPr>
            <a:spLocks xmlns:a="http://schemas.openxmlformats.org/drawingml/2006/main" noGrp="1"/>
          </p:cNvSpPr>
          <p:nvPr/>
        </p:nvSpPr>
        <p:spPr>
          <a:xfrm xmlns:a="http://schemas.openxmlformats.org/drawingml/2006/main">
            <a:off x="7096125" y="55530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87A76"/>
                </a:solidFill>
              </a:defRPr>
            </a:pPr>
            <a:r>
              <a:rPr sz="825" b="1" i="0">
                <a:solidFill>
                  <a:srgbClr val="087A76"/>
                </a:solidFill>
              </a:rPr>
              <a:t>37.4%</a:t>
            </a:r>
          </a:p>
        </p:txBody>
      </p:sp>
      <p:sp>
        <p:nvSpPr>
          <p:cNvPr id="115" name="">
            <a:extLst xmlns:a="http://schemas.openxmlformats.org/drawingml/2006/main">
              <a:ext uri="{FF2B5EF4-FFF2-40B4-BE49-F238E27FC236}">
                <a16:creationId xmlns:a16="http://schemas.microsoft.com/office/drawing/2014/main" id="{899DCC14-C0DD-4A29-9E41-7710F1F03F29}"/>
              </a:ext>
            </a:extLst>
          </p:cNvPr>
          <p:cNvSpPr>
            <a:spLocks xmlns:a="http://schemas.openxmlformats.org/drawingml/2006/main" noGrp="1"/>
          </p:cNvSpPr>
          <p:nvPr/>
        </p:nvSpPr>
        <p:spPr>
          <a:xfrm xmlns:a="http://schemas.openxmlformats.org/drawingml/2006/main">
            <a:off x="7810500" y="5553075"/>
            <a:ext cx="61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32.1%</a:t>
            </a:r>
          </a:p>
        </p:txBody>
      </p:sp>
      <p:sp>
        <p:nvSpPr>
          <p:cNvPr id="116" name="">
            <a:extLst xmlns:a="http://schemas.openxmlformats.org/drawingml/2006/main">
              <a:ext uri="{FF2B5EF4-FFF2-40B4-BE49-F238E27FC236}">
                <a16:creationId xmlns:a16="http://schemas.microsoft.com/office/drawing/2014/main" id="{66B38C13-29B1-4355-A73E-BCFDDC947D22}"/>
              </a:ext>
            </a:extLst>
          </p:cNvPr>
          <p:cNvSpPr>
            <a:spLocks xmlns:a="http://schemas.openxmlformats.org/drawingml/2006/main" noGrp="1"/>
          </p:cNvSpPr>
          <p:nvPr/>
        </p:nvSpPr>
        <p:spPr>
          <a:xfrm xmlns:a="http://schemas.openxmlformats.org/drawingml/2006/main">
            <a:off x="8477250" y="5553075"/>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30.5%</a:t>
            </a:r>
          </a:p>
        </p:txBody>
      </p:sp>
      <p:sp>
        <p:nvSpPr>
          <p:cNvPr id="117" name="">
            <a:extLst xmlns:a="http://schemas.openxmlformats.org/drawingml/2006/main">
              <a:ext uri="{FF2B5EF4-FFF2-40B4-BE49-F238E27FC236}">
                <a16:creationId xmlns:a16="http://schemas.microsoft.com/office/drawing/2014/main" id="{940B9E13-3E1F-42E3-94EB-4372136624A0}"/>
              </a:ext>
            </a:extLst>
          </p:cNvPr>
          <p:cNvSpPr>
            <a:spLocks xmlns:a="http://schemas.openxmlformats.org/drawingml/2006/main" noGrp="1"/>
          </p:cNvSpPr>
          <p:nvPr/>
        </p:nvSpPr>
        <p:spPr>
          <a:xfrm xmlns:a="http://schemas.openxmlformats.org/drawingml/2006/main">
            <a:off x="9334500" y="55530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132238"/>
                </a:solidFill>
              </a:defRPr>
            </a:pPr>
            <a:r>
              <a:rPr sz="825" b="0" i="0">
                <a:solidFill>
                  <a:srgbClr val="132238"/>
                </a:solidFill>
              </a:rPr>
              <a:t>62.6%</a:t>
            </a:r>
          </a:p>
        </p:txBody>
      </p:sp>
    </p:spTree>
    <p:extLst>
      <p:ext uri="{BB962C8B-B14F-4D97-AF65-F5344CB8AC3E}">
        <p14:creationId xmlns:p14="http://schemas.microsoft.com/office/powerpoint/2010/main" val="1817174992"/>
      </p:ext>
    </p:extLst>
  </p:cSld>
</p:sld>
</file>

<file path=ppt/slides/slide2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9D016E85-4E30-472F-8E2C-6F88A419B82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26A08DFE-2D95-4325-995E-07E4D05E77E4}"/>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APPENDIX A2 | ORIGINAL-TASK DISTRIBUTIONS</a:t>
            </a:r>
          </a:p>
        </p:txBody>
      </p:sp>
      <p:sp>
        <p:nvSpPr>
          <p:cNvPr id="3" name="">
            <a:extLst xmlns:a="http://schemas.openxmlformats.org/drawingml/2006/main">
              <a:ext uri="{FF2B5EF4-FFF2-40B4-BE49-F238E27FC236}">
                <a16:creationId xmlns:a16="http://schemas.microsoft.com/office/drawing/2014/main" id="{2C13FAA1-F2D4-452F-9710-997171AD47A5}"/>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Full three-class distributions for the six original-task methods</a:t>
            </a:r>
          </a:p>
        </p:txBody>
      </p:sp>
      <p:sp>
        <p:nvSpPr>
          <p:cNvPr id="4" name="">
            <a:extLst xmlns:a="http://schemas.openxmlformats.org/drawingml/2006/main">
              <a:ext uri="{FF2B5EF4-FFF2-40B4-BE49-F238E27FC236}">
                <a16:creationId xmlns:a16="http://schemas.microsoft.com/office/drawing/2014/main" id="{79BCEB3C-56ED-4FD2-9507-ED24F0C8F6D6}"/>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E0, E1 and E23 percentages sum to 100% in each row.</a:t>
            </a:r>
          </a:p>
        </p:txBody>
      </p:sp>
      <p:sp>
        <p:nvSpPr>
          <p:cNvPr id="5" name="">
            <a:extLst xmlns:a="http://schemas.openxmlformats.org/drawingml/2006/main">
              <a:ext uri="{FF2B5EF4-FFF2-40B4-BE49-F238E27FC236}">
                <a16:creationId xmlns:a16="http://schemas.microsoft.com/office/drawing/2014/main" id="{D52DAFE1-B5DA-4280-8A41-7FC550955733}"/>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5B1E1F8A-B139-4E9B-BCBB-CDF0B41B5D90}"/>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3FCC19E7-6F5B-46E3-9BB2-4E084F4EE86C}"/>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21</a:t>
            </a:r>
          </a:p>
        </p:txBody>
      </p:sp>
      <p:sp>
        <p:nvSpPr>
          <p:cNvPr id="8" name="">
            <a:extLst xmlns:a="http://schemas.openxmlformats.org/drawingml/2006/main">
              <a:ext uri="{FF2B5EF4-FFF2-40B4-BE49-F238E27FC236}">
                <a16:creationId xmlns:a16="http://schemas.microsoft.com/office/drawing/2014/main" id="{339F0548-C7C2-4787-BBF1-3A2932131939}"/>
              </a:ext>
            </a:extLst>
          </p:cNvPr>
          <p:cNvSpPr>
            <a:spLocks xmlns:a="http://schemas.openxmlformats.org/drawingml/2006/main" noGrp="1"/>
          </p:cNvSpPr>
          <p:nvPr/>
        </p:nvSpPr>
        <p:spPr>
          <a:xfrm xmlns:a="http://schemas.openxmlformats.org/drawingml/2006/main">
            <a:off x="4572000" y="1971675"/>
            <a:ext cx="114300" cy="1143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9" name="">
            <a:extLst xmlns:a="http://schemas.openxmlformats.org/drawingml/2006/main">
              <a:ext uri="{FF2B5EF4-FFF2-40B4-BE49-F238E27FC236}">
                <a16:creationId xmlns:a16="http://schemas.microsoft.com/office/drawing/2014/main" id="{267F83AF-4F11-4F5E-84B6-4CDCDE5EC5A5}"/>
              </a:ext>
            </a:extLst>
          </p:cNvPr>
          <p:cNvSpPr>
            <a:spLocks xmlns:a="http://schemas.openxmlformats.org/drawingml/2006/main" noGrp="1"/>
          </p:cNvSpPr>
          <p:nvPr/>
        </p:nvSpPr>
        <p:spPr>
          <a:xfrm xmlns:a="http://schemas.openxmlformats.org/drawingml/2006/main">
            <a:off x="4743450" y="19431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F6E7B"/>
                </a:solidFill>
              </a:defRPr>
            </a:pPr>
            <a:r>
              <a:rPr sz="900" b="1" i="0">
                <a:solidFill>
                  <a:srgbClr val="5F6E7B"/>
                </a:solidFill>
              </a:rPr>
              <a:t>E0</a:t>
            </a:r>
          </a:p>
        </p:txBody>
      </p:sp>
      <p:sp>
        <p:nvSpPr>
          <p:cNvPr id="10" name="">
            <a:extLst xmlns:a="http://schemas.openxmlformats.org/drawingml/2006/main">
              <a:ext uri="{FF2B5EF4-FFF2-40B4-BE49-F238E27FC236}">
                <a16:creationId xmlns:a16="http://schemas.microsoft.com/office/drawing/2014/main" id="{4A89FAE8-A983-45C6-822D-26032745B782}"/>
              </a:ext>
            </a:extLst>
          </p:cNvPr>
          <p:cNvSpPr>
            <a:spLocks xmlns:a="http://schemas.openxmlformats.org/drawingml/2006/main" noGrp="1"/>
          </p:cNvSpPr>
          <p:nvPr/>
        </p:nvSpPr>
        <p:spPr>
          <a:xfrm xmlns:a="http://schemas.openxmlformats.org/drawingml/2006/main">
            <a:off x="5715000" y="1971675"/>
            <a:ext cx="114300" cy="1143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11" name="">
            <a:extLst xmlns:a="http://schemas.openxmlformats.org/drawingml/2006/main">
              <a:ext uri="{FF2B5EF4-FFF2-40B4-BE49-F238E27FC236}">
                <a16:creationId xmlns:a16="http://schemas.microsoft.com/office/drawing/2014/main" id="{EFD08870-2C48-46C6-817C-B6362D474343}"/>
              </a:ext>
            </a:extLst>
          </p:cNvPr>
          <p:cNvSpPr>
            <a:spLocks xmlns:a="http://schemas.openxmlformats.org/drawingml/2006/main" noGrp="1"/>
          </p:cNvSpPr>
          <p:nvPr/>
        </p:nvSpPr>
        <p:spPr>
          <a:xfrm xmlns:a="http://schemas.openxmlformats.org/drawingml/2006/main">
            <a:off x="5886450" y="19431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F6E7B"/>
                </a:solidFill>
              </a:defRPr>
            </a:pPr>
            <a:r>
              <a:rPr sz="900" b="1" i="0">
                <a:solidFill>
                  <a:srgbClr val="5F6E7B"/>
                </a:solidFill>
              </a:rPr>
              <a:t>E1</a:t>
            </a:r>
          </a:p>
        </p:txBody>
      </p:sp>
      <p:sp>
        <p:nvSpPr>
          <p:cNvPr id="12" name="">
            <a:extLst xmlns:a="http://schemas.openxmlformats.org/drawingml/2006/main">
              <a:ext uri="{FF2B5EF4-FFF2-40B4-BE49-F238E27FC236}">
                <a16:creationId xmlns:a16="http://schemas.microsoft.com/office/drawing/2014/main" id="{3FBA271D-76BC-45BF-A851-048F4729ED6F}"/>
              </a:ext>
            </a:extLst>
          </p:cNvPr>
          <p:cNvSpPr>
            <a:spLocks xmlns:a="http://schemas.openxmlformats.org/drawingml/2006/main" noGrp="1"/>
          </p:cNvSpPr>
          <p:nvPr/>
        </p:nvSpPr>
        <p:spPr>
          <a:xfrm xmlns:a="http://schemas.openxmlformats.org/drawingml/2006/main">
            <a:off x="6858000" y="1971675"/>
            <a:ext cx="114300" cy="1143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13" name="">
            <a:extLst xmlns:a="http://schemas.openxmlformats.org/drawingml/2006/main">
              <a:ext uri="{FF2B5EF4-FFF2-40B4-BE49-F238E27FC236}">
                <a16:creationId xmlns:a16="http://schemas.microsoft.com/office/drawing/2014/main" id="{EFD49E9B-2E9A-41D0-8198-87CBCC4C5308}"/>
              </a:ext>
            </a:extLst>
          </p:cNvPr>
          <p:cNvSpPr>
            <a:spLocks xmlns:a="http://schemas.openxmlformats.org/drawingml/2006/main" noGrp="1"/>
          </p:cNvSpPr>
          <p:nvPr/>
        </p:nvSpPr>
        <p:spPr>
          <a:xfrm xmlns:a="http://schemas.openxmlformats.org/drawingml/2006/main">
            <a:off x="7029450" y="19431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F6E7B"/>
                </a:solidFill>
              </a:defRPr>
            </a:pPr>
            <a:r>
              <a:rPr sz="900" b="1" i="0">
                <a:solidFill>
                  <a:srgbClr val="5F6E7B"/>
                </a:solidFill>
              </a:rPr>
              <a:t>E23</a:t>
            </a:r>
          </a:p>
        </p:txBody>
      </p:sp>
      <p:sp>
        <p:nvSpPr>
          <p:cNvPr id="14" name="">
            <a:extLst xmlns:a="http://schemas.openxmlformats.org/drawingml/2006/main">
              <a:ext uri="{FF2B5EF4-FFF2-40B4-BE49-F238E27FC236}">
                <a16:creationId xmlns:a16="http://schemas.microsoft.com/office/drawing/2014/main" id="{E2B41285-CB64-43E3-803D-FE869F5FB7D4}"/>
              </a:ext>
            </a:extLst>
          </p:cNvPr>
          <p:cNvSpPr>
            <a:spLocks xmlns:a="http://schemas.openxmlformats.org/drawingml/2006/main" noGrp="1"/>
          </p:cNvSpPr>
          <p:nvPr/>
        </p:nvSpPr>
        <p:spPr>
          <a:xfrm xmlns:a="http://schemas.openxmlformats.org/drawingml/2006/main">
            <a:off x="685800" y="24384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32238"/>
                </a:solidFill>
              </a:defRPr>
            </a:pPr>
            <a:r>
              <a:rPr sz="1050" b="1" i="0">
                <a:solidFill>
                  <a:srgbClr val="132238"/>
                </a:solidFill>
              </a:rPr>
              <a:t>Historical + GPT-4o</a:t>
            </a:r>
          </a:p>
        </p:txBody>
      </p:sp>
      <p:sp>
        <p:nvSpPr>
          <p:cNvPr id="15" name="">
            <a:extLst xmlns:a="http://schemas.openxmlformats.org/drawingml/2006/main">
              <a:ext uri="{FF2B5EF4-FFF2-40B4-BE49-F238E27FC236}">
                <a16:creationId xmlns:a16="http://schemas.microsoft.com/office/drawing/2014/main" id="{B2CF5E69-1686-474A-819F-4FC5ABD2E9E5}"/>
              </a:ext>
            </a:extLst>
          </p:cNvPr>
          <p:cNvSpPr>
            <a:spLocks xmlns:a="http://schemas.openxmlformats.org/drawingml/2006/main" noGrp="1"/>
          </p:cNvSpPr>
          <p:nvPr/>
        </p:nvSpPr>
        <p:spPr>
          <a:xfrm xmlns:a="http://schemas.openxmlformats.org/drawingml/2006/main">
            <a:off x="3810000" y="2343150"/>
            <a:ext cx="4767263" cy="2667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16" name="">
            <a:extLst xmlns:a="http://schemas.openxmlformats.org/drawingml/2006/main">
              <a:ext uri="{FF2B5EF4-FFF2-40B4-BE49-F238E27FC236}">
                <a16:creationId xmlns:a16="http://schemas.microsoft.com/office/drawing/2014/main" id="{77B37EB9-9957-4B86-8A63-0FD2755D9757}"/>
              </a:ext>
            </a:extLst>
          </p:cNvPr>
          <p:cNvSpPr>
            <a:spLocks xmlns:a="http://schemas.openxmlformats.org/drawingml/2006/main" noGrp="1"/>
          </p:cNvSpPr>
          <p:nvPr/>
        </p:nvSpPr>
        <p:spPr>
          <a:xfrm xmlns:a="http://schemas.openxmlformats.org/drawingml/2006/main">
            <a:off x="8577263" y="2343150"/>
            <a:ext cx="780098" cy="2667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17" name="">
            <a:extLst xmlns:a="http://schemas.openxmlformats.org/drawingml/2006/main">
              <a:ext uri="{FF2B5EF4-FFF2-40B4-BE49-F238E27FC236}">
                <a16:creationId xmlns:a16="http://schemas.microsoft.com/office/drawing/2014/main" id="{30061970-BA6A-408E-8A08-45AD0B19DB6E}"/>
              </a:ext>
            </a:extLst>
          </p:cNvPr>
          <p:cNvSpPr>
            <a:spLocks xmlns:a="http://schemas.openxmlformats.org/drawingml/2006/main" noGrp="1"/>
          </p:cNvSpPr>
          <p:nvPr/>
        </p:nvSpPr>
        <p:spPr>
          <a:xfrm xmlns:a="http://schemas.openxmlformats.org/drawingml/2006/main">
            <a:off x="9357360" y="2343150"/>
            <a:ext cx="643890" cy="2667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18" name="">
            <a:extLst xmlns:a="http://schemas.openxmlformats.org/drawingml/2006/main">
              <a:ext uri="{FF2B5EF4-FFF2-40B4-BE49-F238E27FC236}">
                <a16:creationId xmlns:a16="http://schemas.microsoft.com/office/drawing/2014/main" id="{A59F6261-4ADE-4D17-8F9F-026828A6F7A8}"/>
              </a:ext>
            </a:extLst>
          </p:cNvPr>
          <p:cNvSpPr>
            <a:spLocks xmlns:a="http://schemas.openxmlformats.org/drawingml/2006/main" noGrp="1"/>
          </p:cNvSpPr>
          <p:nvPr/>
        </p:nvSpPr>
        <p:spPr>
          <a:xfrm xmlns:a="http://schemas.openxmlformats.org/drawingml/2006/main">
            <a:off x="10191750" y="23812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C75850"/>
                </a:solidFill>
              </a:defRPr>
            </a:pPr>
            <a:r>
              <a:rPr sz="900" b="1" i="0">
                <a:solidFill>
                  <a:srgbClr val="C75850"/>
                </a:solidFill>
              </a:rPr>
              <a:t>23.0%</a:t>
            </a:r>
          </a:p>
        </p:txBody>
      </p:sp>
      <p:sp>
        <p:nvSpPr>
          <p:cNvPr id="19" name="">
            <a:extLst xmlns:a="http://schemas.openxmlformats.org/drawingml/2006/main">
              <a:ext uri="{FF2B5EF4-FFF2-40B4-BE49-F238E27FC236}">
                <a16:creationId xmlns:a16="http://schemas.microsoft.com/office/drawing/2014/main" id="{FCCA6446-9D2D-4ABB-955F-A5F0D2CEAC8F}"/>
              </a:ext>
            </a:extLst>
          </p:cNvPr>
          <p:cNvSpPr>
            <a:spLocks xmlns:a="http://schemas.openxmlformats.org/drawingml/2006/main" noGrp="1"/>
          </p:cNvSpPr>
          <p:nvPr/>
        </p:nvSpPr>
        <p:spPr>
          <a:xfrm xmlns:a="http://schemas.openxmlformats.org/drawingml/2006/main">
            <a:off x="685800" y="29527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32238"/>
                </a:solidFill>
              </a:defRPr>
            </a:pPr>
            <a:r>
              <a:rPr sz="1050" b="1" i="0">
                <a:solidFill>
                  <a:srgbClr val="132238"/>
                </a:solidFill>
              </a:rPr>
              <a:t>Historical + GPT-5.2</a:t>
            </a:r>
          </a:p>
        </p:txBody>
      </p:sp>
      <p:sp>
        <p:nvSpPr>
          <p:cNvPr id="20" name="">
            <a:extLst xmlns:a="http://schemas.openxmlformats.org/drawingml/2006/main">
              <a:ext uri="{FF2B5EF4-FFF2-40B4-BE49-F238E27FC236}">
                <a16:creationId xmlns:a16="http://schemas.microsoft.com/office/drawing/2014/main" id="{1539CFF4-061B-4611-A3CF-074819FE37CA}"/>
              </a:ext>
            </a:extLst>
          </p:cNvPr>
          <p:cNvSpPr>
            <a:spLocks xmlns:a="http://schemas.openxmlformats.org/drawingml/2006/main" noGrp="1"/>
          </p:cNvSpPr>
          <p:nvPr/>
        </p:nvSpPr>
        <p:spPr>
          <a:xfrm xmlns:a="http://schemas.openxmlformats.org/drawingml/2006/main">
            <a:off x="3810000" y="2857500"/>
            <a:ext cx="2383631" cy="2667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1" name="">
            <a:extLst xmlns:a="http://schemas.openxmlformats.org/drawingml/2006/main">
              <a:ext uri="{FF2B5EF4-FFF2-40B4-BE49-F238E27FC236}">
                <a16:creationId xmlns:a16="http://schemas.microsoft.com/office/drawing/2014/main" id="{2AF1202C-5E74-457B-AA8A-006B8A61C973}"/>
              </a:ext>
            </a:extLst>
          </p:cNvPr>
          <p:cNvSpPr>
            <a:spLocks xmlns:a="http://schemas.openxmlformats.org/drawingml/2006/main" noGrp="1"/>
          </p:cNvSpPr>
          <p:nvPr/>
        </p:nvSpPr>
        <p:spPr>
          <a:xfrm xmlns:a="http://schemas.openxmlformats.org/drawingml/2006/main">
            <a:off x="6193631" y="2857500"/>
            <a:ext cx="1343501" cy="2667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22" name="">
            <a:extLst xmlns:a="http://schemas.openxmlformats.org/drawingml/2006/main">
              <a:ext uri="{FF2B5EF4-FFF2-40B4-BE49-F238E27FC236}">
                <a16:creationId xmlns:a16="http://schemas.microsoft.com/office/drawing/2014/main" id="{E6124E7D-4377-467F-BAAD-9AC25B8F81E0}"/>
              </a:ext>
            </a:extLst>
          </p:cNvPr>
          <p:cNvSpPr>
            <a:spLocks xmlns:a="http://schemas.openxmlformats.org/drawingml/2006/main" noGrp="1"/>
          </p:cNvSpPr>
          <p:nvPr/>
        </p:nvSpPr>
        <p:spPr>
          <a:xfrm xmlns:a="http://schemas.openxmlformats.org/drawingml/2006/main">
            <a:off x="7537133" y="2857500"/>
            <a:ext cx="2464118" cy="2667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23" name="">
            <a:extLst xmlns:a="http://schemas.openxmlformats.org/drawingml/2006/main">
              <a:ext uri="{FF2B5EF4-FFF2-40B4-BE49-F238E27FC236}">
                <a16:creationId xmlns:a16="http://schemas.microsoft.com/office/drawing/2014/main" id="{426B42B6-A4D9-459F-BF5F-8BFAEB287022}"/>
              </a:ext>
            </a:extLst>
          </p:cNvPr>
          <p:cNvSpPr>
            <a:spLocks xmlns:a="http://schemas.openxmlformats.org/drawingml/2006/main" noGrp="1"/>
          </p:cNvSpPr>
          <p:nvPr/>
        </p:nvSpPr>
        <p:spPr>
          <a:xfrm xmlns:a="http://schemas.openxmlformats.org/drawingml/2006/main">
            <a:off x="10191750" y="28956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C75850"/>
                </a:solidFill>
              </a:defRPr>
            </a:pPr>
            <a:r>
              <a:rPr sz="900" b="1" i="0">
                <a:solidFill>
                  <a:srgbClr val="C75850"/>
                </a:solidFill>
              </a:rPr>
              <a:t>61.5%</a:t>
            </a:r>
          </a:p>
        </p:txBody>
      </p:sp>
      <p:sp>
        <p:nvSpPr>
          <p:cNvPr id="24" name="">
            <a:extLst xmlns:a="http://schemas.openxmlformats.org/drawingml/2006/main">
              <a:ext uri="{FF2B5EF4-FFF2-40B4-BE49-F238E27FC236}">
                <a16:creationId xmlns:a16="http://schemas.microsoft.com/office/drawing/2014/main" id="{71A36745-15AE-497D-9053-84D9163DC394}"/>
              </a:ext>
            </a:extLst>
          </p:cNvPr>
          <p:cNvSpPr>
            <a:spLocks xmlns:a="http://schemas.openxmlformats.org/drawingml/2006/main" noGrp="1"/>
          </p:cNvSpPr>
          <p:nvPr/>
        </p:nvSpPr>
        <p:spPr>
          <a:xfrm xmlns:a="http://schemas.openxmlformats.org/drawingml/2006/main">
            <a:off x="685800" y="34671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32238"/>
                </a:solidFill>
              </a:defRPr>
            </a:pPr>
            <a:r>
              <a:rPr sz="1050" b="1" i="0">
                <a:solidFill>
                  <a:srgbClr val="132238"/>
                </a:solidFill>
              </a:rPr>
              <a:t>Current POC + GPT-4o</a:t>
            </a:r>
          </a:p>
        </p:txBody>
      </p:sp>
      <p:sp>
        <p:nvSpPr>
          <p:cNvPr id="25" name="">
            <a:extLst xmlns:a="http://schemas.openxmlformats.org/drawingml/2006/main">
              <a:ext uri="{FF2B5EF4-FFF2-40B4-BE49-F238E27FC236}">
                <a16:creationId xmlns:a16="http://schemas.microsoft.com/office/drawing/2014/main" id="{F7EBD99E-F3E5-4971-AAAE-8C5ED4DECF99}"/>
              </a:ext>
            </a:extLst>
          </p:cNvPr>
          <p:cNvSpPr>
            <a:spLocks xmlns:a="http://schemas.openxmlformats.org/drawingml/2006/main" noGrp="1"/>
          </p:cNvSpPr>
          <p:nvPr/>
        </p:nvSpPr>
        <p:spPr>
          <a:xfrm xmlns:a="http://schemas.openxmlformats.org/drawingml/2006/main">
            <a:off x="3810000" y="3371850"/>
            <a:ext cx="2544604" cy="2667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6" name="">
            <a:extLst xmlns:a="http://schemas.openxmlformats.org/drawingml/2006/main">
              <a:ext uri="{FF2B5EF4-FFF2-40B4-BE49-F238E27FC236}">
                <a16:creationId xmlns:a16="http://schemas.microsoft.com/office/drawing/2014/main" id="{60E16DFA-3262-4EC1-BED0-DD0727541848}"/>
              </a:ext>
            </a:extLst>
          </p:cNvPr>
          <p:cNvSpPr>
            <a:spLocks xmlns:a="http://schemas.openxmlformats.org/drawingml/2006/main" noGrp="1"/>
          </p:cNvSpPr>
          <p:nvPr/>
        </p:nvSpPr>
        <p:spPr>
          <a:xfrm xmlns:a="http://schemas.openxmlformats.org/drawingml/2006/main">
            <a:off x="6354604" y="3371850"/>
            <a:ext cx="854393" cy="2667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27" name="">
            <a:extLst xmlns:a="http://schemas.openxmlformats.org/drawingml/2006/main">
              <a:ext uri="{FF2B5EF4-FFF2-40B4-BE49-F238E27FC236}">
                <a16:creationId xmlns:a16="http://schemas.microsoft.com/office/drawing/2014/main" id="{7DA07D66-812B-4EDD-BC69-C6785B0C000D}"/>
              </a:ext>
            </a:extLst>
          </p:cNvPr>
          <p:cNvSpPr>
            <a:spLocks xmlns:a="http://schemas.openxmlformats.org/drawingml/2006/main" noGrp="1"/>
          </p:cNvSpPr>
          <p:nvPr/>
        </p:nvSpPr>
        <p:spPr>
          <a:xfrm xmlns:a="http://schemas.openxmlformats.org/drawingml/2006/main">
            <a:off x="7208996" y="3371850"/>
            <a:ext cx="2792254" cy="2667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28" name="">
            <a:extLst xmlns:a="http://schemas.openxmlformats.org/drawingml/2006/main">
              <a:ext uri="{FF2B5EF4-FFF2-40B4-BE49-F238E27FC236}">
                <a16:creationId xmlns:a16="http://schemas.microsoft.com/office/drawing/2014/main" id="{94112A36-D269-47C8-B1D8-E35AAC72C86F}"/>
              </a:ext>
            </a:extLst>
          </p:cNvPr>
          <p:cNvSpPr>
            <a:spLocks xmlns:a="http://schemas.openxmlformats.org/drawingml/2006/main" noGrp="1"/>
          </p:cNvSpPr>
          <p:nvPr/>
        </p:nvSpPr>
        <p:spPr>
          <a:xfrm xmlns:a="http://schemas.openxmlformats.org/drawingml/2006/main">
            <a:off x="10191750" y="34099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C75850"/>
                </a:solidFill>
              </a:defRPr>
            </a:pPr>
            <a:r>
              <a:rPr sz="900" b="1" i="0">
                <a:solidFill>
                  <a:srgbClr val="C75850"/>
                </a:solidFill>
              </a:rPr>
              <a:t>58.9%</a:t>
            </a:r>
          </a:p>
        </p:txBody>
      </p:sp>
      <p:sp>
        <p:nvSpPr>
          <p:cNvPr id="29" name="">
            <a:extLst xmlns:a="http://schemas.openxmlformats.org/drawingml/2006/main">
              <a:ext uri="{FF2B5EF4-FFF2-40B4-BE49-F238E27FC236}">
                <a16:creationId xmlns:a16="http://schemas.microsoft.com/office/drawing/2014/main" id="{297BF388-89EF-4C06-88E8-D37790E4603D}"/>
              </a:ext>
            </a:extLst>
          </p:cNvPr>
          <p:cNvSpPr>
            <a:spLocks xmlns:a="http://schemas.openxmlformats.org/drawingml/2006/main" noGrp="1"/>
          </p:cNvSpPr>
          <p:nvPr/>
        </p:nvSpPr>
        <p:spPr>
          <a:xfrm xmlns:a="http://schemas.openxmlformats.org/drawingml/2006/main">
            <a:off x="685800" y="39814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32238"/>
                </a:solidFill>
              </a:defRPr>
            </a:pPr>
            <a:r>
              <a:rPr sz="1050" b="1" i="0">
                <a:solidFill>
                  <a:srgbClr val="132238"/>
                </a:solidFill>
              </a:rPr>
              <a:t>Current POC + GPT-5.2</a:t>
            </a:r>
          </a:p>
        </p:txBody>
      </p:sp>
      <p:sp>
        <p:nvSpPr>
          <p:cNvPr id="30" name="">
            <a:extLst xmlns:a="http://schemas.openxmlformats.org/drawingml/2006/main">
              <a:ext uri="{FF2B5EF4-FFF2-40B4-BE49-F238E27FC236}">
                <a16:creationId xmlns:a16="http://schemas.microsoft.com/office/drawing/2014/main" id="{87C7B9D7-329B-493A-94FA-962EC5ADD7C2}"/>
              </a:ext>
            </a:extLst>
          </p:cNvPr>
          <p:cNvSpPr>
            <a:spLocks xmlns:a="http://schemas.openxmlformats.org/drawingml/2006/main" noGrp="1"/>
          </p:cNvSpPr>
          <p:nvPr/>
        </p:nvSpPr>
        <p:spPr>
          <a:xfrm xmlns:a="http://schemas.openxmlformats.org/drawingml/2006/main">
            <a:off x="3810000" y="3886200"/>
            <a:ext cx="1975009" cy="2667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31" name="">
            <a:extLst xmlns:a="http://schemas.openxmlformats.org/drawingml/2006/main">
              <a:ext uri="{FF2B5EF4-FFF2-40B4-BE49-F238E27FC236}">
                <a16:creationId xmlns:a16="http://schemas.microsoft.com/office/drawing/2014/main" id="{C23BA64A-88FF-4335-AA47-BA93779D3033}"/>
              </a:ext>
            </a:extLst>
          </p:cNvPr>
          <p:cNvSpPr>
            <a:spLocks xmlns:a="http://schemas.openxmlformats.org/drawingml/2006/main" noGrp="1"/>
          </p:cNvSpPr>
          <p:nvPr/>
        </p:nvSpPr>
        <p:spPr>
          <a:xfrm xmlns:a="http://schemas.openxmlformats.org/drawingml/2006/main">
            <a:off x="5785009" y="3886200"/>
            <a:ext cx="1807845" cy="2667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32" name="">
            <a:extLst xmlns:a="http://schemas.openxmlformats.org/drawingml/2006/main">
              <a:ext uri="{FF2B5EF4-FFF2-40B4-BE49-F238E27FC236}">
                <a16:creationId xmlns:a16="http://schemas.microsoft.com/office/drawing/2014/main" id="{F1932B61-C24A-4F90-A5C7-1635B121C880}"/>
              </a:ext>
            </a:extLst>
          </p:cNvPr>
          <p:cNvSpPr>
            <a:spLocks xmlns:a="http://schemas.openxmlformats.org/drawingml/2006/main" noGrp="1"/>
          </p:cNvSpPr>
          <p:nvPr/>
        </p:nvSpPr>
        <p:spPr>
          <a:xfrm xmlns:a="http://schemas.openxmlformats.org/drawingml/2006/main">
            <a:off x="7592854" y="3886200"/>
            <a:ext cx="2408396" cy="2667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33" name="">
            <a:extLst xmlns:a="http://schemas.openxmlformats.org/drawingml/2006/main">
              <a:ext uri="{FF2B5EF4-FFF2-40B4-BE49-F238E27FC236}">
                <a16:creationId xmlns:a16="http://schemas.microsoft.com/office/drawing/2014/main" id="{1FEFD35D-B0DE-43C2-9D5D-E4CBBD070693}"/>
              </a:ext>
            </a:extLst>
          </p:cNvPr>
          <p:cNvSpPr>
            <a:spLocks xmlns:a="http://schemas.openxmlformats.org/drawingml/2006/main" noGrp="1"/>
          </p:cNvSpPr>
          <p:nvPr/>
        </p:nvSpPr>
        <p:spPr>
          <a:xfrm xmlns:a="http://schemas.openxmlformats.org/drawingml/2006/main">
            <a:off x="10191750" y="39243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C75850"/>
                </a:solidFill>
              </a:defRPr>
            </a:pPr>
            <a:r>
              <a:rPr sz="900" b="1" i="0">
                <a:solidFill>
                  <a:srgbClr val="C75850"/>
                </a:solidFill>
              </a:rPr>
              <a:t>68.1%</a:t>
            </a:r>
          </a:p>
        </p:txBody>
      </p:sp>
      <p:sp>
        <p:nvSpPr>
          <p:cNvPr id="34" name="">
            <a:extLst xmlns:a="http://schemas.openxmlformats.org/drawingml/2006/main">
              <a:ext uri="{FF2B5EF4-FFF2-40B4-BE49-F238E27FC236}">
                <a16:creationId xmlns:a16="http://schemas.microsoft.com/office/drawing/2014/main" id="{CC6B203A-4A1D-4B18-8881-9090A4A6B234}"/>
              </a:ext>
            </a:extLst>
          </p:cNvPr>
          <p:cNvSpPr>
            <a:spLocks xmlns:a="http://schemas.openxmlformats.org/drawingml/2006/main" noGrp="1"/>
          </p:cNvSpPr>
          <p:nvPr/>
        </p:nvSpPr>
        <p:spPr>
          <a:xfrm xmlns:a="http://schemas.openxmlformats.org/drawingml/2006/main">
            <a:off x="685800" y="44958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32238"/>
                </a:solidFill>
              </a:defRPr>
            </a:pPr>
            <a:r>
              <a:rPr sz="1050" b="1" i="0">
                <a:solidFill>
                  <a:srgbClr val="132238"/>
                </a:solidFill>
              </a:rPr>
              <a:t>Current + examples + GPT-4o</a:t>
            </a:r>
          </a:p>
        </p:txBody>
      </p:sp>
      <p:sp>
        <p:nvSpPr>
          <p:cNvPr id="35" name="">
            <a:extLst xmlns:a="http://schemas.openxmlformats.org/drawingml/2006/main">
              <a:ext uri="{FF2B5EF4-FFF2-40B4-BE49-F238E27FC236}">
                <a16:creationId xmlns:a16="http://schemas.microsoft.com/office/drawing/2014/main" id="{3E4C9AC3-B6C3-4BB0-80FD-EB1DE09BDBE2}"/>
              </a:ext>
            </a:extLst>
          </p:cNvPr>
          <p:cNvSpPr>
            <a:spLocks xmlns:a="http://schemas.openxmlformats.org/drawingml/2006/main" noGrp="1"/>
          </p:cNvSpPr>
          <p:nvPr/>
        </p:nvSpPr>
        <p:spPr>
          <a:xfrm xmlns:a="http://schemas.openxmlformats.org/drawingml/2006/main">
            <a:off x="3810000" y="4400550"/>
            <a:ext cx="3355658" cy="2667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36" name="">
            <a:extLst xmlns:a="http://schemas.openxmlformats.org/drawingml/2006/main">
              <a:ext uri="{FF2B5EF4-FFF2-40B4-BE49-F238E27FC236}">
                <a16:creationId xmlns:a16="http://schemas.microsoft.com/office/drawing/2014/main" id="{4C24F43D-8213-456B-9AE3-1EE7B1B8CC17}"/>
              </a:ext>
            </a:extLst>
          </p:cNvPr>
          <p:cNvSpPr>
            <a:spLocks xmlns:a="http://schemas.openxmlformats.org/drawingml/2006/main" noGrp="1"/>
          </p:cNvSpPr>
          <p:nvPr/>
        </p:nvSpPr>
        <p:spPr>
          <a:xfrm xmlns:a="http://schemas.openxmlformats.org/drawingml/2006/main">
            <a:off x="7165658" y="4400550"/>
            <a:ext cx="1033939" cy="2667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37" name="">
            <a:extLst xmlns:a="http://schemas.openxmlformats.org/drawingml/2006/main">
              <a:ext uri="{FF2B5EF4-FFF2-40B4-BE49-F238E27FC236}">
                <a16:creationId xmlns:a16="http://schemas.microsoft.com/office/drawing/2014/main" id="{718B08C9-D825-4001-A9E1-F4900841F500}"/>
              </a:ext>
            </a:extLst>
          </p:cNvPr>
          <p:cNvSpPr>
            <a:spLocks xmlns:a="http://schemas.openxmlformats.org/drawingml/2006/main" noGrp="1"/>
          </p:cNvSpPr>
          <p:nvPr/>
        </p:nvSpPr>
        <p:spPr>
          <a:xfrm xmlns:a="http://schemas.openxmlformats.org/drawingml/2006/main">
            <a:off x="8199596" y="4400550"/>
            <a:ext cx="1801654" cy="2667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38" name="">
            <a:extLst xmlns:a="http://schemas.openxmlformats.org/drawingml/2006/main">
              <a:ext uri="{FF2B5EF4-FFF2-40B4-BE49-F238E27FC236}">
                <a16:creationId xmlns:a16="http://schemas.microsoft.com/office/drawing/2014/main" id="{3AB477EB-66FA-47BB-BCB7-E135FFAC764E}"/>
              </a:ext>
            </a:extLst>
          </p:cNvPr>
          <p:cNvSpPr>
            <a:spLocks xmlns:a="http://schemas.openxmlformats.org/drawingml/2006/main" noGrp="1"/>
          </p:cNvSpPr>
          <p:nvPr/>
        </p:nvSpPr>
        <p:spPr>
          <a:xfrm xmlns:a="http://schemas.openxmlformats.org/drawingml/2006/main">
            <a:off x="10191750" y="44386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C75850"/>
                </a:solidFill>
              </a:defRPr>
            </a:pPr>
            <a:r>
              <a:rPr sz="900" b="1" i="0">
                <a:solidFill>
                  <a:srgbClr val="C75850"/>
                </a:solidFill>
              </a:rPr>
              <a:t>45.8%</a:t>
            </a:r>
          </a:p>
        </p:txBody>
      </p:sp>
      <p:sp>
        <p:nvSpPr>
          <p:cNvPr id="39" name="">
            <a:extLst xmlns:a="http://schemas.openxmlformats.org/drawingml/2006/main">
              <a:ext uri="{FF2B5EF4-FFF2-40B4-BE49-F238E27FC236}">
                <a16:creationId xmlns:a16="http://schemas.microsoft.com/office/drawing/2014/main" id="{D22F37C8-26B9-4C13-A049-EA5610E61B74}"/>
              </a:ext>
            </a:extLst>
          </p:cNvPr>
          <p:cNvSpPr>
            <a:spLocks xmlns:a="http://schemas.openxmlformats.org/drawingml/2006/main" noGrp="1"/>
          </p:cNvSpPr>
          <p:nvPr/>
        </p:nvSpPr>
        <p:spPr>
          <a:xfrm xmlns:a="http://schemas.openxmlformats.org/drawingml/2006/main">
            <a:off x="685800" y="50101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32238"/>
                </a:solidFill>
              </a:defRPr>
            </a:pPr>
            <a:r>
              <a:rPr sz="1050" b="1" i="0">
                <a:solidFill>
                  <a:srgbClr val="132238"/>
                </a:solidFill>
              </a:rPr>
              <a:t>Current + examples + GPT-5.2</a:t>
            </a:r>
          </a:p>
        </p:txBody>
      </p:sp>
      <p:sp>
        <p:nvSpPr>
          <p:cNvPr id="40" name="">
            <a:extLst xmlns:a="http://schemas.openxmlformats.org/drawingml/2006/main">
              <a:ext uri="{FF2B5EF4-FFF2-40B4-BE49-F238E27FC236}">
                <a16:creationId xmlns:a16="http://schemas.microsoft.com/office/drawing/2014/main" id="{248440D6-8E80-4660-8B7B-51D9B0AC997E}"/>
              </a:ext>
            </a:extLst>
          </p:cNvPr>
          <p:cNvSpPr>
            <a:spLocks xmlns:a="http://schemas.openxmlformats.org/drawingml/2006/main" noGrp="1"/>
          </p:cNvSpPr>
          <p:nvPr/>
        </p:nvSpPr>
        <p:spPr>
          <a:xfrm xmlns:a="http://schemas.openxmlformats.org/drawingml/2006/main">
            <a:off x="3810000" y="4914900"/>
            <a:ext cx="2216467" cy="2667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41" name="">
            <a:extLst xmlns:a="http://schemas.openxmlformats.org/drawingml/2006/main">
              <a:ext uri="{FF2B5EF4-FFF2-40B4-BE49-F238E27FC236}">
                <a16:creationId xmlns:a16="http://schemas.microsoft.com/office/drawing/2014/main" id="{07B1A32C-DD59-427F-B536-6623D14FB6F1}"/>
              </a:ext>
            </a:extLst>
          </p:cNvPr>
          <p:cNvSpPr>
            <a:spLocks xmlns:a="http://schemas.openxmlformats.org/drawingml/2006/main" noGrp="1"/>
          </p:cNvSpPr>
          <p:nvPr/>
        </p:nvSpPr>
        <p:spPr>
          <a:xfrm xmlns:a="http://schemas.openxmlformats.org/drawingml/2006/main">
            <a:off x="6026467" y="4914900"/>
            <a:ext cx="1925479" cy="2667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42" name="">
            <a:extLst xmlns:a="http://schemas.openxmlformats.org/drawingml/2006/main">
              <a:ext uri="{FF2B5EF4-FFF2-40B4-BE49-F238E27FC236}">
                <a16:creationId xmlns:a16="http://schemas.microsoft.com/office/drawing/2014/main" id="{38AF738D-BDB7-40E8-B328-A1F48A5E40ED}"/>
              </a:ext>
            </a:extLst>
          </p:cNvPr>
          <p:cNvSpPr>
            <a:spLocks xmlns:a="http://schemas.openxmlformats.org/drawingml/2006/main" noGrp="1"/>
          </p:cNvSpPr>
          <p:nvPr/>
        </p:nvSpPr>
        <p:spPr>
          <a:xfrm xmlns:a="http://schemas.openxmlformats.org/drawingml/2006/main">
            <a:off x="7951946" y="4914900"/>
            <a:ext cx="2049304" cy="2667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43" name="">
            <a:extLst xmlns:a="http://schemas.openxmlformats.org/drawingml/2006/main">
              <a:ext uri="{FF2B5EF4-FFF2-40B4-BE49-F238E27FC236}">
                <a16:creationId xmlns:a16="http://schemas.microsoft.com/office/drawing/2014/main" id="{21DF6FC7-43E2-4F4B-8C06-FCE2898F5AD4}"/>
              </a:ext>
            </a:extLst>
          </p:cNvPr>
          <p:cNvSpPr>
            <a:spLocks xmlns:a="http://schemas.openxmlformats.org/drawingml/2006/main" noGrp="1"/>
          </p:cNvSpPr>
          <p:nvPr/>
        </p:nvSpPr>
        <p:spPr>
          <a:xfrm xmlns:a="http://schemas.openxmlformats.org/drawingml/2006/main">
            <a:off x="10191750" y="49530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C75850"/>
                </a:solidFill>
              </a:defRPr>
            </a:pPr>
            <a:r>
              <a:rPr sz="900" b="1" i="0">
                <a:solidFill>
                  <a:srgbClr val="C75850"/>
                </a:solidFill>
              </a:rPr>
              <a:t>64.2%</a:t>
            </a:r>
          </a:p>
        </p:txBody>
      </p:sp>
      <p:sp>
        <p:nvSpPr>
          <p:cNvPr id="44" name="">
            <a:extLst xmlns:a="http://schemas.openxmlformats.org/drawingml/2006/main">
              <a:ext uri="{FF2B5EF4-FFF2-40B4-BE49-F238E27FC236}">
                <a16:creationId xmlns:a16="http://schemas.microsoft.com/office/drawing/2014/main" id="{85155747-0743-4A04-B197-64431C6E83A5}"/>
              </a:ext>
            </a:extLst>
          </p:cNvPr>
          <p:cNvSpPr>
            <a:spLocks xmlns:a="http://schemas.openxmlformats.org/drawingml/2006/main" noGrp="1"/>
          </p:cNvSpPr>
          <p:nvPr/>
        </p:nvSpPr>
        <p:spPr>
          <a:xfrm xmlns:a="http://schemas.openxmlformats.org/drawingml/2006/main">
            <a:off x="3810000" y="5657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5F6E7B"/>
                </a:solidFill>
              </a:defRPr>
            </a:pPr>
            <a:r>
              <a:rPr sz="900" b="0" i="0">
                <a:solidFill>
                  <a:srgbClr val="5F6E7B"/>
                </a:solidFill>
              </a:rPr>
              <a:t>Right-hand figure = AI-impacted share (all non-E0 labels).</a:t>
            </a:r>
          </a:p>
        </p:txBody>
      </p:sp>
    </p:spTree>
    <p:extLst>
      <p:ext uri="{BB962C8B-B14F-4D97-AF65-F5344CB8AC3E}">
        <p14:creationId xmlns:p14="http://schemas.microsoft.com/office/powerpoint/2010/main" val="230758631"/>
      </p:ext>
    </p:extLst>
  </p:cSld>
</p:sld>
</file>

<file path=ppt/slides/slide2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4FED54FC-B86D-42F2-8739-FDB7786D9AF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C276474F-6A52-44FA-9267-FB99E0E7A595}"/>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APPENDIX A3 | NORMALIZED/DECOMPOSED-TASK DISTRIBUTIONS</a:t>
            </a:r>
          </a:p>
        </p:txBody>
      </p:sp>
      <p:sp>
        <p:nvSpPr>
          <p:cNvPr id="3" name="">
            <a:extLst xmlns:a="http://schemas.openxmlformats.org/drawingml/2006/main">
              <a:ext uri="{FF2B5EF4-FFF2-40B4-BE49-F238E27FC236}">
                <a16:creationId xmlns:a16="http://schemas.microsoft.com/office/drawing/2014/main" id="{1AE1E958-5C02-4998-BE80-10962EE79485}"/>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Full three-class distributions for linked normalized/decomposed tasks</a:t>
            </a:r>
          </a:p>
        </p:txBody>
      </p:sp>
      <p:sp>
        <p:nvSpPr>
          <p:cNvPr id="4" name="">
            <a:extLst xmlns:a="http://schemas.openxmlformats.org/drawingml/2006/main">
              <a:ext uri="{FF2B5EF4-FFF2-40B4-BE49-F238E27FC236}">
                <a16:creationId xmlns:a16="http://schemas.microsoft.com/office/drawing/2014/main" id="{3815B200-B06E-410C-9FC8-E6E15A3954AF}"/>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These rows describe atomic tasks; they should not be treated as an alternative national parent-task statistic.</a:t>
            </a:r>
          </a:p>
        </p:txBody>
      </p:sp>
      <p:sp>
        <p:nvSpPr>
          <p:cNvPr id="5" name="">
            <a:extLst xmlns:a="http://schemas.openxmlformats.org/drawingml/2006/main">
              <a:ext uri="{FF2B5EF4-FFF2-40B4-BE49-F238E27FC236}">
                <a16:creationId xmlns:a16="http://schemas.microsoft.com/office/drawing/2014/main" id="{597F0BA3-B4B3-4A78-882E-CE45B820D452}"/>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0BC79C32-B491-49D8-B3E6-2CB8B5776029}"/>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EC517851-DE32-4DF6-8E9A-BDFA77566D98}"/>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22</a:t>
            </a:r>
          </a:p>
        </p:txBody>
      </p:sp>
      <p:sp>
        <p:nvSpPr>
          <p:cNvPr id="8" name="">
            <a:extLst xmlns:a="http://schemas.openxmlformats.org/drawingml/2006/main">
              <a:ext uri="{FF2B5EF4-FFF2-40B4-BE49-F238E27FC236}">
                <a16:creationId xmlns:a16="http://schemas.microsoft.com/office/drawing/2014/main" id="{EAF1F20A-1AFC-46E4-A944-A6EEC487DBD0}"/>
              </a:ext>
            </a:extLst>
          </p:cNvPr>
          <p:cNvSpPr>
            <a:spLocks xmlns:a="http://schemas.openxmlformats.org/drawingml/2006/main" noGrp="1"/>
          </p:cNvSpPr>
          <p:nvPr/>
        </p:nvSpPr>
        <p:spPr>
          <a:xfrm xmlns:a="http://schemas.openxmlformats.org/drawingml/2006/main">
            <a:off x="4572000" y="1971675"/>
            <a:ext cx="114300" cy="1143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9" name="">
            <a:extLst xmlns:a="http://schemas.openxmlformats.org/drawingml/2006/main">
              <a:ext uri="{FF2B5EF4-FFF2-40B4-BE49-F238E27FC236}">
                <a16:creationId xmlns:a16="http://schemas.microsoft.com/office/drawing/2014/main" id="{0006533C-05A6-4013-95F3-77687E729E37}"/>
              </a:ext>
            </a:extLst>
          </p:cNvPr>
          <p:cNvSpPr>
            <a:spLocks xmlns:a="http://schemas.openxmlformats.org/drawingml/2006/main" noGrp="1"/>
          </p:cNvSpPr>
          <p:nvPr/>
        </p:nvSpPr>
        <p:spPr>
          <a:xfrm xmlns:a="http://schemas.openxmlformats.org/drawingml/2006/main">
            <a:off x="4743450" y="19431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F6E7B"/>
                </a:solidFill>
              </a:defRPr>
            </a:pPr>
            <a:r>
              <a:rPr sz="900" b="1" i="0">
                <a:solidFill>
                  <a:srgbClr val="5F6E7B"/>
                </a:solidFill>
              </a:rPr>
              <a:t>E0</a:t>
            </a:r>
          </a:p>
        </p:txBody>
      </p:sp>
      <p:sp>
        <p:nvSpPr>
          <p:cNvPr id="10" name="">
            <a:extLst xmlns:a="http://schemas.openxmlformats.org/drawingml/2006/main">
              <a:ext uri="{FF2B5EF4-FFF2-40B4-BE49-F238E27FC236}">
                <a16:creationId xmlns:a16="http://schemas.microsoft.com/office/drawing/2014/main" id="{C7B5119B-283D-4F79-9349-A2ADAD28D3FC}"/>
              </a:ext>
            </a:extLst>
          </p:cNvPr>
          <p:cNvSpPr>
            <a:spLocks xmlns:a="http://schemas.openxmlformats.org/drawingml/2006/main" noGrp="1"/>
          </p:cNvSpPr>
          <p:nvPr/>
        </p:nvSpPr>
        <p:spPr>
          <a:xfrm xmlns:a="http://schemas.openxmlformats.org/drawingml/2006/main">
            <a:off x="5715000" y="1971675"/>
            <a:ext cx="114300" cy="1143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11" name="">
            <a:extLst xmlns:a="http://schemas.openxmlformats.org/drawingml/2006/main">
              <a:ext uri="{FF2B5EF4-FFF2-40B4-BE49-F238E27FC236}">
                <a16:creationId xmlns:a16="http://schemas.microsoft.com/office/drawing/2014/main" id="{F74A52ED-3715-4677-B6F6-CA91AF42B367}"/>
              </a:ext>
            </a:extLst>
          </p:cNvPr>
          <p:cNvSpPr>
            <a:spLocks xmlns:a="http://schemas.openxmlformats.org/drawingml/2006/main" noGrp="1"/>
          </p:cNvSpPr>
          <p:nvPr/>
        </p:nvSpPr>
        <p:spPr>
          <a:xfrm xmlns:a="http://schemas.openxmlformats.org/drawingml/2006/main">
            <a:off x="5886450" y="19431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F6E7B"/>
                </a:solidFill>
              </a:defRPr>
            </a:pPr>
            <a:r>
              <a:rPr sz="900" b="1" i="0">
                <a:solidFill>
                  <a:srgbClr val="5F6E7B"/>
                </a:solidFill>
              </a:rPr>
              <a:t>E1</a:t>
            </a:r>
          </a:p>
        </p:txBody>
      </p:sp>
      <p:sp>
        <p:nvSpPr>
          <p:cNvPr id="12" name="">
            <a:extLst xmlns:a="http://schemas.openxmlformats.org/drawingml/2006/main">
              <a:ext uri="{FF2B5EF4-FFF2-40B4-BE49-F238E27FC236}">
                <a16:creationId xmlns:a16="http://schemas.microsoft.com/office/drawing/2014/main" id="{A9DB5A96-33A6-4B65-9FC5-33A72338693B}"/>
              </a:ext>
            </a:extLst>
          </p:cNvPr>
          <p:cNvSpPr>
            <a:spLocks xmlns:a="http://schemas.openxmlformats.org/drawingml/2006/main" noGrp="1"/>
          </p:cNvSpPr>
          <p:nvPr/>
        </p:nvSpPr>
        <p:spPr>
          <a:xfrm xmlns:a="http://schemas.openxmlformats.org/drawingml/2006/main">
            <a:off x="6858000" y="1971675"/>
            <a:ext cx="114300" cy="1143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13" name="">
            <a:extLst xmlns:a="http://schemas.openxmlformats.org/drawingml/2006/main">
              <a:ext uri="{FF2B5EF4-FFF2-40B4-BE49-F238E27FC236}">
                <a16:creationId xmlns:a16="http://schemas.microsoft.com/office/drawing/2014/main" id="{344FF01A-244F-4B8F-855F-693291F0BD20}"/>
              </a:ext>
            </a:extLst>
          </p:cNvPr>
          <p:cNvSpPr>
            <a:spLocks xmlns:a="http://schemas.openxmlformats.org/drawingml/2006/main" noGrp="1"/>
          </p:cNvSpPr>
          <p:nvPr/>
        </p:nvSpPr>
        <p:spPr>
          <a:xfrm xmlns:a="http://schemas.openxmlformats.org/drawingml/2006/main">
            <a:off x="7029450" y="19431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F6E7B"/>
                </a:solidFill>
              </a:defRPr>
            </a:pPr>
            <a:r>
              <a:rPr sz="900" b="1" i="0">
                <a:solidFill>
                  <a:srgbClr val="5F6E7B"/>
                </a:solidFill>
              </a:rPr>
              <a:t>E23</a:t>
            </a:r>
          </a:p>
        </p:txBody>
      </p:sp>
      <p:sp>
        <p:nvSpPr>
          <p:cNvPr id="14" name="">
            <a:extLst xmlns:a="http://schemas.openxmlformats.org/drawingml/2006/main">
              <a:ext uri="{FF2B5EF4-FFF2-40B4-BE49-F238E27FC236}">
                <a16:creationId xmlns:a16="http://schemas.microsoft.com/office/drawing/2014/main" id="{958B22BC-164D-41DB-9617-3096988E36AA}"/>
              </a:ext>
            </a:extLst>
          </p:cNvPr>
          <p:cNvSpPr>
            <a:spLocks xmlns:a="http://schemas.openxmlformats.org/drawingml/2006/main" noGrp="1"/>
          </p:cNvSpPr>
          <p:nvPr/>
        </p:nvSpPr>
        <p:spPr>
          <a:xfrm xmlns:a="http://schemas.openxmlformats.org/drawingml/2006/main">
            <a:off x="685800" y="24384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32238"/>
                </a:solidFill>
              </a:defRPr>
            </a:pPr>
            <a:r>
              <a:rPr sz="1050" b="1" i="0">
                <a:solidFill>
                  <a:srgbClr val="132238"/>
                </a:solidFill>
              </a:rPr>
              <a:t>Historical + GPT-4o</a:t>
            </a:r>
          </a:p>
        </p:txBody>
      </p:sp>
      <p:sp>
        <p:nvSpPr>
          <p:cNvPr id="15" name="">
            <a:extLst xmlns:a="http://schemas.openxmlformats.org/drawingml/2006/main">
              <a:ext uri="{FF2B5EF4-FFF2-40B4-BE49-F238E27FC236}">
                <a16:creationId xmlns:a16="http://schemas.microsoft.com/office/drawing/2014/main" id="{58686191-8971-49DF-9AF1-76EAB52EFF10}"/>
              </a:ext>
            </a:extLst>
          </p:cNvPr>
          <p:cNvSpPr>
            <a:spLocks xmlns:a="http://schemas.openxmlformats.org/drawingml/2006/main" noGrp="1"/>
          </p:cNvSpPr>
          <p:nvPr/>
        </p:nvSpPr>
        <p:spPr>
          <a:xfrm xmlns:a="http://schemas.openxmlformats.org/drawingml/2006/main">
            <a:off x="3810000" y="2343150"/>
            <a:ext cx="4612481" cy="2667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16" name="">
            <a:extLst xmlns:a="http://schemas.openxmlformats.org/drawingml/2006/main">
              <a:ext uri="{FF2B5EF4-FFF2-40B4-BE49-F238E27FC236}">
                <a16:creationId xmlns:a16="http://schemas.microsoft.com/office/drawing/2014/main" id="{6C42B265-5694-453A-BCE3-ED5E069C881D}"/>
              </a:ext>
            </a:extLst>
          </p:cNvPr>
          <p:cNvSpPr>
            <a:spLocks xmlns:a="http://schemas.openxmlformats.org/drawingml/2006/main" noGrp="1"/>
          </p:cNvSpPr>
          <p:nvPr/>
        </p:nvSpPr>
        <p:spPr>
          <a:xfrm xmlns:a="http://schemas.openxmlformats.org/drawingml/2006/main">
            <a:off x="8422481" y="2343150"/>
            <a:ext cx="984409" cy="2667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17" name="">
            <a:extLst xmlns:a="http://schemas.openxmlformats.org/drawingml/2006/main">
              <a:ext uri="{FF2B5EF4-FFF2-40B4-BE49-F238E27FC236}">
                <a16:creationId xmlns:a16="http://schemas.microsoft.com/office/drawing/2014/main" id="{1B54FA7F-761B-4E65-9BA9-16A3BAF40E11}"/>
              </a:ext>
            </a:extLst>
          </p:cNvPr>
          <p:cNvSpPr>
            <a:spLocks xmlns:a="http://schemas.openxmlformats.org/drawingml/2006/main" noGrp="1"/>
          </p:cNvSpPr>
          <p:nvPr/>
        </p:nvSpPr>
        <p:spPr>
          <a:xfrm xmlns:a="http://schemas.openxmlformats.org/drawingml/2006/main">
            <a:off x="9406890" y="2343150"/>
            <a:ext cx="594360" cy="2667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18" name="">
            <a:extLst xmlns:a="http://schemas.openxmlformats.org/drawingml/2006/main">
              <a:ext uri="{FF2B5EF4-FFF2-40B4-BE49-F238E27FC236}">
                <a16:creationId xmlns:a16="http://schemas.microsoft.com/office/drawing/2014/main" id="{0701703B-D576-4263-A7BA-685B7B4FBE97}"/>
              </a:ext>
            </a:extLst>
          </p:cNvPr>
          <p:cNvSpPr>
            <a:spLocks xmlns:a="http://schemas.openxmlformats.org/drawingml/2006/main" noGrp="1"/>
          </p:cNvSpPr>
          <p:nvPr/>
        </p:nvSpPr>
        <p:spPr>
          <a:xfrm xmlns:a="http://schemas.openxmlformats.org/drawingml/2006/main">
            <a:off x="10191750" y="23812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C75850"/>
                </a:solidFill>
              </a:defRPr>
            </a:pPr>
            <a:r>
              <a:rPr sz="900" b="1" i="0">
                <a:solidFill>
                  <a:srgbClr val="C75850"/>
                </a:solidFill>
              </a:rPr>
              <a:t>25.5%</a:t>
            </a:r>
          </a:p>
        </p:txBody>
      </p:sp>
      <p:sp>
        <p:nvSpPr>
          <p:cNvPr id="19" name="">
            <a:extLst xmlns:a="http://schemas.openxmlformats.org/drawingml/2006/main">
              <a:ext uri="{FF2B5EF4-FFF2-40B4-BE49-F238E27FC236}">
                <a16:creationId xmlns:a16="http://schemas.microsoft.com/office/drawing/2014/main" id="{E6B5EA0F-7AEA-412C-8F10-67771EFAB6D6}"/>
              </a:ext>
            </a:extLst>
          </p:cNvPr>
          <p:cNvSpPr>
            <a:spLocks xmlns:a="http://schemas.openxmlformats.org/drawingml/2006/main" noGrp="1"/>
          </p:cNvSpPr>
          <p:nvPr/>
        </p:nvSpPr>
        <p:spPr>
          <a:xfrm xmlns:a="http://schemas.openxmlformats.org/drawingml/2006/main">
            <a:off x="685800" y="29527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32238"/>
                </a:solidFill>
              </a:defRPr>
            </a:pPr>
            <a:r>
              <a:rPr sz="1050" b="1" i="0">
                <a:solidFill>
                  <a:srgbClr val="132238"/>
                </a:solidFill>
              </a:rPr>
              <a:t>Historical + GPT-5.2</a:t>
            </a:r>
          </a:p>
        </p:txBody>
      </p:sp>
      <p:sp>
        <p:nvSpPr>
          <p:cNvPr id="20" name="">
            <a:extLst xmlns:a="http://schemas.openxmlformats.org/drawingml/2006/main">
              <a:ext uri="{FF2B5EF4-FFF2-40B4-BE49-F238E27FC236}">
                <a16:creationId xmlns:a16="http://schemas.microsoft.com/office/drawing/2014/main" id="{C075CAF0-DE01-43B9-88E8-1CD69F58B985}"/>
              </a:ext>
            </a:extLst>
          </p:cNvPr>
          <p:cNvSpPr>
            <a:spLocks xmlns:a="http://schemas.openxmlformats.org/drawingml/2006/main" noGrp="1"/>
          </p:cNvSpPr>
          <p:nvPr/>
        </p:nvSpPr>
        <p:spPr>
          <a:xfrm xmlns:a="http://schemas.openxmlformats.org/drawingml/2006/main">
            <a:off x="3810000" y="2857500"/>
            <a:ext cx="2303145" cy="2667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1" name="">
            <a:extLst xmlns:a="http://schemas.openxmlformats.org/drawingml/2006/main">
              <a:ext uri="{FF2B5EF4-FFF2-40B4-BE49-F238E27FC236}">
                <a16:creationId xmlns:a16="http://schemas.microsoft.com/office/drawing/2014/main" id="{7CCF415F-FB89-4056-B2F3-915A85537321}"/>
              </a:ext>
            </a:extLst>
          </p:cNvPr>
          <p:cNvSpPr>
            <a:spLocks xmlns:a="http://schemas.openxmlformats.org/drawingml/2006/main" noGrp="1"/>
          </p:cNvSpPr>
          <p:nvPr/>
        </p:nvSpPr>
        <p:spPr>
          <a:xfrm xmlns:a="http://schemas.openxmlformats.org/drawingml/2006/main">
            <a:off x="6113145" y="2857500"/>
            <a:ext cx="1560195" cy="2667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22" name="">
            <a:extLst xmlns:a="http://schemas.openxmlformats.org/drawingml/2006/main">
              <a:ext uri="{FF2B5EF4-FFF2-40B4-BE49-F238E27FC236}">
                <a16:creationId xmlns:a16="http://schemas.microsoft.com/office/drawing/2014/main" id="{E0FBFE5B-563D-44C1-96AE-3AC6747C79D7}"/>
              </a:ext>
            </a:extLst>
          </p:cNvPr>
          <p:cNvSpPr>
            <a:spLocks xmlns:a="http://schemas.openxmlformats.org/drawingml/2006/main" noGrp="1"/>
          </p:cNvSpPr>
          <p:nvPr/>
        </p:nvSpPr>
        <p:spPr>
          <a:xfrm xmlns:a="http://schemas.openxmlformats.org/drawingml/2006/main">
            <a:off x="7673340" y="2857500"/>
            <a:ext cx="2327910" cy="2667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23" name="">
            <a:extLst xmlns:a="http://schemas.openxmlformats.org/drawingml/2006/main">
              <a:ext uri="{FF2B5EF4-FFF2-40B4-BE49-F238E27FC236}">
                <a16:creationId xmlns:a16="http://schemas.microsoft.com/office/drawing/2014/main" id="{982AE7A2-95B6-4FE4-B127-23CBE504B948}"/>
              </a:ext>
            </a:extLst>
          </p:cNvPr>
          <p:cNvSpPr>
            <a:spLocks xmlns:a="http://schemas.openxmlformats.org/drawingml/2006/main" noGrp="1"/>
          </p:cNvSpPr>
          <p:nvPr/>
        </p:nvSpPr>
        <p:spPr>
          <a:xfrm xmlns:a="http://schemas.openxmlformats.org/drawingml/2006/main">
            <a:off x="10191750" y="28956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C75850"/>
                </a:solidFill>
              </a:defRPr>
            </a:pPr>
            <a:r>
              <a:rPr sz="900" b="1" i="0">
                <a:solidFill>
                  <a:srgbClr val="C75850"/>
                </a:solidFill>
              </a:rPr>
              <a:t>62.8%</a:t>
            </a:r>
          </a:p>
        </p:txBody>
      </p:sp>
      <p:sp>
        <p:nvSpPr>
          <p:cNvPr id="24" name="">
            <a:extLst xmlns:a="http://schemas.openxmlformats.org/drawingml/2006/main">
              <a:ext uri="{FF2B5EF4-FFF2-40B4-BE49-F238E27FC236}">
                <a16:creationId xmlns:a16="http://schemas.microsoft.com/office/drawing/2014/main" id="{6BB43066-208E-4F37-A348-12DBFD53940B}"/>
              </a:ext>
            </a:extLst>
          </p:cNvPr>
          <p:cNvSpPr>
            <a:spLocks xmlns:a="http://schemas.openxmlformats.org/drawingml/2006/main" noGrp="1"/>
          </p:cNvSpPr>
          <p:nvPr/>
        </p:nvSpPr>
        <p:spPr>
          <a:xfrm xmlns:a="http://schemas.openxmlformats.org/drawingml/2006/main">
            <a:off x="685800" y="34671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32238"/>
                </a:solidFill>
              </a:defRPr>
            </a:pPr>
            <a:r>
              <a:rPr sz="1050" b="1" i="0">
                <a:solidFill>
                  <a:srgbClr val="132238"/>
                </a:solidFill>
              </a:rPr>
              <a:t>Current POC + GPT-4o</a:t>
            </a:r>
          </a:p>
        </p:txBody>
      </p:sp>
      <p:sp>
        <p:nvSpPr>
          <p:cNvPr id="25" name="">
            <a:extLst xmlns:a="http://schemas.openxmlformats.org/drawingml/2006/main">
              <a:ext uri="{FF2B5EF4-FFF2-40B4-BE49-F238E27FC236}">
                <a16:creationId xmlns:a16="http://schemas.microsoft.com/office/drawing/2014/main" id="{8015F13B-BFBC-488B-A4BB-BD9DAF1B89BA}"/>
              </a:ext>
            </a:extLst>
          </p:cNvPr>
          <p:cNvSpPr>
            <a:spLocks xmlns:a="http://schemas.openxmlformats.org/drawingml/2006/main" noGrp="1"/>
          </p:cNvSpPr>
          <p:nvPr/>
        </p:nvSpPr>
        <p:spPr>
          <a:xfrm xmlns:a="http://schemas.openxmlformats.org/drawingml/2006/main">
            <a:off x="3810000" y="3371850"/>
            <a:ext cx="2587943" cy="2667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6" name="">
            <a:extLst xmlns:a="http://schemas.openxmlformats.org/drawingml/2006/main">
              <a:ext uri="{FF2B5EF4-FFF2-40B4-BE49-F238E27FC236}">
                <a16:creationId xmlns:a16="http://schemas.microsoft.com/office/drawing/2014/main" id="{6F4B4BE4-2D04-41AE-8919-7C3D83EEAA54}"/>
              </a:ext>
            </a:extLst>
          </p:cNvPr>
          <p:cNvSpPr>
            <a:spLocks xmlns:a="http://schemas.openxmlformats.org/drawingml/2006/main" noGrp="1"/>
          </p:cNvSpPr>
          <p:nvPr/>
        </p:nvSpPr>
        <p:spPr>
          <a:xfrm xmlns:a="http://schemas.openxmlformats.org/drawingml/2006/main">
            <a:off x="6397943" y="3371850"/>
            <a:ext cx="947261" cy="2667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27" name="">
            <a:extLst xmlns:a="http://schemas.openxmlformats.org/drawingml/2006/main">
              <a:ext uri="{FF2B5EF4-FFF2-40B4-BE49-F238E27FC236}">
                <a16:creationId xmlns:a16="http://schemas.microsoft.com/office/drawing/2014/main" id="{61DF8795-2FBF-4252-B202-CEBA5BC07E2E}"/>
              </a:ext>
            </a:extLst>
          </p:cNvPr>
          <p:cNvSpPr>
            <a:spLocks xmlns:a="http://schemas.openxmlformats.org/drawingml/2006/main" noGrp="1"/>
          </p:cNvSpPr>
          <p:nvPr/>
        </p:nvSpPr>
        <p:spPr>
          <a:xfrm xmlns:a="http://schemas.openxmlformats.org/drawingml/2006/main">
            <a:off x="7345204" y="3371850"/>
            <a:ext cx="2662238" cy="2667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28" name="">
            <a:extLst xmlns:a="http://schemas.openxmlformats.org/drawingml/2006/main">
              <a:ext uri="{FF2B5EF4-FFF2-40B4-BE49-F238E27FC236}">
                <a16:creationId xmlns:a16="http://schemas.microsoft.com/office/drawing/2014/main" id="{3FD2F28A-4418-4185-916F-CB68BF966122}"/>
              </a:ext>
            </a:extLst>
          </p:cNvPr>
          <p:cNvSpPr>
            <a:spLocks xmlns:a="http://schemas.openxmlformats.org/drawingml/2006/main" noGrp="1"/>
          </p:cNvSpPr>
          <p:nvPr/>
        </p:nvSpPr>
        <p:spPr>
          <a:xfrm xmlns:a="http://schemas.openxmlformats.org/drawingml/2006/main">
            <a:off x="10191750" y="34099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C75850"/>
                </a:solidFill>
              </a:defRPr>
            </a:pPr>
            <a:r>
              <a:rPr sz="900" b="1" i="0">
                <a:solidFill>
                  <a:srgbClr val="C75850"/>
                </a:solidFill>
              </a:rPr>
              <a:t>58.2%</a:t>
            </a:r>
          </a:p>
        </p:txBody>
      </p:sp>
      <p:sp>
        <p:nvSpPr>
          <p:cNvPr id="29" name="">
            <a:extLst xmlns:a="http://schemas.openxmlformats.org/drawingml/2006/main">
              <a:ext uri="{FF2B5EF4-FFF2-40B4-BE49-F238E27FC236}">
                <a16:creationId xmlns:a16="http://schemas.microsoft.com/office/drawing/2014/main" id="{716CE0BA-2206-4664-A92C-62D04E1EFF6E}"/>
              </a:ext>
            </a:extLst>
          </p:cNvPr>
          <p:cNvSpPr>
            <a:spLocks xmlns:a="http://schemas.openxmlformats.org/drawingml/2006/main" noGrp="1"/>
          </p:cNvSpPr>
          <p:nvPr/>
        </p:nvSpPr>
        <p:spPr>
          <a:xfrm xmlns:a="http://schemas.openxmlformats.org/drawingml/2006/main">
            <a:off x="685800" y="39814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32238"/>
                </a:solidFill>
              </a:defRPr>
            </a:pPr>
            <a:r>
              <a:rPr sz="1050" b="1" i="0">
                <a:solidFill>
                  <a:srgbClr val="132238"/>
                </a:solidFill>
              </a:rPr>
              <a:t>Current POC + GPT-5.2</a:t>
            </a:r>
          </a:p>
        </p:txBody>
      </p:sp>
      <p:sp>
        <p:nvSpPr>
          <p:cNvPr id="30" name="">
            <a:extLst xmlns:a="http://schemas.openxmlformats.org/drawingml/2006/main">
              <a:ext uri="{FF2B5EF4-FFF2-40B4-BE49-F238E27FC236}">
                <a16:creationId xmlns:a16="http://schemas.microsoft.com/office/drawing/2014/main" id="{B3F90B25-D9F6-431D-AE2D-1CA3DABD7ECB}"/>
              </a:ext>
            </a:extLst>
          </p:cNvPr>
          <p:cNvSpPr>
            <a:spLocks xmlns:a="http://schemas.openxmlformats.org/drawingml/2006/main" noGrp="1"/>
          </p:cNvSpPr>
          <p:nvPr/>
        </p:nvSpPr>
        <p:spPr>
          <a:xfrm xmlns:a="http://schemas.openxmlformats.org/drawingml/2006/main">
            <a:off x="3810000" y="3886200"/>
            <a:ext cx="2005965" cy="2667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31" name="">
            <a:extLst xmlns:a="http://schemas.openxmlformats.org/drawingml/2006/main">
              <a:ext uri="{FF2B5EF4-FFF2-40B4-BE49-F238E27FC236}">
                <a16:creationId xmlns:a16="http://schemas.microsoft.com/office/drawing/2014/main" id="{78AEE77B-C747-45B8-8EF7-C323177F7B57}"/>
              </a:ext>
            </a:extLst>
          </p:cNvPr>
          <p:cNvSpPr>
            <a:spLocks xmlns:a="http://schemas.openxmlformats.org/drawingml/2006/main" noGrp="1"/>
          </p:cNvSpPr>
          <p:nvPr/>
        </p:nvSpPr>
        <p:spPr>
          <a:xfrm xmlns:a="http://schemas.openxmlformats.org/drawingml/2006/main">
            <a:off x="5815965" y="3886200"/>
            <a:ext cx="1999774" cy="2667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32" name="">
            <a:extLst xmlns:a="http://schemas.openxmlformats.org/drawingml/2006/main">
              <a:ext uri="{FF2B5EF4-FFF2-40B4-BE49-F238E27FC236}">
                <a16:creationId xmlns:a16="http://schemas.microsoft.com/office/drawing/2014/main" id="{0479F2FA-C946-4A0F-B892-1C46A93ECE81}"/>
              </a:ext>
            </a:extLst>
          </p:cNvPr>
          <p:cNvSpPr>
            <a:spLocks xmlns:a="http://schemas.openxmlformats.org/drawingml/2006/main" noGrp="1"/>
          </p:cNvSpPr>
          <p:nvPr/>
        </p:nvSpPr>
        <p:spPr>
          <a:xfrm xmlns:a="http://schemas.openxmlformats.org/drawingml/2006/main">
            <a:off x="7815739" y="3886200"/>
            <a:ext cx="2185511" cy="2667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33" name="">
            <a:extLst xmlns:a="http://schemas.openxmlformats.org/drawingml/2006/main">
              <a:ext uri="{FF2B5EF4-FFF2-40B4-BE49-F238E27FC236}">
                <a16:creationId xmlns:a16="http://schemas.microsoft.com/office/drawing/2014/main" id="{CB8E89CE-1ED6-40C2-95A8-12A8C84ED5B8}"/>
              </a:ext>
            </a:extLst>
          </p:cNvPr>
          <p:cNvSpPr>
            <a:spLocks xmlns:a="http://schemas.openxmlformats.org/drawingml/2006/main" noGrp="1"/>
          </p:cNvSpPr>
          <p:nvPr/>
        </p:nvSpPr>
        <p:spPr>
          <a:xfrm xmlns:a="http://schemas.openxmlformats.org/drawingml/2006/main">
            <a:off x="10191750" y="39243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C75850"/>
                </a:solidFill>
              </a:defRPr>
            </a:pPr>
            <a:r>
              <a:rPr sz="900" b="1" i="0">
                <a:solidFill>
                  <a:srgbClr val="C75850"/>
                </a:solidFill>
              </a:rPr>
              <a:t>67.6%</a:t>
            </a:r>
          </a:p>
        </p:txBody>
      </p:sp>
      <p:sp>
        <p:nvSpPr>
          <p:cNvPr id="34" name="">
            <a:extLst xmlns:a="http://schemas.openxmlformats.org/drawingml/2006/main">
              <a:ext uri="{FF2B5EF4-FFF2-40B4-BE49-F238E27FC236}">
                <a16:creationId xmlns:a16="http://schemas.microsoft.com/office/drawing/2014/main" id="{79894EB2-AC4D-44FA-98F0-545DA199360F}"/>
              </a:ext>
            </a:extLst>
          </p:cNvPr>
          <p:cNvSpPr>
            <a:spLocks xmlns:a="http://schemas.openxmlformats.org/drawingml/2006/main" noGrp="1"/>
          </p:cNvSpPr>
          <p:nvPr/>
        </p:nvSpPr>
        <p:spPr>
          <a:xfrm xmlns:a="http://schemas.openxmlformats.org/drawingml/2006/main">
            <a:off x="685800" y="44958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32238"/>
                </a:solidFill>
              </a:defRPr>
            </a:pPr>
            <a:r>
              <a:rPr sz="1050" b="1" i="0">
                <a:solidFill>
                  <a:srgbClr val="132238"/>
                </a:solidFill>
              </a:rPr>
              <a:t>Current + examples + GPT-4o</a:t>
            </a:r>
          </a:p>
        </p:txBody>
      </p:sp>
      <p:sp>
        <p:nvSpPr>
          <p:cNvPr id="35" name="">
            <a:extLst xmlns:a="http://schemas.openxmlformats.org/drawingml/2006/main">
              <a:ext uri="{FF2B5EF4-FFF2-40B4-BE49-F238E27FC236}">
                <a16:creationId xmlns:a16="http://schemas.microsoft.com/office/drawing/2014/main" id="{D490165F-856A-4EDF-9E06-7BFD32B410D3}"/>
              </a:ext>
            </a:extLst>
          </p:cNvPr>
          <p:cNvSpPr>
            <a:spLocks xmlns:a="http://schemas.openxmlformats.org/drawingml/2006/main" noGrp="1"/>
          </p:cNvSpPr>
          <p:nvPr/>
        </p:nvSpPr>
        <p:spPr>
          <a:xfrm xmlns:a="http://schemas.openxmlformats.org/drawingml/2006/main">
            <a:off x="3810000" y="4400550"/>
            <a:ext cx="3287554" cy="2667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36" name="">
            <a:extLst xmlns:a="http://schemas.openxmlformats.org/drawingml/2006/main">
              <a:ext uri="{FF2B5EF4-FFF2-40B4-BE49-F238E27FC236}">
                <a16:creationId xmlns:a16="http://schemas.microsoft.com/office/drawing/2014/main" id="{E36A4932-AF46-4FE9-82F0-7CD6640B609C}"/>
              </a:ext>
            </a:extLst>
          </p:cNvPr>
          <p:cNvSpPr>
            <a:spLocks xmlns:a="http://schemas.openxmlformats.org/drawingml/2006/main" noGrp="1"/>
          </p:cNvSpPr>
          <p:nvPr/>
        </p:nvSpPr>
        <p:spPr>
          <a:xfrm xmlns:a="http://schemas.openxmlformats.org/drawingml/2006/main">
            <a:off x="7097554" y="4400550"/>
            <a:ext cx="1151573" cy="2667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37" name="">
            <a:extLst xmlns:a="http://schemas.openxmlformats.org/drawingml/2006/main">
              <a:ext uri="{FF2B5EF4-FFF2-40B4-BE49-F238E27FC236}">
                <a16:creationId xmlns:a16="http://schemas.microsoft.com/office/drawing/2014/main" id="{49B00859-BD77-4EFE-8D9B-AE96CDEC8C72}"/>
              </a:ext>
            </a:extLst>
          </p:cNvPr>
          <p:cNvSpPr>
            <a:spLocks xmlns:a="http://schemas.openxmlformats.org/drawingml/2006/main" noGrp="1"/>
          </p:cNvSpPr>
          <p:nvPr/>
        </p:nvSpPr>
        <p:spPr>
          <a:xfrm xmlns:a="http://schemas.openxmlformats.org/drawingml/2006/main">
            <a:off x="8249126" y="4400550"/>
            <a:ext cx="1745933" cy="2667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38" name="">
            <a:extLst xmlns:a="http://schemas.openxmlformats.org/drawingml/2006/main">
              <a:ext uri="{FF2B5EF4-FFF2-40B4-BE49-F238E27FC236}">
                <a16:creationId xmlns:a16="http://schemas.microsoft.com/office/drawing/2014/main" id="{24EE6F91-9626-4F51-9F7B-83433889ECB9}"/>
              </a:ext>
            </a:extLst>
          </p:cNvPr>
          <p:cNvSpPr>
            <a:spLocks xmlns:a="http://schemas.openxmlformats.org/drawingml/2006/main" noGrp="1"/>
          </p:cNvSpPr>
          <p:nvPr/>
        </p:nvSpPr>
        <p:spPr>
          <a:xfrm xmlns:a="http://schemas.openxmlformats.org/drawingml/2006/main">
            <a:off x="10191750" y="44386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C75850"/>
                </a:solidFill>
              </a:defRPr>
            </a:pPr>
            <a:r>
              <a:rPr sz="900" b="1" i="0">
                <a:solidFill>
                  <a:srgbClr val="C75850"/>
                </a:solidFill>
              </a:rPr>
              <a:t>46.9%</a:t>
            </a:r>
          </a:p>
        </p:txBody>
      </p:sp>
      <p:sp>
        <p:nvSpPr>
          <p:cNvPr id="39" name="">
            <a:extLst xmlns:a="http://schemas.openxmlformats.org/drawingml/2006/main">
              <a:ext uri="{FF2B5EF4-FFF2-40B4-BE49-F238E27FC236}">
                <a16:creationId xmlns:a16="http://schemas.microsoft.com/office/drawing/2014/main" id="{61674CCE-C0B4-43C9-BDF5-43541D469BB0}"/>
              </a:ext>
            </a:extLst>
          </p:cNvPr>
          <p:cNvSpPr>
            <a:spLocks xmlns:a="http://schemas.openxmlformats.org/drawingml/2006/main" noGrp="1"/>
          </p:cNvSpPr>
          <p:nvPr/>
        </p:nvSpPr>
        <p:spPr>
          <a:xfrm xmlns:a="http://schemas.openxmlformats.org/drawingml/2006/main">
            <a:off x="685800" y="50101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32238"/>
                </a:solidFill>
              </a:defRPr>
            </a:pPr>
            <a:r>
              <a:rPr sz="1050" b="1" i="0">
                <a:solidFill>
                  <a:srgbClr val="132238"/>
                </a:solidFill>
              </a:rPr>
              <a:t>Current + examples + GPT-5.2</a:t>
            </a:r>
          </a:p>
        </p:txBody>
      </p:sp>
      <p:sp>
        <p:nvSpPr>
          <p:cNvPr id="40" name="">
            <a:extLst xmlns:a="http://schemas.openxmlformats.org/drawingml/2006/main">
              <a:ext uri="{FF2B5EF4-FFF2-40B4-BE49-F238E27FC236}">
                <a16:creationId xmlns:a16="http://schemas.microsoft.com/office/drawing/2014/main" id="{DB33F490-BCA8-44C9-81F4-980429BDA179}"/>
              </a:ext>
            </a:extLst>
          </p:cNvPr>
          <p:cNvSpPr>
            <a:spLocks xmlns:a="http://schemas.openxmlformats.org/drawingml/2006/main" noGrp="1"/>
          </p:cNvSpPr>
          <p:nvPr/>
        </p:nvSpPr>
        <p:spPr>
          <a:xfrm xmlns:a="http://schemas.openxmlformats.org/drawingml/2006/main">
            <a:off x="3810000" y="4914900"/>
            <a:ext cx="2315528" cy="2667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41" name="">
            <a:extLst xmlns:a="http://schemas.openxmlformats.org/drawingml/2006/main">
              <a:ext uri="{FF2B5EF4-FFF2-40B4-BE49-F238E27FC236}">
                <a16:creationId xmlns:a16="http://schemas.microsoft.com/office/drawing/2014/main" id="{C9D1C960-84F4-4685-A5B8-E0AB0FD10A1A}"/>
              </a:ext>
            </a:extLst>
          </p:cNvPr>
          <p:cNvSpPr>
            <a:spLocks xmlns:a="http://schemas.openxmlformats.org/drawingml/2006/main" noGrp="1"/>
          </p:cNvSpPr>
          <p:nvPr/>
        </p:nvSpPr>
        <p:spPr>
          <a:xfrm xmlns:a="http://schemas.openxmlformats.org/drawingml/2006/main">
            <a:off x="6125528" y="4914900"/>
            <a:ext cx="1987391" cy="2667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42" name="">
            <a:extLst xmlns:a="http://schemas.openxmlformats.org/drawingml/2006/main">
              <a:ext uri="{FF2B5EF4-FFF2-40B4-BE49-F238E27FC236}">
                <a16:creationId xmlns:a16="http://schemas.microsoft.com/office/drawing/2014/main" id="{0C4CF370-0DDC-4A86-BB8A-BC997F5F17DC}"/>
              </a:ext>
            </a:extLst>
          </p:cNvPr>
          <p:cNvSpPr>
            <a:spLocks xmlns:a="http://schemas.openxmlformats.org/drawingml/2006/main" noGrp="1"/>
          </p:cNvSpPr>
          <p:nvPr/>
        </p:nvSpPr>
        <p:spPr>
          <a:xfrm xmlns:a="http://schemas.openxmlformats.org/drawingml/2006/main">
            <a:off x="8112919" y="4914900"/>
            <a:ext cx="1888331" cy="2667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43" name="">
            <a:extLst xmlns:a="http://schemas.openxmlformats.org/drawingml/2006/main">
              <a:ext uri="{FF2B5EF4-FFF2-40B4-BE49-F238E27FC236}">
                <a16:creationId xmlns:a16="http://schemas.microsoft.com/office/drawing/2014/main" id="{BEE60EF6-EF13-43DC-85F7-C3786F98BA07}"/>
              </a:ext>
            </a:extLst>
          </p:cNvPr>
          <p:cNvSpPr>
            <a:spLocks xmlns:a="http://schemas.openxmlformats.org/drawingml/2006/main" noGrp="1"/>
          </p:cNvSpPr>
          <p:nvPr/>
        </p:nvSpPr>
        <p:spPr>
          <a:xfrm xmlns:a="http://schemas.openxmlformats.org/drawingml/2006/main">
            <a:off x="10191750" y="49530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C75850"/>
                </a:solidFill>
              </a:defRPr>
            </a:pPr>
            <a:r>
              <a:rPr sz="900" b="1" i="0">
                <a:solidFill>
                  <a:srgbClr val="C75850"/>
                </a:solidFill>
              </a:rPr>
              <a:t>62.6%</a:t>
            </a:r>
          </a:p>
        </p:txBody>
      </p:sp>
    </p:spTree>
    <p:extLst>
      <p:ext uri="{BB962C8B-B14F-4D97-AF65-F5344CB8AC3E}">
        <p14:creationId xmlns:p14="http://schemas.microsoft.com/office/powerpoint/2010/main" val="1489658225"/>
      </p:ext>
    </p:extLst>
  </p:cSld>
</p:sld>
</file>

<file path=ppt/slides/slide2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1AD13F7D-5603-45CB-B394-1F78C116DDB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C7F87027-831A-493F-9098-A648962D40EC}"/>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APPENDIX A4 | HISTORICAL-METHOD REPRODUCTION</a:t>
            </a:r>
          </a:p>
        </p:txBody>
      </p:sp>
      <p:sp>
        <p:nvSpPr>
          <p:cNvPr id="3" name="">
            <a:extLst xmlns:a="http://schemas.openxmlformats.org/drawingml/2006/main">
              <a:ext uri="{FF2B5EF4-FFF2-40B4-BE49-F238E27FC236}">
                <a16:creationId xmlns:a16="http://schemas.microsoft.com/office/drawing/2014/main" id="{DEA9593A-5E9A-4346-836F-B23EECF2014E}"/>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i="0">
                <a:solidFill>
                  <a:srgbClr val="132238"/>
                </a:solidFill>
              </a:defRPr>
            </a:pPr>
            <a:r>
              <a:rPr sz="2400" b="1" i="0">
                <a:solidFill>
                  <a:srgbClr val="132238"/>
                </a:solidFill>
              </a:rPr>
              <a:t>Recovered script reproduces 95.3% of historical labels exactly</a:t>
            </a:r>
          </a:p>
        </p:txBody>
      </p:sp>
      <p:sp>
        <p:nvSpPr>
          <p:cNvPr id="4" name="">
            <a:extLst xmlns:a="http://schemas.openxmlformats.org/drawingml/2006/main">
              <a:ext uri="{FF2B5EF4-FFF2-40B4-BE49-F238E27FC236}">
                <a16:creationId xmlns:a16="http://schemas.microsoft.com/office/drawing/2014/main" id="{181F7184-03D1-4211-8F12-6C64CDB29CF5}"/>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Replay used the recovered colleague script on the same 978 original tasks.</a:t>
            </a:r>
          </a:p>
        </p:txBody>
      </p:sp>
      <p:sp>
        <p:nvSpPr>
          <p:cNvPr id="5" name="">
            <a:extLst xmlns:a="http://schemas.openxmlformats.org/drawingml/2006/main">
              <a:ext uri="{FF2B5EF4-FFF2-40B4-BE49-F238E27FC236}">
                <a16:creationId xmlns:a16="http://schemas.microsoft.com/office/drawing/2014/main" id="{00C9B020-79F9-4F26-910E-947E1921D90E}"/>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891E15D6-3836-4EB6-BFB7-B7703C4332D3}"/>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0E0E5E07-8298-4755-922F-DDC02C34D2C1}"/>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23</a:t>
            </a:r>
          </a:p>
        </p:txBody>
      </p:sp>
      <p:sp>
        <p:nvSpPr>
          <p:cNvPr id="8" name="">
            <a:extLst xmlns:a="http://schemas.openxmlformats.org/drawingml/2006/main">
              <a:ext uri="{FF2B5EF4-FFF2-40B4-BE49-F238E27FC236}">
                <a16:creationId xmlns:a16="http://schemas.microsoft.com/office/drawing/2014/main" id="{D8472A3B-03EB-4D6A-8C84-316F34D5BDAA}"/>
              </a:ext>
            </a:extLst>
          </p:cNvPr>
          <p:cNvSpPr>
            <a:spLocks xmlns:a="http://schemas.openxmlformats.org/drawingml/2006/main" noGrp="1"/>
          </p:cNvSpPr>
          <p:nvPr/>
        </p:nvSpPr>
        <p:spPr>
          <a:xfrm xmlns:a="http://schemas.openxmlformats.org/drawingml/2006/main">
            <a:off x="685800" y="21336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87A76"/>
                </a:solidFill>
              </a:defRPr>
            </a:pPr>
            <a:r>
              <a:rPr sz="825" b="1" i="0">
                <a:solidFill>
                  <a:srgbClr val="087A76"/>
                </a:solidFill>
              </a:rPr>
              <a:t>SYSTEM MESSAGE</a:t>
            </a:r>
          </a:p>
        </p:txBody>
      </p:sp>
      <p:sp>
        <p:nvSpPr>
          <p:cNvPr id="9" name="">
            <a:extLst xmlns:a="http://schemas.openxmlformats.org/drawingml/2006/main">
              <a:ext uri="{FF2B5EF4-FFF2-40B4-BE49-F238E27FC236}">
                <a16:creationId xmlns:a16="http://schemas.microsoft.com/office/drawing/2014/main" id="{4CB60EB2-61EC-4B79-8CDD-0118ECC39975}"/>
              </a:ext>
            </a:extLst>
          </p:cNvPr>
          <p:cNvSpPr>
            <a:spLocks xmlns:a="http://schemas.openxmlformats.org/drawingml/2006/main" noGrp="1"/>
          </p:cNvSpPr>
          <p:nvPr/>
        </p:nvSpPr>
        <p:spPr>
          <a:xfrm xmlns:a="http://schemas.openxmlformats.org/drawingml/2006/main">
            <a:off x="2628900" y="211455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32238"/>
                </a:solidFill>
              </a:defRPr>
            </a:pPr>
            <a:r>
              <a:rPr sz="1125" b="0" i="0">
                <a:solidFill>
                  <a:srgbClr val="132238"/>
                </a:solidFill>
              </a:rPr>
              <a:t>Full custom SFW rubric + five annotation examples</a:t>
            </a:r>
          </a:p>
        </p:txBody>
      </p:sp>
      <p:sp>
        <p:nvSpPr>
          <p:cNvPr id="10" name="">
            <a:extLst xmlns:a="http://schemas.openxmlformats.org/drawingml/2006/main">
              <a:ext uri="{FF2B5EF4-FFF2-40B4-BE49-F238E27FC236}">
                <a16:creationId xmlns:a16="http://schemas.microsoft.com/office/drawing/2014/main" id="{8AE657FE-0DE7-455F-A2D1-03CEECF3233B}"/>
              </a:ext>
            </a:extLst>
          </p:cNvPr>
          <p:cNvSpPr>
            <a:spLocks xmlns:a="http://schemas.openxmlformats.org/drawingml/2006/main" noGrp="1"/>
          </p:cNvSpPr>
          <p:nvPr/>
        </p:nvSpPr>
        <p:spPr>
          <a:xfrm xmlns:a="http://schemas.openxmlformats.org/drawingml/2006/main">
            <a:off x="685800" y="2571750"/>
            <a:ext cx="546735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1" name="">
            <a:extLst xmlns:a="http://schemas.openxmlformats.org/drawingml/2006/main">
              <a:ext uri="{FF2B5EF4-FFF2-40B4-BE49-F238E27FC236}">
                <a16:creationId xmlns:a16="http://schemas.microsoft.com/office/drawing/2014/main" id="{6817A391-B26D-4A6A-8FD7-BB90E3BC97C3}"/>
              </a:ext>
            </a:extLst>
          </p:cNvPr>
          <p:cNvSpPr>
            <a:spLocks xmlns:a="http://schemas.openxmlformats.org/drawingml/2006/main" noGrp="1"/>
          </p:cNvSpPr>
          <p:nvPr/>
        </p:nvSpPr>
        <p:spPr>
          <a:xfrm xmlns:a="http://schemas.openxmlformats.org/drawingml/2006/main">
            <a:off x="685800" y="28194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87A76"/>
                </a:solidFill>
              </a:defRPr>
            </a:pPr>
            <a:r>
              <a:rPr sz="825" b="1" i="0">
                <a:solidFill>
                  <a:srgbClr val="087A76"/>
                </a:solidFill>
              </a:rPr>
              <a:t>USER MESSAGE</a:t>
            </a:r>
          </a:p>
        </p:txBody>
      </p:sp>
      <p:sp>
        <p:nvSpPr>
          <p:cNvPr id="12" name="">
            <a:extLst xmlns:a="http://schemas.openxmlformats.org/drawingml/2006/main">
              <a:ext uri="{FF2B5EF4-FFF2-40B4-BE49-F238E27FC236}">
                <a16:creationId xmlns:a16="http://schemas.microsoft.com/office/drawing/2014/main" id="{29025EC3-3BEC-4C43-8911-93A6EB0C86B1}"/>
              </a:ext>
            </a:extLst>
          </p:cNvPr>
          <p:cNvSpPr>
            <a:spLocks xmlns:a="http://schemas.openxmlformats.org/drawingml/2006/main" noGrp="1"/>
          </p:cNvSpPr>
          <p:nvPr/>
        </p:nvSpPr>
        <p:spPr>
          <a:xfrm xmlns:a="http://schemas.openxmlformats.org/drawingml/2006/main">
            <a:off x="2628900" y="280035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32238"/>
                </a:solidFill>
              </a:defRPr>
            </a:pPr>
            <a:r>
              <a:rPr sz="1125" b="0" i="0">
                <a:solidFill>
                  <a:srgbClr val="132238"/>
                </a:solidFill>
              </a:rPr>
              <a:t>Occupation + original task; label returned in JSON</a:t>
            </a:r>
          </a:p>
        </p:txBody>
      </p:sp>
      <p:sp>
        <p:nvSpPr>
          <p:cNvPr id="13" name="">
            <a:extLst xmlns:a="http://schemas.openxmlformats.org/drawingml/2006/main">
              <a:ext uri="{FF2B5EF4-FFF2-40B4-BE49-F238E27FC236}">
                <a16:creationId xmlns:a16="http://schemas.microsoft.com/office/drawing/2014/main" id="{435F910F-10C6-4B78-B4CB-DEF030F3F636}"/>
              </a:ext>
            </a:extLst>
          </p:cNvPr>
          <p:cNvSpPr>
            <a:spLocks xmlns:a="http://schemas.openxmlformats.org/drawingml/2006/main" noGrp="1"/>
          </p:cNvSpPr>
          <p:nvPr/>
        </p:nvSpPr>
        <p:spPr>
          <a:xfrm xmlns:a="http://schemas.openxmlformats.org/drawingml/2006/main">
            <a:off x="685800" y="3257550"/>
            <a:ext cx="546735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4" name="">
            <a:extLst xmlns:a="http://schemas.openxmlformats.org/drawingml/2006/main">
              <a:ext uri="{FF2B5EF4-FFF2-40B4-BE49-F238E27FC236}">
                <a16:creationId xmlns:a16="http://schemas.microsoft.com/office/drawing/2014/main" id="{C1DCA528-3F70-4024-B93F-BE6A8806DFD1}"/>
              </a:ext>
            </a:extLst>
          </p:cNvPr>
          <p:cNvSpPr>
            <a:spLocks xmlns:a="http://schemas.openxmlformats.org/drawingml/2006/main" noGrp="1"/>
          </p:cNvSpPr>
          <p:nvPr/>
        </p:nvSpPr>
        <p:spPr>
          <a:xfrm xmlns:a="http://schemas.openxmlformats.org/drawingml/2006/main">
            <a:off x="685800" y="3505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87A76"/>
                </a:solidFill>
              </a:defRPr>
            </a:pPr>
            <a:r>
              <a:rPr sz="825" b="1" i="0">
                <a:solidFill>
                  <a:srgbClr val="087A76"/>
                </a:solidFill>
              </a:rPr>
              <a:t>REQUESTED MODEL</a:t>
            </a:r>
          </a:p>
        </p:txBody>
      </p:sp>
      <p:sp>
        <p:nvSpPr>
          <p:cNvPr id="15" name="">
            <a:extLst xmlns:a="http://schemas.openxmlformats.org/drawingml/2006/main">
              <a:ext uri="{FF2B5EF4-FFF2-40B4-BE49-F238E27FC236}">
                <a16:creationId xmlns:a16="http://schemas.microsoft.com/office/drawing/2014/main" id="{9A73981A-0E81-4EA0-957D-8754C58B8F93}"/>
              </a:ext>
            </a:extLst>
          </p:cNvPr>
          <p:cNvSpPr>
            <a:spLocks xmlns:a="http://schemas.openxmlformats.org/drawingml/2006/main" noGrp="1"/>
          </p:cNvSpPr>
          <p:nvPr/>
        </p:nvSpPr>
        <p:spPr>
          <a:xfrm xmlns:a="http://schemas.openxmlformats.org/drawingml/2006/main">
            <a:off x="2628900" y="348615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32238"/>
                </a:solidFill>
              </a:defRPr>
            </a:pPr>
            <a:r>
              <a:rPr sz="1125" b="0" i="0">
                <a:solidFill>
                  <a:srgbClr val="132238"/>
                </a:solidFill>
              </a:rPr>
              <a:t>GPT-4o; public endpoint resolved to gpt-4o-2024-08-06</a:t>
            </a:r>
          </a:p>
        </p:txBody>
      </p:sp>
      <p:sp>
        <p:nvSpPr>
          <p:cNvPr id="16" name="">
            <a:extLst xmlns:a="http://schemas.openxmlformats.org/drawingml/2006/main">
              <a:ext uri="{FF2B5EF4-FFF2-40B4-BE49-F238E27FC236}">
                <a16:creationId xmlns:a16="http://schemas.microsoft.com/office/drawing/2014/main" id="{35273660-AC86-4642-8206-E71FDC25C08F}"/>
              </a:ext>
            </a:extLst>
          </p:cNvPr>
          <p:cNvSpPr>
            <a:spLocks xmlns:a="http://schemas.openxmlformats.org/drawingml/2006/main" noGrp="1"/>
          </p:cNvSpPr>
          <p:nvPr/>
        </p:nvSpPr>
        <p:spPr>
          <a:xfrm xmlns:a="http://schemas.openxmlformats.org/drawingml/2006/main">
            <a:off x="685800" y="3943350"/>
            <a:ext cx="546735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7" name="">
            <a:extLst xmlns:a="http://schemas.openxmlformats.org/drawingml/2006/main">
              <a:ext uri="{FF2B5EF4-FFF2-40B4-BE49-F238E27FC236}">
                <a16:creationId xmlns:a16="http://schemas.microsoft.com/office/drawing/2014/main" id="{C312A18D-6C3A-4459-AE4D-90398851DB50}"/>
              </a:ext>
            </a:extLst>
          </p:cNvPr>
          <p:cNvSpPr>
            <a:spLocks xmlns:a="http://schemas.openxmlformats.org/drawingml/2006/main" noGrp="1"/>
          </p:cNvSpPr>
          <p:nvPr/>
        </p:nvSpPr>
        <p:spPr>
          <a:xfrm xmlns:a="http://schemas.openxmlformats.org/drawingml/2006/main">
            <a:off x="685800" y="41910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87A76"/>
                </a:solidFill>
              </a:defRPr>
            </a:pPr>
            <a:r>
              <a:rPr sz="825" b="1" i="0">
                <a:solidFill>
                  <a:srgbClr val="087A76"/>
                </a:solidFill>
              </a:rPr>
              <a:t>RUNTIME SETTINGS</a:t>
            </a:r>
          </a:p>
        </p:txBody>
      </p:sp>
      <p:sp>
        <p:nvSpPr>
          <p:cNvPr id="18" name="">
            <a:extLst xmlns:a="http://schemas.openxmlformats.org/drawingml/2006/main">
              <a:ext uri="{FF2B5EF4-FFF2-40B4-BE49-F238E27FC236}">
                <a16:creationId xmlns:a16="http://schemas.microsoft.com/office/drawing/2014/main" id="{808C80D1-6516-4E0E-9A13-65D934372A99}"/>
              </a:ext>
            </a:extLst>
          </p:cNvPr>
          <p:cNvSpPr>
            <a:spLocks xmlns:a="http://schemas.openxmlformats.org/drawingml/2006/main" noGrp="1"/>
          </p:cNvSpPr>
          <p:nvPr/>
        </p:nvSpPr>
        <p:spPr>
          <a:xfrm xmlns:a="http://schemas.openxmlformats.org/drawingml/2006/main">
            <a:off x="2628900" y="417195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32238"/>
                </a:solidFill>
              </a:defRPr>
            </a:pPr>
            <a:r>
              <a:rPr sz="1125" b="0" i="0">
                <a:solidFill>
                  <a:srgbClr val="132238"/>
                </a:solidFill>
              </a:rPr>
              <a:t>Temperature 0.1; seed 6800; JSON object response</a:t>
            </a:r>
          </a:p>
        </p:txBody>
      </p:sp>
      <p:sp>
        <p:nvSpPr>
          <p:cNvPr id="19" name="">
            <a:extLst xmlns:a="http://schemas.openxmlformats.org/drawingml/2006/main">
              <a:ext uri="{FF2B5EF4-FFF2-40B4-BE49-F238E27FC236}">
                <a16:creationId xmlns:a16="http://schemas.microsoft.com/office/drawing/2014/main" id="{902E9E11-97C5-47E1-BFB1-92D730D123AF}"/>
              </a:ext>
            </a:extLst>
          </p:cNvPr>
          <p:cNvSpPr>
            <a:spLocks xmlns:a="http://schemas.openxmlformats.org/drawingml/2006/main" noGrp="1"/>
          </p:cNvSpPr>
          <p:nvPr/>
        </p:nvSpPr>
        <p:spPr>
          <a:xfrm xmlns:a="http://schemas.openxmlformats.org/drawingml/2006/main">
            <a:off x="685800" y="4629150"/>
            <a:ext cx="546735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20" name="">
            <a:extLst xmlns:a="http://schemas.openxmlformats.org/drawingml/2006/main">
              <a:ext uri="{FF2B5EF4-FFF2-40B4-BE49-F238E27FC236}">
                <a16:creationId xmlns:a16="http://schemas.microsoft.com/office/drawing/2014/main" id="{E6A61E15-70D2-4116-8553-D7745441CDD0}"/>
              </a:ext>
            </a:extLst>
          </p:cNvPr>
          <p:cNvSpPr>
            <a:spLocks xmlns:a="http://schemas.openxmlformats.org/drawingml/2006/main" noGrp="1"/>
          </p:cNvSpPr>
          <p:nvPr/>
        </p:nvSpPr>
        <p:spPr>
          <a:xfrm xmlns:a="http://schemas.openxmlformats.org/drawingml/2006/main">
            <a:off x="7239000" y="20383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24547A"/>
                </a:solidFill>
              </a:defRPr>
            </a:pPr>
            <a:r>
              <a:rPr sz="900" b="1" i="0">
                <a:solidFill>
                  <a:srgbClr val="24547A"/>
                </a:solidFill>
              </a:rPr>
              <a:t>HISTORICAL LABELS AS ROWS</a:t>
            </a:r>
          </a:p>
        </p:txBody>
      </p:sp>
      <p:sp>
        <p:nvSpPr>
          <p:cNvPr id="21" name="">
            <a:extLst xmlns:a="http://schemas.openxmlformats.org/drawingml/2006/main">
              <a:ext uri="{FF2B5EF4-FFF2-40B4-BE49-F238E27FC236}">
                <a16:creationId xmlns:a16="http://schemas.microsoft.com/office/drawing/2014/main" id="{E784AFCA-DF2A-4175-9EA5-FDF21A02489E}"/>
              </a:ext>
            </a:extLst>
          </p:cNvPr>
          <p:cNvSpPr>
            <a:spLocks xmlns:a="http://schemas.openxmlformats.org/drawingml/2006/main" noGrp="1"/>
          </p:cNvSpPr>
          <p:nvPr/>
        </p:nvSpPr>
        <p:spPr>
          <a:xfrm xmlns:a="http://schemas.openxmlformats.org/drawingml/2006/main">
            <a:off x="8096250" y="23622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5F6E7B"/>
                </a:solidFill>
              </a:defRPr>
            </a:pPr>
            <a:r>
              <a:rPr sz="750" b="1" i="0">
                <a:solidFill>
                  <a:srgbClr val="5F6E7B"/>
                </a:solidFill>
              </a:rPr>
              <a:t>E0</a:t>
            </a:r>
          </a:p>
        </p:txBody>
      </p:sp>
      <p:sp>
        <p:nvSpPr>
          <p:cNvPr id="22" name="">
            <a:extLst xmlns:a="http://schemas.openxmlformats.org/drawingml/2006/main">
              <a:ext uri="{FF2B5EF4-FFF2-40B4-BE49-F238E27FC236}">
                <a16:creationId xmlns:a16="http://schemas.microsoft.com/office/drawing/2014/main" id="{D7122ECE-C664-46DC-A6E6-74E53CDBC8EE}"/>
              </a:ext>
            </a:extLst>
          </p:cNvPr>
          <p:cNvSpPr>
            <a:spLocks xmlns:a="http://schemas.openxmlformats.org/drawingml/2006/main" noGrp="1"/>
          </p:cNvSpPr>
          <p:nvPr/>
        </p:nvSpPr>
        <p:spPr>
          <a:xfrm xmlns:a="http://schemas.openxmlformats.org/drawingml/2006/main">
            <a:off x="8724900" y="23622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5F6E7B"/>
                </a:solidFill>
              </a:defRPr>
            </a:pPr>
            <a:r>
              <a:rPr sz="750" b="1" i="0">
                <a:solidFill>
                  <a:srgbClr val="5F6E7B"/>
                </a:solidFill>
              </a:rPr>
              <a:t>E1</a:t>
            </a:r>
          </a:p>
        </p:txBody>
      </p:sp>
      <p:sp>
        <p:nvSpPr>
          <p:cNvPr id="23" name="">
            <a:extLst xmlns:a="http://schemas.openxmlformats.org/drawingml/2006/main">
              <a:ext uri="{FF2B5EF4-FFF2-40B4-BE49-F238E27FC236}">
                <a16:creationId xmlns:a16="http://schemas.microsoft.com/office/drawing/2014/main" id="{356B19CC-4902-41F3-80E7-E8C52558B81F}"/>
              </a:ext>
            </a:extLst>
          </p:cNvPr>
          <p:cNvSpPr>
            <a:spLocks xmlns:a="http://schemas.openxmlformats.org/drawingml/2006/main" noGrp="1"/>
          </p:cNvSpPr>
          <p:nvPr/>
        </p:nvSpPr>
        <p:spPr>
          <a:xfrm xmlns:a="http://schemas.openxmlformats.org/drawingml/2006/main">
            <a:off x="9353550" y="23622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5F6E7B"/>
                </a:solidFill>
              </a:defRPr>
            </a:pPr>
            <a:r>
              <a:rPr sz="750" b="1" i="0">
                <a:solidFill>
                  <a:srgbClr val="5F6E7B"/>
                </a:solidFill>
              </a:rPr>
              <a:t>E2</a:t>
            </a:r>
          </a:p>
        </p:txBody>
      </p:sp>
      <p:sp>
        <p:nvSpPr>
          <p:cNvPr id="24" name="">
            <a:extLst xmlns:a="http://schemas.openxmlformats.org/drawingml/2006/main">
              <a:ext uri="{FF2B5EF4-FFF2-40B4-BE49-F238E27FC236}">
                <a16:creationId xmlns:a16="http://schemas.microsoft.com/office/drawing/2014/main" id="{94296C32-5610-448E-8EDE-86780FCCF7FD}"/>
              </a:ext>
            </a:extLst>
          </p:cNvPr>
          <p:cNvSpPr>
            <a:spLocks xmlns:a="http://schemas.openxmlformats.org/drawingml/2006/main" noGrp="1"/>
          </p:cNvSpPr>
          <p:nvPr/>
        </p:nvSpPr>
        <p:spPr>
          <a:xfrm xmlns:a="http://schemas.openxmlformats.org/drawingml/2006/main">
            <a:off x="9982200" y="23622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5F6E7B"/>
                </a:solidFill>
              </a:defRPr>
            </a:pPr>
            <a:r>
              <a:rPr sz="750" b="1" i="0">
                <a:solidFill>
                  <a:srgbClr val="5F6E7B"/>
                </a:solidFill>
              </a:rPr>
              <a:t>E3</a:t>
            </a:r>
          </a:p>
        </p:txBody>
      </p:sp>
      <p:sp>
        <p:nvSpPr>
          <p:cNvPr id="25" name="">
            <a:extLst xmlns:a="http://schemas.openxmlformats.org/drawingml/2006/main">
              <a:ext uri="{FF2B5EF4-FFF2-40B4-BE49-F238E27FC236}">
                <a16:creationId xmlns:a16="http://schemas.microsoft.com/office/drawing/2014/main" id="{EA06EB21-F9A0-44B0-8484-D354BD3D036F}"/>
              </a:ext>
            </a:extLst>
          </p:cNvPr>
          <p:cNvSpPr>
            <a:spLocks xmlns:a="http://schemas.openxmlformats.org/drawingml/2006/main" noGrp="1"/>
          </p:cNvSpPr>
          <p:nvPr/>
        </p:nvSpPr>
        <p:spPr>
          <a:xfrm xmlns:a="http://schemas.openxmlformats.org/drawingml/2006/main">
            <a:off x="7239000" y="2667000"/>
            <a:ext cx="781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E0</a:t>
            </a:r>
          </a:p>
        </p:txBody>
      </p:sp>
      <p:sp>
        <p:nvSpPr>
          <p:cNvPr id="26" name="">
            <a:extLst xmlns:a="http://schemas.openxmlformats.org/drawingml/2006/main">
              <a:ext uri="{FF2B5EF4-FFF2-40B4-BE49-F238E27FC236}">
                <a16:creationId xmlns:a16="http://schemas.microsoft.com/office/drawing/2014/main" id="{DF70B6E2-B7C7-4AF4-BFFE-2DF8690D371D}"/>
              </a:ext>
            </a:extLst>
          </p:cNvPr>
          <p:cNvSpPr>
            <a:spLocks xmlns:a="http://schemas.openxmlformats.org/drawingml/2006/main" noGrp="1"/>
          </p:cNvSpPr>
          <p:nvPr/>
        </p:nvSpPr>
        <p:spPr>
          <a:xfrm xmlns:a="http://schemas.openxmlformats.org/drawingml/2006/main">
            <a:off x="7239000" y="3048000"/>
            <a:ext cx="781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E1</a:t>
            </a:r>
          </a:p>
        </p:txBody>
      </p:sp>
      <p:sp>
        <p:nvSpPr>
          <p:cNvPr id="27" name="">
            <a:extLst xmlns:a="http://schemas.openxmlformats.org/drawingml/2006/main">
              <a:ext uri="{FF2B5EF4-FFF2-40B4-BE49-F238E27FC236}">
                <a16:creationId xmlns:a16="http://schemas.microsoft.com/office/drawing/2014/main" id="{779A8406-ED82-42AF-A01B-61714A5A34C5}"/>
              </a:ext>
            </a:extLst>
          </p:cNvPr>
          <p:cNvSpPr>
            <a:spLocks xmlns:a="http://schemas.openxmlformats.org/drawingml/2006/main" noGrp="1"/>
          </p:cNvSpPr>
          <p:nvPr/>
        </p:nvSpPr>
        <p:spPr>
          <a:xfrm xmlns:a="http://schemas.openxmlformats.org/drawingml/2006/main">
            <a:off x="7239000" y="3429000"/>
            <a:ext cx="781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E2</a:t>
            </a:r>
          </a:p>
        </p:txBody>
      </p:sp>
      <p:sp>
        <p:nvSpPr>
          <p:cNvPr id="28" name="">
            <a:extLst xmlns:a="http://schemas.openxmlformats.org/drawingml/2006/main">
              <a:ext uri="{FF2B5EF4-FFF2-40B4-BE49-F238E27FC236}">
                <a16:creationId xmlns:a16="http://schemas.microsoft.com/office/drawing/2014/main" id="{B2357CB1-BF85-4672-B208-9BC5A174BF94}"/>
              </a:ext>
            </a:extLst>
          </p:cNvPr>
          <p:cNvSpPr>
            <a:spLocks xmlns:a="http://schemas.openxmlformats.org/drawingml/2006/main" noGrp="1"/>
          </p:cNvSpPr>
          <p:nvPr/>
        </p:nvSpPr>
        <p:spPr>
          <a:xfrm xmlns:a="http://schemas.openxmlformats.org/drawingml/2006/main">
            <a:off x="7239000" y="3810000"/>
            <a:ext cx="781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E3</a:t>
            </a:r>
          </a:p>
        </p:txBody>
      </p:sp>
      <p:sp>
        <p:nvSpPr>
          <p:cNvPr id="29" name="">
            <a:extLst xmlns:a="http://schemas.openxmlformats.org/drawingml/2006/main">
              <a:ext uri="{FF2B5EF4-FFF2-40B4-BE49-F238E27FC236}">
                <a16:creationId xmlns:a16="http://schemas.microsoft.com/office/drawing/2014/main" id="{9199EF3D-680B-4B2B-92B8-D255CA0420FE}"/>
              </a:ext>
            </a:extLst>
          </p:cNvPr>
          <p:cNvSpPr>
            <a:spLocks xmlns:a="http://schemas.openxmlformats.org/drawingml/2006/main" noGrp="1"/>
          </p:cNvSpPr>
          <p:nvPr/>
        </p:nvSpPr>
        <p:spPr>
          <a:xfrm xmlns:a="http://schemas.openxmlformats.org/drawingml/2006/main">
            <a:off x="8096250" y="2609850"/>
            <a:ext cx="552450" cy="285750"/>
          </a:xfrm>
          <a:prstGeom xmlns:a="http://schemas.openxmlformats.org/drawingml/2006/main" prst="rect">
            <a:avLst/>
          </a:prstGeom>
          <a:solidFill xmlns:a="http://schemas.openxmlformats.org/drawingml/2006/main">
            <a:srgbClr val="E1F0EC"/>
          </a:solidFill>
          <a:ln xmlns:a="http://schemas.openxmlformats.org/drawingml/2006/main" w="5715">
            <a:solidFill>
              <a:srgbClr val="D5DCDD"/>
            </a:solidFill>
            <a:prstDash val="solid"/>
          </a:ln>
        </p:spPr>
      </p:sp>
      <p:sp>
        <p:nvSpPr>
          <p:cNvPr id="30" name="">
            <a:extLst xmlns:a="http://schemas.openxmlformats.org/drawingml/2006/main">
              <a:ext uri="{FF2B5EF4-FFF2-40B4-BE49-F238E27FC236}">
                <a16:creationId xmlns:a16="http://schemas.microsoft.com/office/drawing/2014/main" id="{0C06488B-B4C7-4CBC-AFAA-05392ABAD345}"/>
              </a:ext>
            </a:extLst>
          </p:cNvPr>
          <p:cNvSpPr>
            <a:spLocks xmlns:a="http://schemas.openxmlformats.org/drawingml/2006/main" noGrp="1"/>
          </p:cNvSpPr>
          <p:nvPr/>
        </p:nvSpPr>
        <p:spPr>
          <a:xfrm xmlns:a="http://schemas.openxmlformats.org/drawingml/2006/main">
            <a:off x="8096250" y="2667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i="0">
                <a:solidFill>
                  <a:srgbClr val="132238"/>
                </a:solidFill>
              </a:defRPr>
            </a:pPr>
            <a:r>
              <a:rPr sz="825" b="1" i="0">
                <a:solidFill>
                  <a:srgbClr val="132238"/>
                </a:solidFill>
              </a:rPr>
              <a:t>731</a:t>
            </a:r>
          </a:p>
        </p:txBody>
      </p:sp>
      <p:sp>
        <p:nvSpPr>
          <p:cNvPr id="31" name="">
            <a:extLst xmlns:a="http://schemas.openxmlformats.org/drawingml/2006/main">
              <a:ext uri="{FF2B5EF4-FFF2-40B4-BE49-F238E27FC236}">
                <a16:creationId xmlns:a16="http://schemas.microsoft.com/office/drawing/2014/main" id="{EEAF93BE-BD07-4CD5-95F3-270C48FCB0F6}"/>
              </a:ext>
            </a:extLst>
          </p:cNvPr>
          <p:cNvSpPr>
            <a:spLocks xmlns:a="http://schemas.openxmlformats.org/drawingml/2006/main" noGrp="1"/>
          </p:cNvSpPr>
          <p:nvPr/>
        </p:nvSpPr>
        <p:spPr>
          <a:xfrm xmlns:a="http://schemas.openxmlformats.org/drawingml/2006/main">
            <a:off x="8724900" y="2609850"/>
            <a:ext cx="552450" cy="2857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32" name="">
            <a:extLst xmlns:a="http://schemas.openxmlformats.org/drawingml/2006/main">
              <a:ext uri="{FF2B5EF4-FFF2-40B4-BE49-F238E27FC236}">
                <a16:creationId xmlns:a16="http://schemas.microsoft.com/office/drawing/2014/main" id="{FF992771-A8B9-4EDD-8F7F-6142ED7A6F59}"/>
              </a:ext>
            </a:extLst>
          </p:cNvPr>
          <p:cNvSpPr>
            <a:spLocks xmlns:a="http://schemas.openxmlformats.org/drawingml/2006/main" noGrp="1"/>
          </p:cNvSpPr>
          <p:nvPr/>
        </p:nvSpPr>
        <p:spPr>
          <a:xfrm xmlns:a="http://schemas.openxmlformats.org/drawingml/2006/main">
            <a:off x="8724900" y="2667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0" i="0">
                <a:solidFill>
                  <a:srgbClr val="132238"/>
                </a:solidFill>
              </a:defRPr>
            </a:pPr>
            <a:r>
              <a:rPr sz="825" b="0" i="0">
                <a:solidFill>
                  <a:srgbClr val="132238"/>
                </a:solidFill>
              </a:rPr>
              <a:t>11</a:t>
            </a:r>
          </a:p>
        </p:txBody>
      </p:sp>
      <p:sp>
        <p:nvSpPr>
          <p:cNvPr id="33" name="">
            <a:extLst xmlns:a="http://schemas.openxmlformats.org/drawingml/2006/main">
              <a:ext uri="{FF2B5EF4-FFF2-40B4-BE49-F238E27FC236}">
                <a16:creationId xmlns:a16="http://schemas.microsoft.com/office/drawing/2014/main" id="{32CDD84A-AD2D-4E85-8F99-D987562A6F55}"/>
              </a:ext>
            </a:extLst>
          </p:cNvPr>
          <p:cNvSpPr>
            <a:spLocks xmlns:a="http://schemas.openxmlformats.org/drawingml/2006/main" noGrp="1"/>
          </p:cNvSpPr>
          <p:nvPr/>
        </p:nvSpPr>
        <p:spPr>
          <a:xfrm xmlns:a="http://schemas.openxmlformats.org/drawingml/2006/main">
            <a:off x="9353550" y="2609850"/>
            <a:ext cx="552450" cy="2857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34" name="">
            <a:extLst xmlns:a="http://schemas.openxmlformats.org/drawingml/2006/main">
              <a:ext uri="{FF2B5EF4-FFF2-40B4-BE49-F238E27FC236}">
                <a16:creationId xmlns:a16="http://schemas.microsoft.com/office/drawing/2014/main" id="{701E4EED-1D35-4728-8841-CC7BDC0D9647}"/>
              </a:ext>
            </a:extLst>
          </p:cNvPr>
          <p:cNvSpPr>
            <a:spLocks xmlns:a="http://schemas.openxmlformats.org/drawingml/2006/main" noGrp="1"/>
          </p:cNvSpPr>
          <p:nvPr/>
        </p:nvSpPr>
        <p:spPr>
          <a:xfrm xmlns:a="http://schemas.openxmlformats.org/drawingml/2006/main">
            <a:off x="9353550" y="2667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0" i="0">
                <a:solidFill>
                  <a:srgbClr val="132238"/>
                </a:solidFill>
              </a:defRPr>
            </a:pPr>
            <a:r>
              <a:rPr sz="825" b="0" i="0">
                <a:solidFill>
                  <a:srgbClr val="132238"/>
                </a:solidFill>
              </a:rPr>
              <a:t>5</a:t>
            </a:r>
          </a:p>
        </p:txBody>
      </p:sp>
      <p:sp>
        <p:nvSpPr>
          <p:cNvPr id="35" name="">
            <a:extLst xmlns:a="http://schemas.openxmlformats.org/drawingml/2006/main">
              <a:ext uri="{FF2B5EF4-FFF2-40B4-BE49-F238E27FC236}">
                <a16:creationId xmlns:a16="http://schemas.microsoft.com/office/drawing/2014/main" id="{7DBF7711-8540-4A81-825E-62EB512E8A77}"/>
              </a:ext>
            </a:extLst>
          </p:cNvPr>
          <p:cNvSpPr>
            <a:spLocks xmlns:a="http://schemas.openxmlformats.org/drawingml/2006/main" noGrp="1"/>
          </p:cNvSpPr>
          <p:nvPr/>
        </p:nvSpPr>
        <p:spPr>
          <a:xfrm xmlns:a="http://schemas.openxmlformats.org/drawingml/2006/main">
            <a:off x="9982200" y="2609850"/>
            <a:ext cx="552450" cy="2857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36" name="">
            <a:extLst xmlns:a="http://schemas.openxmlformats.org/drawingml/2006/main">
              <a:ext uri="{FF2B5EF4-FFF2-40B4-BE49-F238E27FC236}">
                <a16:creationId xmlns:a16="http://schemas.microsoft.com/office/drawing/2014/main" id="{923ACA11-3A05-4C59-BE0B-ACF33EB7680E}"/>
              </a:ext>
            </a:extLst>
          </p:cNvPr>
          <p:cNvSpPr>
            <a:spLocks xmlns:a="http://schemas.openxmlformats.org/drawingml/2006/main" noGrp="1"/>
          </p:cNvSpPr>
          <p:nvPr/>
        </p:nvSpPr>
        <p:spPr>
          <a:xfrm xmlns:a="http://schemas.openxmlformats.org/drawingml/2006/main">
            <a:off x="9982200" y="2667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0" i="0">
                <a:solidFill>
                  <a:srgbClr val="132238"/>
                </a:solidFill>
              </a:defRPr>
            </a:pPr>
            <a:r>
              <a:rPr sz="825" b="0" i="0">
                <a:solidFill>
                  <a:srgbClr val="132238"/>
                </a:solidFill>
              </a:rPr>
              <a:t>0</a:t>
            </a:r>
          </a:p>
        </p:txBody>
      </p:sp>
      <p:sp>
        <p:nvSpPr>
          <p:cNvPr id="37" name="">
            <a:extLst xmlns:a="http://schemas.openxmlformats.org/drawingml/2006/main">
              <a:ext uri="{FF2B5EF4-FFF2-40B4-BE49-F238E27FC236}">
                <a16:creationId xmlns:a16="http://schemas.microsoft.com/office/drawing/2014/main" id="{A8F23885-CCC8-4A9B-9391-E8ECA50F0175}"/>
              </a:ext>
            </a:extLst>
          </p:cNvPr>
          <p:cNvSpPr>
            <a:spLocks xmlns:a="http://schemas.openxmlformats.org/drawingml/2006/main" noGrp="1"/>
          </p:cNvSpPr>
          <p:nvPr/>
        </p:nvSpPr>
        <p:spPr>
          <a:xfrm xmlns:a="http://schemas.openxmlformats.org/drawingml/2006/main">
            <a:off x="8096250" y="2990850"/>
            <a:ext cx="552450" cy="2857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38" name="">
            <a:extLst xmlns:a="http://schemas.openxmlformats.org/drawingml/2006/main">
              <a:ext uri="{FF2B5EF4-FFF2-40B4-BE49-F238E27FC236}">
                <a16:creationId xmlns:a16="http://schemas.microsoft.com/office/drawing/2014/main" id="{B4A6CA8A-DB23-4BDB-BEDA-638A52D96FCA}"/>
              </a:ext>
            </a:extLst>
          </p:cNvPr>
          <p:cNvSpPr>
            <a:spLocks xmlns:a="http://schemas.openxmlformats.org/drawingml/2006/main" noGrp="1"/>
          </p:cNvSpPr>
          <p:nvPr/>
        </p:nvSpPr>
        <p:spPr>
          <a:xfrm xmlns:a="http://schemas.openxmlformats.org/drawingml/2006/main">
            <a:off x="8096250" y="3048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0" i="0">
                <a:solidFill>
                  <a:srgbClr val="132238"/>
                </a:solidFill>
              </a:defRPr>
            </a:pPr>
            <a:r>
              <a:rPr sz="825" b="0" i="0">
                <a:solidFill>
                  <a:srgbClr val="132238"/>
                </a:solidFill>
              </a:rPr>
              <a:t>15</a:t>
            </a:r>
          </a:p>
        </p:txBody>
      </p:sp>
      <p:sp>
        <p:nvSpPr>
          <p:cNvPr id="39" name="">
            <a:extLst xmlns:a="http://schemas.openxmlformats.org/drawingml/2006/main">
              <a:ext uri="{FF2B5EF4-FFF2-40B4-BE49-F238E27FC236}">
                <a16:creationId xmlns:a16="http://schemas.microsoft.com/office/drawing/2014/main" id="{6DB37AEE-6CC8-4C63-97E5-1F7F9E1B70D9}"/>
              </a:ext>
            </a:extLst>
          </p:cNvPr>
          <p:cNvSpPr>
            <a:spLocks xmlns:a="http://schemas.openxmlformats.org/drawingml/2006/main" noGrp="1"/>
          </p:cNvSpPr>
          <p:nvPr/>
        </p:nvSpPr>
        <p:spPr>
          <a:xfrm xmlns:a="http://schemas.openxmlformats.org/drawingml/2006/main">
            <a:off x="8724900" y="2990850"/>
            <a:ext cx="552450" cy="285750"/>
          </a:xfrm>
          <a:prstGeom xmlns:a="http://schemas.openxmlformats.org/drawingml/2006/main" prst="rect">
            <a:avLst/>
          </a:prstGeom>
          <a:solidFill xmlns:a="http://schemas.openxmlformats.org/drawingml/2006/main">
            <a:srgbClr val="E1F0EC"/>
          </a:solidFill>
          <a:ln xmlns:a="http://schemas.openxmlformats.org/drawingml/2006/main" w="5715">
            <a:solidFill>
              <a:srgbClr val="D5DCDD"/>
            </a:solidFill>
            <a:prstDash val="solid"/>
          </a:ln>
        </p:spPr>
      </p:sp>
      <p:sp>
        <p:nvSpPr>
          <p:cNvPr id="40" name="">
            <a:extLst xmlns:a="http://schemas.openxmlformats.org/drawingml/2006/main">
              <a:ext uri="{FF2B5EF4-FFF2-40B4-BE49-F238E27FC236}">
                <a16:creationId xmlns:a16="http://schemas.microsoft.com/office/drawing/2014/main" id="{AC09BD32-B7F6-4910-852C-2D88F53550C7}"/>
              </a:ext>
            </a:extLst>
          </p:cNvPr>
          <p:cNvSpPr>
            <a:spLocks xmlns:a="http://schemas.openxmlformats.org/drawingml/2006/main" noGrp="1"/>
          </p:cNvSpPr>
          <p:nvPr/>
        </p:nvSpPr>
        <p:spPr>
          <a:xfrm xmlns:a="http://schemas.openxmlformats.org/drawingml/2006/main">
            <a:off x="8724900" y="3048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i="0">
                <a:solidFill>
                  <a:srgbClr val="132238"/>
                </a:solidFill>
              </a:defRPr>
            </a:pPr>
            <a:r>
              <a:rPr sz="825" b="1" i="0">
                <a:solidFill>
                  <a:srgbClr val="132238"/>
                </a:solidFill>
              </a:rPr>
              <a:t>105</a:t>
            </a:r>
          </a:p>
        </p:txBody>
      </p:sp>
      <p:sp>
        <p:nvSpPr>
          <p:cNvPr id="41" name="">
            <a:extLst xmlns:a="http://schemas.openxmlformats.org/drawingml/2006/main">
              <a:ext uri="{FF2B5EF4-FFF2-40B4-BE49-F238E27FC236}">
                <a16:creationId xmlns:a16="http://schemas.microsoft.com/office/drawing/2014/main" id="{6963CCFC-7528-4411-83CF-0B52E9BDCBB2}"/>
              </a:ext>
            </a:extLst>
          </p:cNvPr>
          <p:cNvSpPr>
            <a:spLocks xmlns:a="http://schemas.openxmlformats.org/drawingml/2006/main" noGrp="1"/>
          </p:cNvSpPr>
          <p:nvPr/>
        </p:nvSpPr>
        <p:spPr>
          <a:xfrm xmlns:a="http://schemas.openxmlformats.org/drawingml/2006/main">
            <a:off x="9353550" y="2990850"/>
            <a:ext cx="552450" cy="2857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42" name="">
            <a:extLst xmlns:a="http://schemas.openxmlformats.org/drawingml/2006/main">
              <a:ext uri="{FF2B5EF4-FFF2-40B4-BE49-F238E27FC236}">
                <a16:creationId xmlns:a16="http://schemas.microsoft.com/office/drawing/2014/main" id="{701B2D5B-BB99-4A6B-B500-640301017918}"/>
              </a:ext>
            </a:extLst>
          </p:cNvPr>
          <p:cNvSpPr>
            <a:spLocks xmlns:a="http://schemas.openxmlformats.org/drawingml/2006/main" noGrp="1"/>
          </p:cNvSpPr>
          <p:nvPr/>
        </p:nvSpPr>
        <p:spPr>
          <a:xfrm xmlns:a="http://schemas.openxmlformats.org/drawingml/2006/main">
            <a:off x="9353550" y="3048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0" i="0">
                <a:solidFill>
                  <a:srgbClr val="132238"/>
                </a:solidFill>
              </a:defRPr>
            </a:pPr>
            <a:r>
              <a:rPr sz="825" b="0" i="0">
                <a:solidFill>
                  <a:srgbClr val="132238"/>
                </a:solidFill>
              </a:rPr>
              <a:t>1</a:t>
            </a:r>
          </a:p>
        </p:txBody>
      </p:sp>
      <p:sp>
        <p:nvSpPr>
          <p:cNvPr id="43" name="">
            <a:extLst xmlns:a="http://schemas.openxmlformats.org/drawingml/2006/main">
              <a:ext uri="{FF2B5EF4-FFF2-40B4-BE49-F238E27FC236}">
                <a16:creationId xmlns:a16="http://schemas.microsoft.com/office/drawing/2014/main" id="{84A3324E-0F71-4E5F-9705-B6A6714021BB}"/>
              </a:ext>
            </a:extLst>
          </p:cNvPr>
          <p:cNvSpPr>
            <a:spLocks xmlns:a="http://schemas.openxmlformats.org/drawingml/2006/main" noGrp="1"/>
          </p:cNvSpPr>
          <p:nvPr/>
        </p:nvSpPr>
        <p:spPr>
          <a:xfrm xmlns:a="http://schemas.openxmlformats.org/drawingml/2006/main">
            <a:off x="9982200" y="2990850"/>
            <a:ext cx="552450" cy="2857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44" name="">
            <a:extLst xmlns:a="http://schemas.openxmlformats.org/drawingml/2006/main">
              <a:ext uri="{FF2B5EF4-FFF2-40B4-BE49-F238E27FC236}">
                <a16:creationId xmlns:a16="http://schemas.microsoft.com/office/drawing/2014/main" id="{CE9C3E03-3777-4363-8711-219CDB39D9B3}"/>
              </a:ext>
            </a:extLst>
          </p:cNvPr>
          <p:cNvSpPr>
            <a:spLocks xmlns:a="http://schemas.openxmlformats.org/drawingml/2006/main" noGrp="1"/>
          </p:cNvSpPr>
          <p:nvPr/>
        </p:nvSpPr>
        <p:spPr>
          <a:xfrm xmlns:a="http://schemas.openxmlformats.org/drawingml/2006/main">
            <a:off x="9982200" y="3048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0" i="0">
                <a:solidFill>
                  <a:srgbClr val="132238"/>
                </a:solidFill>
              </a:defRPr>
            </a:pPr>
            <a:r>
              <a:rPr sz="825" b="0" i="0">
                <a:solidFill>
                  <a:srgbClr val="132238"/>
                </a:solidFill>
              </a:rPr>
              <a:t>0</a:t>
            </a:r>
          </a:p>
        </p:txBody>
      </p:sp>
      <p:sp>
        <p:nvSpPr>
          <p:cNvPr id="45" name="">
            <a:extLst xmlns:a="http://schemas.openxmlformats.org/drawingml/2006/main">
              <a:ext uri="{FF2B5EF4-FFF2-40B4-BE49-F238E27FC236}">
                <a16:creationId xmlns:a16="http://schemas.microsoft.com/office/drawing/2014/main" id="{D827D8C7-E4EB-415E-BBCC-90D800507B1A}"/>
              </a:ext>
            </a:extLst>
          </p:cNvPr>
          <p:cNvSpPr>
            <a:spLocks xmlns:a="http://schemas.openxmlformats.org/drawingml/2006/main" noGrp="1"/>
          </p:cNvSpPr>
          <p:nvPr/>
        </p:nvSpPr>
        <p:spPr>
          <a:xfrm xmlns:a="http://schemas.openxmlformats.org/drawingml/2006/main">
            <a:off x="8096250" y="3371850"/>
            <a:ext cx="552450" cy="2857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46" name="">
            <a:extLst xmlns:a="http://schemas.openxmlformats.org/drawingml/2006/main">
              <a:ext uri="{FF2B5EF4-FFF2-40B4-BE49-F238E27FC236}">
                <a16:creationId xmlns:a16="http://schemas.microsoft.com/office/drawing/2014/main" id="{748CEA8D-4549-4AE1-BC45-29EF55751587}"/>
              </a:ext>
            </a:extLst>
          </p:cNvPr>
          <p:cNvSpPr>
            <a:spLocks xmlns:a="http://schemas.openxmlformats.org/drawingml/2006/main" noGrp="1"/>
          </p:cNvSpPr>
          <p:nvPr/>
        </p:nvSpPr>
        <p:spPr>
          <a:xfrm xmlns:a="http://schemas.openxmlformats.org/drawingml/2006/main">
            <a:off x="8096250" y="3429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0" i="0">
                <a:solidFill>
                  <a:srgbClr val="132238"/>
                </a:solidFill>
              </a:defRPr>
            </a:pPr>
            <a:r>
              <a:rPr sz="825" b="0" i="0">
                <a:solidFill>
                  <a:srgbClr val="132238"/>
                </a:solidFill>
              </a:rPr>
              <a:t>7</a:t>
            </a:r>
          </a:p>
        </p:txBody>
      </p:sp>
      <p:sp>
        <p:nvSpPr>
          <p:cNvPr id="47" name="">
            <a:extLst xmlns:a="http://schemas.openxmlformats.org/drawingml/2006/main">
              <a:ext uri="{FF2B5EF4-FFF2-40B4-BE49-F238E27FC236}">
                <a16:creationId xmlns:a16="http://schemas.microsoft.com/office/drawing/2014/main" id="{F247F8A4-C419-4BD5-9CB0-B6817A22BD26}"/>
              </a:ext>
            </a:extLst>
          </p:cNvPr>
          <p:cNvSpPr>
            <a:spLocks xmlns:a="http://schemas.openxmlformats.org/drawingml/2006/main" noGrp="1"/>
          </p:cNvSpPr>
          <p:nvPr/>
        </p:nvSpPr>
        <p:spPr>
          <a:xfrm xmlns:a="http://schemas.openxmlformats.org/drawingml/2006/main">
            <a:off x="8724900" y="3371850"/>
            <a:ext cx="552450" cy="2857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48" name="">
            <a:extLst xmlns:a="http://schemas.openxmlformats.org/drawingml/2006/main">
              <a:ext uri="{FF2B5EF4-FFF2-40B4-BE49-F238E27FC236}">
                <a16:creationId xmlns:a16="http://schemas.microsoft.com/office/drawing/2014/main" id="{165D3811-4AD0-432B-995F-B3943948C1B3}"/>
              </a:ext>
            </a:extLst>
          </p:cNvPr>
          <p:cNvSpPr>
            <a:spLocks xmlns:a="http://schemas.openxmlformats.org/drawingml/2006/main" noGrp="1"/>
          </p:cNvSpPr>
          <p:nvPr/>
        </p:nvSpPr>
        <p:spPr>
          <a:xfrm xmlns:a="http://schemas.openxmlformats.org/drawingml/2006/main">
            <a:off x="8724900" y="3429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0" i="0">
                <a:solidFill>
                  <a:srgbClr val="132238"/>
                </a:solidFill>
              </a:defRPr>
            </a:pPr>
            <a:r>
              <a:rPr sz="825" b="0" i="0">
                <a:solidFill>
                  <a:srgbClr val="132238"/>
                </a:solidFill>
              </a:rPr>
              <a:t>7</a:t>
            </a:r>
          </a:p>
        </p:txBody>
      </p:sp>
      <p:sp>
        <p:nvSpPr>
          <p:cNvPr id="49" name="">
            <a:extLst xmlns:a="http://schemas.openxmlformats.org/drawingml/2006/main">
              <a:ext uri="{FF2B5EF4-FFF2-40B4-BE49-F238E27FC236}">
                <a16:creationId xmlns:a16="http://schemas.microsoft.com/office/drawing/2014/main" id="{031C79BD-6EBD-43AF-9320-8DC5838BDC09}"/>
              </a:ext>
            </a:extLst>
          </p:cNvPr>
          <p:cNvSpPr>
            <a:spLocks xmlns:a="http://schemas.openxmlformats.org/drawingml/2006/main" noGrp="1"/>
          </p:cNvSpPr>
          <p:nvPr/>
        </p:nvSpPr>
        <p:spPr>
          <a:xfrm xmlns:a="http://schemas.openxmlformats.org/drawingml/2006/main">
            <a:off x="9353550" y="3371850"/>
            <a:ext cx="552450" cy="285750"/>
          </a:xfrm>
          <a:prstGeom xmlns:a="http://schemas.openxmlformats.org/drawingml/2006/main" prst="rect">
            <a:avLst/>
          </a:prstGeom>
          <a:solidFill xmlns:a="http://schemas.openxmlformats.org/drawingml/2006/main">
            <a:srgbClr val="E1F0EC"/>
          </a:solidFill>
          <a:ln xmlns:a="http://schemas.openxmlformats.org/drawingml/2006/main" w="5715">
            <a:solidFill>
              <a:srgbClr val="D5DCDD"/>
            </a:solidFill>
            <a:prstDash val="solid"/>
          </a:ln>
        </p:spPr>
      </p:sp>
      <p:sp>
        <p:nvSpPr>
          <p:cNvPr id="50" name="">
            <a:extLst xmlns:a="http://schemas.openxmlformats.org/drawingml/2006/main">
              <a:ext uri="{FF2B5EF4-FFF2-40B4-BE49-F238E27FC236}">
                <a16:creationId xmlns:a16="http://schemas.microsoft.com/office/drawing/2014/main" id="{362AFB23-5C17-4BC8-A8D1-6BAC64AFD788}"/>
              </a:ext>
            </a:extLst>
          </p:cNvPr>
          <p:cNvSpPr>
            <a:spLocks xmlns:a="http://schemas.openxmlformats.org/drawingml/2006/main" noGrp="1"/>
          </p:cNvSpPr>
          <p:nvPr/>
        </p:nvSpPr>
        <p:spPr>
          <a:xfrm xmlns:a="http://schemas.openxmlformats.org/drawingml/2006/main">
            <a:off x="9353550" y="3429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i="0">
                <a:solidFill>
                  <a:srgbClr val="132238"/>
                </a:solidFill>
              </a:defRPr>
            </a:pPr>
            <a:r>
              <a:rPr sz="825" b="1" i="0">
                <a:solidFill>
                  <a:srgbClr val="132238"/>
                </a:solidFill>
              </a:rPr>
              <a:t>92</a:t>
            </a:r>
          </a:p>
        </p:txBody>
      </p:sp>
      <p:sp>
        <p:nvSpPr>
          <p:cNvPr id="51" name="">
            <a:extLst xmlns:a="http://schemas.openxmlformats.org/drawingml/2006/main">
              <a:ext uri="{FF2B5EF4-FFF2-40B4-BE49-F238E27FC236}">
                <a16:creationId xmlns:a16="http://schemas.microsoft.com/office/drawing/2014/main" id="{7A039A20-8BAF-410E-A1A6-1B3638583756}"/>
              </a:ext>
            </a:extLst>
          </p:cNvPr>
          <p:cNvSpPr>
            <a:spLocks xmlns:a="http://schemas.openxmlformats.org/drawingml/2006/main" noGrp="1"/>
          </p:cNvSpPr>
          <p:nvPr/>
        </p:nvSpPr>
        <p:spPr>
          <a:xfrm xmlns:a="http://schemas.openxmlformats.org/drawingml/2006/main">
            <a:off x="9982200" y="3371850"/>
            <a:ext cx="552450" cy="2857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52" name="">
            <a:extLst xmlns:a="http://schemas.openxmlformats.org/drawingml/2006/main">
              <a:ext uri="{FF2B5EF4-FFF2-40B4-BE49-F238E27FC236}">
                <a16:creationId xmlns:a16="http://schemas.microsoft.com/office/drawing/2014/main" id="{173ADF90-84BB-435A-855F-9C9325B06851}"/>
              </a:ext>
            </a:extLst>
          </p:cNvPr>
          <p:cNvSpPr>
            <a:spLocks xmlns:a="http://schemas.openxmlformats.org/drawingml/2006/main" noGrp="1"/>
          </p:cNvSpPr>
          <p:nvPr/>
        </p:nvSpPr>
        <p:spPr>
          <a:xfrm xmlns:a="http://schemas.openxmlformats.org/drawingml/2006/main">
            <a:off x="9982200" y="3429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0" i="0">
                <a:solidFill>
                  <a:srgbClr val="132238"/>
                </a:solidFill>
              </a:defRPr>
            </a:pPr>
            <a:r>
              <a:rPr sz="825" b="0" i="0">
                <a:solidFill>
                  <a:srgbClr val="132238"/>
                </a:solidFill>
              </a:rPr>
              <a:t>0</a:t>
            </a:r>
          </a:p>
        </p:txBody>
      </p:sp>
      <p:sp>
        <p:nvSpPr>
          <p:cNvPr id="53" name="">
            <a:extLst xmlns:a="http://schemas.openxmlformats.org/drawingml/2006/main">
              <a:ext uri="{FF2B5EF4-FFF2-40B4-BE49-F238E27FC236}">
                <a16:creationId xmlns:a16="http://schemas.microsoft.com/office/drawing/2014/main" id="{1F40AEDF-60F6-4E98-8E9F-A71E12D26780}"/>
              </a:ext>
            </a:extLst>
          </p:cNvPr>
          <p:cNvSpPr>
            <a:spLocks xmlns:a="http://schemas.openxmlformats.org/drawingml/2006/main" noGrp="1"/>
          </p:cNvSpPr>
          <p:nvPr/>
        </p:nvSpPr>
        <p:spPr>
          <a:xfrm xmlns:a="http://schemas.openxmlformats.org/drawingml/2006/main">
            <a:off x="8096250" y="3752850"/>
            <a:ext cx="552450" cy="2857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54" name="">
            <a:extLst xmlns:a="http://schemas.openxmlformats.org/drawingml/2006/main">
              <a:ext uri="{FF2B5EF4-FFF2-40B4-BE49-F238E27FC236}">
                <a16:creationId xmlns:a16="http://schemas.microsoft.com/office/drawing/2014/main" id="{9CFB00F2-C0E5-4A14-8712-A34399A882A5}"/>
              </a:ext>
            </a:extLst>
          </p:cNvPr>
          <p:cNvSpPr>
            <a:spLocks xmlns:a="http://schemas.openxmlformats.org/drawingml/2006/main" noGrp="1"/>
          </p:cNvSpPr>
          <p:nvPr/>
        </p:nvSpPr>
        <p:spPr>
          <a:xfrm xmlns:a="http://schemas.openxmlformats.org/drawingml/2006/main">
            <a:off x="8096250" y="3810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0" i="0">
                <a:solidFill>
                  <a:srgbClr val="132238"/>
                </a:solidFill>
              </a:defRPr>
            </a:pPr>
            <a:r>
              <a:rPr sz="825" b="0" i="0">
                <a:solidFill>
                  <a:srgbClr val="132238"/>
                </a:solidFill>
              </a:rPr>
              <a:t>0</a:t>
            </a:r>
          </a:p>
        </p:txBody>
      </p:sp>
      <p:sp>
        <p:nvSpPr>
          <p:cNvPr id="55" name="">
            <a:extLst xmlns:a="http://schemas.openxmlformats.org/drawingml/2006/main">
              <a:ext uri="{FF2B5EF4-FFF2-40B4-BE49-F238E27FC236}">
                <a16:creationId xmlns:a16="http://schemas.microsoft.com/office/drawing/2014/main" id="{EB4499EB-0DD9-4213-84F7-677059558FD8}"/>
              </a:ext>
            </a:extLst>
          </p:cNvPr>
          <p:cNvSpPr>
            <a:spLocks xmlns:a="http://schemas.openxmlformats.org/drawingml/2006/main" noGrp="1"/>
          </p:cNvSpPr>
          <p:nvPr/>
        </p:nvSpPr>
        <p:spPr>
          <a:xfrm xmlns:a="http://schemas.openxmlformats.org/drawingml/2006/main">
            <a:off x="8724900" y="3752850"/>
            <a:ext cx="552450" cy="2857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56" name="">
            <a:extLst xmlns:a="http://schemas.openxmlformats.org/drawingml/2006/main">
              <a:ext uri="{FF2B5EF4-FFF2-40B4-BE49-F238E27FC236}">
                <a16:creationId xmlns:a16="http://schemas.microsoft.com/office/drawing/2014/main" id="{9A9C22F8-2E62-44D0-87F4-2295C5D11EAB}"/>
              </a:ext>
            </a:extLst>
          </p:cNvPr>
          <p:cNvSpPr>
            <a:spLocks xmlns:a="http://schemas.openxmlformats.org/drawingml/2006/main" noGrp="1"/>
          </p:cNvSpPr>
          <p:nvPr/>
        </p:nvSpPr>
        <p:spPr>
          <a:xfrm xmlns:a="http://schemas.openxmlformats.org/drawingml/2006/main">
            <a:off x="8724900" y="3810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0" i="0">
                <a:solidFill>
                  <a:srgbClr val="132238"/>
                </a:solidFill>
              </a:defRPr>
            </a:pPr>
            <a:r>
              <a:rPr sz="825" b="0" i="0">
                <a:solidFill>
                  <a:srgbClr val="132238"/>
                </a:solidFill>
              </a:rPr>
              <a:t>0</a:t>
            </a:r>
          </a:p>
        </p:txBody>
      </p:sp>
      <p:sp>
        <p:nvSpPr>
          <p:cNvPr id="57" name="">
            <a:extLst xmlns:a="http://schemas.openxmlformats.org/drawingml/2006/main">
              <a:ext uri="{FF2B5EF4-FFF2-40B4-BE49-F238E27FC236}">
                <a16:creationId xmlns:a16="http://schemas.microsoft.com/office/drawing/2014/main" id="{AB592F8F-DAFF-4DC4-B261-B3B717E031D8}"/>
              </a:ext>
            </a:extLst>
          </p:cNvPr>
          <p:cNvSpPr>
            <a:spLocks xmlns:a="http://schemas.openxmlformats.org/drawingml/2006/main" noGrp="1"/>
          </p:cNvSpPr>
          <p:nvPr/>
        </p:nvSpPr>
        <p:spPr>
          <a:xfrm xmlns:a="http://schemas.openxmlformats.org/drawingml/2006/main">
            <a:off x="9353550" y="3752850"/>
            <a:ext cx="552450" cy="2857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58" name="">
            <a:extLst xmlns:a="http://schemas.openxmlformats.org/drawingml/2006/main">
              <a:ext uri="{FF2B5EF4-FFF2-40B4-BE49-F238E27FC236}">
                <a16:creationId xmlns:a16="http://schemas.microsoft.com/office/drawing/2014/main" id="{0D5881CC-8366-4A01-9A4E-65800AE3CE00}"/>
              </a:ext>
            </a:extLst>
          </p:cNvPr>
          <p:cNvSpPr>
            <a:spLocks xmlns:a="http://schemas.openxmlformats.org/drawingml/2006/main" noGrp="1"/>
          </p:cNvSpPr>
          <p:nvPr/>
        </p:nvSpPr>
        <p:spPr>
          <a:xfrm xmlns:a="http://schemas.openxmlformats.org/drawingml/2006/main">
            <a:off x="9353550" y="3810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0" i="0">
                <a:solidFill>
                  <a:srgbClr val="132238"/>
                </a:solidFill>
              </a:defRPr>
            </a:pPr>
            <a:r>
              <a:rPr sz="825" b="0" i="0">
                <a:solidFill>
                  <a:srgbClr val="132238"/>
                </a:solidFill>
              </a:rPr>
              <a:t>0</a:t>
            </a:r>
          </a:p>
        </p:txBody>
      </p:sp>
      <p:sp>
        <p:nvSpPr>
          <p:cNvPr id="59" name="">
            <a:extLst xmlns:a="http://schemas.openxmlformats.org/drawingml/2006/main">
              <a:ext uri="{FF2B5EF4-FFF2-40B4-BE49-F238E27FC236}">
                <a16:creationId xmlns:a16="http://schemas.microsoft.com/office/drawing/2014/main" id="{53C47E28-8160-491F-8ED1-DB43FD711493}"/>
              </a:ext>
            </a:extLst>
          </p:cNvPr>
          <p:cNvSpPr>
            <a:spLocks xmlns:a="http://schemas.openxmlformats.org/drawingml/2006/main" noGrp="1"/>
          </p:cNvSpPr>
          <p:nvPr/>
        </p:nvSpPr>
        <p:spPr>
          <a:xfrm xmlns:a="http://schemas.openxmlformats.org/drawingml/2006/main">
            <a:off x="9982200" y="3752850"/>
            <a:ext cx="552450" cy="285750"/>
          </a:xfrm>
          <a:prstGeom xmlns:a="http://schemas.openxmlformats.org/drawingml/2006/main" prst="rect">
            <a:avLst/>
          </a:prstGeom>
          <a:solidFill xmlns:a="http://schemas.openxmlformats.org/drawingml/2006/main">
            <a:srgbClr val="E1F0EC"/>
          </a:solidFill>
          <a:ln xmlns:a="http://schemas.openxmlformats.org/drawingml/2006/main" w="5715">
            <a:solidFill>
              <a:srgbClr val="D5DCDD"/>
            </a:solidFill>
            <a:prstDash val="solid"/>
          </a:ln>
        </p:spPr>
      </p:sp>
      <p:sp>
        <p:nvSpPr>
          <p:cNvPr id="60" name="">
            <a:extLst xmlns:a="http://schemas.openxmlformats.org/drawingml/2006/main">
              <a:ext uri="{FF2B5EF4-FFF2-40B4-BE49-F238E27FC236}">
                <a16:creationId xmlns:a16="http://schemas.microsoft.com/office/drawing/2014/main" id="{1C5BC6C0-8202-42F3-BE5F-B84CC78DC02A}"/>
              </a:ext>
            </a:extLst>
          </p:cNvPr>
          <p:cNvSpPr>
            <a:spLocks xmlns:a="http://schemas.openxmlformats.org/drawingml/2006/main" noGrp="1"/>
          </p:cNvSpPr>
          <p:nvPr/>
        </p:nvSpPr>
        <p:spPr>
          <a:xfrm xmlns:a="http://schemas.openxmlformats.org/drawingml/2006/main">
            <a:off x="9982200" y="3810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i="0">
                <a:solidFill>
                  <a:srgbClr val="132238"/>
                </a:solidFill>
              </a:defRPr>
            </a:pPr>
            <a:r>
              <a:rPr sz="825" b="1" i="0">
                <a:solidFill>
                  <a:srgbClr val="132238"/>
                </a:solidFill>
              </a:rPr>
              <a:t>4</a:t>
            </a:r>
          </a:p>
        </p:txBody>
      </p:sp>
      <p:sp>
        <p:nvSpPr>
          <p:cNvPr id="61" name="">
            <a:extLst xmlns:a="http://schemas.openxmlformats.org/drawingml/2006/main">
              <a:ext uri="{FF2B5EF4-FFF2-40B4-BE49-F238E27FC236}">
                <a16:creationId xmlns:a16="http://schemas.microsoft.com/office/drawing/2014/main" id="{C6551217-DFBA-4CE2-891D-5217B91FD962}"/>
              </a:ext>
            </a:extLst>
          </p:cNvPr>
          <p:cNvSpPr>
            <a:spLocks xmlns:a="http://schemas.openxmlformats.org/drawingml/2006/main" noGrp="1"/>
          </p:cNvSpPr>
          <p:nvPr/>
        </p:nvSpPr>
        <p:spPr>
          <a:xfrm xmlns:a="http://schemas.openxmlformats.org/drawingml/2006/main">
            <a:off x="685800" y="5257800"/>
            <a:ext cx="10172700" cy="533400"/>
          </a:xfrm>
          <a:prstGeom xmlns:a="http://schemas.openxmlformats.org/drawingml/2006/main" prst="rect">
            <a:avLst/>
          </a:prstGeom>
          <a:solidFill xmlns:a="http://schemas.openxmlformats.org/drawingml/2006/main">
            <a:srgbClr val="F6E7E5"/>
          </a:solidFill>
          <a:ln xmlns:a="http://schemas.openxmlformats.org/drawingml/2006/main" w="5715">
            <a:solidFill>
              <a:srgbClr val="F6E7E5"/>
            </a:solidFill>
            <a:prstDash val="solid"/>
          </a:ln>
        </p:spPr>
      </p:sp>
      <p:sp>
        <p:nvSpPr>
          <p:cNvPr id="62" name="">
            <a:extLst xmlns:a="http://schemas.openxmlformats.org/drawingml/2006/main">
              <a:ext uri="{FF2B5EF4-FFF2-40B4-BE49-F238E27FC236}">
                <a16:creationId xmlns:a16="http://schemas.microsoft.com/office/drawing/2014/main" id="{9AD07903-0BD1-42FD-9A37-5CEC0AEEB4B0}"/>
              </a:ext>
            </a:extLst>
          </p:cNvPr>
          <p:cNvSpPr>
            <a:spLocks xmlns:a="http://schemas.openxmlformats.org/drawingml/2006/main" noGrp="1"/>
          </p:cNvSpPr>
          <p:nvPr/>
        </p:nvSpPr>
        <p:spPr>
          <a:xfrm xmlns:a="http://schemas.openxmlformats.org/drawingml/2006/main">
            <a:off x="685800" y="5257800"/>
            <a:ext cx="76200" cy="5334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63" name="">
            <a:extLst xmlns:a="http://schemas.openxmlformats.org/drawingml/2006/main">
              <a:ext uri="{FF2B5EF4-FFF2-40B4-BE49-F238E27FC236}">
                <a16:creationId xmlns:a16="http://schemas.microsoft.com/office/drawing/2014/main" id="{76BAB969-982B-419B-A30F-F80B76C6CE11}"/>
              </a:ext>
            </a:extLst>
          </p:cNvPr>
          <p:cNvSpPr>
            <a:spLocks xmlns:a="http://schemas.openxmlformats.org/drawingml/2006/main" noGrp="1"/>
          </p:cNvSpPr>
          <p:nvPr/>
        </p:nvSpPr>
        <p:spPr>
          <a:xfrm xmlns:a="http://schemas.openxmlformats.org/drawingml/2006/main">
            <a:off x="952500" y="5391150"/>
            <a:ext cx="9696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238"/>
                </a:solidFill>
              </a:defRPr>
            </a:pPr>
            <a:r>
              <a:rPr sz="1275" b="1" i="0">
                <a:solidFill>
                  <a:srgbClr val="132238"/>
                </a:solidFill>
              </a:rPr>
              <a:t>The replay provides strong repeatability evidence, while the historical labels remain a policy reference rather than independently adjudicated ground truth.</a:t>
            </a:r>
          </a:p>
        </p:txBody>
      </p:sp>
    </p:spTree>
    <p:extLst>
      <p:ext uri="{BB962C8B-B14F-4D97-AF65-F5344CB8AC3E}">
        <p14:creationId xmlns:p14="http://schemas.microsoft.com/office/powerpoint/2010/main" val="538930409"/>
      </p:ext>
    </p:extLst>
  </p:cSld>
</p:sld>
</file>

<file path=ppt/slides/slide2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5DEF722-26E2-4D78-8021-76F50143F8D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CD096A4B-46A5-4625-AAAF-65DA8E7868D6}"/>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APPENDIX A5 | CONTROLLED GUIDANCE CONTRASTS</a:t>
            </a:r>
          </a:p>
        </p:txBody>
      </p:sp>
      <p:sp>
        <p:nvSpPr>
          <p:cNvPr id="3" name="">
            <a:extLst xmlns:a="http://schemas.openxmlformats.org/drawingml/2006/main">
              <a:ext uri="{FF2B5EF4-FFF2-40B4-BE49-F238E27FC236}">
                <a16:creationId xmlns:a16="http://schemas.microsoft.com/office/drawing/2014/main" id="{83C8A476-6909-4DB2-833B-348A93F9285D}"/>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Matched prompt comparisons with 95% bootstrap intervals</a:t>
            </a:r>
          </a:p>
        </p:txBody>
      </p:sp>
      <p:sp>
        <p:nvSpPr>
          <p:cNvPr id="4" name="">
            <a:extLst xmlns:a="http://schemas.openxmlformats.org/drawingml/2006/main">
              <a:ext uri="{FF2B5EF4-FFF2-40B4-BE49-F238E27FC236}">
                <a16:creationId xmlns:a16="http://schemas.microsoft.com/office/drawing/2014/main" id="{0D0AA45A-89F0-4947-AEEB-7CC71631F11C}"/>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Each contrast compares labels from the same 978 original tasks. Percentage-point movement is shown for E0 proportion.</a:t>
            </a:r>
          </a:p>
        </p:txBody>
      </p:sp>
      <p:sp>
        <p:nvSpPr>
          <p:cNvPr id="5" name="">
            <a:extLst xmlns:a="http://schemas.openxmlformats.org/drawingml/2006/main">
              <a:ext uri="{FF2B5EF4-FFF2-40B4-BE49-F238E27FC236}">
                <a16:creationId xmlns:a16="http://schemas.microsoft.com/office/drawing/2014/main" id="{E28946B0-CB98-48D2-AA45-547D1C8854B8}"/>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12A370EA-EB5B-4820-9109-218F94F7D1AB}"/>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ABF7B6C2-358E-463F-B31A-79B37DC63CF4}"/>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24</a:t>
            </a:r>
          </a:p>
        </p:txBody>
      </p:sp>
      <p:sp>
        <p:nvSpPr>
          <p:cNvPr id="8" name="">
            <a:extLst xmlns:a="http://schemas.openxmlformats.org/drawingml/2006/main">
              <a:ext uri="{FF2B5EF4-FFF2-40B4-BE49-F238E27FC236}">
                <a16:creationId xmlns:a16="http://schemas.microsoft.com/office/drawing/2014/main" id="{9D910DBF-4933-4D8F-9222-64508A5581D8}"/>
              </a:ext>
            </a:extLst>
          </p:cNvPr>
          <p:cNvSpPr>
            <a:spLocks xmlns:a="http://schemas.openxmlformats.org/drawingml/2006/main" noGrp="1"/>
          </p:cNvSpPr>
          <p:nvPr/>
        </p:nvSpPr>
        <p:spPr>
          <a:xfrm xmlns:a="http://schemas.openxmlformats.org/drawingml/2006/main">
            <a:off x="685800" y="20955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CONTROLLED CHANGE</a:t>
            </a:r>
          </a:p>
        </p:txBody>
      </p:sp>
      <p:sp>
        <p:nvSpPr>
          <p:cNvPr id="9" name="">
            <a:extLst xmlns:a="http://schemas.openxmlformats.org/drawingml/2006/main">
              <a:ext uri="{FF2B5EF4-FFF2-40B4-BE49-F238E27FC236}">
                <a16:creationId xmlns:a16="http://schemas.microsoft.com/office/drawing/2014/main" id="{60D97EEC-303F-4869-8DC3-C1BED227F9A5}"/>
              </a:ext>
            </a:extLst>
          </p:cNvPr>
          <p:cNvSpPr>
            <a:spLocks xmlns:a="http://schemas.openxmlformats.org/drawingml/2006/main" noGrp="1"/>
          </p:cNvSpPr>
          <p:nvPr/>
        </p:nvSpPr>
        <p:spPr>
          <a:xfrm xmlns:a="http://schemas.openxmlformats.org/drawingml/2006/main">
            <a:off x="7239000" y="20955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E0 CHANGE</a:t>
            </a:r>
          </a:p>
        </p:txBody>
      </p:sp>
      <p:sp>
        <p:nvSpPr>
          <p:cNvPr id="10" name="">
            <a:extLst xmlns:a="http://schemas.openxmlformats.org/drawingml/2006/main">
              <a:ext uri="{FF2B5EF4-FFF2-40B4-BE49-F238E27FC236}">
                <a16:creationId xmlns:a16="http://schemas.microsoft.com/office/drawing/2014/main" id="{7378DD10-B869-4069-999A-A84149A2FA34}"/>
              </a:ext>
            </a:extLst>
          </p:cNvPr>
          <p:cNvSpPr>
            <a:spLocks xmlns:a="http://schemas.openxmlformats.org/drawingml/2006/main" noGrp="1"/>
          </p:cNvSpPr>
          <p:nvPr/>
        </p:nvSpPr>
        <p:spPr>
          <a:xfrm xmlns:a="http://schemas.openxmlformats.org/drawingml/2006/main">
            <a:off x="9239250" y="209550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95% INTERVAL</a:t>
            </a:r>
          </a:p>
        </p:txBody>
      </p:sp>
      <p:sp>
        <p:nvSpPr>
          <p:cNvPr id="11" name="">
            <a:extLst xmlns:a="http://schemas.openxmlformats.org/drawingml/2006/main">
              <a:ext uri="{FF2B5EF4-FFF2-40B4-BE49-F238E27FC236}">
                <a16:creationId xmlns:a16="http://schemas.microsoft.com/office/drawing/2014/main" id="{5FC5D9EF-1E14-4432-B70F-E4644EDC07E0}"/>
              </a:ext>
            </a:extLst>
          </p:cNvPr>
          <p:cNvSpPr>
            <a:spLocks xmlns:a="http://schemas.openxmlformats.org/drawingml/2006/main" noGrp="1"/>
          </p:cNvSpPr>
          <p:nvPr/>
        </p:nvSpPr>
        <p:spPr>
          <a:xfrm xmlns:a="http://schemas.openxmlformats.org/drawingml/2006/main">
            <a:off x="685800" y="2362200"/>
            <a:ext cx="10172700" cy="533400"/>
          </a:xfrm>
          <a:prstGeom xmlns:a="http://schemas.openxmlformats.org/drawingml/2006/main" prst="rect">
            <a:avLst/>
          </a:prstGeom>
          <a:solidFill xmlns:a="http://schemas.openxmlformats.org/drawingml/2006/main">
            <a:srgbClr val="FFFFFF"/>
          </a:solidFill>
          <a:ln xmlns:a="http://schemas.openxmlformats.org/drawingml/2006/main" w="5715">
            <a:solidFill>
              <a:srgbClr val="FFFFFF"/>
            </a:solidFill>
            <a:prstDash val="solid"/>
          </a:ln>
        </p:spPr>
      </p:sp>
      <p:sp>
        <p:nvSpPr>
          <p:cNvPr id="12" name="">
            <a:extLst xmlns:a="http://schemas.openxmlformats.org/drawingml/2006/main">
              <a:ext uri="{FF2B5EF4-FFF2-40B4-BE49-F238E27FC236}">
                <a16:creationId xmlns:a16="http://schemas.microsoft.com/office/drawing/2014/main" id="{59DEE6E2-CABD-4EB8-A4C7-CF008137446D}"/>
              </a:ext>
            </a:extLst>
          </p:cNvPr>
          <p:cNvSpPr>
            <a:spLocks xmlns:a="http://schemas.openxmlformats.org/drawingml/2006/main" noGrp="1"/>
          </p:cNvSpPr>
          <p:nvPr/>
        </p:nvSpPr>
        <p:spPr>
          <a:xfrm xmlns:a="http://schemas.openxmlformats.org/drawingml/2006/main">
            <a:off x="838200" y="2457450"/>
            <a:ext cx="600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32238"/>
                </a:solidFill>
              </a:defRPr>
            </a:pPr>
            <a:r>
              <a:rPr sz="1125" b="0" i="0">
                <a:solidFill>
                  <a:srgbClr val="132238"/>
                </a:solidFill>
              </a:rPr>
              <a:t>Historical dashboard guidance → Current POC guidance | GPT-4o</a:t>
            </a:r>
          </a:p>
        </p:txBody>
      </p:sp>
      <p:sp>
        <p:nvSpPr>
          <p:cNvPr id="13" name="">
            <a:extLst xmlns:a="http://schemas.openxmlformats.org/drawingml/2006/main">
              <a:ext uri="{FF2B5EF4-FFF2-40B4-BE49-F238E27FC236}">
                <a16:creationId xmlns:a16="http://schemas.microsoft.com/office/drawing/2014/main" id="{026FC4D7-C76A-4EA1-9FD0-6B38D40ADABC}"/>
              </a:ext>
            </a:extLst>
          </p:cNvPr>
          <p:cNvSpPr>
            <a:spLocks xmlns:a="http://schemas.openxmlformats.org/drawingml/2006/main" noGrp="1"/>
          </p:cNvSpPr>
          <p:nvPr/>
        </p:nvSpPr>
        <p:spPr>
          <a:xfrm xmlns:a="http://schemas.openxmlformats.org/drawingml/2006/main">
            <a:off x="7239000" y="2457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C75850"/>
                </a:solidFill>
              </a:defRPr>
            </a:pPr>
            <a:r>
              <a:rPr sz="1275" b="1" i="0">
                <a:solidFill>
                  <a:srgbClr val="C75850"/>
                </a:solidFill>
              </a:rPr>
              <a:t>−35.9 pp</a:t>
            </a:r>
          </a:p>
        </p:txBody>
      </p:sp>
      <p:sp>
        <p:nvSpPr>
          <p:cNvPr id="14" name="">
            <a:extLst xmlns:a="http://schemas.openxmlformats.org/drawingml/2006/main">
              <a:ext uri="{FF2B5EF4-FFF2-40B4-BE49-F238E27FC236}">
                <a16:creationId xmlns:a16="http://schemas.microsoft.com/office/drawing/2014/main" id="{ADC7FD98-E608-4E74-9F6A-E3AB4109FD21}"/>
              </a:ext>
            </a:extLst>
          </p:cNvPr>
          <p:cNvSpPr>
            <a:spLocks xmlns:a="http://schemas.openxmlformats.org/drawingml/2006/main" noGrp="1"/>
          </p:cNvSpPr>
          <p:nvPr/>
        </p:nvSpPr>
        <p:spPr>
          <a:xfrm xmlns:a="http://schemas.openxmlformats.org/drawingml/2006/main">
            <a:off x="9239250" y="2457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C75850"/>
                </a:solidFill>
              </a:defRPr>
            </a:pPr>
            <a:r>
              <a:rPr sz="1050" b="1" i="0">
                <a:solidFill>
                  <a:srgbClr val="C75850"/>
                </a:solidFill>
              </a:rPr>
              <a:t>[−38.9, −32.7]</a:t>
            </a:r>
          </a:p>
        </p:txBody>
      </p:sp>
      <p:sp>
        <p:nvSpPr>
          <p:cNvPr id="15" name="">
            <a:extLst xmlns:a="http://schemas.openxmlformats.org/drawingml/2006/main">
              <a:ext uri="{FF2B5EF4-FFF2-40B4-BE49-F238E27FC236}">
                <a16:creationId xmlns:a16="http://schemas.microsoft.com/office/drawing/2014/main" id="{127B16C4-2C5B-485E-9189-6E721A18FF87}"/>
              </a:ext>
            </a:extLst>
          </p:cNvPr>
          <p:cNvSpPr>
            <a:spLocks xmlns:a="http://schemas.openxmlformats.org/drawingml/2006/main" noGrp="1"/>
          </p:cNvSpPr>
          <p:nvPr/>
        </p:nvSpPr>
        <p:spPr>
          <a:xfrm xmlns:a="http://schemas.openxmlformats.org/drawingml/2006/main">
            <a:off x="838200" y="3181350"/>
            <a:ext cx="600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32238"/>
                </a:solidFill>
              </a:defRPr>
            </a:pPr>
            <a:r>
              <a:rPr sz="1125" b="0" i="0">
                <a:solidFill>
                  <a:srgbClr val="132238"/>
                </a:solidFill>
              </a:rPr>
              <a:t>Historical dashboard guidance → Current POC guidance | GPT-5.2</a:t>
            </a:r>
          </a:p>
        </p:txBody>
      </p:sp>
      <p:sp>
        <p:nvSpPr>
          <p:cNvPr id="16" name="">
            <a:extLst xmlns:a="http://schemas.openxmlformats.org/drawingml/2006/main">
              <a:ext uri="{FF2B5EF4-FFF2-40B4-BE49-F238E27FC236}">
                <a16:creationId xmlns:a16="http://schemas.microsoft.com/office/drawing/2014/main" id="{C825FDF9-4B3B-45AD-874A-0E7685C4A79C}"/>
              </a:ext>
            </a:extLst>
          </p:cNvPr>
          <p:cNvSpPr>
            <a:spLocks xmlns:a="http://schemas.openxmlformats.org/drawingml/2006/main" noGrp="1"/>
          </p:cNvSpPr>
          <p:nvPr/>
        </p:nvSpPr>
        <p:spPr>
          <a:xfrm xmlns:a="http://schemas.openxmlformats.org/drawingml/2006/main">
            <a:off x="7239000" y="31813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D9771F"/>
                </a:solidFill>
              </a:defRPr>
            </a:pPr>
            <a:r>
              <a:rPr sz="1275" b="1" i="0">
                <a:solidFill>
                  <a:srgbClr val="D9771F"/>
                </a:solidFill>
              </a:rPr>
              <a:t>−6.6 pp</a:t>
            </a:r>
          </a:p>
        </p:txBody>
      </p:sp>
      <p:sp>
        <p:nvSpPr>
          <p:cNvPr id="17" name="">
            <a:extLst xmlns:a="http://schemas.openxmlformats.org/drawingml/2006/main">
              <a:ext uri="{FF2B5EF4-FFF2-40B4-BE49-F238E27FC236}">
                <a16:creationId xmlns:a16="http://schemas.microsoft.com/office/drawing/2014/main" id="{838F46DD-E0C7-486E-B343-B03DB4774E28}"/>
              </a:ext>
            </a:extLst>
          </p:cNvPr>
          <p:cNvSpPr>
            <a:spLocks xmlns:a="http://schemas.openxmlformats.org/drawingml/2006/main" noGrp="1"/>
          </p:cNvSpPr>
          <p:nvPr/>
        </p:nvSpPr>
        <p:spPr>
          <a:xfrm xmlns:a="http://schemas.openxmlformats.org/drawingml/2006/main">
            <a:off x="9239250" y="31813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D9771F"/>
                </a:solidFill>
              </a:defRPr>
            </a:pPr>
            <a:r>
              <a:rPr sz="1050" b="1" i="0">
                <a:solidFill>
                  <a:srgbClr val="D9771F"/>
                </a:solidFill>
              </a:rPr>
              <a:t>[−9.0, −4.3]</a:t>
            </a:r>
          </a:p>
        </p:txBody>
      </p:sp>
      <p:sp>
        <p:nvSpPr>
          <p:cNvPr id="18" name="">
            <a:extLst xmlns:a="http://schemas.openxmlformats.org/drawingml/2006/main">
              <a:ext uri="{FF2B5EF4-FFF2-40B4-BE49-F238E27FC236}">
                <a16:creationId xmlns:a16="http://schemas.microsoft.com/office/drawing/2014/main" id="{88046D8D-DF9D-4A09-876E-7A623A4000BF}"/>
              </a:ext>
            </a:extLst>
          </p:cNvPr>
          <p:cNvSpPr>
            <a:spLocks xmlns:a="http://schemas.openxmlformats.org/drawingml/2006/main" noGrp="1"/>
          </p:cNvSpPr>
          <p:nvPr/>
        </p:nvSpPr>
        <p:spPr>
          <a:xfrm xmlns:a="http://schemas.openxmlformats.org/drawingml/2006/main">
            <a:off x="685800" y="3810000"/>
            <a:ext cx="10172700" cy="533400"/>
          </a:xfrm>
          <a:prstGeom xmlns:a="http://schemas.openxmlformats.org/drawingml/2006/main" prst="rect">
            <a:avLst/>
          </a:prstGeom>
          <a:solidFill xmlns:a="http://schemas.openxmlformats.org/drawingml/2006/main">
            <a:srgbClr val="FFFFFF"/>
          </a:solidFill>
          <a:ln xmlns:a="http://schemas.openxmlformats.org/drawingml/2006/main" w="5715">
            <a:solidFill>
              <a:srgbClr val="FFFFFF"/>
            </a:solidFill>
            <a:prstDash val="solid"/>
          </a:ln>
        </p:spPr>
      </p:sp>
      <p:sp>
        <p:nvSpPr>
          <p:cNvPr id="19" name="">
            <a:extLst xmlns:a="http://schemas.openxmlformats.org/drawingml/2006/main">
              <a:ext uri="{FF2B5EF4-FFF2-40B4-BE49-F238E27FC236}">
                <a16:creationId xmlns:a16="http://schemas.microsoft.com/office/drawing/2014/main" id="{4191FA7F-A4E3-499C-8AC7-4E1F004B374A}"/>
              </a:ext>
            </a:extLst>
          </p:cNvPr>
          <p:cNvSpPr>
            <a:spLocks xmlns:a="http://schemas.openxmlformats.org/drawingml/2006/main" noGrp="1"/>
          </p:cNvSpPr>
          <p:nvPr/>
        </p:nvSpPr>
        <p:spPr>
          <a:xfrm xmlns:a="http://schemas.openxmlformats.org/drawingml/2006/main">
            <a:off x="838200" y="3905250"/>
            <a:ext cx="600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32238"/>
                </a:solidFill>
              </a:defRPr>
            </a:pPr>
            <a:r>
              <a:rPr sz="1125" b="0" i="0">
                <a:solidFill>
                  <a:srgbClr val="132238"/>
                </a:solidFill>
              </a:rPr>
              <a:t>Current POC guidance → + historical examples | GPT-4o</a:t>
            </a:r>
          </a:p>
        </p:txBody>
      </p:sp>
      <p:sp>
        <p:nvSpPr>
          <p:cNvPr id="20" name="">
            <a:extLst xmlns:a="http://schemas.openxmlformats.org/drawingml/2006/main">
              <a:ext uri="{FF2B5EF4-FFF2-40B4-BE49-F238E27FC236}">
                <a16:creationId xmlns:a16="http://schemas.microsoft.com/office/drawing/2014/main" id="{D5B7CC7B-A5A2-4005-805B-AFCDACFE2AD3}"/>
              </a:ext>
            </a:extLst>
          </p:cNvPr>
          <p:cNvSpPr>
            <a:spLocks xmlns:a="http://schemas.openxmlformats.org/drawingml/2006/main" noGrp="1"/>
          </p:cNvSpPr>
          <p:nvPr/>
        </p:nvSpPr>
        <p:spPr>
          <a:xfrm xmlns:a="http://schemas.openxmlformats.org/drawingml/2006/main">
            <a:off x="7239000" y="39052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087A76"/>
                </a:solidFill>
              </a:defRPr>
            </a:pPr>
            <a:r>
              <a:rPr sz="1275" b="1" i="0">
                <a:solidFill>
                  <a:srgbClr val="087A76"/>
                </a:solidFill>
              </a:rPr>
              <a:t>+13.1 pp</a:t>
            </a:r>
          </a:p>
        </p:txBody>
      </p:sp>
      <p:sp>
        <p:nvSpPr>
          <p:cNvPr id="21" name="">
            <a:extLst xmlns:a="http://schemas.openxmlformats.org/drawingml/2006/main">
              <a:ext uri="{FF2B5EF4-FFF2-40B4-BE49-F238E27FC236}">
                <a16:creationId xmlns:a16="http://schemas.microsoft.com/office/drawing/2014/main" id="{90BF8FDD-3E42-4A10-8448-FAA7D67238CB}"/>
              </a:ext>
            </a:extLst>
          </p:cNvPr>
          <p:cNvSpPr>
            <a:spLocks xmlns:a="http://schemas.openxmlformats.org/drawingml/2006/main" noGrp="1"/>
          </p:cNvSpPr>
          <p:nvPr/>
        </p:nvSpPr>
        <p:spPr>
          <a:xfrm xmlns:a="http://schemas.openxmlformats.org/drawingml/2006/main">
            <a:off x="9239250" y="39052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87A76"/>
                </a:solidFill>
              </a:defRPr>
            </a:pPr>
            <a:r>
              <a:rPr sz="1050" b="1" i="0">
                <a:solidFill>
                  <a:srgbClr val="087A76"/>
                </a:solidFill>
              </a:rPr>
              <a:t>[+10.8, +15.3]</a:t>
            </a:r>
          </a:p>
        </p:txBody>
      </p:sp>
      <p:sp>
        <p:nvSpPr>
          <p:cNvPr id="22" name="">
            <a:extLst xmlns:a="http://schemas.openxmlformats.org/drawingml/2006/main">
              <a:ext uri="{FF2B5EF4-FFF2-40B4-BE49-F238E27FC236}">
                <a16:creationId xmlns:a16="http://schemas.microsoft.com/office/drawing/2014/main" id="{F620C00D-CCC9-4140-8F74-1EB3922D058E}"/>
              </a:ext>
            </a:extLst>
          </p:cNvPr>
          <p:cNvSpPr>
            <a:spLocks xmlns:a="http://schemas.openxmlformats.org/drawingml/2006/main" noGrp="1"/>
          </p:cNvSpPr>
          <p:nvPr/>
        </p:nvSpPr>
        <p:spPr>
          <a:xfrm xmlns:a="http://schemas.openxmlformats.org/drawingml/2006/main">
            <a:off x="838200" y="4629150"/>
            <a:ext cx="600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32238"/>
                </a:solidFill>
              </a:defRPr>
            </a:pPr>
            <a:r>
              <a:rPr sz="1125" b="0" i="0">
                <a:solidFill>
                  <a:srgbClr val="132238"/>
                </a:solidFill>
              </a:rPr>
              <a:t>Current POC guidance → + historical examples | GPT-5.2</a:t>
            </a:r>
          </a:p>
        </p:txBody>
      </p:sp>
      <p:sp>
        <p:nvSpPr>
          <p:cNvPr id="23" name="">
            <a:extLst xmlns:a="http://schemas.openxmlformats.org/drawingml/2006/main">
              <a:ext uri="{FF2B5EF4-FFF2-40B4-BE49-F238E27FC236}">
                <a16:creationId xmlns:a16="http://schemas.microsoft.com/office/drawing/2014/main" id="{74788EDF-F42D-4086-B1A3-65193A7AC771}"/>
              </a:ext>
            </a:extLst>
          </p:cNvPr>
          <p:cNvSpPr>
            <a:spLocks xmlns:a="http://schemas.openxmlformats.org/drawingml/2006/main" noGrp="1"/>
          </p:cNvSpPr>
          <p:nvPr/>
        </p:nvSpPr>
        <p:spPr>
          <a:xfrm xmlns:a="http://schemas.openxmlformats.org/drawingml/2006/main">
            <a:off x="7239000" y="46291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087A76"/>
                </a:solidFill>
              </a:defRPr>
            </a:pPr>
            <a:r>
              <a:rPr sz="1275" b="1" i="0">
                <a:solidFill>
                  <a:srgbClr val="087A76"/>
                </a:solidFill>
              </a:rPr>
              <a:t>+3.9 pp</a:t>
            </a:r>
          </a:p>
        </p:txBody>
      </p:sp>
      <p:sp>
        <p:nvSpPr>
          <p:cNvPr id="24" name="">
            <a:extLst xmlns:a="http://schemas.openxmlformats.org/drawingml/2006/main">
              <a:ext uri="{FF2B5EF4-FFF2-40B4-BE49-F238E27FC236}">
                <a16:creationId xmlns:a16="http://schemas.microsoft.com/office/drawing/2014/main" id="{D253D822-C1D8-44BF-A649-506FA88B30C0}"/>
              </a:ext>
            </a:extLst>
          </p:cNvPr>
          <p:cNvSpPr>
            <a:spLocks xmlns:a="http://schemas.openxmlformats.org/drawingml/2006/main" noGrp="1"/>
          </p:cNvSpPr>
          <p:nvPr/>
        </p:nvSpPr>
        <p:spPr>
          <a:xfrm xmlns:a="http://schemas.openxmlformats.org/drawingml/2006/main">
            <a:off x="9239250" y="46291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87A76"/>
                </a:solidFill>
              </a:defRPr>
            </a:pPr>
            <a:r>
              <a:rPr sz="1050" b="1" i="0">
                <a:solidFill>
                  <a:srgbClr val="087A76"/>
                </a:solidFill>
              </a:rPr>
              <a:t>[+2.4, +5.4]</a:t>
            </a:r>
          </a:p>
        </p:txBody>
      </p:sp>
      <p:sp>
        <p:nvSpPr>
          <p:cNvPr id="25" name="">
            <a:extLst xmlns:a="http://schemas.openxmlformats.org/drawingml/2006/main">
              <a:ext uri="{FF2B5EF4-FFF2-40B4-BE49-F238E27FC236}">
                <a16:creationId xmlns:a16="http://schemas.microsoft.com/office/drawing/2014/main" id="{6F86DAC7-EAF2-41A6-AD13-E6A8DE8D57AC}"/>
              </a:ext>
            </a:extLst>
          </p:cNvPr>
          <p:cNvSpPr>
            <a:spLocks xmlns:a="http://schemas.openxmlformats.org/drawingml/2006/main" noGrp="1"/>
          </p:cNvSpPr>
          <p:nvPr/>
        </p:nvSpPr>
        <p:spPr>
          <a:xfrm xmlns:a="http://schemas.openxmlformats.org/drawingml/2006/main">
            <a:off x="685800" y="56197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238"/>
                </a:solidFill>
              </a:defRPr>
            </a:pPr>
            <a:r>
              <a:rPr sz="1275" b="1" i="0">
                <a:solidFill>
                  <a:srgbClr val="132238"/>
                </a:solidFill>
              </a:rPr>
              <a:t>The guidance effect differs by LLM version; the study therefore supports selecting guidance and LLM version together.</a:t>
            </a:r>
          </a:p>
        </p:txBody>
      </p:sp>
    </p:spTree>
    <p:extLst>
      <p:ext uri="{BB962C8B-B14F-4D97-AF65-F5344CB8AC3E}">
        <p14:creationId xmlns:p14="http://schemas.microsoft.com/office/powerpoint/2010/main" val="973199237"/>
      </p:ext>
    </p:extLst>
  </p:cSld>
</p:sld>
</file>

<file path=ppt/slides/slide2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DB62548-00EF-43F6-BDF5-15A0B3E42D0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8DD40766-D1EC-43AD-A8E7-E46A19EC98F7}"/>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APPENDIX A6 | CONTROLLED LLM-VERSION CONTRASTS</a:t>
            </a:r>
          </a:p>
        </p:txBody>
      </p:sp>
      <p:sp>
        <p:nvSpPr>
          <p:cNvPr id="3" name="">
            <a:extLst xmlns:a="http://schemas.openxmlformats.org/drawingml/2006/main">
              <a:ext uri="{FF2B5EF4-FFF2-40B4-BE49-F238E27FC236}">
                <a16:creationId xmlns:a16="http://schemas.microsoft.com/office/drawing/2014/main" id="{37EF3C09-C70C-413A-8DB2-F7F05A753947}"/>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GPT-5.2 minus GPT-4o under fixed scoring guidance</a:t>
            </a:r>
          </a:p>
        </p:txBody>
      </p:sp>
      <p:sp>
        <p:nvSpPr>
          <p:cNvPr id="4" name="">
            <a:extLst xmlns:a="http://schemas.openxmlformats.org/drawingml/2006/main">
              <a:ext uri="{FF2B5EF4-FFF2-40B4-BE49-F238E27FC236}">
                <a16:creationId xmlns:a16="http://schemas.microsoft.com/office/drawing/2014/main" id="{6D6467C8-EF31-4D2F-BC3F-43CB42547361}"/>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The LLM-version effect is largest under the historical dashboard guidance and smallest under current POC guidance.</a:t>
            </a:r>
          </a:p>
        </p:txBody>
      </p:sp>
      <p:sp>
        <p:nvSpPr>
          <p:cNvPr id="5" name="">
            <a:extLst xmlns:a="http://schemas.openxmlformats.org/drawingml/2006/main">
              <a:ext uri="{FF2B5EF4-FFF2-40B4-BE49-F238E27FC236}">
                <a16:creationId xmlns:a16="http://schemas.microsoft.com/office/drawing/2014/main" id="{9D3047B7-D323-45DF-8171-740899D43611}"/>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2FF01822-61D8-46EA-953B-4BF68EDD504D}"/>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33FCDBA5-1171-44CF-B1B4-9E3075FEAC24}"/>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25</a:t>
            </a:r>
          </a:p>
        </p:txBody>
      </p:sp>
      <p:sp>
        <p:nvSpPr>
          <p:cNvPr id="8" name="">
            <a:extLst xmlns:a="http://schemas.openxmlformats.org/drawingml/2006/main">
              <a:ext uri="{FF2B5EF4-FFF2-40B4-BE49-F238E27FC236}">
                <a16:creationId xmlns:a16="http://schemas.microsoft.com/office/drawing/2014/main" id="{DC140F64-B684-406C-B307-03A766F59073}"/>
              </a:ext>
            </a:extLst>
          </p:cNvPr>
          <p:cNvSpPr>
            <a:spLocks xmlns:a="http://schemas.openxmlformats.org/drawingml/2006/main" noGrp="1"/>
          </p:cNvSpPr>
          <p:nvPr/>
        </p:nvSpPr>
        <p:spPr>
          <a:xfrm xmlns:a="http://schemas.openxmlformats.org/drawingml/2006/main">
            <a:off x="685800" y="2524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32238"/>
                </a:solidFill>
              </a:defRPr>
            </a:pPr>
            <a:r>
              <a:rPr sz="1425" b="1" i="0">
                <a:solidFill>
                  <a:srgbClr val="132238"/>
                </a:solidFill>
              </a:rPr>
              <a:t>Historical dashboard guidance</a:t>
            </a:r>
          </a:p>
        </p:txBody>
      </p:sp>
      <p:sp>
        <p:nvSpPr>
          <p:cNvPr id="9" name="">
            <a:extLst xmlns:a="http://schemas.openxmlformats.org/drawingml/2006/main">
              <a:ext uri="{FF2B5EF4-FFF2-40B4-BE49-F238E27FC236}">
                <a16:creationId xmlns:a16="http://schemas.microsoft.com/office/drawing/2014/main" id="{A916BEDF-0FAC-4FC3-90EE-7EF5E068ABBC}"/>
              </a:ext>
            </a:extLst>
          </p:cNvPr>
          <p:cNvSpPr>
            <a:spLocks xmlns:a="http://schemas.openxmlformats.org/drawingml/2006/main" noGrp="1"/>
          </p:cNvSpPr>
          <p:nvPr/>
        </p:nvSpPr>
        <p:spPr>
          <a:xfrm xmlns:a="http://schemas.openxmlformats.org/drawingml/2006/main">
            <a:off x="4476750" y="2600325"/>
            <a:ext cx="4667250" cy="228600"/>
          </a:xfrm>
          <a:prstGeom xmlns:a="http://schemas.openxmlformats.org/drawingml/2006/main" prst="rect">
            <a:avLst/>
          </a:prstGeom>
          <a:solidFill xmlns:a="http://schemas.openxmlformats.org/drawingml/2006/main">
            <a:srgbClr val="E8EEF4"/>
          </a:solidFill>
          <a:ln xmlns:a="http://schemas.openxmlformats.org/drawingml/2006/main" w="5715">
            <a:solidFill>
              <a:srgbClr val="E8EEF4"/>
            </a:solidFill>
            <a:prstDash val="solid"/>
          </a:ln>
        </p:spPr>
      </p:sp>
      <p:sp>
        <p:nvSpPr>
          <p:cNvPr id="10" name="">
            <a:extLst xmlns:a="http://schemas.openxmlformats.org/drawingml/2006/main">
              <a:ext uri="{FF2B5EF4-FFF2-40B4-BE49-F238E27FC236}">
                <a16:creationId xmlns:a16="http://schemas.microsoft.com/office/drawing/2014/main" id="{7CB74409-535C-432D-874A-29885419D79D}"/>
              </a:ext>
            </a:extLst>
          </p:cNvPr>
          <p:cNvSpPr>
            <a:spLocks xmlns:a="http://schemas.openxmlformats.org/drawingml/2006/main" noGrp="1"/>
          </p:cNvSpPr>
          <p:nvPr/>
        </p:nvSpPr>
        <p:spPr>
          <a:xfrm xmlns:a="http://schemas.openxmlformats.org/drawingml/2006/main">
            <a:off x="4476750" y="2600325"/>
            <a:ext cx="0" cy="2286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11" name="">
            <a:extLst xmlns:a="http://schemas.openxmlformats.org/drawingml/2006/main">
              <a:ext uri="{FF2B5EF4-FFF2-40B4-BE49-F238E27FC236}">
                <a16:creationId xmlns:a16="http://schemas.microsoft.com/office/drawing/2014/main" id="{064E1B3F-9121-402F-BC9D-F5CB8568364E}"/>
              </a:ext>
            </a:extLst>
          </p:cNvPr>
          <p:cNvSpPr>
            <a:spLocks xmlns:a="http://schemas.openxmlformats.org/drawingml/2006/main" noGrp="1"/>
          </p:cNvSpPr>
          <p:nvPr/>
        </p:nvSpPr>
        <p:spPr>
          <a:xfrm xmlns:a="http://schemas.openxmlformats.org/drawingml/2006/main">
            <a:off x="9429750" y="25812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C75850"/>
                </a:solidFill>
              </a:defRPr>
            </a:pPr>
            <a:r>
              <a:rPr sz="1200" b="1" i="0">
                <a:solidFill>
                  <a:srgbClr val="C75850"/>
                </a:solidFill>
              </a:rPr>
              <a:t>−38.4 pp</a:t>
            </a:r>
          </a:p>
        </p:txBody>
      </p:sp>
      <p:sp>
        <p:nvSpPr>
          <p:cNvPr id="12" name="">
            <a:extLst xmlns:a="http://schemas.openxmlformats.org/drawingml/2006/main">
              <a:ext uri="{FF2B5EF4-FFF2-40B4-BE49-F238E27FC236}">
                <a16:creationId xmlns:a16="http://schemas.microsoft.com/office/drawing/2014/main" id="{7720C8D4-DFC3-43BC-903C-7B0C4D2C5F34}"/>
              </a:ext>
            </a:extLst>
          </p:cNvPr>
          <p:cNvSpPr>
            <a:spLocks xmlns:a="http://schemas.openxmlformats.org/drawingml/2006/main" noGrp="1"/>
          </p:cNvSpPr>
          <p:nvPr/>
        </p:nvSpPr>
        <p:spPr>
          <a:xfrm xmlns:a="http://schemas.openxmlformats.org/drawingml/2006/main">
            <a:off x="685800" y="290512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E7B"/>
                </a:solidFill>
              </a:defRPr>
            </a:pPr>
            <a:r>
              <a:rPr sz="975" b="0" i="0">
                <a:solidFill>
                  <a:srgbClr val="5F6E7B"/>
                </a:solidFill>
              </a:rPr>
              <a:t>95% interval [−41.5, −35.4]</a:t>
            </a:r>
          </a:p>
        </p:txBody>
      </p:sp>
      <p:sp>
        <p:nvSpPr>
          <p:cNvPr id="13" name="">
            <a:extLst xmlns:a="http://schemas.openxmlformats.org/drawingml/2006/main">
              <a:ext uri="{FF2B5EF4-FFF2-40B4-BE49-F238E27FC236}">
                <a16:creationId xmlns:a16="http://schemas.microsoft.com/office/drawing/2014/main" id="{6C2FFF4B-55A7-4684-AC2F-8C7CF430EC5B}"/>
              </a:ext>
            </a:extLst>
          </p:cNvPr>
          <p:cNvSpPr>
            <a:spLocks xmlns:a="http://schemas.openxmlformats.org/drawingml/2006/main" noGrp="1"/>
          </p:cNvSpPr>
          <p:nvPr/>
        </p:nvSpPr>
        <p:spPr>
          <a:xfrm xmlns:a="http://schemas.openxmlformats.org/drawingml/2006/main">
            <a:off x="685800" y="345757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32238"/>
                </a:solidFill>
              </a:defRPr>
            </a:pPr>
            <a:r>
              <a:rPr sz="1425" b="1" i="0">
                <a:solidFill>
                  <a:srgbClr val="132238"/>
                </a:solidFill>
              </a:rPr>
              <a:t>Current POC guidance</a:t>
            </a:r>
          </a:p>
        </p:txBody>
      </p:sp>
      <p:sp>
        <p:nvSpPr>
          <p:cNvPr id="14" name="">
            <a:extLst xmlns:a="http://schemas.openxmlformats.org/drawingml/2006/main">
              <a:ext uri="{FF2B5EF4-FFF2-40B4-BE49-F238E27FC236}">
                <a16:creationId xmlns:a16="http://schemas.microsoft.com/office/drawing/2014/main" id="{C340E0D2-9C12-48B0-9605-27BA3E87C470}"/>
              </a:ext>
            </a:extLst>
          </p:cNvPr>
          <p:cNvSpPr>
            <a:spLocks xmlns:a="http://schemas.openxmlformats.org/drawingml/2006/main" noGrp="1"/>
          </p:cNvSpPr>
          <p:nvPr/>
        </p:nvSpPr>
        <p:spPr>
          <a:xfrm xmlns:a="http://schemas.openxmlformats.org/drawingml/2006/main">
            <a:off x="4476750" y="3533775"/>
            <a:ext cx="4667250" cy="228600"/>
          </a:xfrm>
          <a:prstGeom xmlns:a="http://schemas.openxmlformats.org/drawingml/2006/main" prst="rect">
            <a:avLst/>
          </a:prstGeom>
          <a:solidFill xmlns:a="http://schemas.openxmlformats.org/drawingml/2006/main">
            <a:srgbClr val="E8EEF4"/>
          </a:solidFill>
          <a:ln xmlns:a="http://schemas.openxmlformats.org/drawingml/2006/main" w="5715">
            <a:solidFill>
              <a:srgbClr val="E8EEF4"/>
            </a:solidFill>
            <a:prstDash val="solid"/>
          </a:ln>
        </p:spPr>
      </p:sp>
      <p:sp>
        <p:nvSpPr>
          <p:cNvPr id="15" name="">
            <a:extLst xmlns:a="http://schemas.openxmlformats.org/drawingml/2006/main">
              <a:ext uri="{FF2B5EF4-FFF2-40B4-BE49-F238E27FC236}">
                <a16:creationId xmlns:a16="http://schemas.microsoft.com/office/drawing/2014/main" id="{FAA67232-72AD-4C9D-BAC6-4C15B763FBDE}"/>
              </a:ext>
            </a:extLst>
          </p:cNvPr>
          <p:cNvSpPr>
            <a:spLocks xmlns:a="http://schemas.openxmlformats.org/drawingml/2006/main" noGrp="1"/>
          </p:cNvSpPr>
          <p:nvPr/>
        </p:nvSpPr>
        <p:spPr>
          <a:xfrm xmlns:a="http://schemas.openxmlformats.org/drawingml/2006/main">
            <a:off x="4476750" y="3533775"/>
            <a:ext cx="0" cy="2286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16" name="">
            <a:extLst xmlns:a="http://schemas.openxmlformats.org/drawingml/2006/main">
              <a:ext uri="{FF2B5EF4-FFF2-40B4-BE49-F238E27FC236}">
                <a16:creationId xmlns:a16="http://schemas.microsoft.com/office/drawing/2014/main" id="{32D62AB0-FC1F-499E-94AA-5F565F2D5D29}"/>
              </a:ext>
            </a:extLst>
          </p:cNvPr>
          <p:cNvSpPr>
            <a:spLocks xmlns:a="http://schemas.openxmlformats.org/drawingml/2006/main" noGrp="1"/>
          </p:cNvSpPr>
          <p:nvPr/>
        </p:nvSpPr>
        <p:spPr>
          <a:xfrm xmlns:a="http://schemas.openxmlformats.org/drawingml/2006/main">
            <a:off x="9429750" y="35147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D9771F"/>
                </a:solidFill>
              </a:defRPr>
            </a:pPr>
            <a:r>
              <a:rPr sz="1200" b="1" i="0">
                <a:solidFill>
                  <a:srgbClr val="D9771F"/>
                </a:solidFill>
              </a:rPr>
              <a:t>−9.2 pp</a:t>
            </a:r>
          </a:p>
        </p:txBody>
      </p:sp>
      <p:sp>
        <p:nvSpPr>
          <p:cNvPr id="17" name="">
            <a:extLst xmlns:a="http://schemas.openxmlformats.org/drawingml/2006/main">
              <a:ext uri="{FF2B5EF4-FFF2-40B4-BE49-F238E27FC236}">
                <a16:creationId xmlns:a16="http://schemas.microsoft.com/office/drawing/2014/main" id="{3FFA28A0-388F-467C-B2B4-ADA4D550E633}"/>
              </a:ext>
            </a:extLst>
          </p:cNvPr>
          <p:cNvSpPr>
            <a:spLocks xmlns:a="http://schemas.openxmlformats.org/drawingml/2006/main" noGrp="1"/>
          </p:cNvSpPr>
          <p:nvPr/>
        </p:nvSpPr>
        <p:spPr>
          <a:xfrm xmlns:a="http://schemas.openxmlformats.org/drawingml/2006/main">
            <a:off x="685800" y="38385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E7B"/>
                </a:solidFill>
              </a:defRPr>
            </a:pPr>
            <a:r>
              <a:rPr sz="975" b="0" i="0">
                <a:solidFill>
                  <a:srgbClr val="5F6E7B"/>
                </a:solidFill>
              </a:rPr>
              <a:t>95% interval [−11.2, −7.2]</a:t>
            </a:r>
          </a:p>
        </p:txBody>
      </p:sp>
      <p:sp>
        <p:nvSpPr>
          <p:cNvPr id="18" name="">
            <a:extLst xmlns:a="http://schemas.openxmlformats.org/drawingml/2006/main">
              <a:ext uri="{FF2B5EF4-FFF2-40B4-BE49-F238E27FC236}">
                <a16:creationId xmlns:a16="http://schemas.microsoft.com/office/drawing/2014/main" id="{D7CC3601-9FDA-4151-888E-30362A35CBB2}"/>
              </a:ext>
            </a:extLst>
          </p:cNvPr>
          <p:cNvSpPr>
            <a:spLocks xmlns:a="http://schemas.openxmlformats.org/drawingml/2006/main" noGrp="1"/>
          </p:cNvSpPr>
          <p:nvPr/>
        </p:nvSpPr>
        <p:spPr>
          <a:xfrm xmlns:a="http://schemas.openxmlformats.org/drawingml/2006/main">
            <a:off x="685800" y="43910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32238"/>
                </a:solidFill>
              </a:defRPr>
            </a:pPr>
            <a:r>
              <a:rPr sz="1425" b="1" i="0">
                <a:solidFill>
                  <a:srgbClr val="132238"/>
                </a:solidFill>
              </a:rPr>
              <a:t>Current POC guidance + historical examples</a:t>
            </a:r>
          </a:p>
        </p:txBody>
      </p:sp>
      <p:sp>
        <p:nvSpPr>
          <p:cNvPr id="19" name="">
            <a:extLst xmlns:a="http://schemas.openxmlformats.org/drawingml/2006/main">
              <a:ext uri="{FF2B5EF4-FFF2-40B4-BE49-F238E27FC236}">
                <a16:creationId xmlns:a16="http://schemas.microsoft.com/office/drawing/2014/main" id="{69E13406-FCF7-4474-9E07-9E6054CD8FC0}"/>
              </a:ext>
            </a:extLst>
          </p:cNvPr>
          <p:cNvSpPr>
            <a:spLocks xmlns:a="http://schemas.openxmlformats.org/drawingml/2006/main" noGrp="1"/>
          </p:cNvSpPr>
          <p:nvPr/>
        </p:nvSpPr>
        <p:spPr>
          <a:xfrm xmlns:a="http://schemas.openxmlformats.org/drawingml/2006/main">
            <a:off x="4476750" y="4467225"/>
            <a:ext cx="4667250" cy="228600"/>
          </a:xfrm>
          <a:prstGeom xmlns:a="http://schemas.openxmlformats.org/drawingml/2006/main" prst="rect">
            <a:avLst/>
          </a:prstGeom>
          <a:solidFill xmlns:a="http://schemas.openxmlformats.org/drawingml/2006/main">
            <a:srgbClr val="E8EEF4"/>
          </a:solidFill>
          <a:ln xmlns:a="http://schemas.openxmlformats.org/drawingml/2006/main" w="5715">
            <a:solidFill>
              <a:srgbClr val="E8EEF4"/>
            </a:solidFill>
            <a:prstDash val="solid"/>
          </a:ln>
        </p:spPr>
      </p:sp>
      <p:sp>
        <p:nvSpPr>
          <p:cNvPr id="20" name="">
            <a:extLst xmlns:a="http://schemas.openxmlformats.org/drawingml/2006/main">
              <a:ext uri="{FF2B5EF4-FFF2-40B4-BE49-F238E27FC236}">
                <a16:creationId xmlns:a16="http://schemas.microsoft.com/office/drawing/2014/main" id="{273930EF-785D-4C14-86E3-8EE038C0F6A4}"/>
              </a:ext>
            </a:extLst>
          </p:cNvPr>
          <p:cNvSpPr>
            <a:spLocks xmlns:a="http://schemas.openxmlformats.org/drawingml/2006/main" noGrp="1"/>
          </p:cNvSpPr>
          <p:nvPr/>
        </p:nvSpPr>
        <p:spPr>
          <a:xfrm xmlns:a="http://schemas.openxmlformats.org/drawingml/2006/main">
            <a:off x="4476750" y="4467225"/>
            <a:ext cx="0" cy="2286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1" name="">
            <a:extLst xmlns:a="http://schemas.openxmlformats.org/drawingml/2006/main">
              <a:ext uri="{FF2B5EF4-FFF2-40B4-BE49-F238E27FC236}">
                <a16:creationId xmlns:a16="http://schemas.microsoft.com/office/drawing/2014/main" id="{AAE8D39F-007D-4047-B9B3-AF6321B9B351}"/>
              </a:ext>
            </a:extLst>
          </p:cNvPr>
          <p:cNvSpPr>
            <a:spLocks xmlns:a="http://schemas.openxmlformats.org/drawingml/2006/main" noGrp="1"/>
          </p:cNvSpPr>
          <p:nvPr/>
        </p:nvSpPr>
        <p:spPr>
          <a:xfrm xmlns:a="http://schemas.openxmlformats.org/drawingml/2006/main">
            <a:off x="9429750" y="4448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87A76"/>
                </a:solidFill>
              </a:defRPr>
            </a:pPr>
            <a:r>
              <a:rPr sz="1200" b="1" i="0">
                <a:solidFill>
                  <a:srgbClr val="087A76"/>
                </a:solidFill>
              </a:rPr>
              <a:t>−18.4 pp</a:t>
            </a:r>
          </a:p>
        </p:txBody>
      </p:sp>
      <p:sp>
        <p:nvSpPr>
          <p:cNvPr id="22" name="">
            <a:extLst xmlns:a="http://schemas.openxmlformats.org/drawingml/2006/main">
              <a:ext uri="{FF2B5EF4-FFF2-40B4-BE49-F238E27FC236}">
                <a16:creationId xmlns:a16="http://schemas.microsoft.com/office/drawing/2014/main" id="{4CAFB320-9C84-4512-A3E1-EDBEBBE5E3B3}"/>
              </a:ext>
            </a:extLst>
          </p:cNvPr>
          <p:cNvSpPr>
            <a:spLocks xmlns:a="http://schemas.openxmlformats.org/drawingml/2006/main" noGrp="1"/>
          </p:cNvSpPr>
          <p:nvPr/>
        </p:nvSpPr>
        <p:spPr>
          <a:xfrm xmlns:a="http://schemas.openxmlformats.org/drawingml/2006/main">
            <a:off x="685800" y="477202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E7B"/>
                </a:solidFill>
              </a:defRPr>
            </a:pPr>
            <a:r>
              <a:rPr sz="975" b="0" i="0">
                <a:solidFill>
                  <a:srgbClr val="5F6E7B"/>
                </a:solidFill>
              </a:rPr>
              <a:t>95% interval [−21.1, −15.8]</a:t>
            </a:r>
          </a:p>
        </p:txBody>
      </p:sp>
      <p:sp>
        <p:nvSpPr>
          <p:cNvPr id="23" name="">
            <a:extLst xmlns:a="http://schemas.openxmlformats.org/drawingml/2006/main">
              <a:ext uri="{FF2B5EF4-FFF2-40B4-BE49-F238E27FC236}">
                <a16:creationId xmlns:a16="http://schemas.microsoft.com/office/drawing/2014/main" id="{847F8921-13A9-4BD3-88D8-672C2E9579D9}"/>
              </a:ext>
            </a:extLst>
          </p:cNvPr>
          <p:cNvSpPr>
            <a:spLocks xmlns:a="http://schemas.openxmlformats.org/drawingml/2006/main" noGrp="1"/>
          </p:cNvSpPr>
          <p:nvPr/>
        </p:nvSpPr>
        <p:spPr>
          <a:xfrm xmlns:a="http://schemas.openxmlformats.org/drawingml/2006/main">
            <a:off x="685800" y="5429250"/>
            <a:ext cx="10172700" cy="609600"/>
          </a:xfrm>
          <a:prstGeom xmlns:a="http://schemas.openxmlformats.org/drawingml/2006/main" prst="rect">
            <a:avLst/>
          </a:prstGeom>
          <a:solidFill xmlns:a="http://schemas.openxmlformats.org/drawingml/2006/main">
            <a:srgbClr val="F6E7E5"/>
          </a:solidFill>
          <a:ln xmlns:a="http://schemas.openxmlformats.org/drawingml/2006/main" w="5715">
            <a:solidFill>
              <a:srgbClr val="F6E7E5"/>
            </a:solidFill>
            <a:prstDash val="solid"/>
          </a:ln>
        </p:spPr>
      </p:sp>
      <p:sp>
        <p:nvSpPr>
          <p:cNvPr id="24" name="">
            <a:extLst xmlns:a="http://schemas.openxmlformats.org/drawingml/2006/main">
              <a:ext uri="{FF2B5EF4-FFF2-40B4-BE49-F238E27FC236}">
                <a16:creationId xmlns:a16="http://schemas.microsoft.com/office/drawing/2014/main" id="{A5AFC913-FCD5-464A-BC47-3A91BB6261A4}"/>
              </a:ext>
            </a:extLst>
          </p:cNvPr>
          <p:cNvSpPr>
            <a:spLocks xmlns:a="http://schemas.openxmlformats.org/drawingml/2006/main" noGrp="1"/>
          </p:cNvSpPr>
          <p:nvPr/>
        </p:nvSpPr>
        <p:spPr>
          <a:xfrm xmlns:a="http://schemas.openxmlformats.org/drawingml/2006/main">
            <a:off x="685800" y="5429250"/>
            <a:ext cx="76200" cy="6096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25" name="">
            <a:extLst xmlns:a="http://schemas.openxmlformats.org/drawingml/2006/main">
              <a:ext uri="{FF2B5EF4-FFF2-40B4-BE49-F238E27FC236}">
                <a16:creationId xmlns:a16="http://schemas.microsoft.com/office/drawing/2014/main" id="{18C81A6F-D4A1-43AC-8DC4-3D190FECA1D8}"/>
              </a:ext>
            </a:extLst>
          </p:cNvPr>
          <p:cNvSpPr>
            <a:spLocks xmlns:a="http://schemas.openxmlformats.org/drawingml/2006/main" noGrp="1"/>
          </p:cNvSpPr>
          <p:nvPr/>
        </p:nvSpPr>
        <p:spPr>
          <a:xfrm xmlns:a="http://schemas.openxmlformats.org/drawingml/2006/main">
            <a:off x="952500" y="5562600"/>
            <a:ext cx="9696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238"/>
                </a:solidFill>
              </a:defRPr>
            </a:pPr>
            <a:r>
              <a:rPr sz="1275" b="1" i="0">
                <a:solidFill>
                  <a:srgbClr val="132238"/>
                </a:solidFill>
              </a:rPr>
              <a:t>The 29.2-point difference between the historical and current-POC effects shows that LLM version and scoring guidance interact.</a:t>
            </a:r>
          </a:p>
        </p:txBody>
      </p:sp>
    </p:spTree>
    <p:extLst>
      <p:ext uri="{BB962C8B-B14F-4D97-AF65-F5344CB8AC3E}">
        <p14:creationId xmlns:p14="http://schemas.microsoft.com/office/powerpoint/2010/main" val="1471516314"/>
      </p:ext>
    </p:extLst>
  </p:cSld>
</p:sld>
</file>

<file path=ppt/slides/slide2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5B112EE-CA8E-4BF8-8ED8-9CBD49FD31C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204C876B-BD91-476A-A8BA-119F6301F4A7}"/>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APPENDIX A7 | TASK-FORMAT COMPARISON METHOD</a:t>
            </a:r>
          </a:p>
        </p:txBody>
      </p:sp>
      <p:sp>
        <p:nvSpPr>
          <p:cNvPr id="3" name="">
            <a:extLst xmlns:a="http://schemas.openxmlformats.org/drawingml/2006/main">
              <a:ext uri="{FF2B5EF4-FFF2-40B4-BE49-F238E27FC236}">
                <a16:creationId xmlns:a16="http://schemas.microsoft.com/office/drawing/2014/main" id="{1784EDD6-5855-472B-9D87-80691930A2A6}"/>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Raw and normalized/decomposed tasks are linked, not independent samples</a:t>
            </a:r>
          </a:p>
        </p:txBody>
      </p:sp>
      <p:sp>
        <p:nvSpPr>
          <p:cNvPr id="4" name="">
            <a:extLst xmlns:a="http://schemas.openxmlformats.org/drawingml/2006/main">
              <a:ext uri="{FF2B5EF4-FFF2-40B4-BE49-F238E27FC236}">
                <a16:creationId xmlns:a16="http://schemas.microsoft.com/office/drawing/2014/main" id="{AD2C14A5-2E17-4445-A631-5DAF5AD42DB6}"/>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A parent can have multiple child tasks. The comparison therefore gives every original parent equal weight.</a:t>
            </a:r>
          </a:p>
        </p:txBody>
      </p:sp>
      <p:sp>
        <p:nvSpPr>
          <p:cNvPr id="5" name="">
            <a:extLst xmlns:a="http://schemas.openxmlformats.org/drawingml/2006/main">
              <a:ext uri="{FF2B5EF4-FFF2-40B4-BE49-F238E27FC236}">
                <a16:creationId xmlns:a16="http://schemas.microsoft.com/office/drawing/2014/main" id="{1186C1A7-4A41-4943-B053-C6A696634516}"/>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A887BB05-CBD8-4B07-800B-986632ABEBF4}"/>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6C31D809-B285-4F82-B2B5-3ED7B072F0BE}"/>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26</a:t>
            </a:r>
          </a:p>
        </p:txBody>
      </p:sp>
      <p:sp>
        <p:nvSpPr>
          <p:cNvPr id="8" name="">
            <a:extLst xmlns:a="http://schemas.openxmlformats.org/drawingml/2006/main">
              <a:ext uri="{FF2B5EF4-FFF2-40B4-BE49-F238E27FC236}">
                <a16:creationId xmlns:a16="http://schemas.microsoft.com/office/drawing/2014/main" id="{F0A5B77B-DBB9-496A-9838-1125863AB916}"/>
              </a:ext>
            </a:extLst>
          </p:cNvPr>
          <p:cNvSpPr>
            <a:spLocks xmlns:a="http://schemas.openxmlformats.org/drawingml/2006/main" noGrp="1"/>
          </p:cNvSpPr>
          <p:nvPr/>
        </p:nvSpPr>
        <p:spPr>
          <a:xfrm xmlns:a="http://schemas.openxmlformats.org/drawingml/2006/main">
            <a:off x="685800" y="2171700"/>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32238"/>
                </a:solidFill>
              </a:defRPr>
            </a:pPr>
            <a:r>
              <a:rPr sz="1425" b="1" i="0">
                <a:solidFill>
                  <a:srgbClr val="132238"/>
                </a:solidFill>
              </a:rPr>
              <a:t>1. Score the original task and all linked normalized/decomposed tasks under the same method.</a:t>
            </a:r>
          </a:p>
        </p:txBody>
      </p:sp>
      <p:sp>
        <p:nvSpPr>
          <p:cNvPr id="9" name="">
            <a:extLst xmlns:a="http://schemas.openxmlformats.org/drawingml/2006/main">
              <a:ext uri="{FF2B5EF4-FFF2-40B4-BE49-F238E27FC236}">
                <a16:creationId xmlns:a16="http://schemas.microsoft.com/office/drawing/2014/main" id="{11CB4E21-CDC2-40F2-8F46-9AC2C6E9CD3C}"/>
              </a:ext>
            </a:extLst>
          </p:cNvPr>
          <p:cNvSpPr>
            <a:spLocks xmlns:a="http://schemas.openxmlformats.org/drawingml/2006/main" noGrp="1"/>
          </p:cNvSpPr>
          <p:nvPr/>
        </p:nvSpPr>
        <p:spPr>
          <a:xfrm xmlns:a="http://schemas.openxmlformats.org/drawingml/2006/main">
            <a:off x="685800" y="2952750"/>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32238"/>
                </a:solidFill>
              </a:defRPr>
            </a:pPr>
            <a:r>
              <a:rPr sz="1425" b="1" i="0">
                <a:solidFill>
                  <a:srgbClr val="132238"/>
                </a:solidFill>
              </a:rPr>
              <a:t>2. Convert each parent’s linked child labels into a within-parent E0 rate.</a:t>
            </a:r>
          </a:p>
        </p:txBody>
      </p:sp>
      <p:sp>
        <p:nvSpPr>
          <p:cNvPr id="10" name="">
            <a:extLst xmlns:a="http://schemas.openxmlformats.org/drawingml/2006/main">
              <a:ext uri="{FF2B5EF4-FFF2-40B4-BE49-F238E27FC236}">
                <a16:creationId xmlns:a16="http://schemas.microsoft.com/office/drawing/2014/main" id="{79723C9B-5A86-4419-AF23-DA6771BDDBBF}"/>
              </a:ext>
            </a:extLst>
          </p:cNvPr>
          <p:cNvSpPr>
            <a:spLocks xmlns:a="http://schemas.openxmlformats.org/drawingml/2006/main" noGrp="1"/>
          </p:cNvSpPr>
          <p:nvPr/>
        </p:nvSpPr>
        <p:spPr>
          <a:xfrm xmlns:a="http://schemas.openxmlformats.org/drawingml/2006/main">
            <a:off x="685800" y="3733800"/>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32238"/>
                </a:solidFill>
              </a:defRPr>
            </a:pPr>
            <a:r>
              <a:rPr sz="1425" b="1" i="0">
                <a:solidFill>
                  <a:srgbClr val="132238"/>
                </a:solidFill>
              </a:rPr>
              <a:t>3. Compare that rate with the parent’s original-task label, then average across parents.</a:t>
            </a:r>
          </a:p>
        </p:txBody>
      </p:sp>
      <p:sp>
        <p:nvSpPr>
          <p:cNvPr id="11" name="">
            <a:extLst xmlns:a="http://schemas.openxmlformats.org/drawingml/2006/main">
              <a:ext uri="{FF2B5EF4-FFF2-40B4-BE49-F238E27FC236}">
                <a16:creationId xmlns:a16="http://schemas.microsoft.com/office/drawing/2014/main" id="{29BA516B-CFCF-426F-BB4F-4825BE9D6223}"/>
              </a:ext>
            </a:extLst>
          </p:cNvPr>
          <p:cNvSpPr>
            <a:spLocks xmlns:a="http://schemas.openxmlformats.org/drawingml/2006/main" noGrp="1"/>
          </p:cNvSpPr>
          <p:nvPr/>
        </p:nvSpPr>
        <p:spPr>
          <a:xfrm xmlns:a="http://schemas.openxmlformats.org/drawingml/2006/main">
            <a:off x="685800" y="4514850"/>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32238"/>
                </a:solidFill>
              </a:defRPr>
            </a:pPr>
            <a:r>
              <a:rPr sz="1425" b="1" i="0">
                <a:solidFill>
                  <a:srgbClr val="132238"/>
                </a:solidFill>
              </a:rPr>
              <a:t>4. Bootstrap at parent level so confidence intervals respect the linkage.</a:t>
            </a:r>
          </a:p>
        </p:txBody>
      </p:sp>
      <p:sp>
        <p:nvSpPr>
          <p:cNvPr id="12" name="">
            <a:extLst xmlns:a="http://schemas.openxmlformats.org/drawingml/2006/main">
              <a:ext uri="{FF2B5EF4-FFF2-40B4-BE49-F238E27FC236}">
                <a16:creationId xmlns:a16="http://schemas.microsoft.com/office/drawing/2014/main" id="{CEC56F37-AD4E-49BC-8EE2-E4801C91590C}"/>
              </a:ext>
            </a:extLst>
          </p:cNvPr>
          <p:cNvSpPr>
            <a:spLocks xmlns:a="http://schemas.openxmlformats.org/drawingml/2006/main" noGrp="1"/>
          </p:cNvSpPr>
          <p:nvPr/>
        </p:nvSpPr>
        <p:spPr>
          <a:xfrm xmlns:a="http://schemas.openxmlformats.org/drawingml/2006/main">
            <a:off x="9715500" y="2438400"/>
            <a:ext cx="342900" cy="342900"/>
          </a:xfrm>
          <a:prstGeom xmlns:a="http://schemas.openxmlformats.org/drawingml/2006/main" prst="ellipse">
            <a:avLst/>
          </a:prstGeom>
          <a:solidFill xmlns:a="http://schemas.openxmlformats.org/drawingml/2006/main">
            <a:srgbClr val="087A76"/>
          </a:solidFill>
          <a:ln xmlns:a="http://schemas.openxmlformats.org/drawingml/2006/main" w="9525">
            <a:solidFill>
              <a:srgbClr val="087A76"/>
            </a:solidFill>
            <a:prstDash val="solid"/>
          </a:ln>
        </p:spPr>
      </p:sp>
      <p:sp>
        <p:nvSpPr>
          <p:cNvPr id="13" name="">
            <a:extLst xmlns:a="http://schemas.openxmlformats.org/drawingml/2006/main">
              <a:ext uri="{FF2B5EF4-FFF2-40B4-BE49-F238E27FC236}">
                <a16:creationId xmlns:a16="http://schemas.microsoft.com/office/drawing/2014/main" id="{06F36B9B-F9CF-4243-AAD9-38CB43E08031}"/>
              </a:ext>
            </a:extLst>
          </p:cNvPr>
          <p:cNvSpPr>
            <a:spLocks xmlns:a="http://schemas.openxmlformats.org/drawingml/2006/main" noGrp="1"/>
          </p:cNvSpPr>
          <p:nvPr/>
        </p:nvSpPr>
        <p:spPr>
          <a:xfrm xmlns:a="http://schemas.openxmlformats.org/drawingml/2006/main">
            <a:off x="9715500" y="25146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FFFFFF"/>
                </a:solidFill>
              </a:defRPr>
            </a:pPr>
            <a:r>
              <a:rPr sz="975" b="1" i="0">
                <a:solidFill>
                  <a:srgbClr val="FFFFFF"/>
                </a:solidFill>
              </a:rPr>
              <a:t>1</a:t>
            </a:r>
          </a:p>
        </p:txBody>
      </p:sp>
      <p:sp>
        <p:nvSpPr>
          <p:cNvPr id="14" name="">
            <a:extLst xmlns:a="http://schemas.openxmlformats.org/drawingml/2006/main">
              <a:ext uri="{FF2B5EF4-FFF2-40B4-BE49-F238E27FC236}">
                <a16:creationId xmlns:a16="http://schemas.microsoft.com/office/drawing/2014/main" id="{508BC150-400E-4015-87A6-787694454674}"/>
              </a:ext>
            </a:extLst>
          </p:cNvPr>
          <p:cNvSpPr>
            <a:spLocks xmlns:a="http://schemas.openxmlformats.org/drawingml/2006/main" noGrp="1"/>
          </p:cNvSpPr>
          <p:nvPr/>
        </p:nvSpPr>
        <p:spPr>
          <a:xfrm xmlns:a="http://schemas.openxmlformats.org/drawingml/2006/main">
            <a:off x="9715500" y="3219450"/>
            <a:ext cx="342900" cy="342900"/>
          </a:xfrm>
          <a:prstGeom xmlns:a="http://schemas.openxmlformats.org/drawingml/2006/main" prst="ellipse">
            <a:avLst/>
          </a:prstGeom>
          <a:solidFill xmlns:a="http://schemas.openxmlformats.org/drawingml/2006/main">
            <a:srgbClr val="D9771F"/>
          </a:solidFill>
          <a:ln xmlns:a="http://schemas.openxmlformats.org/drawingml/2006/main" w="9525">
            <a:solidFill>
              <a:srgbClr val="D9771F"/>
            </a:solidFill>
            <a:prstDash val="solid"/>
          </a:ln>
        </p:spPr>
      </p:sp>
      <p:sp>
        <p:nvSpPr>
          <p:cNvPr id="15" name="">
            <a:extLst xmlns:a="http://schemas.openxmlformats.org/drawingml/2006/main">
              <a:ext uri="{FF2B5EF4-FFF2-40B4-BE49-F238E27FC236}">
                <a16:creationId xmlns:a16="http://schemas.microsoft.com/office/drawing/2014/main" id="{41F2B323-5CDA-4B18-8A23-61405AD5F4C4}"/>
              </a:ext>
            </a:extLst>
          </p:cNvPr>
          <p:cNvSpPr>
            <a:spLocks xmlns:a="http://schemas.openxmlformats.org/drawingml/2006/main" noGrp="1"/>
          </p:cNvSpPr>
          <p:nvPr/>
        </p:nvSpPr>
        <p:spPr>
          <a:xfrm xmlns:a="http://schemas.openxmlformats.org/drawingml/2006/main">
            <a:off x="9715500" y="32956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FFFFFF"/>
                </a:solidFill>
              </a:defRPr>
            </a:pPr>
            <a:r>
              <a:rPr sz="975" b="1" i="0">
                <a:solidFill>
                  <a:srgbClr val="FFFFFF"/>
                </a:solidFill>
              </a:rPr>
              <a:t>2</a:t>
            </a:r>
          </a:p>
        </p:txBody>
      </p:sp>
      <p:sp>
        <p:nvSpPr>
          <p:cNvPr id="16" name="">
            <a:extLst xmlns:a="http://schemas.openxmlformats.org/drawingml/2006/main">
              <a:ext uri="{FF2B5EF4-FFF2-40B4-BE49-F238E27FC236}">
                <a16:creationId xmlns:a16="http://schemas.microsoft.com/office/drawing/2014/main" id="{72DFA356-C8B7-4698-800F-A39C95E08210}"/>
              </a:ext>
            </a:extLst>
          </p:cNvPr>
          <p:cNvSpPr>
            <a:spLocks xmlns:a="http://schemas.openxmlformats.org/drawingml/2006/main" noGrp="1"/>
          </p:cNvSpPr>
          <p:nvPr/>
        </p:nvSpPr>
        <p:spPr>
          <a:xfrm xmlns:a="http://schemas.openxmlformats.org/drawingml/2006/main">
            <a:off x="9715500" y="4000500"/>
            <a:ext cx="342900" cy="342900"/>
          </a:xfrm>
          <a:prstGeom xmlns:a="http://schemas.openxmlformats.org/drawingml/2006/main" prst="ellipse">
            <a:avLst/>
          </a:prstGeom>
          <a:solidFill xmlns:a="http://schemas.openxmlformats.org/drawingml/2006/main">
            <a:srgbClr val="24547A"/>
          </a:solidFill>
          <a:ln xmlns:a="http://schemas.openxmlformats.org/drawingml/2006/main" w="9525">
            <a:solidFill>
              <a:srgbClr val="24547A"/>
            </a:solidFill>
            <a:prstDash val="solid"/>
          </a:ln>
        </p:spPr>
      </p:sp>
      <p:sp>
        <p:nvSpPr>
          <p:cNvPr id="17" name="">
            <a:extLst xmlns:a="http://schemas.openxmlformats.org/drawingml/2006/main">
              <a:ext uri="{FF2B5EF4-FFF2-40B4-BE49-F238E27FC236}">
                <a16:creationId xmlns:a16="http://schemas.microsoft.com/office/drawing/2014/main" id="{7D06BEC6-00D0-45EE-89CB-FC9A63C44229}"/>
              </a:ext>
            </a:extLst>
          </p:cNvPr>
          <p:cNvSpPr>
            <a:spLocks xmlns:a="http://schemas.openxmlformats.org/drawingml/2006/main" noGrp="1"/>
          </p:cNvSpPr>
          <p:nvPr/>
        </p:nvSpPr>
        <p:spPr>
          <a:xfrm xmlns:a="http://schemas.openxmlformats.org/drawingml/2006/main">
            <a:off x="9715500" y="40767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FFFFFF"/>
                </a:solidFill>
              </a:defRPr>
            </a:pPr>
            <a:r>
              <a:rPr sz="975" b="1" i="0">
                <a:solidFill>
                  <a:srgbClr val="FFFFFF"/>
                </a:solidFill>
              </a:rPr>
              <a:t>3</a:t>
            </a:r>
          </a:p>
        </p:txBody>
      </p:sp>
      <p:sp>
        <p:nvSpPr>
          <p:cNvPr id="18" name="">
            <a:extLst xmlns:a="http://schemas.openxmlformats.org/drawingml/2006/main">
              <a:ext uri="{FF2B5EF4-FFF2-40B4-BE49-F238E27FC236}">
                <a16:creationId xmlns:a16="http://schemas.microsoft.com/office/drawing/2014/main" id="{C10B864E-3BBF-40C8-B94A-878CF310AE8B}"/>
              </a:ext>
            </a:extLst>
          </p:cNvPr>
          <p:cNvSpPr>
            <a:spLocks xmlns:a="http://schemas.openxmlformats.org/drawingml/2006/main" noGrp="1"/>
          </p:cNvSpPr>
          <p:nvPr/>
        </p:nvSpPr>
        <p:spPr>
          <a:xfrm xmlns:a="http://schemas.openxmlformats.org/drawingml/2006/main">
            <a:off x="9715500" y="4781550"/>
            <a:ext cx="342900" cy="342900"/>
          </a:xfrm>
          <a:prstGeom xmlns:a="http://schemas.openxmlformats.org/drawingml/2006/main" prst="ellipse">
            <a:avLst/>
          </a:prstGeom>
          <a:solidFill xmlns:a="http://schemas.openxmlformats.org/drawingml/2006/main">
            <a:srgbClr val="C75850"/>
          </a:solidFill>
          <a:ln xmlns:a="http://schemas.openxmlformats.org/drawingml/2006/main" w="9525">
            <a:solidFill>
              <a:srgbClr val="C75850"/>
            </a:solidFill>
            <a:prstDash val="solid"/>
          </a:ln>
        </p:spPr>
      </p:sp>
      <p:sp>
        <p:nvSpPr>
          <p:cNvPr id="19" name="">
            <a:extLst xmlns:a="http://schemas.openxmlformats.org/drawingml/2006/main">
              <a:ext uri="{FF2B5EF4-FFF2-40B4-BE49-F238E27FC236}">
                <a16:creationId xmlns:a16="http://schemas.microsoft.com/office/drawing/2014/main" id="{010BB432-9EAD-4155-AD29-61E3616242A2}"/>
              </a:ext>
            </a:extLst>
          </p:cNvPr>
          <p:cNvSpPr>
            <a:spLocks xmlns:a="http://schemas.openxmlformats.org/drawingml/2006/main" noGrp="1"/>
          </p:cNvSpPr>
          <p:nvPr/>
        </p:nvSpPr>
        <p:spPr>
          <a:xfrm xmlns:a="http://schemas.openxmlformats.org/drawingml/2006/main">
            <a:off x="9715500" y="48577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FFFFFF"/>
                </a:solidFill>
              </a:defRPr>
            </a:pPr>
            <a:r>
              <a:rPr sz="975" b="1" i="0">
                <a:solidFill>
                  <a:srgbClr val="FFFFFF"/>
                </a:solidFill>
              </a:rPr>
              <a:t>4</a:t>
            </a:r>
          </a:p>
        </p:txBody>
      </p:sp>
      <p:sp>
        <p:nvSpPr>
          <p:cNvPr id="20" name="">
            <a:extLst xmlns:a="http://schemas.openxmlformats.org/drawingml/2006/main">
              <a:ext uri="{FF2B5EF4-FFF2-40B4-BE49-F238E27FC236}">
                <a16:creationId xmlns:a16="http://schemas.microsoft.com/office/drawing/2014/main" id="{05445D62-9F91-48D6-9540-861B6C1D4ECC}"/>
              </a:ext>
            </a:extLst>
          </p:cNvPr>
          <p:cNvSpPr>
            <a:spLocks xmlns:a="http://schemas.openxmlformats.org/drawingml/2006/main" noGrp="1"/>
          </p:cNvSpPr>
          <p:nvPr/>
        </p:nvSpPr>
        <p:spPr>
          <a:xfrm xmlns:a="http://schemas.openxmlformats.org/drawingml/2006/main">
            <a:off x="685800" y="5448300"/>
            <a:ext cx="10172700" cy="457200"/>
          </a:xfrm>
          <a:prstGeom xmlns:a="http://schemas.openxmlformats.org/drawingml/2006/main" prst="rect">
            <a:avLst/>
          </a:prstGeom>
          <a:solidFill xmlns:a="http://schemas.openxmlformats.org/drawingml/2006/main">
            <a:srgbClr val="E8EEF4"/>
          </a:solidFill>
          <a:ln xmlns:a="http://schemas.openxmlformats.org/drawingml/2006/main" w="5715">
            <a:solidFill>
              <a:srgbClr val="E8EEF4"/>
            </a:solidFill>
            <a:prstDash val="solid"/>
          </a:ln>
        </p:spPr>
      </p:sp>
      <p:sp>
        <p:nvSpPr>
          <p:cNvPr id="21" name="">
            <a:extLst xmlns:a="http://schemas.openxmlformats.org/drawingml/2006/main">
              <a:ext uri="{FF2B5EF4-FFF2-40B4-BE49-F238E27FC236}">
                <a16:creationId xmlns:a16="http://schemas.microsoft.com/office/drawing/2014/main" id="{9AD52F3B-EF22-48EA-85B0-827D25B86339}"/>
              </a:ext>
            </a:extLst>
          </p:cNvPr>
          <p:cNvSpPr>
            <a:spLocks xmlns:a="http://schemas.openxmlformats.org/drawingml/2006/main" noGrp="1"/>
          </p:cNvSpPr>
          <p:nvPr/>
        </p:nvSpPr>
        <p:spPr>
          <a:xfrm xmlns:a="http://schemas.openxmlformats.org/drawingml/2006/main">
            <a:off x="685800" y="5448300"/>
            <a:ext cx="76200" cy="457200"/>
          </a:xfrm>
          <a:prstGeom xmlns:a="http://schemas.openxmlformats.org/drawingml/2006/main" prst="rect">
            <a:avLst/>
          </a:prstGeom>
          <a:solidFill xmlns:a="http://schemas.openxmlformats.org/drawingml/2006/main">
            <a:srgbClr val="24547A"/>
          </a:solidFill>
          <a:ln xmlns:a="http://schemas.openxmlformats.org/drawingml/2006/main" w="5715">
            <a:solidFill>
              <a:srgbClr val="24547A"/>
            </a:solidFill>
            <a:prstDash val="solid"/>
          </a:ln>
        </p:spPr>
      </p:sp>
      <p:sp>
        <p:nvSpPr>
          <p:cNvPr id="22" name="">
            <a:extLst xmlns:a="http://schemas.openxmlformats.org/drawingml/2006/main">
              <a:ext uri="{FF2B5EF4-FFF2-40B4-BE49-F238E27FC236}">
                <a16:creationId xmlns:a16="http://schemas.microsoft.com/office/drawing/2014/main" id="{BA4023B1-472B-47B2-93CC-85CC89B1DEA6}"/>
              </a:ext>
            </a:extLst>
          </p:cNvPr>
          <p:cNvSpPr>
            <a:spLocks xmlns:a="http://schemas.openxmlformats.org/drawingml/2006/main" noGrp="1"/>
          </p:cNvSpPr>
          <p:nvPr/>
        </p:nvSpPr>
        <p:spPr>
          <a:xfrm xmlns:a="http://schemas.openxmlformats.org/drawingml/2006/main">
            <a:off x="952500" y="5581650"/>
            <a:ext cx="9696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238"/>
                </a:solidFill>
              </a:defRPr>
            </a:pPr>
            <a:r>
              <a:rPr sz="1275" b="1" i="0">
                <a:solidFill>
                  <a:srgbClr val="132238"/>
                </a:solidFill>
              </a:rPr>
              <a:t>This avoids inflating the influence of parents that happened to decompose into more child tasks.</a:t>
            </a:r>
          </a:p>
        </p:txBody>
      </p:sp>
    </p:spTree>
    <p:extLst>
      <p:ext uri="{BB962C8B-B14F-4D97-AF65-F5344CB8AC3E}">
        <p14:creationId xmlns:p14="http://schemas.microsoft.com/office/powerpoint/2010/main" val="226030785"/>
      </p:ext>
    </p:extLst>
  </p:cSld>
</p:sld>
</file>

<file path=ppt/slides/slide2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E493476-1B88-444E-BD2E-9A01BABFC82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346E8F9B-1810-46B7-9118-935B1B4F26FB}"/>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APPENDIX A8 | SAMPLING AND RUN-QUALITY ASSURANCE</a:t>
            </a:r>
          </a:p>
        </p:txBody>
      </p:sp>
      <p:sp>
        <p:nvSpPr>
          <p:cNvPr id="3" name="">
            <a:extLst xmlns:a="http://schemas.openxmlformats.org/drawingml/2006/main">
              <a:ext uri="{FF2B5EF4-FFF2-40B4-BE49-F238E27FC236}">
                <a16:creationId xmlns:a16="http://schemas.microsoft.com/office/drawing/2014/main" id="{25140312-9AFF-4485-8CAD-52D15E67E312}"/>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The reported effects are not explained by label-based sampling, missing cells or duplicate calls</a:t>
            </a:r>
          </a:p>
        </p:txBody>
      </p:sp>
      <p:sp>
        <p:nvSpPr>
          <p:cNvPr id="4" name="">
            <a:extLst xmlns:a="http://schemas.openxmlformats.org/drawingml/2006/main">
              <a:ext uri="{FF2B5EF4-FFF2-40B4-BE49-F238E27FC236}">
                <a16:creationId xmlns:a16="http://schemas.microsoft.com/office/drawing/2014/main" id="{34471F13-4143-4E6D-9A84-1D94EFBAE070}"/>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The controls below address the main questions likely to arise about panel construction and run integrity.</a:t>
            </a:r>
          </a:p>
        </p:txBody>
      </p:sp>
      <p:sp>
        <p:nvSpPr>
          <p:cNvPr id="5" name="">
            <a:extLst xmlns:a="http://schemas.openxmlformats.org/drawingml/2006/main">
              <a:ext uri="{FF2B5EF4-FFF2-40B4-BE49-F238E27FC236}">
                <a16:creationId xmlns:a16="http://schemas.microsoft.com/office/drawing/2014/main" id="{752266FE-3325-4E79-82CB-98B2A19F8A89}"/>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5EB162A8-DB86-4780-9149-D905F370845C}"/>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576D0021-855D-483F-BD96-3D13D1E0353F}"/>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27</a:t>
            </a:r>
          </a:p>
        </p:txBody>
      </p:sp>
      <p:sp>
        <p:nvSpPr>
          <p:cNvPr id="8" name="">
            <a:extLst xmlns:a="http://schemas.openxmlformats.org/drawingml/2006/main">
              <a:ext uri="{FF2B5EF4-FFF2-40B4-BE49-F238E27FC236}">
                <a16:creationId xmlns:a16="http://schemas.microsoft.com/office/drawing/2014/main" id="{905B86E9-D2BF-4D1B-88B8-8AC35EDDDA7F}"/>
              </a:ext>
            </a:extLst>
          </p:cNvPr>
          <p:cNvSpPr>
            <a:spLocks xmlns:a="http://schemas.openxmlformats.org/drawingml/2006/main" noGrp="1"/>
          </p:cNvSpPr>
          <p:nvPr/>
        </p:nvSpPr>
        <p:spPr>
          <a:xfrm xmlns:a="http://schemas.openxmlformats.org/drawingml/2006/main">
            <a:off x="685800" y="20574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PANEL SELECTION</a:t>
            </a:r>
          </a:p>
        </p:txBody>
      </p:sp>
      <p:sp>
        <p:nvSpPr>
          <p:cNvPr id="9" name="">
            <a:extLst xmlns:a="http://schemas.openxmlformats.org/drawingml/2006/main">
              <a:ext uri="{FF2B5EF4-FFF2-40B4-BE49-F238E27FC236}">
                <a16:creationId xmlns:a16="http://schemas.microsoft.com/office/drawing/2014/main" id="{955C2E05-DF23-449E-BEC7-D31FEB1F702E}"/>
              </a:ext>
            </a:extLst>
          </p:cNvPr>
          <p:cNvSpPr>
            <a:spLocks xmlns:a="http://schemas.openxmlformats.org/drawingml/2006/main" noGrp="1"/>
          </p:cNvSpPr>
          <p:nvPr/>
        </p:nvSpPr>
        <p:spPr>
          <a:xfrm xmlns:a="http://schemas.openxmlformats.org/drawingml/2006/main">
            <a:off x="2952750" y="20383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32238"/>
                </a:solidFill>
              </a:defRPr>
            </a:pPr>
            <a:r>
              <a:rPr sz="1200" b="0" i="0">
                <a:solidFill>
                  <a:srgbClr val="132238"/>
                </a:solidFill>
              </a:rPr>
              <a:t>978 original tasks were selected by simple random sampling before scoring; historical and new labels were not used.</a:t>
            </a:r>
          </a:p>
        </p:txBody>
      </p:sp>
      <p:sp>
        <p:nvSpPr>
          <p:cNvPr id="10" name="">
            <a:extLst xmlns:a="http://schemas.openxmlformats.org/drawingml/2006/main">
              <a:ext uri="{FF2B5EF4-FFF2-40B4-BE49-F238E27FC236}">
                <a16:creationId xmlns:a16="http://schemas.microsoft.com/office/drawing/2014/main" id="{0F2A4E4C-1377-4D4C-9153-5D5D7B3A69A1}"/>
              </a:ext>
            </a:extLst>
          </p:cNvPr>
          <p:cNvSpPr>
            <a:spLocks xmlns:a="http://schemas.openxmlformats.org/drawingml/2006/main" noGrp="1"/>
          </p:cNvSpPr>
          <p:nvPr/>
        </p:nvSpPr>
        <p:spPr>
          <a:xfrm xmlns:a="http://schemas.openxmlformats.org/drawingml/2006/main">
            <a:off x="685800" y="2495550"/>
            <a:ext cx="101727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1" name="">
            <a:extLst xmlns:a="http://schemas.openxmlformats.org/drawingml/2006/main">
              <a:ext uri="{FF2B5EF4-FFF2-40B4-BE49-F238E27FC236}">
                <a16:creationId xmlns:a16="http://schemas.microsoft.com/office/drawing/2014/main" id="{15D1E9DA-560B-4A35-B7DF-B7654275328C}"/>
              </a:ext>
            </a:extLst>
          </p:cNvPr>
          <p:cNvSpPr>
            <a:spLocks xmlns:a="http://schemas.openxmlformats.org/drawingml/2006/main" noGrp="1"/>
          </p:cNvSpPr>
          <p:nvPr/>
        </p:nvSpPr>
        <p:spPr>
          <a:xfrm xmlns:a="http://schemas.openxmlformats.org/drawingml/2006/main">
            <a:off x="685800" y="27432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D9771F"/>
                </a:solidFill>
              </a:defRPr>
            </a:pPr>
            <a:r>
              <a:rPr sz="900" b="1" i="0">
                <a:solidFill>
                  <a:srgbClr val="D9771F"/>
                </a:solidFill>
              </a:rPr>
              <a:t>COMPLETE COVERAGE</a:t>
            </a:r>
          </a:p>
        </p:txBody>
      </p:sp>
      <p:sp>
        <p:nvSpPr>
          <p:cNvPr id="12" name="">
            <a:extLst xmlns:a="http://schemas.openxmlformats.org/drawingml/2006/main">
              <a:ext uri="{FF2B5EF4-FFF2-40B4-BE49-F238E27FC236}">
                <a16:creationId xmlns:a16="http://schemas.microsoft.com/office/drawing/2014/main" id="{7D3646B4-D9AC-4965-A3D8-AD84A41A01C2}"/>
              </a:ext>
            </a:extLst>
          </p:cNvPr>
          <p:cNvSpPr>
            <a:spLocks xmlns:a="http://schemas.openxmlformats.org/drawingml/2006/main" noGrp="1"/>
          </p:cNvSpPr>
          <p:nvPr/>
        </p:nvSpPr>
        <p:spPr>
          <a:xfrm xmlns:a="http://schemas.openxmlformats.org/drawingml/2006/main">
            <a:off x="2952750" y="27241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32238"/>
                </a:solidFill>
              </a:defRPr>
            </a:pPr>
            <a:r>
              <a:rPr sz="1200" b="0" i="0">
                <a:solidFill>
                  <a:srgbClr val="132238"/>
                </a:solidFill>
              </a:rPr>
              <a:t>Every original parent and every linked normalized/decomposed task was scored in each intended condition.</a:t>
            </a:r>
          </a:p>
        </p:txBody>
      </p:sp>
      <p:sp>
        <p:nvSpPr>
          <p:cNvPr id="13" name="">
            <a:extLst xmlns:a="http://schemas.openxmlformats.org/drawingml/2006/main">
              <a:ext uri="{FF2B5EF4-FFF2-40B4-BE49-F238E27FC236}">
                <a16:creationId xmlns:a16="http://schemas.microsoft.com/office/drawing/2014/main" id="{E9E15DEA-FD28-4464-A0F1-A54B6D771154}"/>
              </a:ext>
            </a:extLst>
          </p:cNvPr>
          <p:cNvSpPr>
            <a:spLocks xmlns:a="http://schemas.openxmlformats.org/drawingml/2006/main" noGrp="1"/>
          </p:cNvSpPr>
          <p:nvPr/>
        </p:nvSpPr>
        <p:spPr>
          <a:xfrm xmlns:a="http://schemas.openxmlformats.org/drawingml/2006/main">
            <a:off x="685800" y="3181350"/>
            <a:ext cx="101727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4" name="">
            <a:extLst xmlns:a="http://schemas.openxmlformats.org/drawingml/2006/main">
              <a:ext uri="{FF2B5EF4-FFF2-40B4-BE49-F238E27FC236}">
                <a16:creationId xmlns:a16="http://schemas.microsoft.com/office/drawing/2014/main" id="{80092896-CC80-49BE-A74D-9E5E889632BB}"/>
              </a:ext>
            </a:extLst>
          </p:cNvPr>
          <p:cNvSpPr>
            <a:spLocks xmlns:a="http://schemas.openxmlformats.org/drawingml/2006/main" noGrp="1"/>
          </p:cNvSpPr>
          <p:nvPr/>
        </p:nvSpPr>
        <p:spPr>
          <a:xfrm xmlns:a="http://schemas.openxmlformats.org/drawingml/2006/main">
            <a:off x="685800" y="34290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24547A"/>
                </a:solidFill>
              </a:defRPr>
            </a:pPr>
            <a:r>
              <a:rPr sz="900" b="1" i="0">
                <a:solidFill>
                  <a:srgbClr val="24547A"/>
                </a:solidFill>
              </a:rPr>
              <a:t>RUN INTEGRITY</a:t>
            </a:r>
          </a:p>
        </p:txBody>
      </p:sp>
      <p:sp>
        <p:nvSpPr>
          <p:cNvPr id="15" name="">
            <a:extLst xmlns:a="http://schemas.openxmlformats.org/drawingml/2006/main">
              <a:ext uri="{FF2B5EF4-FFF2-40B4-BE49-F238E27FC236}">
                <a16:creationId xmlns:a16="http://schemas.microsoft.com/office/drawing/2014/main" id="{6430A54F-0184-4F3B-B1EE-74FB47059D77}"/>
              </a:ext>
            </a:extLst>
          </p:cNvPr>
          <p:cNvSpPr>
            <a:spLocks xmlns:a="http://schemas.openxmlformats.org/drawingml/2006/main" noGrp="1"/>
          </p:cNvSpPr>
          <p:nvPr/>
        </p:nvSpPr>
        <p:spPr>
          <a:xfrm xmlns:a="http://schemas.openxmlformats.org/drawingml/2006/main">
            <a:off x="2952750" y="34099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32238"/>
                </a:solidFill>
              </a:defRPr>
            </a:pPr>
            <a:r>
              <a:rPr sz="1200" b="0" i="0">
                <a:solidFill>
                  <a:srgbClr val="132238"/>
                </a:solidFill>
              </a:rPr>
              <a:t>16,044 successful responses; no duplicate call IDs within individual source runs.</a:t>
            </a:r>
          </a:p>
        </p:txBody>
      </p:sp>
      <p:sp>
        <p:nvSpPr>
          <p:cNvPr id="16" name="">
            <a:extLst xmlns:a="http://schemas.openxmlformats.org/drawingml/2006/main">
              <a:ext uri="{FF2B5EF4-FFF2-40B4-BE49-F238E27FC236}">
                <a16:creationId xmlns:a16="http://schemas.microsoft.com/office/drawing/2014/main" id="{CB160BCC-9D83-48FD-A86A-59A61BC38AEB}"/>
              </a:ext>
            </a:extLst>
          </p:cNvPr>
          <p:cNvSpPr>
            <a:spLocks xmlns:a="http://schemas.openxmlformats.org/drawingml/2006/main" noGrp="1"/>
          </p:cNvSpPr>
          <p:nvPr/>
        </p:nvSpPr>
        <p:spPr>
          <a:xfrm xmlns:a="http://schemas.openxmlformats.org/drawingml/2006/main">
            <a:off x="685800" y="3867150"/>
            <a:ext cx="101727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7" name="">
            <a:extLst xmlns:a="http://schemas.openxmlformats.org/drawingml/2006/main">
              <a:ext uri="{FF2B5EF4-FFF2-40B4-BE49-F238E27FC236}">
                <a16:creationId xmlns:a16="http://schemas.microsoft.com/office/drawing/2014/main" id="{BD14D358-7B68-4843-9F18-27AA696DBABB}"/>
              </a:ext>
            </a:extLst>
          </p:cNvPr>
          <p:cNvSpPr>
            <a:spLocks xmlns:a="http://schemas.openxmlformats.org/drawingml/2006/main" noGrp="1"/>
          </p:cNvSpPr>
          <p:nvPr/>
        </p:nvSpPr>
        <p:spPr>
          <a:xfrm xmlns:a="http://schemas.openxmlformats.org/drawingml/2006/main">
            <a:off x="685800" y="41148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C75850"/>
                </a:solidFill>
              </a:defRPr>
            </a:pPr>
            <a:r>
              <a:rPr sz="900" b="1" i="0">
                <a:solidFill>
                  <a:srgbClr val="C75850"/>
                </a:solidFill>
              </a:rPr>
              <a:t>TASK LINKAGE</a:t>
            </a:r>
          </a:p>
        </p:txBody>
      </p:sp>
      <p:sp>
        <p:nvSpPr>
          <p:cNvPr id="18" name="">
            <a:extLst xmlns:a="http://schemas.openxmlformats.org/drawingml/2006/main">
              <a:ext uri="{FF2B5EF4-FFF2-40B4-BE49-F238E27FC236}">
                <a16:creationId xmlns:a16="http://schemas.microsoft.com/office/drawing/2014/main" id="{FCD73A3F-7452-4DAB-8650-EAFB417EB41D}"/>
              </a:ext>
            </a:extLst>
          </p:cNvPr>
          <p:cNvSpPr>
            <a:spLocks xmlns:a="http://schemas.openxmlformats.org/drawingml/2006/main" noGrp="1"/>
          </p:cNvSpPr>
          <p:nvPr/>
        </p:nvSpPr>
        <p:spPr>
          <a:xfrm xmlns:a="http://schemas.openxmlformats.org/drawingml/2006/main">
            <a:off x="2952750" y="40957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32238"/>
                </a:solidFill>
              </a:defRPr>
            </a:pPr>
            <a:r>
              <a:rPr sz="1200" b="0" i="0">
                <a:solidFill>
                  <a:srgbClr val="132238"/>
                </a:solidFill>
              </a:rPr>
              <a:t>Parent-child relationships were retained for representation analysis and equal-parent weighting.</a:t>
            </a:r>
          </a:p>
        </p:txBody>
      </p:sp>
      <p:sp>
        <p:nvSpPr>
          <p:cNvPr id="19" name="">
            <a:extLst xmlns:a="http://schemas.openxmlformats.org/drawingml/2006/main">
              <a:ext uri="{FF2B5EF4-FFF2-40B4-BE49-F238E27FC236}">
                <a16:creationId xmlns:a16="http://schemas.microsoft.com/office/drawing/2014/main" id="{9FDFA4A7-E5F3-4269-B59F-9778FCDCF5A1}"/>
              </a:ext>
            </a:extLst>
          </p:cNvPr>
          <p:cNvSpPr>
            <a:spLocks xmlns:a="http://schemas.openxmlformats.org/drawingml/2006/main" noGrp="1"/>
          </p:cNvSpPr>
          <p:nvPr/>
        </p:nvSpPr>
        <p:spPr>
          <a:xfrm xmlns:a="http://schemas.openxmlformats.org/drawingml/2006/main">
            <a:off x="685800" y="4552950"/>
            <a:ext cx="101727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20" name="">
            <a:extLst xmlns:a="http://schemas.openxmlformats.org/drawingml/2006/main">
              <a:ext uri="{FF2B5EF4-FFF2-40B4-BE49-F238E27FC236}">
                <a16:creationId xmlns:a16="http://schemas.microsoft.com/office/drawing/2014/main" id="{7DD174EC-BE56-43E5-83F1-7F2156E1F7FB}"/>
              </a:ext>
            </a:extLst>
          </p:cNvPr>
          <p:cNvSpPr>
            <a:spLocks xmlns:a="http://schemas.openxmlformats.org/drawingml/2006/main" noGrp="1"/>
          </p:cNvSpPr>
          <p:nvPr/>
        </p:nvSpPr>
        <p:spPr>
          <a:xfrm xmlns:a="http://schemas.openxmlformats.org/drawingml/2006/main">
            <a:off x="685800" y="48006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B18A2D"/>
                </a:solidFill>
              </a:defRPr>
            </a:pPr>
            <a:r>
              <a:rPr sz="900" b="1" i="0">
                <a:solidFill>
                  <a:srgbClr val="B18A2D"/>
                </a:solidFill>
              </a:rPr>
              <a:t>OUTBOUND REQUEST CONTROLS</a:t>
            </a:r>
          </a:p>
        </p:txBody>
      </p:sp>
      <p:sp>
        <p:nvSpPr>
          <p:cNvPr id="21" name="">
            <a:extLst xmlns:a="http://schemas.openxmlformats.org/drawingml/2006/main">
              <a:ext uri="{FF2B5EF4-FFF2-40B4-BE49-F238E27FC236}">
                <a16:creationId xmlns:a16="http://schemas.microsoft.com/office/drawing/2014/main" id="{6AABD514-00E9-4D3A-8CA3-1D2873F90AFA}"/>
              </a:ext>
            </a:extLst>
          </p:cNvPr>
          <p:cNvSpPr>
            <a:spLocks xmlns:a="http://schemas.openxmlformats.org/drawingml/2006/main" noGrp="1"/>
          </p:cNvSpPr>
          <p:nvPr/>
        </p:nvSpPr>
        <p:spPr>
          <a:xfrm xmlns:a="http://schemas.openxmlformats.org/drawingml/2006/main">
            <a:off x="2952750" y="4781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32238"/>
                </a:solidFill>
              </a:defRPr>
            </a:pPr>
            <a:r>
              <a:rPr sz="1200" b="0" i="0">
                <a:solidFill>
                  <a:srgbClr val="132238"/>
                </a:solidFill>
              </a:rPr>
              <a:t>Scoring calls contained occupation and task text plus fixed guidance; target labels and scores were excluded.</a:t>
            </a:r>
          </a:p>
        </p:txBody>
      </p:sp>
    </p:spTree>
    <p:extLst>
      <p:ext uri="{BB962C8B-B14F-4D97-AF65-F5344CB8AC3E}">
        <p14:creationId xmlns:p14="http://schemas.microsoft.com/office/powerpoint/2010/main" val="483214731"/>
      </p:ext>
    </p:extLst>
  </p:cSld>
</p:sld>
</file>

<file path=ppt/slides/slide2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4091B03A-D598-41AF-A946-2DCBF4E5263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BFA1CA07-70A4-46C9-9656-830242E9162D}"/>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APPENDIX A9 | SCORING-GUIDANCE COMPARISON</a:t>
            </a:r>
          </a:p>
        </p:txBody>
      </p:sp>
      <p:sp>
        <p:nvSpPr>
          <p:cNvPr id="3" name="">
            <a:extLst xmlns:a="http://schemas.openxmlformats.org/drawingml/2006/main">
              <a:ext uri="{FF2B5EF4-FFF2-40B4-BE49-F238E27FC236}">
                <a16:creationId xmlns:a16="http://schemas.microsoft.com/office/drawing/2014/main" id="{E4F53FE6-AD38-4992-9A87-3D8A260A572B}"/>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32238"/>
                </a:solidFill>
              </a:defRPr>
            </a:pPr>
            <a:r>
              <a:rPr sz="2700" b="1" i="0">
                <a:solidFill>
                  <a:srgbClr val="132238"/>
                </a:solidFill>
              </a:rPr>
              <a:t>What changes between the three scoring guidance conditions</a:t>
            </a:r>
          </a:p>
        </p:txBody>
      </p:sp>
      <p:sp>
        <p:nvSpPr>
          <p:cNvPr id="4" name="">
            <a:extLst xmlns:a="http://schemas.openxmlformats.org/drawingml/2006/main">
              <a:ext uri="{FF2B5EF4-FFF2-40B4-BE49-F238E27FC236}">
                <a16:creationId xmlns:a16="http://schemas.microsoft.com/office/drawing/2014/main" id="{4FD9B3D0-70DB-4E53-B774-7A9903671F58}"/>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Task format and LLM version were held as separate experimental factors; this page compares only the guidance supplied to the model.</a:t>
            </a:r>
          </a:p>
        </p:txBody>
      </p:sp>
      <p:sp>
        <p:nvSpPr>
          <p:cNvPr id="5" name="">
            <a:extLst xmlns:a="http://schemas.openxmlformats.org/drawingml/2006/main">
              <a:ext uri="{FF2B5EF4-FFF2-40B4-BE49-F238E27FC236}">
                <a16:creationId xmlns:a16="http://schemas.microsoft.com/office/drawing/2014/main" id="{5F5FD1C1-4414-4F9A-AD6E-6B67E7BDD922}"/>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E5139F18-82BC-4E5A-B56B-31176B965A69}"/>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0033BBFE-E2A4-4E65-83C3-53AF4CC16FAE}"/>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28</a:t>
            </a:r>
          </a:p>
        </p:txBody>
      </p:sp>
      <p:sp>
        <p:nvSpPr>
          <p:cNvPr id="8" name="">
            <a:extLst xmlns:a="http://schemas.openxmlformats.org/drawingml/2006/main">
              <a:ext uri="{FF2B5EF4-FFF2-40B4-BE49-F238E27FC236}">
                <a16:creationId xmlns:a16="http://schemas.microsoft.com/office/drawing/2014/main" id="{779A3D4B-3650-4B74-8EA7-A18BBE6B2E07}"/>
              </a:ext>
            </a:extLst>
          </p:cNvPr>
          <p:cNvSpPr>
            <a:spLocks xmlns:a="http://schemas.openxmlformats.org/drawingml/2006/main" noGrp="1"/>
          </p:cNvSpPr>
          <p:nvPr/>
        </p:nvSpPr>
        <p:spPr>
          <a:xfrm xmlns:a="http://schemas.openxmlformats.org/drawingml/2006/main">
            <a:off x="685800" y="24574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COMPARISON AREA</a:t>
            </a:r>
          </a:p>
        </p:txBody>
      </p:sp>
      <p:sp>
        <p:nvSpPr>
          <p:cNvPr id="9" name="">
            <a:extLst xmlns:a="http://schemas.openxmlformats.org/drawingml/2006/main">
              <a:ext uri="{FF2B5EF4-FFF2-40B4-BE49-F238E27FC236}">
                <a16:creationId xmlns:a16="http://schemas.microsoft.com/office/drawing/2014/main" id="{61599C70-1D83-4F62-B20B-0CC6BFDC0EC0}"/>
              </a:ext>
            </a:extLst>
          </p:cNvPr>
          <p:cNvSpPr>
            <a:spLocks xmlns:a="http://schemas.openxmlformats.org/drawingml/2006/main" noGrp="1"/>
          </p:cNvSpPr>
          <p:nvPr/>
        </p:nvSpPr>
        <p:spPr>
          <a:xfrm xmlns:a="http://schemas.openxmlformats.org/drawingml/2006/main">
            <a:off x="2857500" y="2400300"/>
            <a:ext cx="2381250" cy="6667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10" name="">
            <a:extLst xmlns:a="http://schemas.openxmlformats.org/drawingml/2006/main">
              <a:ext uri="{FF2B5EF4-FFF2-40B4-BE49-F238E27FC236}">
                <a16:creationId xmlns:a16="http://schemas.microsoft.com/office/drawing/2014/main" id="{A2141032-02D6-4E33-9144-9473E24A8C01}"/>
              </a:ext>
            </a:extLst>
          </p:cNvPr>
          <p:cNvSpPr>
            <a:spLocks xmlns:a="http://schemas.openxmlformats.org/drawingml/2006/main" noGrp="1"/>
          </p:cNvSpPr>
          <p:nvPr/>
        </p:nvSpPr>
        <p:spPr>
          <a:xfrm xmlns:a="http://schemas.openxmlformats.org/drawingml/2006/main">
            <a:off x="2857500" y="2400300"/>
            <a:ext cx="2381250" cy="7620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11" name="">
            <a:extLst xmlns:a="http://schemas.openxmlformats.org/drawingml/2006/main">
              <a:ext uri="{FF2B5EF4-FFF2-40B4-BE49-F238E27FC236}">
                <a16:creationId xmlns:a16="http://schemas.microsoft.com/office/drawing/2014/main" id="{32C45C35-8B5B-4BF0-BDB2-A85EB8C266A3}"/>
              </a:ext>
            </a:extLst>
          </p:cNvPr>
          <p:cNvSpPr>
            <a:spLocks xmlns:a="http://schemas.openxmlformats.org/drawingml/2006/main" noGrp="1"/>
          </p:cNvSpPr>
          <p:nvPr/>
        </p:nvSpPr>
        <p:spPr>
          <a:xfrm xmlns:a="http://schemas.openxmlformats.org/drawingml/2006/main">
            <a:off x="3009900" y="25908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132238"/>
                </a:solidFill>
              </a:defRPr>
            </a:pPr>
            <a:r>
              <a:rPr sz="1125" b="1" i="0">
                <a:solidFill>
                  <a:srgbClr val="132238"/>
                </a:solidFill>
              </a:rPr>
              <a:t>Historical dashboard</a:t>
            </a:r>
          </a:p>
          <a:p xmlns:a="http://schemas.openxmlformats.org/drawingml/2006/main">
            <a:pPr algn="l">
              <a:defRPr sz="1125" b="1" i="0">
                <a:solidFill>
                  <a:srgbClr val="132238"/>
                </a:solidFill>
              </a:defRPr>
            </a:pPr>
            <a:r>
              <a:rPr sz="1125" b="1" i="0">
                <a:solidFill>
                  <a:srgbClr val="132238"/>
                </a:solidFill>
              </a:rPr>
              <a:t>guidance</a:t>
            </a:r>
          </a:p>
        </p:txBody>
      </p:sp>
      <p:sp>
        <p:nvSpPr>
          <p:cNvPr id="12" name="">
            <a:extLst xmlns:a="http://schemas.openxmlformats.org/drawingml/2006/main">
              <a:ext uri="{FF2B5EF4-FFF2-40B4-BE49-F238E27FC236}">
                <a16:creationId xmlns:a16="http://schemas.microsoft.com/office/drawing/2014/main" id="{47AB5231-816B-46DA-826E-341E3B148C9C}"/>
              </a:ext>
            </a:extLst>
          </p:cNvPr>
          <p:cNvSpPr>
            <a:spLocks xmlns:a="http://schemas.openxmlformats.org/drawingml/2006/main" noGrp="1"/>
          </p:cNvSpPr>
          <p:nvPr/>
        </p:nvSpPr>
        <p:spPr>
          <a:xfrm xmlns:a="http://schemas.openxmlformats.org/drawingml/2006/main">
            <a:off x="5572125" y="2400300"/>
            <a:ext cx="2381250" cy="6667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13" name="">
            <a:extLst xmlns:a="http://schemas.openxmlformats.org/drawingml/2006/main">
              <a:ext uri="{FF2B5EF4-FFF2-40B4-BE49-F238E27FC236}">
                <a16:creationId xmlns:a16="http://schemas.microsoft.com/office/drawing/2014/main" id="{A0D0ED90-03C5-4951-8DA3-E8E5FED32D1A}"/>
              </a:ext>
            </a:extLst>
          </p:cNvPr>
          <p:cNvSpPr>
            <a:spLocks xmlns:a="http://schemas.openxmlformats.org/drawingml/2006/main" noGrp="1"/>
          </p:cNvSpPr>
          <p:nvPr/>
        </p:nvSpPr>
        <p:spPr>
          <a:xfrm xmlns:a="http://schemas.openxmlformats.org/drawingml/2006/main">
            <a:off x="5572125" y="2400300"/>
            <a:ext cx="2381250" cy="7620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14" name="">
            <a:extLst xmlns:a="http://schemas.openxmlformats.org/drawingml/2006/main">
              <a:ext uri="{FF2B5EF4-FFF2-40B4-BE49-F238E27FC236}">
                <a16:creationId xmlns:a16="http://schemas.microsoft.com/office/drawing/2014/main" id="{8E7DE63E-D366-45E4-8EC7-753816A57351}"/>
              </a:ext>
            </a:extLst>
          </p:cNvPr>
          <p:cNvSpPr>
            <a:spLocks xmlns:a="http://schemas.openxmlformats.org/drawingml/2006/main" noGrp="1"/>
          </p:cNvSpPr>
          <p:nvPr/>
        </p:nvSpPr>
        <p:spPr>
          <a:xfrm xmlns:a="http://schemas.openxmlformats.org/drawingml/2006/main">
            <a:off x="5724525" y="25908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132238"/>
                </a:solidFill>
              </a:defRPr>
            </a:pPr>
            <a:r>
              <a:rPr sz="1125" b="1" i="0">
                <a:solidFill>
                  <a:srgbClr val="132238"/>
                </a:solidFill>
              </a:rPr>
              <a:t>Current POC</a:t>
            </a:r>
          </a:p>
          <a:p xmlns:a="http://schemas.openxmlformats.org/drawingml/2006/main">
            <a:pPr algn="l">
              <a:defRPr sz="1125" b="1" i="0">
                <a:solidFill>
                  <a:srgbClr val="132238"/>
                </a:solidFill>
              </a:defRPr>
            </a:pPr>
            <a:r>
              <a:rPr sz="1125" b="1" i="0">
                <a:solidFill>
                  <a:srgbClr val="132238"/>
                </a:solidFill>
              </a:rPr>
              <a:t>guidance</a:t>
            </a:r>
          </a:p>
        </p:txBody>
      </p:sp>
      <p:sp>
        <p:nvSpPr>
          <p:cNvPr id="15" name="">
            <a:extLst xmlns:a="http://schemas.openxmlformats.org/drawingml/2006/main">
              <a:ext uri="{FF2B5EF4-FFF2-40B4-BE49-F238E27FC236}">
                <a16:creationId xmlns:a16="http://schemas.microsoft.com/office/drawing/2014/main" id="{DD7321D7-DCDD-49FD-A0DA-0344A6F4CF57}"/>
              </a:ext>
            </a:extLst>
          </p:cNvPr>
          <p:cNvSpPr>
            <a:spLocks xmlns:a="http://schemas.openxmlformats.org/drawingml/2006/main" noGrp="1"/>
          </p:cNvSpPr>
          <p:nvPr/>
        </p:nvSpPr>
        <p:spPr>
          <a:xfrm xmlns:a="http://schemas.openxmlformats.org/drawingml/2006/main">
            <a:off x="8286750" y="2400300"/>
            <a:ext cx="2381250" cy="6667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16" name="">
            <a:extLst xmlns:a="http://schemas.openxmlformats.org/drawingml/2006/main">
              <a:ext uri="{FF2B5EF4-FFF2-40B4-BE49-F238E27FC236}">
                <a16:creationId xmlns:a16="http://schemas.microsoft.com/office/drawing/2014/main" id="{8529E10E-184F-429F-AA91-B954A58D705C}"/>
              </a:ext>
            </a:extLst>
          </p:cNvPr>
          <p:cNvSpPr>
            <a:spLocks xmlns:a="http://schemas.openxmlformats.org/drawingml/2006/main" noGrp="1"/>
          </p:cNvSpPr>
          <p:nvPr/>
        </p:nvSpPr>
        <p:spPr>
          <a:xfrm xmlns:a="http://schemas.openxmlformats.org/drawingml/2006/main">
            <a:off x="8286750" y="2400300"/>
            <a:ext cx="2381250" cy="76200"/>
          </a:xfrm>
          <a:prstGeom xmlns:a="http://schemas.openxmlformats.org/drawingml/2006/main" prst="rect">
            <a:avLst/>
          </a:prstGeom>
          <a:solidFill xmlns:a="http://schemas.openxmlformats.org/drawingml/2006/main">
            <a:srgbClr val="24547A"/>
          </a:solidFill>
          <a:ln xmlns:a="http://schemas.openxmlformats.org/drawingml/2006/main" w="5715">
            <a:solidFill>
              <a:srgbClr val="24547A"/>
            </a:solidFill>
            <a:prstDash val="solid"/>
          </a:ln>
        </p:spPr>
      </p:sp>
      <p:sp>
        <p:nvSpPr>
          <p:cNvPr id="17" name="">
            <a:extLst xmlns:a="http://schemas.openxmlformats.org/drawingml/2006/main">
              <a:ext uri="{FF2B5EF4-FFF2-40B4-BE49-F238E27FC236}">
                <a16:creationId xmlns:a16="http://schemas.microsoft.com/office/drawing/2014/main" id="{128A9F0A-7795-4D1B-98DF-59B4520C810D}"/>
              </a:ext>
            </a:extLst>
          </p:cNvPr>
          <p:cNvSpPr>
            <a:spLocks xmlns:a="http://schemas.openxmlformats.org/drawingml/2006/main" noGrp="1"/>
          </p:cNvSpPr>
          <p:nvPr/>
        </p:nvSpPr>
        <p:spPr>
          <a:xfrm xmlns:a="http://schemas.openxmlformats.org/drawingml/2006/main">
            <a:off x="8439150" y="25908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132238"/>
                </a:solidFill>
              </a:defRPr>
            </a:pPr>
            <a:r>
              <a:rPr sz="1125" b="1" i="0">
                <a:solidFill>
                  <a:srgbClr val="132238"/>
                </a:solidFill>
              </a:rPr>
              <a:t>Current POC guidance</a:t>
            </a:r>
          </a:p>
          <a:p xmlns:a="http://schemas.openxmlformats.org/drawingml/2006/main">
            <a:pPr algn="l">
              <a:defRPr sz="1125" b="1" i="0">
                <a:solidFill>
                  <a:srgbClr val="132238"/>
                </a:solidFill>
              </a:defRPr>
            </a:pPr>
            <a:r>
              <a:rPr sz="1125" b="1" i="0">
                <a:solidFill>
                  <a:srgbClr val="132238"/>
                </a:solidFill>
              </a:rPr>
              <a:t>+ historical examples</a:t>
            </a:r>
          </a:p>
        </p:txBody>
      </p:sp>
      <p:sp>
        <p:nvSpPr>
          <p:cNvPr id="18" name="">
            <a:extLst xmlns:a="http://schemas.openxmlformats.org/drawingml/2006/main">
              <a:ext uri="{FF2B5EF4-FFF2-40B4-BE49-F238E27FC236}">
                <a16:creationId xmlns:a16="http://schemas.microsoft.com/office/drawing/2014/main" id="{8B5E76B6-90F4-43A9-A0AD-7B2045EF5642}"/>
              </a:ext>
            </a:extLst>
          </p:cNvPr>
          <p:cNvSpPr>
            <a:spLocks xmlns:a="http://schemas.openxmlformats.org/drawingml/2006/main" noGrp="1"/>
          </p:cNvSpPr>
          <p:nvPr/>
        </p:nvSpPr>
        <p:spPr>
          <a:xfrm xmlns:a="http://schemas.openxmlformats.org/drawingml/2006/main">
            <a:off x="685800" y="33242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PRIMARY USE</a:t>
            </a:r>
          </a:p>
        </p:txBody>
      </p:sp>
      <p:sp>
        <p:nvSpPr>
          <p:cNvPr id="19" name="">
            <a:extLst xmlns:a="http://schemas.openxmlformats.org/drawingml/2006/main">
              <a:ext uri="{FF2B5EF4-FFF2-40B4-BE49-F238E27FC236}">
                <a16:creationId xmlns:a16="http://schemas.microsoft.com/office/drawing/2014/main" id="{F050AB4D-881A-4B0C-8967-C06B559C2FD7}"/>
              </a:ext>
            </a:extLst>
          </p:cNvPr>
          <p:cNvSpPr>
            <a:spLocks xmlns:a="http://schemas.openxmlformats.org/drawingml/2006/main" noGrp="1"/>
          </p:cNvSpPr>
          <p:nvPr/>
        </p:nvSpPr>
        <p:spPr>
          <a:xfrm xmlns:a="http://schemas.openxmlformats.org/drawingml/2006/main">
            <a:off x="2857500" y="3200400"/>
            <a:ext cx="2381250" cy="4762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20" name="">
            <a:extLst xmlns:a="http://schemas.openxmlformats.org/drawingml/2006/main">
              <a:ext uri="{FF2B5EF4-FFF2-40B4-BE49-F238E27FC236}">
                <a16:creationId xmlns:a16="http://schemas.microsoft.com/office/drawing/2014/main" id="{C2E6F664-EAAF-4CE6-AA02-2B4E0456D70E}"/>
              </a:ext>
            </a:extLst>
          </p:cNvPr>
          <p:cNvSpPr>
            <a:spLocks xmlns:a="http://schemas.openxmlformats.org/drawingml/2006/main" noGrp="1"/>
          </p:cNvSpPr>
          <p:nvPr/>
        </p:nvSpPr>
        <p:spPr>
          <a:xfrm xmlns:a="http://schemas.openxmlformats.org/drawingml/2006/main">
            <a:off x="3009900" y="327660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Recreate the historical</a:t>
            </a:r>
          </a:p>
          <a:p xmlns:a="http://schemas.openxmlformats.org/drawingml/2006/main">
            <a:pPr algn="l">
              <a:defRPr sz="975" b="0" i="0">
                <a:solidFill>
                  <a:srgbClr val="132238"/>
                </a:solidFill>
              </a:defRPr>
            </a:pPr>
            <a:r>
              <a:rPr sz="975" b="0" i="0">
                <a:solidFill>
                  <a:srgbClr val="132238"/>
                </a:solidFill>
              </a:rPr>
              <a:t>dashboard workflow</a:t>
            </a:r>
          </a:p>
        </p:txBody>
      </p:sp>
      <p:sp>
        <p:nvSpPr>
          <p:cNvPr id="21" name="">
            <a:extLst xmlns:a="http://schemas.openxmlformats.org/drawingml/2006/main">
              <a:ext uri="{FF2B5EF4-FFF2-40B4-BE49-F238E27FC236}">
                <a16:creationId xmlns:a16="http://schemas.microsoft.com/office/drawing/2014/main" id="{FBCCAAFB-CC77-4B5C-9CDA-C6E7D42C0D46}"/>
              </a:ext>
            </a:extLst>
          </p:cNvPr>
          <p:cNvSpPr>
            <a:spLocks xmlns:a="http://schemas.openxmlformats.org/drawingml/2006/main" noGrp="1"/>
          </p:cNvSpPr>
          <p:nvPr/>
        </p:nvSpPr>
        <p:spPr>
          <a:xfrm xmlns:a="http://schemas.openxmlformats.org/drawingml/2006/main">
            <a:off x="5572125" y="3200400"/>
            <a:ext cx="2381250" cy="4762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22" name="">
            <a:extLst xmlns:a="http://schemas.openxmlformats.org/drawingml/2006/main">
              <a:ext uri="{FF2B5EF4-FFF2-40B4-BE49-F238E27FC236}">
                <a16:creationId xmlns:a16="http://schemas.microsoft.com/office/drawing/2014/main" id="{F60294A5-26D7-41C0-8E91-7F086DF19CD7}"/>
              </a:ext>
            </a:extLst>
          </p:cNvPr>
          <p:cNvSpPr>
            <a:spLocks xmlns:a="http://schemas.openxmlformats.org/drawingml/2006/main" noGrp="1"/>
          </p:cNvSpPr>
          <p:nvPr/>
        </p:nvSpPr>
        <p:spPr>
          <a:xfrm xmlns:a="http://schemas.openxmlformats.org/drawingml/2006/main">
            <a:off x="5724525" y="327660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Score tasks in the</a:t>
            </a:r>
          </a:p>
          <a:p xmlns:a="http://schemas.openxmlformats.org/drawingml/2006/main">
            <a:pPr algn="l">
              <a:defRPr sz="975" b="0" i="0">
                <a:solidFill>
                  <a:srgbClr val="132238"/>
                </a:solidFill>
              </a:defRPr>
            </a:pPr>
            <a:r>
              <a:rPr sz="975" b="0" i="0">
                <a:solidFill>
                  <a:srgbClr val="132238"/>
                </a:solidFill>
              </a:rPr>
              <a:t>live job-redesign POC</a:t>
            </a:r>
          </a:p>
        </p:txBody>
      </p:sp>
      <p:sp>
        <p:nvSpPr>
          <p:cNvPr id="23" name="">
            <a:extLst xmlns:a="http://schemas.openxmlformats.org/drawingml/2006/main">
              <a:ext uri="{FF2B5EF4-FFF2-40B4-BE49-F238E27FC236}">
                <a16:creationId xmlns:a16="http://schemas.microsoft.com/office/drawing/2014/main" id="{1606BBC6-FA63-4EEA-9C99-FFEF884B15CB}"/>
              </a:ext>
            </a:extLst>
          </p:cNvPr>
          <p:cNvSpPr>
            <a:spLocks xmlns:a="http://schemas.openxmlformats.org/drawingml/2006/main" noGrp="1"/>
          </p:cNvSpPr>
          <p:nvPr/>
        </p:nvSpPr>
        <p:spPr>
          <a:xfrm xmlns:a="http://schemas.openxmlformats.org/drawingml/2006/main">
            <a:off x="8286750" y="3200400"/>
            <a:ext cx="2381250" cy="4762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24" name="">
            <a:extLst xmlns:a="http://schemas.openxmlformats.org/drawingml/2006/main">
              <a:ext uri="{FF2B5EF4-FFF2-40B4-BE49-F238E27FC236}">
                <a16:creationId xmlns:a16="http://schemas.microsoft.com/office/drawing/2014/main" id="{3AEC7C89-C1C1-42D0-98AB-AAF9390F5AB1}"/>
              </a:ext>
            </a:extLst>
          </p:cNvPr>
          <p:cNvSpPr>
            <a:spLocks xmlns:a="http://schemas.openxmlformats.org/drawingml/2006/main" noGrp="1"/>
          </p:cNvSpPr>
          <p:nvPr/>
        </p:nvSpPr>
        <p:spPr>
          <a:xfrm xmlns:a="http://schemas.openxmlformats.org/drawingml/2006/main">
            <a:off x="8439150" y="327660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Current POC workflow</a:t>
            </a:r>
          </a:p>
          <a:p xmlns:a="http://schemas.openxmlformats.org/drawingml/2006/main">
            <a:pPr algn="l">
              <a:defRPr sz="975" b="0" i="0">
                <a:solidFill>
                  <a:srgbClr val="132238"/>
                </a:solidFill>
              </a:defRPr>
            </a:pPr>
            <a:r>
              <a:rPr sz="975" b="0" i="0">
                <a:solidFill>
                  <a:srgbClr val="132238"/>
                </a:solidFill>
              </a:rPr>
              <a:t>with historical examples</a:t>
            </a:r>
          </a:p>
        </p:txBody>
      </p:sp>
      <p:sp>
        <p:nvSpPr>
          <p:cNvPr id="25" name="">
            <a:extLst xmlns:a="http://schemas.openxmlformats.org/drawingml/2006/main">
              <a:ext uri="{FF2B5EF4-FFF2-40B4-BE49-F238E27FC236}">
                <a16:creationId xmlns:a16="http://schemas.microsoft.com/office/drawing/2014/main" id="{B3049FA9-A08A-4AC7-B81A-BC169566A853}"/>
              </a:ext>
            </a:extLst>
          </p:cNvPr>
          <p:cNvSpPr>
            <a:spLocks xmlns:a="http://schemas.openxmlformats.org/drawingml/2006/main" noGrp="1"/>
          </p:cNvSpPr>
          <p:nvPr/>
        </p:nvSpPr>
        <p:spPr>
          <a:xfrm xmlns:a="http://schemas.openxmlformats.org/drawingml/2006/main">
            <a:off x="685800" y="38576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INSTRUCTION BASE</a:t>
            </a:r>
          </a:p>
        </p:txBody>
      </p:sp>
      <p:sp>
        <p:nvSpPr>
          <p:cNvPr id="26" name="">
            <a:extLst xmlns:a="http://schemas.openxmlformats.org/drawingml/2006/main">
              <a:ext uri="{FF2B5EF4-FFF2-40B4-BE49-F238E27FC236}">
                <a16:creationId xmlns:a16="http://schemas.microsoft.com/office/drawing/2014/main" id="{A2FABB1E-AD64-427F-9CF2-7EC380E0E661}"/>
              </a:ext>
            </a:extLst>
          </p:cNvPr>
          <p:cNvSpPr>
            <a:spLocks xmlns:a="http://schemas.openxmlformats.org/drawingml/2006/main" noGrp="1"/>
          </p:cNvSpPr>
          <p:nvPr/>
        </p:nvSpPr>
        <p:spPr>
          <a:xfrm xmlns:a="http://schemas.openxmlformats.org/drawingml/2006/main">
            <a:off x="2857500" y="3733800"/>
            <a:ext cx="2381250" cy="476250"/>
          </a:xfrm>
          <a:prstGeom xmlns:a="http://schemas.openxmlformats.org/drawingml/2006/main" prst="rect">
            <a:avLst/>
          </a:prstGeom>
          <a:solidFill xmlns:a="http://schemas.openxmlformats.org/drawingml/2006/main">
            <a:srgbClr val="F2F4F4"/>
          </a:solidFill>
          <a:ln xmlns:a="http://schemas.openxmlformats.org/drawingml/2006/main" w="5715">
            <a:solidFill>
              <a:srgbClr val="D5DCDD"/>
            </a:solidFill>
            <a:prstDash val="solid"/>
          </a:ln>
        </p:spPr>
      </p:sp>
      <p:sp>
        <p:nvSpPr>
          <p:cNvPr id="27" name="">
            <a:extLst xmlns:a="http://schemas.openxmlformats.org/drawingml/2006/main">
              <a:ext uri="{FF2B5EF4-FFF2-40B4-BE49-F238E27FC236}">
                <a16:creationId xmlns:a16="http://schemas.microsoft.com/office/drawing/2014/main" id="{03DB700E-70D8-435E-BD34-09E971E4DEE0}"/>
              </a:ext>
            </a:extLst>
          </p:cNvPr>
          <p:cNvSpPr>
            <a:spLocks xmlns:a="http://schemas.openxmlformats.org/drawingml/2006/main" noGrp="1"/>
          </p:cNvSpPr>
          <p:nvPr/>
        </p:nvSpPr>
        <p:spPr>
          <a:xfrm xmlns:a="http://schemas.openxmlformats.org/drawingml/2006/main">
            <a:off x="3009900" y="381000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Recovered custom</a:t>
            </a:r>
          </a:p>
          <a:p xmlns:a="http://schemas.openxmlformats.org/drawingml/2006/main">
            <a:pPr algn="l">
              <a:defRPr sz="975" b="0" i="0">
                <a:solidFill>
                  <a:srgbClr val="132238"/>
                </a:solidFill>
              </a:defRPr>
            </a:pPr>
            <a:r>
              <a:rPr sz="975" b="0" i="0">
                <a:solidFill>
                  <a:srgbClr val="132238"/>
                </a:solidFill>
              </a:rPr>
              <a:t>SFW scoring rubric</a:t>
            </a:r>
          </a:p>
        </p:txBody>
      </p:sp>
      <p:sp>
        <p:nvSpPr>
          <p:cNvPr id="28" name="">
            <a:extLst xmlns:a="http://schemas.openxmlformats.org/drawingml/2006/main">
              <a:ext uri="{FF2B5EF4-FFF2-40B4-BE49-F238E27FC236}">
                <a16:creationId xmlns:a16="http://schemas.microsoft.com/office/drawing/2014/main" id="{4C066132-C148-4771-B248-DBB934F4E3E8}"/>
              </a:ext>
            </a:extLst>
          </p:cNvPr>
          <p:cNvSpPr>
            <a:spLocks xmlns:a="http://schemas.openxmlformats.org/drawingml/2006/main" noGrp="1"/>
          </p:cNvSpPr>
          <p:nvPr/>
        </p:nvSpPr>
        <p:spPr>
          <a:xfrm xmlns:a="http://schemas.openxmlformats.org/drawingml/2006/main">
            <a:off x="5572125" y="3733800"/>
            <a:ext cx="2381250" cy="476250"/>
          </a:xfrm>
          <a:prstGeom xmlns:a="http://schemas.openxmlformats.org/drawingml/2006/main" prst="rect">
            <a:avLst/>
          </a:prstGeom>
          <a:solidFill xmlns:a="http://schemas.openxmlformats.org/drawingml/2006/main">
            <a:srgbClr val="F2F4F4"/>
          </a:solidFill>
          <a:ln xmlns:a="http://schemas.openxmlformats.org/drawingml/2006/main" w="5715">
            <a:solidFill>
              <a:srgbClr val="D5DCDD"/>
            </a:solidFill>
            <a:prstDash val="solid"/>
          </a:ln>
        </p:spPr>
      </p:sp>
      <p:sp>
        <p:nvSpPr>
          <p:cNvPr id="29" name="">
            <a:extLst xmlns:a="http://schemas.openxmlformats.org/drawingml/2006/main">
              <a:ext uri="{FF2B5EF4-FFF2-40B4-BE49-F238E27FC236}">
                <a16:creationId xmlns:a16="http://schemas.microsoft.com/office/drawing/2014/main" id="{6862802D-8CA6-4AFA-8DD2-FF079C3F5545}"/>
              </a:ext>
            </a:extLst>
          </p:cNvPr>
          <p:cNvSpPr>
            <a:spLocks xmlns:a="http://schemas.openxmlformats.org/drawingml/2006/main" noGrp="1"/>
          </p:cNvSpPr>
          <p:nvPr/>
        </p:nvSpPr>
        <p:spPr>
          <a:xfrm xmlns:a="http://schemas.openxmlformats.org/drawingml/2006/main">
            <a:off x="5724525" y="381000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Current job-redesign</a:t>
            </a:r>
          </a:p>
          <a:p xmlns:a="http://schemas.openxmlformats.org/drawingml/2006/main">
            <a:pPr algn="l">
              <a:defRPr sz="975" b="0" i="0">
                <a:solidFill>
                  <a:srgbClr val="132238"/>
                </a:solidFill>
              </a:defRPr>
            </a:pPr>
            <a:r>
              <a:rPr sz="975" b="0" i="0">
                <a:solidFill>
                  <a:srgbClr val="132238"/>
                </a:solidFill>
              </a:rPr>
              <a:t>scoring guidance</a:t>
            </a:r>
          </a:p>
        </p:txBody>
      </p:sp>
      <p:sp>
        <p:nvSpPr>
          <p:cNvPr id="30" name="">
            <a:extLst xmlns:a="http://schemas.openxmlformats.org/drawingml/2006/main">
              <a:ext uri="{FF2B5EF4-FFF2-40B4-BE49-F238E27FC236}">
                <a16:creationId xmlns:a16="http://schemas.microsoft.com/office/drawing/2014/main" id="{62BC7373-F07C-42EC-9AD2-28914B764905}"/>
              </a:ext>
            </a:extLst>
          </p:cNvPr>
          <p:cNvSpPr>
            <a:spLocks xmlns:a="http://schemas.openxmlformats.org/drawingml/2006/main" noGrp="1"/>
          </p:cNvSpPr>
          <p:nvPr/>
        </p:nvSpPr>
        <p:spPr>
          <a:xfrm xmlns:a="http://schemas.openxmlformats.org/drawingml/2006/main">
            <a:off x="8286750" y="3733800"/>
            <a:ext cx="2381250" cy="476250"/>
          </a:xfrm>
          <a:prstGeom xmlns:a="http://schemas.openxmlformats.org/drawingml/2006/main" prst="rect">
            <a:avLst/>
          </a:prstGeom>
          <a:solidFill xmlns:a="http://schemas.openxmlformats.org/drawingml/2006/main">
            <a:srgbClr val="F2F4F4"/>
          </a:solidFill>
          <a:ln xmlns:a="http://schemas.openxmlformats.org/drawingml/2006/main" w="5715">
            <a:solidFill>
              <a:srgbClr val="D5DCDD"/>
            </a:solidFill>
            <a:prstDash val="solid"/>
          </a:ln>
        </p:spPr>
      </p:sp>
      <p:sp>
        <p:nvSpPr>
          <p:cNvPr id="31" name="">
            <a:extLst xmlns:a="http://schemas.openxmlformats.org/drawingml/2006/main">
              <a:ext uri="{FF2B5EF4-FFF2-40B4-BE49-F238E27FC236}">
                <a16:creationId xmlns:a16="http://schemas.microsoft.com/office/drawing/2014/main" id="{5F523081-8CB6-42A9-B139-4A99B079A6CD}"/>
              </a:ext>
            </a:extLst>
          </p:cNvPr>
          <p:cNvSpPr>
            <a:spLocks xmlns:a="http://schemas.openxmlformats.org/drawingml/2006/main" noGrp="1"/>
          </p:cNvSpPr>
          <p:nvPr/>
        </p:nvSpPr>
        <p:spPr>
          <a:xfrm xmlns:a="http://schemas.openxmlformats.org/drawingml/2006/main">
            <a:off x="8439150" y="381000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Same current POC</a:t>
            </a:r>
          </a:p>
          <a:p xmlns:a="http://schemas.openxmlformats.org/drawingml/2006/main">
            <a:pPr algn="l">
              <a:defRPr sz="975" b="0" i="0">
                <a:solidFill>
                  <a:srgbClr val="132238"/>
                </a:solidFill>
              </a:defRPr>
            </a:pPr>
            <a:r>
              <a:rPr sz="975" b="0" i="0">
                <a:solidFill>
                  <a:srgbClr val="132238"/>
                </a:solidFill>
              </a:rPr>
              <a:t>guidance</a:t>
            </a:r>
          </a:p>
        </p:txBody>
      </p:sp>
      <p:sp>
        <p:nvSpPr>
          <p:cNvPr id="32" name="">
            <a:extLst xmlns:a="http://schemas.openxmlformats.org/drawingml/2006/main">
              <a:ext uri="{FF2B5EF4-FFF2-40B4-BE49-F238E27FC236}">
                <a16:creationId xmlns:a16="http://schemas.microsoft.com/office/drawing/2014/main" id="{652EA675-E117-407C-B92E-980E52581C7D}"/>
              </a:ext>
            </a:extLst>
          </p:cNvPr>
          <p:cNvSpPr>
            <a:spLocks xmlns:a="http://schemas.openxmlformats.org/drawingml/2006/main" noGrp="1"/>
          </p:cNvSpPr>
          <p:nvPr/>
        </p:nvSpPr>
        <p:spPr>
          <a:xfrm xmlns:a="http://schemas.openxmlformats.org/drawingml/2006/main">
            <a:off x="685800" y="43910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WORKED EXAMPLES</a:t>
            </a:r>
          </a:p>
        </p:txBody>
      </p:sp>
      <p:sp>
        <p:nvSpPr>
          <p:cNvPr id="33" name="">
            <a:extLst xmlns:a="http://schemas.openxmlformats.org/drawingml/2006/main">
              <a:ext uri="{FF2B5EF4-FFF2-40B4-BE49-F238E27FC236}">
                <a16:creationId xmlns:a16="http://schemas.microsoft.com/office/drawing/2014/main" id="{F526C796-4C8F-4577-8DC3-DFF8A57634BF}"/>
              </a:ext>
            </a:extLst>
          </p:cNvPr>
          <p:cNvSpPr>
            <a:spLocks xmlns:a="http://schemas.openxmlformats.org/drawingml/2006/main" noGrp="1"/>
          </p:cNvSpPr>
          <p:nvPr/>
        </p:nvSpPr>
        <p:spPr>
          <a:xfrm xmlns:a="http://schemas.openxmlformats.org/drawingml/2006/main">
            <a:off x="2857500" y="4267200"/>
            <a:ext cx="2381250" cy="4762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34" name="">
            <a:extLst xmlns:a="http://schemas.openxmlformats.org/drawingml/2006/main">
              <a:ext uri="{FF2B5EF4-FFF2-40B4-BE49-F238E27FC236}">
                <a16:creationId xmlns:a16="http://schemas.microsoft.com/office/drawing/2014/main" id="{F5BBF4F9-B62A-49A2-9F5B-84B0E792CFD4}"/>
              </a:ext>
            </a:extLst>
          </p:cNvPr>
          <p:cNvSpPr>
            <a:spLocks xmlns:a="http://schemas.openxmlformats.org/drawingml/2006/main" noGrp="1"/>
          </p:cNvSpPr>
          <p:nvPr/>
        </p:nvSpPr>
        <p:spPr>
          <a:xfrm xmlns:a="http://schemas.openxmlformats.org/drawingml/2006/main">
            <a:off x="3009900" y="434340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Five recovered</a:t>
            </a:r>
          </a:p>
          <a:p xmlns:a="http://schemas.openxmlformats.org/drawingml/2006/main">
            <a:pPr algn="l">
              <a:defRPr sz="975" b="0" i="0">
                <a:solidFill>
                  <a:srgbClr val="132238"/>
                </a:solidFill>
              </a:defRPr>
            </a:pPr>
            <a:r>
              <a:rPr sz="975" b="0" i="0">
                <a:solidFill>
                  <a:srgbClr val="132238"/>
                </a:solidFill>
              </a:rPr>
              <a:t>SFW examples</a:t>
            </a:r>
          </a:p>
        </p:txBody>
      </p:sp>
      <p:sp>
        <p:nvSpPr>
          <p:cNvPr id="35" name="">
            <a:extLst xmlns:a="http://schemas.openxmlformats.org/drawingml/2006/main">
              <a:ext uri="{FF2B5EF4-FFF2-40B4-BE49-F238E27FC236}">
                <a16:creationId xmlns:a16="http://schemas.microsoft.com/office/drawing/2014/main" id="{D141A903-E7E3-40BB-96C4-F510C7E760B4}"/>
              </a:ext>
            </a:extLst>
          </p:cNvPr>
          <p:cNvSpPr>
            <a:spLocks xmlns:a="http://schemas.openxmlformats.org/drawingml/2006/main" noGrp="1"/>
          </p:cNvSpPr>
          <p:nvPr/>
        </p:nvSpPr>
        <p:spPr>
          <a:xfrm xmlns:a="http://schemas.openxmlformats.org/drawingml/2006/main">
            <a:off x="5572125" y="4267200"/>
            <a:ext cx="2381250" cy="4762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36" name="">
            <a:extLst xmlns:a="http://schemas.openxmlformats.org/drawingml/2006/main">
              <a:ext uri="{FF2B5EF4-FFF2-40B4-BE49-F238E27FC236}">
                <a16:creationId xmlns:a16="http://schemas.microsoft.com/office/drawing/2014/main" id="{34CD58B1-092B-4E2F-AAAC-0D8BCFF3B787}"/>
              </a:ext>
            </a:extLst>
          </p:cNvPr>
          <p:cNvSpPr>
            <a:spLocks xmlns:a="http://schemas.openxmlformats.org/drawingml/2006/main" noGrp="1"/>
          </p:cNvSpPr>
          <p:nvPr/>
        </p:nvSpPr>
        <p:spPr>
          <a:xfrm xmlns:a="http://schemas.openxmlformats.org/drawingml/2006/main">
            <a:off x="5724525" y="434340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No recovered</a:t>
            </a:r>
          </a:p>
          <a:p xmlns:a="http://schemas.openxmlformats.org/drawingml/2006/main">
            <a:pPr algn="l">
              <a:defRPr sz="975" b="0" i="0">
                <a:solidFill>
                  <a:srgbClr val="132238"/>
                </a:solidFill>
              </a:defRPr>
            </a:pPr>
            <a:r>
              <a:rPr sz="975" b="0" i="0">
                <a:solidFill>
                  <a:srgbClr val="132238"/>
                </a:solidFill>
              </a:rPr>
              <a:t>historical examples</a:t>
            </a:r>
          </a:p>
        </p:txBody>
      </p:sp>
      <p:sp>
        <p:nvSpPr>
          <p:cNvPr id="37" name="">
            <a:extLst xmlns:a="http://schemas.openxmlformats.org/drawingml/2006/main">
              <a:ext uri="{FF2B5EF4-FFF2-40B4-BE49-F238E27FC236}">
                <a16:creationId xmlns:a16="http://schemas.microsoft.com/office/drawing/2014/main" id="{4E815E4C-13C9-47C9-8C98-5BC30B993E51}"/>
              </a:ext>
            </a:extLst>
          </p:cNvPr>
          <p:cNvSpPr>
            <a:spLocks xmlns:a="http://schemas.openxmlformats.org/drawingml/2006/main" noGrp="1"/>
          </p:cNvSpPr>
          <p:nvPr/>
        </p:nvSpPr>
        <p:spPr>
          <a:xfrm xmlns:a="http://schemas.openxmlformats.org/drawingml/2006/main">
            <a:off x="8286750" y="4267200"/>
            <a:ext cx="2381250" cy="4762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38" name="">
            <a:extLst xmlns:a="http://schemas.openxmlformats.org/drawingml/2006/main">
              <a:ext uri="{FF2B5EF4-FFF2-40B4-BE49-F238E27FC236}">
                <a16:creationId xmlns:a16="http://schemas.microsoft.com/office/drawing/2014/main" id="{83C220F2-4DDF-4144-B8F0-23C65E5D7012}"/>
              </a:ext>
            </a:extLst>
          </p:cNvPr>
          <p:cNvSpPr>
            <a:spLocks xmlns:a="http://schemas.openxmlformats.org/drawingml/2006/main" noGrp="1"/>
          </p:cNvSpPr>
          <p:nvPr/>
        </p:nvSpPr>
        <p:spPr>
          <a:xfrm xmlns:a="http://schemas.openxmlformats.org/drawingml/2006/main">
            <a:off x="8439150" y="434340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The same five historical</a:t>
            </a:r>
          </a:p>
          <a:p xmlns:a="http://schemas.openxmlformats.org/drawingml/2006/main">
            <a:pPr algn="l">
              <a:defRPr sz="975" b="0" i="0">
                <a:solidFill>
                  <a:srgbClr val="132238"/>
                </a:solidFill>
              </a:defRPr>
            </a:pPr>
            <a:r>
              <a:rPr sz="975" b="0" i="0">
                <a:solidFill>
                  <a:srgbClr val="132238"/>
                </a:solidFill>
              </a:rPr>
              <a:t>examples are added</a:t>
            </a:r>
          </a:p>
        </p:txBody>
      </p:sp>
      <p:sp>
        <p:nvSpPr>
          <p:cNvPr id="39" name="">
            <a:extLst xmlns:a="http://schemas.openxmlformats.org/drawingml/2006/main">
              <a:ext uri="{FF2B5EF4-FFF2-40B4-BE49-F238E27FC236}">
                <a16:creationId xmlns:a16="http://schemas.microsoft.com/office/drawing/2014/main" id="{11561939-9937-4EF5-A937-0A3247EB96AE}"/>
              </a:ext>
            </a:extLst>
          </p:cNvPr>
          <p:cNvSpPr>
            <a:spLocks xmlns:a="http://schemas.openxmlformats.org/drawingml/2006/main" noGrp="1"/>
          </p:cNvSpPr>
          <p:nvPr/>
        </p:nvSpPr>
        <p:spPr>
          <a:xfrm xmlns:a="http://schemas.openxmlformats.org/drawingml/2006/main">
            <a:off x="685800" y="49244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OCCUPATION + TASK</a:t>
            </a:r>
          </a:p>
        </p:txBody>
      </p:sp>
      <p:sp>
        <p:nvSpPr>
          <p:cNvPr id="40" name="">
            <a:extLst xmlns:a="http://schemas.openxmlformats.org/drawingml/2006/main">
              <a:ext uri="{FF2B5EF4-FFF2-40B4-BE49-F238E27FC236}">
                <a16:creationId xmlns:a16="http://schemas.microsoft.com/office/drawing/2014/main" id="{7281D56D-A566-489E-B2A1-56BD32002407}"/>
              </a:ext>
            </a:extLst>
          </p:cNvPr>
          <p:cNvSpPr>
            <a:spLocks xmlns:a="http://schemas.openxmlformats.org/drawingml/2006/main" noGrp="1"/>
          </p:cNvSpPr>
          <p:nvPr/>
        </p:nvSpPr>
        <p:spPr>
          <a:xfrm xmlns:a="http://schemas.openxmlformats.org/drawingml/2006/main">
            <a:off x="2857500" y="4800600"/>
            <a:ext cx="2381250" cy="476250"/>
          </a:xfrm>
          <a:prstGeom xmlns:a="http://schemas.openxmlformats.org/drawingml/2006/main" prst="rect">
            <a:avLst/>
          </a:prstGeom>
          <a:solidFill xmlns:a="http://schemas.openxmlformats.org/drawingml/2006/main">
            <a:srgbClr val="F2F4F4"/>
          </a:solidFill>
          <a:ln xmlns:a="http://schemas.openxmlformats.org/drawingml/2006/main" w="5715">
            <a:solidFill>
              <a:srgbClr val="D5DCDD"/>
            </a:solidFill>
            <a:prstDash val="solid"/>
          </a:ln>
        </p:spPr>
      </p:sp>
      <p:sp>
        <p:nvSpPr>
          <p:cNvPr id="41" name="">
            <a:extLst xmlns:a="http://schemas.openxmlformats.org/drawingml/2006/main">
              <a:ext uri="{FF2B5EF4-FFF2-40B4-BE49-F238E27FC236}">
                <a16:creationId xmlns:a16="http://schemas.microsoft.com/office/drawing/2014/main" id="{D31CEC8B-2B29-49B2-ABF2-D129CB93770F}"/>
              </a:ext>
            </a:extLst>
          </p:cNvPr>
          <p:cNvSpPr>
            <a:spLocks xmlns:a="http://schemas.openxmlformats.org/drawingml/2006/main" noGrp="1"/>
          </p:cNvSpPr>
          <p:nvPr/>
        </p:nvSpPr>
        <p:spPr>
          <a:xfrm xmlns:a="http://schemas.openxmlformats.org/drawingml/2006/main">
            <a:off x="3009900" y="487680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Passed dynamically</a:t>
            </a:r>
          </a:p>
        </p:txBody>
      </p:sp>
      <p:sp>
        <p:nvSpPr>
          <p:cNvPr id="42" name="">
            <a:extLst xmlns:a="http://schemas.openxmlformats.org/drawingml/2006/main">
              <a:ext uri="{FF2B5EF4-FFF2-40B4-BE49-F238E27FC236}">
                <a16:creationId xmlns:a16="http://schemas.microsoft.com/office/drawing/2014/main" id="{62889C69-2B14-4AB4-A398-BBA86E1A43CB}"/>
              </a:ext>
            </a:extLst>
          </p:cNvPr>
          <p:cNvSpPr>
            <a:spLocks xmlns:a="http://schemas.openxmlformats.org/drawingml/2006/main" noGrp="1"/>
          </p:cNvSpPr>
          <p:nvPr/>
        </p:nvSpPr>
        <p:spPr>
          <a:xfrm xmlns:a="http://schemas.openxmlformats.org/drawingml/2006/main">
            <a:off x="5572125" y="4800600"/>
            <a:ext cx="2381250" cy="476250"/>
          </a:xfrm>
          <a:prstGeom xmlns:a="http://schemas.openxmlformats.org/drawingml/2006/main" prst="rect">
            <a:avLst/>
          </a:prstGeom>
          <a:solidFill xmlns:a="http://schemas.openxmlformats.org/drawingml/2006/main">
            <a:srgbClr val="F2F4F4"/>
          </a:solidFill>
          <a:ln xmlns:a="http://schemas.openxmlformats.org/drawingml/2006/main" w="5715">
            <a:solidFill>
              <a:srgbClr val="D5DCDD"/>
            </a:solidFill>
            <a:prstDash val="solid"/>
          </a:ln>
        </p:spPr>
      </p:sp>
      <p:sp>
        <p:nvSpPr>
          <p:cNvPr id="43" name="">
            <a:extLst xmlns:a="http://schemas.openxmlformats.org/drawingml/2006/main">
              <a:ext uri="{FF2B5EF4-FFF2-40B4-BE49-F238E27FC236}">
                <a16:creationId xmlns:a16="http://schemas.microsoft.com/office/drawing/2014/main" id="{3B86046E-62E5-4E63-950B-30BF5456E52C}"/>
              </a:ext>
            </a:extLst>
          </p:cNvPr>
          <p:cNvSpPr>
            <a:spLocks xmlns:a="http://schemas.openxmlformats.org/drawingml/2006/main" noGrp="1"/>
          </p:cNvSpPr>
          <p:nvPr/>
        </p:nvSpPr>
        <p:spPr>
          <a:xfrm xmlns:a="http://schemas.openxmlformats.org/drawingml/2006/main">
            <a:off x="5724525" y="487680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Passed dynamically</a:t>
            </a:r>
          </a:p>
        </p:txBody>
      </p:sp>
      <p:sp>
        <p:nvSpPr>
          <p:cNvPr id="44" name="">
            <a:extLst xmlns:a="http://schemas.openxmlformats.org/drawingml/2006/main">
              <a:ext uri="{FF2B5EF4-FFF2-40B4-BE49-F238E27FC236}">
                <a16:creationId xmlns:a16="http://schemas.microsoft.com/office/drawing/2014/main" id="{C67A81F9-FF94-4601-B24B-CC769D9B27EE}"/>
              </a:ext>
            </a:extLst>
          </p:cNvPr>
          <p:cNvSpPr>
            <a:spLocks xmlns:a="http://schemas.openxmlformats.org/drawingml/2006/main" noGrp="1"/>
          </p:cNvSpPr>
          <p:nvPr/>
        </p:nvSpPr>
        <p:spPr>
          <a:xfrm xmlns:a="http://schemas.openxmlformats.org/drawingml/2006/main">
            <a:off x="8286750" y="4800600"/>
            <a:ext cx="2381250" cy="476250"/>
          </a:xfrm>
          <a:prstGeom xmlns:a="http://schemas.openxmlformats.org/drawingml/2006/main" prst="rect">
            <a:avLst/>
          </a:prstGeom>
          <a:solidFill xmlns:a="http://schemas.openxmlformats.org/drawingml/2006/main">
            <a:srgbClr val="F2F4F4"/>
          </a:solidFill>
          <a:ln xmlns:a="http://schemas.openxmlformats.org/drawingml/2006/main" w="5715">
            <a:solidFill>
              <a:srgbClr val="D5DCDD"/>
            </a:solidFill>
            <a:prstDash val="solid"/>
          </a:ln>
        </p:spPr>
      </p:sp>
      <p:sp>
        <p:nvSpPr>
          <p:cNvPr id="45" name="">
            <a:extLst xmlns:a="http://schemas.openxmlformats.org/drawingml/2006/main">
              <a:ext uri="{FF2B5EF4-FFF2-40B4-BE49-F238E27FC236}">
                <a16:creationId xmlns:a16="http://schemas.microsoft.com/office/drawing/2014/main" id="{0DF1C457-7838-4EB9-BDFB-9010D59234A4}"/>
              </a:ext>
            </a:extLst>
          </p:cNvPr>
          <p:cNvSpPr>
            <a:spLocks xmlns:a="http://schemas.openxmlformats.org/drawingml/2006/main" noGrp="1"/>
          </p:cNvSpPr>
          <p:nvPr/>
        </p:nvSpPr>
        <p:spPr>
          <a:xfrm xmlns:a="http://schemas.openxmlformats.org/drawingml/2006/main">
            <a:off x="8439150" y="487680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Passed dynamically</a:t>
            </a:r>
          </a:p>
        </p:txBody>
      </p:sp>
      <p:sp>
        <p:nvSpPr>
          <p:cNvPr id="46" name="">
            <a:extLst xmlns:a="http://schemas.openxmlformats.org/drawingml/2006/main">
              <a:ext uri="{FF2B5EF4-FFF2-40B4-BE49-F238E27FC236}">
                <a16:creationId xmlns:a16="http://schemas.microsoft.com/office/drawing/2014/main" id="{EF55D6AB-31E5-42C2-BF52-D094B1F8ED89}"/>
              </a:ext>
            </a:extLst>
          </p:cNvPr>
          <p:cNvSpPr>
            <a:spLocks xmlns:a="http://schemas.openxmlformats.org/drawingml/2006/main" noGrp="1"/>
          </p:cNvSpPr>
          <p:nvPr/>
        </p:nvSpPr>
        <p:spPr>
          <a:xfrm xmlns:a="http://schemas.openxmlformats.org/drawingml/2006/main">
            <a:off x="685800" y="54578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DECISION ROLE</a:t>
            </a:r>
          </a:p>
        </p:txBody>
      </p:sp>
      <p:sp>
        <p:nvSpPr>
          <p:cNvPr id="47" name="">
            <a:extLst xmlns:a="http://schemas.openxmlformats.org/drawingml/2006/main">
              <a:ext uri="{FF2B5EF4-FFF2-40B4-BE49-F238E27FC236}">
                <a16:creationId xmlns:a16="http://schemas.microsoft.com/office/drawing/2014/main" id="{2C1AAC65-B2CB-4181-BAE0-BA4EAFECFF62}"/>
              </a:ext>
            </a:extLst>
          </p:cNvPr>
          <p:cNvSpPr>
            <a:spLocks xmlns:a="http://schemas.openxmlformats.org/drawingml/2006/main" noGrp="1"/>
          </p:cNvSpPr>
          <p:nvPr/>
        </p:nvSpPr>
        <p:spPr>
          <a:xfrm xmlns:a="http://schemas.openxmlformats.org/drawingml/2006/main">
            <a:off x="2857500" y="5334000"/>
            <a:ext cx="2381250" cy="4762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48" name="">
            <a:extLst xmlns:a="http://schemas.openxmlformats.org/drawingml/2006/main">
              <a:ext uri="{FF2B5EF4-FFF2-40B4-BE49-F238E27FC236}">
                <a16:creationId xmlns:a16="http://schemas.microsoft.com/office/drawing/2014/main" id="{58079452-D339-4199-B808-0D0252474AC7}"/>
              </a:ext>
            </a:extLst>
          </p:cNvPr>
          <p:cNvSpPr>
            <a:spLocks xmlns:a="http://schemas.openxmlformats.org/drawingml/2006/main" noGrp="1"/>
          </p:cNvSpPr>
          <p:nvPr/>
        </p:nvSpPr>
        <p:spPr>
          <a:xfrm xmlns:a="http://schemas.openxmlformats.org/drawingml/2006/main">
            <a:off x="3009900" y="541020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Historical audit</a:t>
            </a:r>
          </a:p>
          <a:p xmlns:a="http://schemas.openxmlformats.org/drawingml/2006/main">
            <a:pPr algn="l">
              <a:defRPr sz="975" b="0" i="0">
                <a:solidFill>
                  <a:srgbClr val="132238"/>
                </a:solidFill>
              </a:defRPr>
            </a:pPr>
            <a:r>
              <a:rPr sz="975" b="0" i="0">
                <a:solidFill>
                  <a:srgbClr val="132238"/>
                </a:solidFill>
              </a:rPr>
              <a:t>reference</a:t>
            </a:r>
          </a:p>
        </p:txBody>
      </p:sp>
      <p:sp>
        <p:nvSpPr>
          <p:cNvPr id="49" name="">
            <a:extLst xmlns:a="http://schemas.openxmlformats.org/drawingml/2006/main">
              <a:ext uri="{FF2B5EF4-FFF2-40B4-BE49-F238E27FC236}">
                <a16:creationId xmlns:a16="http://schemas.microsoft.com/office/drawing/2014/main" id="{9C5D3859-87F2-442D-A93F-EACDF6292F97}"/>
              </a:ext>
            </a:extLst>
          </p:cNvPr>
          <p:cNvSpPr>
            <a:spLocks xmlns:a="http://schemas.openxmlformats.org/drawingml/2006/main" noGrp="1"/>
          </p:cNvSpPr>
          <p:nvPr/>
        </p:nvSpPr>
        <p:spPr>
          <a:xfrm xmlns:a="http://schemas.openxmlformats.org/drawingml/2006/main">
            <a:off x="5572125" y="5334000"/>
            <a:ext cx="2381250" cy="4762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50" name="">
            <a:extLst xmlns:a="http://schemas.openxmlformats.org/drawingml/2006/main">
              <a:ext uri="{FF2B5EF4-FFF2-40B4-BE49-F238E27FC236}">
                <a16:creationId xmlns:a16="http://schemas.microsoft.com/office/drawing/2014/main" id="{232E284E-F5B4-44F3-8B75-AF0835C3268F}"/>
              </a:ext>
            </a:extLst>
          </p:cNvPr>
          <p:cNvSpPr>
            <a:spLocks xmlns:a="http://schemas.openxmlformats.org/drawingml/2006/main" noGrp="1"/>
          </p:cNvSpPr>
          <p:nvPr/>
        </p:nvSpPr>
        <p:spPr>
          <a:xfrm xmlns:a="http://schemas.openxmlformats.org/drawingml/2006/main">
            <a:off x="5724525" y="541020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Operational default</a:t>
            </a:r>
          </a:p>
          <a:p xmlns:a="http://schemas.openxmlformats.org/drawingml/2006/main">
            <a:pPr algn="l">
              <a:defRPr sz="975" b="0" i="0">
                <a:solidFill>
                  <a:srgbClr val="132238"/>
                </a:solidFill>
              </a:defRPr>
            </a:pPr>
            <a:r>
              <a:rPr sz="975" b="0" i="0">
                <a:solidFill>
                  <a:srgbClr val="132238"/>
                </a:solidFill>
              </a:rPr>
              <a:t>candidate</a:t>
            </a:r>
          </a:p>
        </p:txBody>
      </p:sp>
      <p:sp>
        <p:nvSpPr>
          <p:cNvPr id="51" name="">
            <a:extLst xmlns:a="http://schemas.openxmlformats.org/drawingml/2006/main">
              <a:ext uri="{FF2B5EF4-FFF2-40B4-BE49-F238E27FC236}">
                <a16:creationId xmlns:a16="http://schemas.microsoft.com/office/drawing/2014/main" id="{CE016280-F35A-4A2C-93B3-880F47A8829B}"/>
              </a:ext>
            </a:extLst>
          </p:cNvPr>
          <p:cNvSpPr>
            <a:spLocks xmlns:a="http://schemas.openxmlformats.org/drawingml/2006/main" noGrp="1"/>
          </p:cNvSpPr>
          <p:nvPr/>
        </p:nvSpPr>
        <p:spPr>
          <a:xfrm xmlns:a="http://schemas.openxmlformats.org/drawingml/2006/main">
            <a:off x="8286750" y="5334000"/>
            <a:ext cx="2381250" cy="4762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52" name="">
            <a:extLst xmlns:a="http://schemas.openxmlformats.org/drawingml/2006/main">
              <a:ext uri="{FF2B5EF4-FFF2-40B4-BE49-F238E27FC236}">
                <a16:creationId xmlns:a16="http://schemas.microsoft.com/office/drawing/2014/main" id="{4D3A62E7-ACCF-4B55-A848-5C7B8E44BFA9}"/>
              </a:ext>
            </a:extLst>
          </p:cNvPr>
          <p:cNvSpPr>
            <a:spLocks xmlns:a="http://schemas.openxmlformats.org/drawingml/2006/main" noGrp="1"/>
          </p:cNvSpPr>
          <p:nvPr/>
        </p:nvSpPr>
        <p:spPr>
          <a:xfrm xmlns:a="http://schemas.openxmlformats.org/drawingml/2006/main">
            <a:off x="8439150" y="541020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32238"/>
                </a:solidFill>
              </a:defRPr>
            </a:pPr>
            <a:r>
              <a:rPr sz="975" b="0" i="0">
                <a:solidFill>
                  <a:srgbClr val="132238"/>
                </a:solidFill>
              </a:rPr>
              <a:t>Optional historical-example</a:t>
            </a:r>
          </a:p>
          <a:p xmlns:a="http://schemas.openxmlformats.org/drawingml/2006/main">
            <a:pPr algn="l">
              <a:defRPr sz="975" b="0" i="0">
                <a:solidFill>
                  <a:srgbClr val="132238"/>
                </a:solidFill>
              </a:defRPr>
            </a:pPr>
            <a:r>
              <a:rPr sz="975" b="0" i="0">
                <a:solidFill>
                  <a:srgbClr val="132238"/>
                </a:solidFill>
              </a:rPr>
              <a:t>variant</a:t>
            </a:r>
          </a:p>
        </p:txBody>
      </p:sp>
      <p:sp>
        <p:nvSpPr>
          <p:cNvPr id="53" name="">
            <a:extLst xmlns:a="http://schemas.openxmlformats.org/drawingml/2006/main">
              <a:ext uri="{FF2B5EF4-FFF2-40B4-BE49-F238E27FC236}">
                <a16:creationId xmlns:a16="http://schemas.microsoft.com/office/drawing/2014/main" id="{71CD37A9-D51D-4228-AF33-4B7B348583FC}"/>
              </a:ext>
            </a:extLst>
          </p:cNvPr>
          <p:cNvSpPr>
            <a:spLocks xmlns:a="http://schemas.openxmlformats.org/drawingml/2006/main" noGrp="1"/>
          </p:cNvSpPr>
          <p:nvPr/>
        </p:nvSpPr>
        <p:spPr>
          <a:xfrm xmlns:a="http://schemas.openxmlformats.org/drawingml/2006/main">
            <a:off x="685800" y="5924550"/>
            <a:ext cx="10172700" cy="400050"/>
          </a:xfrm>
          <a:prstGeom xmlns:a="http://schemas.openxmlformats.org/drawingml/2006/main" prst="rect">
            <a:avLst/>
          </a:prstGeom>
          <a:solidFill xmlns:a="http://schemas.openxmlformats.org/drawingml/2006/main">
            <a:srgbClr val="F8EBDD"/>
          </a:solidFill>
          <a:ln xmlns:a="http://schemas.openxmlformats.org/drawingml/2006/main" w="5715">
            <a:solidFill>
              <a:srgbClr val="F8EBDD"/>
            </a:solidFill>
            <a:prstDash val="solid"/>
          </a:ln>
        </p:spPr>
      </p:sp>
      <p:sp>
        <p:nvSpPr>
          <p:cNvPr id="54" name="">
            <a:extLst xmlns:a="http://schemas.openxmlformats.org/drawingml/2006/main">
              <a:ext uri="{FF2B5EF4-FFF2-40B4-BE49-F238E27FC236}">
                <a16:creationId xmlns:a16="http://schemas.microsoft.com/office/drawing/2014/main" id="{6201EF2F-308C-41DF-9D60-5D98A9BC1F59}"/>
              </a:ext>
            </a:extLst>
          </p:cNvPr>
          <p:cNvSpPr>
            <a:spLocks xmlns:a="http://schemas.openxmlformats.org/drawingml/2006/main" noGrp="1"/>
          </p:cNvSpPr>
          <p:nvPr/>
        </p:nvSpPr>
        <p:spPr>
          <a:xfrm xmlns:a="http://schemas.openxmlformats.org/drawingml/2006/main">
            <a:off x="685800" y="5924550"/>
            <a:ext cx="76200" cy="40005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55" name="">
            <a:extLst xmlns:a="http://schemas.openxmlformats.org/drawingml/2006/main">
              <a:ext uri="{FF2B5EF4-FFF2-40B4-BE49-F238E27FC236}">
                <a16:creationId xmlns:a16="http://schemas.microsoft.com/office/drawing/2014/main" id="{4B5E6284-FF5C-4408-807E-3F1A58C8DF5F}"/>
              </a:ext>
            </a:extLst>
          </p:cNvPr>
          <p:cNvSpPr>
            <a:spLocks xmlns:a="http://schemas.openxmlformats.org/drawingml/2006/main" noGrp="1"/>
          </p:cNvSpPr>
          <p:nvPr/>
        </p:nvSpPr>
        <p:spPr>
          <a:xfrm xmlns:a="http://schemas.openxmlformats.org/drawingml/2006/main">
            <a:off x="952500" y="6057900"/>
            <a:ext cx="9696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238"/>
                </a:solidFill>
              </a:defRPr>
            </a:pPr>
            <a:r>
              <a:rPr sz="1275" b="1" i="0">
                <a:solidFill>
                  <a:srgbClr val="132238"/>
                </a:solidFill>
              </a:rPr>
              <a:t>The added examples shift the distribution; they do not turn the three conditions into the same scoring method.</a:t>
            </a:r>
          </a:p>
        </p:txBody>
      </p:sp>
    </p:spTree>
    <p:extLst>
      <p:ext uri="{BB962C8B-B14F-4D97-AF65-F5344CB8AC3E}">
        <p14:creationId xmlns:p14="http://schemas.microsoft.com/office/powerpoint/2010/main" val="1583144095"/>
      </p:ext>
    </p:extLst>
  </p:cSld>
</p:sld>
</file>

<file path=ppt/slides/slide2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9BDBE7F-A45A-4403-8C42-5BE7A6091A8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F8E24A1C-1628-4025-BC08-C4AE5901F5EF}"/>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APPENDIX A10 | IMPLICATIONS FOR THE TWO EXISTING ML MODELS</a:t>
            </a:r>
          </a:p>
        </p:txBody>
      </p:sp>
      <p:sp>
        <p:nvSpPr>
          <p:cNvPr id="3" name="">
            <a:extLst xmlns:a="http://schemas.openxmlformats.org/drawingml/2006/main">
              <a:ext uri="{FF2B5EF4-FFF2-40B4-BE49-F238E27FC236}">
                <a16:creationId xmlns:a16="http://schemas.microsoft.com/office/drawing/2014/main" id="{436320D9-C910-4EDA-B5EF-91CC8929B0F8}"/>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32238"/>
                </a:solidFill>
              </a:defRPr>
            </a:pPr>
            <a:r>
              <a:rPr sz="2700" b="1" i="0">
                <a:solidFill>
                  <a:srgbClr val="132238"/>
                </a:solidFill>
              </a:rPr>
              <a:t>The two classifiers reproduce different scoring methods</a:t>
            </a:r>
          </a:p>
        </p:txBody>
      </p:sp>
      <p:sp>
        <p:nvSpPr>
          <p:cNvPr id="4" name="">
            <a:extLst xmlns:a="http://schemas.openxmlformats.org/drawingml/2006/main">
              <a:ext uri="{FF2B5EF4-FFF2-40B4-BE49-F238E27FC236}">
                <a16:creationId xmlns:a16="http://schemas.microsoft.com/office/drawing/2014/main" id="{F1CF718E-1F7B-459B-B26F-80CB0D61A14E}"/>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Their F1 scores should not be treated as a simple leaderboard comparison.</a:t>
            </a:r>
          </a:p>
        </p:txBody>
      </p:sp>
      <p:sp>
        <p:nvSpPr>
          <p:cNvPr id="5" name="">
            <a:extLst xmlns:a="http://schemas.openxmlformats.org/drawingml/2006/main">
              <a:ext uri="{FF2B5EF4-FFF2-40B4-BE49-F238E27FC236}">
                <a16:creationId xmlns:a16="http://schemas.microsoft.com/office/drawing/2014/main" id="{A7C06AB0-376F-411E-BFD6-4353705EADDA}"/>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638D0F05-4E6C-47F9-A8F9-6E6AEA7C8CC5}"/>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8FF8D012-7592-423B-83F4-AFF9F851C8E8}"/>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29</a:t>
            </a:r>
          </a:p>
        </p:txBody>
      </p:sp>
      <p:sp>
        <p:nvSpPr>
          <p:cNvPr id="8" name="">
            <a:extLst xmlns:a="http://schemas.openxmlformats.org/drawingml/2006/main">
              <a:ext uri="{FF2B5EF4-FFF2-40B4-BE49-F238E27FC236}">
                <a16:creationId xmlns:a16="http://schemas.microsoft.com/office/drawing/2014/main" id="{771B8538-65E2-4F79-B177-45951969D36D}"/>
              </a:ext>
            </a:extLst>
          </p:cNvPr>
          <p:cNvSpPr>
            <a:spLocks xmlns:a="http://schemas.openxmlformats.org/drawingml/2006/main" noGrp="1"/>
          </p:cNvSpPr>
          <p:nvPr/>
        </p:nvSpPr>
        <p:spPr>
          <a:xfrm xmlns:a="http://schemas.openxmlformats.org/drawingml/2006/main">
            <a:off x="685800" y="2381250"/>
            <a:ext cx="10172700" cy="9715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9" name="">
            <a:extLst xmlns:a="http://schemas.openxmlformats.org/drawingml/2006/main">
              <a:ext uri="{FF2B5EF4-FFF2-40B4-BE49-F238E27FC236}">
                <a16:creationId xmlns:a16="http://schemas.microsoft.com/office/drawing/2014/main" id="{080E636F-1A20-48CF-8D5F-FED1B3855257}"/>
              </a:ext>
            </a:extLst>
          </p:cNvPr>
          <p:cNvSpPr>
            <a:spLocks xmlns:a="http://schemas.openxmlformats.org/drawingml/2006/main" noGrp="1"/>
          </p:cNvSpPr>
          <p:nvPr/>
        </p:nvSpPr>
        <p:spPr>
          <a:xfrm xmlns:a="http://schemas.openxmlformats.org/drawingml/2006/main">
            <a:off x="685800" y="2381250"/>
            <a:ext cx="85725" cy="971550"/>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10" name="">
            <a:extLst xmlns:a="http://schemas.openxmlformats.org/drawingml/2006/main">
              <a:ext uri="{FF2B5EF4-FFF2-40B4-BE49-F238E27FC236}">
                <a16:creationId xmlns:a16="http://schemas.microsoft.com/office/drawing/2014/main" id="{A2407D2E-72E0-48B8-924E-8B459FB8B23C}"/>
              </a:ext>
            </a:extLst>
          </p:cNvPr>
          <p:cNvSpPr>
            <a:spLocks xmlns:a="http://schemas.openxmlformats.org/drawingml/2006/main" noGrp="1"/>
          </p:cNvSpPr>
          <p:nvPr/>
        </p:nvSpPr>
        <p:spPr>
          <a:xfrm xmlns:a="http://schemas.openxmlformats.org/drawingml/2006/main">
            <a:off x="1009650" y="2571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132238"/>
                </a:solidFill>
              </a:defRPr>
            </a:pPr>
            <a:r>
              <a:rPr sz="1575" b="1" i="0">
                <a:solidFill>
                  <a:srgbClr val="132238"/>
                </a:solidFill>
              </a:rPr>
              <a:t>Historical-target classifier</a:t>
            </a:r>
          </a:p>
        </p:txBody>
      </p:sp>
      <p:sp>
        <p:nvSpPr>
          <p:cNvPr id="11" name="">
            <a:extLst xmlns:a="http://schemas.openxmlformats.org/drawingml/2006/main">
              <a:ext uri="{FF2B5EF4-FFF2-40B4-BE49-F238E27FC236}">
                <a16:creationId xmlns:a16="http://schemas.microsoft.com/office/drawing/2014/main" id="{B62A5355-8E2A-4100-8386-A5A0F89FCF63}"/>
              </a:ext>
            </a:extLst>
          </p:cNvPr>
          <p:cNvSpPr>
            <a:spLocks xmlns:a="http://schemas.openxmlformats.org/drawingml/2006/main" noGrp="1"/>
          </p:cNvSpPr>
          <p:nvPr/>
        </p:nvSpPr>
        <p:spPr>
          <a:xfrm xmlns:a="http://schemas.openxmlformats.org/drawingml/2006/main">
            <a:off x="4191000" y="25717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32238"/>
                </a:solidFill>
              </a:defRPr>
            </a:pPr>
            <a:r>
              <a:rPr sz="1200" b="0" i="0">
                <a:solidFill>
                  <a:srgbClr val="132238"/>
                </a:solidFill>
              </a:rPr>
              <a:t>Original task wording → historical dashboard labels</a:t>
            </a:r>
          </a:p>
        </p:txBody>
      </p:sp>
      <p:sp>
        <p:nvSpPr>
          <p:cNvPr id="12" name="">
            <a:extLst xmlns:a="http://schemas.openxmlformats.org/drawingml/2006/main">
              <a:ext uri="{FF2B5EF4-FFF2-40B4-BE49-F238E27FC236}">
                <a16:creationId xmlns:a16="http://schemas.microsoft.com/office/drawing/2014/main" id="{BD471AF2-C441-465B-9CB4-C9A8505B5457}"/>
              </a:ext>
            </a:extLst>
          </p:cNvPr>
          <p:cNvSpPr>
            <a:spLocks xmlns:a="http://schemas.openxmlformats.org/drawingml/2006/main" noGrp="1"/>
          </p:cNvSpPr>
          <p:nvPr/>
        </p:nvSpPr>
        <p:spPr>
          <a:xfrm xmlns:a="http://schemas.openxmlformats.org/drawingml/2006/main">
            <a:off x="4191000" y="2895600"/>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87A76"/>
                </a:solidFill>
              </a:defRPr>
            </a:pPr>
            <a:r>
              <a:rPr sz="1050" b="1" i="0">
                <a:solidFill>
                  <a:srgbClr val="087A76"/>
                </a:solidFill>
              </a:rPr>
              <a:t>Macro F1 0.7826 | strict task-only cross-validation</a:t>
            </a:r>
          </a:p>
        </p:txBody>
      </p:sp>
      <p:sp>
        <p:nvSpPr>
          <p:cNvPr id="13" name="">
            <a:extLst xmlns:a="http://schemas.openxmlformats.org/drawingml/2006/main">
              <a:ext uri="{FF2B5EF4-FFF2-40B4-BE49-F238E27FC236}">
                <a16:creationId xmlns:a16="http://schemas.microsoft.com/office/drawing/2014/main" id="{97DFAA97-5EC3-43FE-974A-FACE738211D2}"/>
              </a:ext>
            </a:extLst>
          </p:cNvPr>
          <p:cNvSpPr>
            <a:spLocks xmlns:a="http://schemas.openxmlformats.org/drawingml/2006/main" noGrp="1"/>
          </p:cNvSpPr>
          <p:nvPr/>
        </p:nvSpPr>
        <p:spPr>
          <a:xfrm xmlns:a="http://schemas.openxmlformats.org/drawingml/2006/main">
            <a:off x="685800" y="3676650"/>
            <a:ext cx="10172700" cy="971550"/>
          </a:xfrm>
          <a:prstGeom xmlns:a="http://schemas.openxmlformats.org/drawingml/2006/main" prst="rect">
            <a:avLst/>
          </a:prstGeom>
          <a:solidFill xmlns:a="http://schemas.openxmlformats.org/drawingml/2006/main">
            <a:srgbClr val="FFFFFF"/>
          </a:solidFill>
          <a:ln xmlns:a="http://schemas.openxmlformats.org/drawingml/2006/main" w="5715">
            <a:solidFill>
              <a:srgbClr val="D5DCDD"/>
            </a:solidFill>
            <a:prstDash val="solid"/>
          </a:ln>
        </p:spPr>
      </p:sp>
      <p:sp>
        <p:nvSpPr>
          <p:cNvPr id="14" name="">
            <a:extLst xmlns:a="http://schemas.openxmlformats.org/drawingml/2006/main">
              <a:ext uri="{FF2B5EF4-FFF2-40B4-BE49-F238E27FC236}">
                <a16:creationId xmlns:a16="http://schemas.microsoft.com/office/drawing/2014/main" id="{B56E2765-AE58-40F9-A105-E83EF4B5DB25}"/>
              </a:ext>
            </a:extLst>
          </p:cNvPr>
          <p:cNvSpPr>
            <a:spLocks xmlns:a="http://schemas.openxmlformats.org/drawingml/2006/main" noGrp="1"/>
          </p:cNvSpPr>
          <p:nvPr/>
        </p:nvSpPr>
        <p:spPr>
          <a:xfrm xmlns:a="http://schemas.openxmlformats.org/drawingml/2006/main">
            <a:off x="685800" y="3676650"/>
            <a:ext cx="85725" cy="971550"/>
          </a:xfrm>
          <a:prstGeom xmlns:a="http://schemas.openxmlformats.org/drawingml/2006/main" prst="rect">
            <a:avLst/>
          </a:prstGeom>
          <a:solidFill xmlns:a="http://schemas.openxmlformats.org/drawingml/2006/main">
            <a:srgbClr val="D9771F"/>
          </a:solidFill>
          <a:ln xmlns:a="http://schemas.openxmlformats.org/drawingml/2006/main" w="5715">
            <a:solidFill>
              <a:srgbClr val="D9771F"/>
            </a:solidFill>
            <a:prstDash val="solid"/>
          </a:ln>
        </p:spPr>
      </p:sp>
      <p:sp>
        <p:nvSpPr>
          <p:cNvPr id="15" name="">
            <a:extLst xmlns:a="http://schemas.openxmlformats.org/drawingml/2006/main">
              <a:ext uri="{FF2B5EF4-FFF2-40B4-BE49-F238E27FC236}">
                <a16:creationId xmlns:a16="http://schemas.microsoft.com/office/drawing/2014/main" id="{242911F4-DB6C-42C3-A55A-A7547F317DFA}"/>
              </a:ext>
            </a:extLst>
          </p:cNvPr>
          <p:cNvSpPr>
            <a:spLocks xmlns:a="http://schemas.openxmlformats.org/drawingml/2006/main" noGrp="1"/>
          </p:cNvSpPr>
          <p:nvPr/>
        </p:nvSpPr>
        <p:spPr>
          <a:xfrm xmlns:a="http://schemas.openxmlformats.org/drawingml/2006/main">
            <a:off x="1009650" y="38671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132238"/>
                </a:solidFill>
              </a:defRPr>
            </a:pPr>
            <a:r>
              <a:rPr sz="1575" b="1" i="0">
                <a:solidFill>
                  <a:srgbClr val="132238"/>
                </a:solidFill>
              </a:rPr>
              <a:t>Current-target classifier</a:t>
            </a:r>
          </a:p>
        </p:txBody>
      </p:sp>
      <p:sp>
        <p:nvSpPr>
          <p:cNvPr id="16" name="">
            <a:extLst xmlns:a="http://schemas.openxmlformats.org/drawingml/2006/main">
              <a:ext uri="{FF2B5EF4-FFF2-40B4-BE49-F238E27FC236}">
                <a16:creationId xmlns:a16="http://schemas.microsoft.com/office/drawing/2014/main" id="{53DD3B79-9BF8-43D8-9CFF-8BABE459CB40}"/>
              </a:ext>
            </a:extLst>
          </p:cNvPr>
          <p:cNvSpPr>
            <a:spLocks xmlns:a="http://schemas.openxmlformats.org/drawingml/2006/main" noGrp="1"/>
          </p:cNvSpPr>
          <p:nvPr/>
        </p:nvSpPr>
        <p:spPr>
          <a:xfrm xmlns:a="http://schemas.openxmlformats.org/drawingml/2006/main">
            <a:off x="4191000" y="38671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32238"/>
                </a:solidFill>
              </a:defRPr>
            </a:pPr>
            <a:r>
              <a:rPr sz="1200" b="0" i="0">
                <a:solidFill>
                  <a:srgbClr val="132238"/>
                </a:solidFill>
              </a:rPr>
              <a:t>Normalized/decomposed task → current POC + GPT-5.2 labels</a:t>
            </a:r>
          </a:p>
        </p:txBody>
      </p:sp>
      <p:sp>
        <p:nvSpPr>
          <p:cNvPr id="17" name="">
            <a:extLst xmlns:a="http://schemas.openxmlformats.org/drawingml/2006/main">
              <a:ext uri="{FF2B5EF4-FFF2-40B4-BE49-F238E27FC236}">
                <a16:creationId xmlns:a16="http://schemas.microsoft.com/office/drawing/2014/main" id="{F56F131F-5E14-45D3-B397-92A6E547D2F2}"/>
              </a:ext>
            </a:extLst>
          </p:cNvPr>
          <p:cNvSpPr>
            <a:spLocks xmlns:a="http://schemas.openxmlformats.org/drawingml/2006/main" noGrp="1"/>
          </p:cNvSpPr>
          <p:nvPr/>
        </p:nvSpPr>
        <p:spPr>
          <a:xfrm xmlns:a="http://schemas.openxmlformats.org/drawingml/2006/main">
            <a:off x="4191000" y="4191000"/>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D9771F"/>
                </a:solidFill>
              </a:defRPr>
            </a:pPr>
            <a:r>
              <a:rPr sz="1050" b="1" i="0">
                <a:solidFill>
                  <a:srgbClr val="D9771F"/>
                </a:solidFill>
              </a:rPr>
              <a:t>Macro F1 0.8188 | sealed test</a:t>
            </a:r>
          </a:p>
        </p:txBody>
      </p:sp>
      <p:sp>
        <p:nvSpPr>
          <p:cNvPr id="18" name="">
            <a:extLst xmlns:a="http://schemas.openxmlformats.org/drawingml/2006/main">
              <a:ext uri="{FF2B5EF4-FFF2-40B4-BE49-F238E27FC236}">
                <a16:creationId xmlns:a16="http://schemas.microsoft.com/office/drawing/2014/main" id="{B8978BF4-CA34-42E6-8FB7-0C023EA1F1E0}"/>
              </a:ext>
            </a:extLst>
          </p:cNvPr>
          <p:cNvSpPr>
            <a:spLocks xmlns:a="http://schemas.openxmlformats.org/drawingml/2006/main" noGrp="1"/>
          </p:cNvSpPr>
          <p:nvPr/>
        </p:nvSpPr>
        <p:spPr>
          <a:xfrm xmlns:a="http://schemas.openxmlformats.org/drawingml/2006/main">
            <a:off x="685800" y="5181600"/>
            <a:ext cx="10172700" cy="590550"/>
          </a:xfrm>
          <a:prstGeom xmlns:a="http://schemas.openxmlformats.org/drawingml/2006/main" prst="rect">
            <a:avLst/>
          </a:prstGeom>
          <a:solidFill xmlns:a="http://schemas.openxmlformats.org/drawingml/2006/main">
            <a:srgbClr val="E8EEF4"/>
          </a:solidFill>
          <a:ln xmlns:a="http://schemas.openxmlformats.org/drawingml/2006/main" w="5715">
            <a:solidFill>
              <a:srgbClr val="E8EEF4"/>
            </a:solidFill>
            <a:prstDash val="solid"/>
          </a:ln>
        </p:spPr>
      </p:sp>
      <p:sp>
        <p:nvSpPr>
          <p:cNvPr id="19" name="">
            <a:extLst xmlns:a="http://schemas.openxmlformats.org/drawingml/2006/main">
              <a:ext uri="{FF2B5EF4-FFF2-40B4-BE49-F238E27FC236}">
                <a16:creationId xmlns:a16="http://schemas.microsoft.com/office/drawing/2014/main" id="{CA01CC8B-8340-450C-85C4-F1FC2AEA169E}"/>
              </a:ext>
            </a:extLst>
          </p:cNvPr>
          <p:cNvSpPr>
            <a:spLocks xmlns:a="http://schemas.openxmlformats.org/drawingml/2006/main" noGrp="1"/>
          </p:cNvSpPr>
          <p:nvPr/>
        </p:nvSpPr>
        <p:spPr>
          <a:xfrm xmlns:a="http://schemas.openxmlformats.org/drawingml/2006/main">
            <a:off x="685800" y="5181600"/>
            <a:ext cx="76200" cy="590550"/>
          </a:xfrm>
          <a:prstGeom xmlns:a="http://schemas.openxmlformats.org/drawingml/2006/main" prst="rect">
            <a:avLst/>
          </a:prstGeom>
          <a:solidFill xmlns:a="http://schemas.openxmlformats.org/drawingml/2006/main">
            <a:srgbClr val="24547A"/>
          </a:solidFill>
          <a:ln xmlns:a="http://schemas.openxmlformats.org/drawingml/2006/main" w="5715">
            <a:solidFill>
              <a:srgbClr val="24547A"/>
            </a:solidFill>
            <a:prstDash val="solid"/>
          </a:ln>
        </p:spPr>
      </p:sp>
      <p:sp>
        <p:nvSpPr>
          <p:cNvPr id="20" name="">
            <a:extLst xmlns:a="http://schemas.openxmlformats.org/drawingml/2006/main">
              <a:ext uri="{FF2B5EF4-FFF2-40B4-BE49-F238E27FC236}">
                <a16:creationId xmlns:a16="http://schemas.microsoft.com/office/drawing/2014/main" id="{D5481755-3DFD-4BE1-B4A5-E760803DA30C}"/>
              </a:ext>
            </a:extLst>
          </p:cNvPr>
          <p:cNvSpPr>
            <a:spLocks xmlns:a="http://schemas.openxmlformats.org/drawingml/2006/main" noGrp="1"/>
          </p:cNvSpPr>
          <p:nvPr/>
        </p:nvSpPr>
        <p:spPr>
          <a:xfrm xmlns:a="http://schemas.openxmlformats.org/drawingml/2006/main">
            <a:off x="952500" y="5314950"/>
            <a:ext cx="9696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238"/>
                </a:solidFill>
              </a:defRPr>
            </a:pPr>
            <a:r>
              <a:rPr sz="1275" b="1" i="0">
                <a:solidFill>
                  <a:srgbClr val="132238"/>
                </a:solidFill>
              </a:rPr>
              <a:t>The scoring method must be selected before choosing which target the ML model should reproduce.</a:t>
            </a:r>
          </a:p>
        </p:txBody>
      </p:sp>
    </p:spTree>
    <p:extLst>
      <p:ext uri="{BB962C8B-B14F-4D97-AF65-F5344CB8AC3E}">
        <p14:creationId xmlns:p14="http://schemas.microsoft.com/office/powerpoint/2010/main" val="1615914820"/>
      </p:ext>
    </p:extLst>
  </p:cSld>
</p:sld>
</file>

<file path=ppt/slides/slide3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E3C4A54-1338-42BB-BCAB-8E98DB18F1C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F05532A6-F18E-4F47-B5E2-9BCE25324C1A}"/>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APPENDIX A11 | INTERPRETATION BOUNDARIES</a:t>
            </a:r>
          </a:p>
        </p:txBody>
      </p:sp>
      <p:sp>
        <p:nvSpPr>
          <p:cNvPr id="3" name="">
            <a:extLst xmlns:a="http://schemas.openxmlformats.org/drawingml/2006/main">
              <a:ext uri="{FF2B5EF4-FFF2-40B4-BE49-F238E27FC236}">
                <a16:creationId xmlns:a16="http://schemas.microsoft.com/office/drawing/2014/main" id="{7FAE09C1-37A7-49AC-A02C-D9F3C6757944}"/>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238"/>
                </a:solidFill>
              </a:defRPr>
            </a:pPr>
            <a:r>
              <a:rPr sz="2850" b="1" i="0">
                <a:solidFill>
                  <a:srgbClr val="132238"/>
                </a:solidFill>
              </a:rPr>
              <a:t>The study supports a governed scoring-method decision; it does not establish a new national truth</a:t>
            </a:r>
          </a:p>
        </p:txBody>
      </p:sp>
      <p:sp>
        <p:nvSpPr>
          <p:cNvPr id="4" name="">
            <a:extLst xmlns:a="http://schemas.openxmlformats.org/drawingml/2006/main">
              <a:ext uri="{FF2B5EF4-FFF2-40B4-BE49-F238E27FC236}">
                <a16:creationId xmlns:a16="http://schemas.microsoft.com/office/drawing/2014/main" id="{6D4CC265-A2F5-47E2-8DA3-FE5DD23621B1}"/>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The following limits should travel with any decision or future external communication.</a:t>
            </a:r>
          </a:p>
        </p:txBody>
      </p:sp>
      <p:sp>
        <p:nvSpPr>
          <p:cNvPr id="5" name="">
            <a:extLst xmlns:a="http://schemas.openxmlformats.org/drawingml/2006/main">
              <a:ext uri="{FF2B5EF4-FFF2-40B4-BE49-F238E27FC236}">
                <a16:creationId xmlns:a16="http://schemas.microsoft.com/office/drawing/2014/main" id="{FD255AE7-9B38-46D6-A0B5-9569A96900DF}"/>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39B75254-3CCC-4C5F-96C8-2326208C1348}"/>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Matched factorial analysis | 29 Aug 2026</a:t>
            </a:r>
          </a:p>
        </p:txBody>
      </p:sp>
      <p:sp>
        <p:nvSpPr>
          <p:cNvPr id="7" name="">
            <a:extLst xmlns:a="http://schemas.openxmlformats.org/drawingml/2006/main">
              <a:ext uri="{FF2B5EF4-FFF2-40B4-BE49-F238E27FC236}">
                <a16:creationId xmlns:a16="http://schemas.microsoft.com/office/drawing/2014/main" id="{B511FB57-E201-4AEB-A63E-2B72DD7470EB}"/>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30</a:t>
            </a:r>
          </a:p>
        </p:txBody>
      </p:sp>
      <p:sp>
        <p:nvSpPr>
          <p:cNvPr id="8" name="">
            <a:extLst xmlns:a="http://schemas.openxmlformats.org/drawingml/2006/main">
              <a:ext uri="{FF2B5EF4-FFF2-40B4-BE49-F238E27FC236}">
                <a16:creationId xmlns:a16="http://schemas.microsoft.com/office/drawing/2014/main" id="{F710C9F9-C21F-438D-AFC0-B4955AB1E363}"/>
              </a:ext>
            </a:extLst>
          </p:cNvPr>
          <p:cNvSpPr>
            <a:spLocks xmlns:a="http://schemas.openxmlformats.org/drawingml/2006/main" noGrp="1"/>
          </p:cNvSpPr>
          <p:nvPr/>
        </p:nvSpPr>
        <p:spPr>
          <a:xfrm xmlns:a="http://schemas.openxmlformats.org/drawingml/2006/main">
            <a:off x="800100" y="2200275"/>
            <a:ext cx="76200" cy="76200"/>
          </a:xfrm>
          <a:prstGeom xmlns:a="http://schemas.openxmlformats.org/drawingml/2006/main" prst="ellipse">
            <a:avLst/>
          </a:prstGeom>
          <a:solidFill xmlns:a="http://schemas.openxmlformats.org/drawingml/2006/main">
            <a:srgbClr val="087A76"/>
          </a:solidFill>
          <a:ln xmlns:a="http://schemas.openxmlformats.org/drawingml/2006/main" w="9525">
            <a:solidFill>
              <a:srgbClr val="087A76"/>
            </a:solidFill>
            <a:prstDash val="solid"/>
          </a:ln>
        </p:spPr>
      </p:sp>
      <p:sp>
        <p:nvSpPr>
          <p:cNvPr id="9" name="">
            <a:extLst xmlns:a="http://schemas.openxmlformats.org/drawingml/2006/main">
              <a:ext uri="{FF2B5EF4-FFF2-40B4-BE49-F238E27FC236}">
                <a16:creationId xmlns:a16="http://schemas.microsoft.com/office/drawing/2014/main" id="{F4D5EC2F-BA33-46A2-A6CC-DCDE511C1D17}"/>
              </a:ext>
            </a:extLst>
          </p:cNvPr>
          <p:cNvSpPr>
            <a:spLocks xmlns:a="http://schemas.openxmlformats.org/drawingml/2006/main" noGrp="1"/>
          </p:cNvSpPr>
          <p:nvPr/>
        </p:nvSpPr>
        <p:spPr>
          <a:xfrm xmlns:a="http://schemas.openxmlformats.org/drawingml/2006/main">
            <a:off x="990600" y="2143125"/>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238"/>
                </a:solidFill>
              </a:defRPr>
            </a:pPr>
            <a:r>
              <a:rPr sz="1275" b="0" i="0">
                <a:solidFill>
                  <a:srgbClr val="132238"/>
                </a:solidFill>
              </a:rPr>
              <a:t>Historical labels are a repeatability reference, not independently adjudicated ground truth.</a:t>
            </a:r>
          </a:p>
        </p:txBody>
      </p:sp>
      <p:sp>
        <p:nvSpPr>
          <p:cNvPr id="10" name="">
            <a:extLst xmlns:a="http://schemas.openxmlformats.org/drawingml/2006/main">
              <a:ext uri="{FF2B5EF4-FFF2-40B4-BE49-F238E27FC236}">
                <a16:creationId xmlns:a16="http://schemas.microsoft.com/office/drawing/2014/main" id="{BC9BD6E6-61ED-41A1-AAB0-E9E0DC9058A8}"/>
              </a:ext>
            </a:extLst>
          </p:cNvPr>
          <p:cNvSpPr>
            <a:spLocks xmlns:a="http://schemas.openxmlformats.org/drawingml/2006/main" noGrp="1"/>
          </p:cNvSpPr>
          <p:nvPr/>
        </p:nvSpPr>
        <p:spPr>
          <a:xfrm xmlns:a="http://schemas.openxmlformats.org/drawingml/2006/main">
            <a:off x="800100" y="2790825"/>
            <a:ext cx="76200" cy="76200"/>
          </a:xfrm>
          <a:prstGeom xmlns:a="http://schemas.openxmlformats.org/drawingml/2006/main" prst="ellipse">
            <a:avLst/>
          </a:prstGeom>
          <a:solidFill xmlns:a="http://schemas.openxmlformats.org/drawingml/2006/main">
            <a:srgbClr val="D9771F"/>
          </a:solidFill>
          <a:ln xmlns:a="http://schemas.openxmlformats.org/drawingml/2006/main" w="9525">
            <a:solidFill>
              <a:srgbClr val="D9771F"/>
            </a:solidFill>
            <a:prstDash val="solid"/>
          </a:ln>
        </p:spPr>
      </p:sp>
      <p:sp>
        <p:nvSpPr>
          <p:cNvPr id="11" name="">
            <a:extLst xmlns:a="http://schemas.openxmlformats.org/drawingml/2006/main">
              <a:ext uri="{FF2B5EF4-FFF2-40B4-BE49-F238E27FC236}">
                <a16:creationId xmlns:a16="http://schemas.microsoft.com/office/drawing/2014/main" id="{1D1DA07B-9120-43E4-8EC8-E96471DA6A3C}"/>
              </a:ext>
            </a:extLst>
          </p:cNvPr>
          <p:cNvSpPr>
            <a:spLocks xmlns:a="http://schemas.openxmlformats.org/drawingml/2006/main" noGrp="1"/>
          </p:cNvSpPr>
          <p:nvPr/>
        </p:nvSpPr>
        <p:spPr>
          <a:xfrm xmlns:a="http://schemas.openxmlformats.org/drawingml/2006/main">
            <a:off x="990600" y="2733675"/>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238"/>
                </a:solidFill>
              </a:defRPr>
            </a:pPr>
            <a:r>
              <a:rPr sz="1275" b="0" i="0">
                <a:solidFill>
                  <a:srgbClr val="132238"/>
                </a:solidFill>
              </a:rPr>
              <a:t>The study isolates changes in scoring method; it does not measure a real-world change in AI capability over time.</a:t>
            </a:r>
          </a:p>
        </p:txBody>
      </p:sp>
      <p:sp>
        <p:nvSpPr>
          <p:cNvPr id="12" name="">
            <a:extLst xmlns:a="http://schemas.openxmlformats.org/drawingml/2006/main">
              <a:ext uri="{FF2B5EF4-FFF2-40B4-BE49-F238E27FC236}">
                <a16:creationId xmlns:a16="http://schemas.microsoft.com/office/drawing/2014/main" id="{9C18B621-F637-4B88-B920-B9E940166079}"/>
              </a:ext>
            </a:extLst>
          </p:cNvPr>
          <p:cNvSpPr>
            <a:spLocks xmlns:a="http://schemas.openxmlformats.org/drawingml/2006/main" noGrp="1"/>
          </p:cNvSpPr>
          <p:nvPr/>
        </p:nvSpPr>
        <p:spPr>
          <a:xfrm xmlns:a="http://schemas.openxmlformats.org/drawingml/2006/main">
            <a:off x="800100" y="3381375"/>
            <a:ext cx="76200" cy="76200"/>
          </a:xfrm>
          <a:prstGeom xmlns:a="http://schemas.openxmlformats.org/drawingml/2006/main" prst="ellipse">
            <a:avLst/>
          </a:prstGeom>
          <a:solidFill xmlns:a="http://schemas.openxmlformats.org/drawingml/2006/main">
            <a:srgbClr val="24547A"/>
          </a:solidFill>
          <a:ln xmlns:a="http://schemas.openxmlformats.org/drawingml/2006/main" w="9525">
            <a:solidFill>
              <a:srgbClr val="24547A"/>
            </a:solidFill>
            <a:prstDash val="solid"/>
          </a:ln>
        </p:spPr>
      </p:sp>
      <p:sp>
        <p:nvSpPr>
          <p:cNvPr id="13" name="">
            <a:extLst xmlns:a="http://schemas.openxmlformats.org/drawingml/2006/main">
              <a:ext uri="{FF2B5EF4-FFF2-40B4-BE49-F238E27FC236}">
                <a16:creationId xmlns:a16="http://schemas.microsoft.com/office/drawing/2014/main" id="{3C80A5CB-744D-48B2-AD12-92B7602D9209}"/>
              </a:ext>
            </a:extLst>
          </p:cNvPr>
          <p:cNvSpPr>
            <a:spLocks xmlns:a="http://schemas.openxmlformats.org/drawingml/2006/main" noGrp="1"/>
          </p:cNvSpPr>
          <p:nvPr/>
        </p:nvSpPr>
        <p:spPr>
          <a:xfrm xmlns:a="http://schemas.openxmlformats.org/drawingml/2006/main">
            <a:off x="990600" y="3324225"/>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238"/>
                </a:solidFill>
              </a:defRPr>
            </a:pPr>
            <a:r>
              <a:rPr sz="1275" b="0" i="0">
                <a:solidFill>
                  <a:srgbClr val="132238"/>
                </a:solidFill>
              </a:rPr>
              <a:t>The SFW task panel may not represent incoming job-posting language or fully out-of-domain tasks.</a:t>
            </a:r>
          </a:p>
        </p:txBody>
      </p:sp>
      <p:sp>
        <p:nvSpPr>
          <p:cNvPr id="14" name="">
            <a:extLst xmlns:a="http://schemas.openxmlformats.org/drawingml/2006/main">
              <a:ext uri="{FF2B5EF4-FFF2-40B4-BE49-F238E27FC236}">
                <a16:creationId xmlns:a16="http://schemas.microsoft.com/office/drawing/2014/main" id="{2190991C-6D98-4AC8-BA7D-B42C53E2C697}"/>
              </a:ext>
            </a:extLst>
          </p:cNvPr>
          <p:cNvSpPr>
            <a:spLocks xmlns:a="http://schemas.openxmlformats.org/drawingml/2006/main" noGrp="1"/>
          </p:cNvSpPr>
          <p:nvPr/>
        </p:nvSpPr>
        <p:spPr>
          <a:xfrm xmlns:a="http://schemas.openxmlformats.org/drawingml/2006/main">
            <a:off x="800100" y="3971925"/>
            <a:ext cx="76200" cy="76200"/>
          </a:xfrm>
          <a:prstGeom xmlns:a="http://schemas.openxmlformats.org/drawingml/2006/main" prst="ellipse">
            <a:avLst/>
          </a:prstGeom>
          <a:solidFill xmlns:a="http://schemas.openxmlformats.org/drawingml/2006/main">
            <a:srgbClr val="C75850"/>
          </a:solidFill>
          <a:ln xmlns:a="http://schemas.openxmlformats.org/drawingml/2006/main" w="9525">
            <a:solidFill>
              <a:srgbClr val="C75850"/>
            </a:solidFill>
            <a:prstDash val="solid"/>
          </a:ln>
        </p:spPr>
      </p:sp>
      <p:sp>
        <p:nvSpPr>
          <p:cNvPr id="15" name="">
            <a:extLst xmlns:a="http://schemas.openxmlformats.org/drawingml/2006/main">
              <a:ext uri="{FF2B5EF4-FFF2-40B4-BE49-F238E27FC236}">
                <a16:creationId xmlns:a16="http://schemas.microsoft.com/office/drawing/2014/main" id="{C0C2ECAE-37BE-4108-8BAE-C3765B458934}"/>
              </a:ext>
            </a:extLst>
          </p:cNvPr>
          <p:cNvSpPr>
            <a:spLocks xmlns:a="http://schemas.openxmlformats.org/drawingml/2006/main" noGrp="1"/>
          </p:cNvSpPr>
          <p:nvPr/>
        </p:nvSpPr>
        <p:spPr>
          <a:xfrm xmlns:a="http://schemas.openxmlformats.org/drawingml/2006/main">
            <a:off x="990600" y="3914775"/>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238"/>
                </a:solidFill>
              </a:defRPr>
            </a:pPr>
            <a:r>
              <a:rPr sz="1275" b="0" i="0">
                <a:solidFill>
                  <a:srgbClr val="132238"/>
                </a:solidFill>
              </a:rPr>
              <a:t>E3 is rare; E2/E3 are merged for the production target while full labels remain available for audit.</a:t>
            </a:r>
          </a:p>
        </p:txBody>
      </p:sp>
      <p:sp>
        <p:nvSpPr>
          <p:cNvPr id="16" name="">
            <a:extLst xmlns:a="http://schemas.openxmlformats.org/drawingml/2006/main">
              <a:ext uri="{FF2B5EF4-FFF2-40B4-BE49-F238E27FC236}">
                <a16:creationId xmlns:a16="http://schemas.microsoft.com/office/drawing/2014/main" id="{B3C5CE50-5B0C-46D0-89B2-5610777BFCDF}"/>
              </a:ext>
            </a:extLst>
          </p:cNvPr>
          <p:cNvSpPr>
            <a:spLocks xmlns:a="http://schemas.openxmlformats.org/drawingml/2006/main" noGrp="1"/>
          </p:cNvSpPr>
          <p:nvPr/>
        </p:nvSpPr>
        <p:spPr>
          <a:xfrm xmlns:a="http://schemas.openxmlformats.org/drawingml/2006/main">
            <a:off x="800100" y="4562475"/>
            <a:ext cx="76200" cy="76200"/>
          </a:xfrm>
          <a:prstGeom xmlns:a="http://schemas.openxmlformats.org/drawingml/2006/main" prst="ellipse">
            <a:avLst/>
          </a:prstGeom>
          <a:solidFill xmlns:a="http://schemas.openxmlformats.org/drawingml/2006/main">
            <a:srgbClr val="B18A2D"/>
          </a:solidFill>
          <a:ln xmlns:a="http://schemas.openxmlformats.org/drawingml/2006/main" w="9525">
            <a:solidFill>
              <a:srgbClr val="B18A2D"/>
            </a:solidFill>
            <a:prstDash val="solid"/>
          </a:ln>
        </p:spPr>
      </p:sp>
      <p:sp>
        <p:nvSpPr>
          <p:cNvPr id="17" name="">
            <a:extLst xmlns:a="http://schemas.openxmlformats.org/drawingml/2006/main">
              <a:ext uri="{FF2B5EF4-FFF2-40B4-BE49-F238E27FC236}">
                <a16:creationId xmlns:a16="http://schemas.microsoft.com/office/drawing/2014/main" id="{763C4BDD-0159-413A-80B8-71622FDC3FB3}"/>
              </a:ext>
            </a:extLst>
          </p:cNvPr>
          <p:cNvSpPr>
            <a:spLocks xmlns:a="http://schemas.openxmlformats.org/drawingml/2006/main" noGrp="1"/>
          </p:cNvSpPr>
          <p:nvPr/>
        </p:nvSpPr>
        <p:spPr>
          <a:xfrm xmlns:a="http://schemas.openxmlformats.org/drawingml/2006/main">
            <a:off x="990600" y="4505325"/>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238"/>
                </a:solidFill>
              </a:defRPr>
            </a:pPr>
            <a:r>
              <a:rPr sz="1275" b="0" i="0">
                <a:solidFill>
                  <a:srgbClr val="132238"/>
                </a:solidFill>
              </a:rPr>
              <a:t>The production model requires monitoring of OOV rate, review rate, E0 proportion, cohort drift and sampled human review.</a:t>
            </a:r>
          </a:p>
        </p:txBody>
      </p:sp>
      <p:sp>
        <p:nvSpPr>
          <p:cNvPr id="18" name="">
            <a:extLst xmlns:a="http://schemas.openxmlformats.org/drawingml/2006/main">
              <a:ext uri="{FF2B5EF4-FFF2-40B4-BE49-F238E27FC236}">
                <a16:creationId xmlns:a16="http://schemas.microsoft.com/office/drawing/2014/main" id="{345F0BFD-C4EA-486D-B0B3-DB60A2292AC9}"/>
              </a:ext>
            </a:extLst>
          </p:cNvPr>
          <p:cNvSpPr>
            <a:spLocks xmlns:a="http://schemas.openxmlformats.org/drawingml/2006/main" noGrp="1"/>
          </p:cNvSpPr>
          <p:nvPr/>
        </p:nvSpPr>
        <p:spPr>
          <a:xfrm xmlns:a="http://schemas.openxmlformats.org/drawingml/2006/main">
            <a:off x="685800" y="5334000"/>
            <a:ext cx="10172700" cy="571500"/>
          </a:xfrm>
          <a:prstGeom xmlns:a="http://schemas.openxmlformats.org/drawingml/2006/main" prst="rect">
            <a:avLst/>
          </a:prstGeom>
          <a:solidFill xmlns:a="http://schemas.openxmlformats.org/drawingml/2006/main">
            <a:srgbClr val="F6E7E5"/>
          </a:solidFill>
          <a:ln xmlns:a="http://schemas.openxmlformats.org/drawingml/2006/main" w="5715">
            <a:solidFill>
              <a:srgbClr val="F6E7E5"/>
            </a:solidFill>
            <a:prstDash val="solid"/>
          </a:ln>
        </p:spPr>
      </p:sp>
      <p:sp>
        <p:nvSpPr>
          <p:cNvPr id="19" name="">
            <a:extLst xmlns:a="http://schemas.openxmlformats.org/drawingml/2006/main">
              <a:ext uri="{FF2B5EF4-FFF2-40B4-BE49-F238E27FC236}">
                <a16:creationId xmlns:a16="http://schemas.microsoft.com/office/drawing/2014/main" id="{6D64DD36-5F03-4B49-A053-28F1237AA495}"/>
              </a:ext>
            </a:extLst>
          </p:cNvPr>
          <p:cNvSpPr>
            <a:spLocks xmlns:a="http://schemas.openxmlformats.org/drawingml/2006/main" noGrp="1"/>
          </p:cNvSpPr>
          <p:nvPr/>
        </p:nvSpPr>
        <p:spPr>
          <a:xfrm xmlns:a="http://schemas.openxmlformats.org/drawingml/2006/main">
            <a:off x="685800" y="5334000"/>
            <a:ext cx="76200" cy="571500"/>
          </a:xfrm>
          <a:prstGeom xmlns:a="http://schemas.openxmlformats.org/drawingml/2006/main" prst="rect">
            <a:avLst/>
          </a:prstGeom>
          <a:solidFill xmlns:a="http://schemas.openxmlformats.org/drawingml/2006/main">
            <a:srgbClr val="C75850"/>
          </a:solidFill>
          <a:ln xmlns:a="http://schemas.openxmlformats.org/drawingml/2006/main" w="5715">
            <a:solidFill>
              <a:srgbClr val="C75850"/>
            </a:solidFill>
            <a:prstDash val="solid"/>
          </a:ln>
        </p:spPr>
      </p:sp>
      <p:sp>
        <p:nvSpPr>
          <p:cNvPr id="20" name="">
            <a:extLst xmlns:a="http://schemas.openxmlformats.org/drawingml/2006/main">
              <a:ext uri="{FF2B5EF4-FFF2-40B4-BE49-F238E27FC236}">
                <a16:creationId xmlns:a16="http://schemas.microsoft.com/office/drawing/2014/main" id="{9C9DC93A-BFE8-4137-8971-07A7CFC413B5}"/>
              </a:ext>
            </a:extLst>
          </p:cNvPr>
          <p:cNvSpPr>
            <a:spLocks xmlns:a="http://schemas.openxmlformats.org/drawingml/2006/main" noGrp="1"/>
          </p:cNvSpPr>
          <p:nvPr/>
        </p:nvSpPr>
        <p:spPr>
          <a:xfrm xmlns:a="http://schemas.openxmlformats.org/drawingml/2006/main">
            <a:off x="952500" y="5467350"/>
            <a:ext cx="9696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238"/>
                </a:solidFill>
              </a:defRPr>
            </a:pPr>
            <a:r>
              <a:rPr sz="1275" b="1" i="0">
                <a:solidFill>
                  <a:srgbClr val="132238"/>
                </a:solidFill>
              </a:rPr>
              <a:t>The correct question is: which documented scoring method should the live product reproduce?</a:t>
            </a:r>
          </a:p>
        </p:txBody>
      </p:sp>
    </p:spTree>
    <p:extLst>
      <p:ext uri="{BB962C8B-B14F-4D97-AF65-F5344CB8AC3E}">
        <p14:creationId xmlns:p14="http://schemas.microsoft.com/office/powerpoint/2010/main" val="568685375"/>
      </p:ext>
    </p:extLst>
  </p:cSld>
</p:sld>
</file>

<file path=ppt/slides/slide3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B20FEEA-502F-41DB-9F01-9C0FFC57780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60046270-D3EA-4E38-8BDE-E8AF43E4D879}"/>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APPENDIX A13 | VERBATIM PROMPT</a:t>
            </a:r>
          </a:p>
        </p:txBody>
      </p:sp>
      <p:sp>
        <p:nvSpPr>
          <p:cNvPr id="3" name="">
            <a:extLst xmlns:a="http://schemas.openxmlformats.org/drawingml/2006/main">
              <a:ext uri="{FF2B5EF4-FFF2-40B4-BE49-F238E27FC236}">
                <a16:creationId xmlns:a16="http://schemas.microsoft.com/office/drawing/2014/main" id="{F09C207E-38CA-4911-A3F9-21134783E473}"/>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32238"/>
                </a:solidFill>
              </a:defRPr>
            </a:pPr>
            <a:r>
              <a:rPr sz="2550" b="1" i="0">
                <a:solidFill>
                  <a:srgbClr val="132238"/>
                </a:solidFill>
              </a:rPr>
              <a:t>Historical dashboard guidance: verbatim prompt</a:t>
            </a:r>
          </a:p>
        </p:txBody>
      </p:sp>
      <p:sp>
        <p:nvSpPr>
          <p:cNvPr id="4" name="">
            <a:extLst xmlns:a="http://schemas.openxmlformats.org/drawingml/2006/main">
              <a:ext uri="{FF2B5EF4-FFF2-40B4-BE49-F238E27FC236}">
                <a16:creationId xmlns:a16="http://schemas.microsoft.com/office/drawing/2014/main" id="{FEE5EC79-EC68-47A0-A560-44C34CAA11A9}"/>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Verbatim controlled text used in the study. Line breaks are reflowed for display only; wording is unchanged.</a:t>
            </a:r>
          </a:p>
        </p:txBody>
      </p:sp>
      <p:sp>
        <p:nvSpPr>
          <p:cNvPr id="5" name="">
            <a:extLst xmlns:a="http://schemas.openxmlformats.org/drawingml/2006/main">
              <a:ext uri="{FF2B5EF4-FFF2-40B4-BE49-F238E27FC236}">
                <a16:creationId xmlns:a16="http://schemas.microsoft.com/office/drawing/2014/main" id="{DCE87926-0D31-48B4-9F5C-8C0A2B778693}"/>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4E9E70F2-DF21-4F33-AA7D-5AD05ABFB013}"/>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Technical appendix | controlled prompt artifacts</a:t>
            </a:r>
          </a:p>
        </p:txBody>
      </p:sp>
      <p:sp>
        <p:nvSpPr>
          <p:cNvPr id="7" name="">
            <a:extLst xmlns:a="http://schemas.openxmlformats.org/drawingml/2006/main">
              <a:ext uri="{FF2B5EF4-FFF2-40B4-BE49-F238E27FC236}">
                <a16:creationId xmlns:a16="http://schemas.microsoft.com/office/drawing/2014/main" id="{1AF82049-8A57-48DE-A897-4B8FB7EBF656}"/>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31</a:t>
            </a:r>
          </a:p>
        </p:txBody>
      </p:sp>
      <p:sp>
        <p:nvSpPr>
          <p:cNvPr id="8" name="">
            <a:extLst xmlns:a="http://schemas.openxmlformats.org/drawingml/2006/main">
              <a:ext uri="{FF2B5EF4-FFF2-40B4-BE49-F238E27FC236}">
                <a16:creationId xmlns:a16="http://schemas.microsoft.com/office/drawing/2014/main" id="{4582C76C-9113-4FE7-968B-3A8D5C990D7C}"/>
              </a:ext>
            </a:extLst>
          </p:cNvPr>
          <p:cNvSpPr>
            <a:spLocks xmlns:a="http://schemas.openxmlformats.org/drawingml/2006/main" noGrp="1"/>
          </p:cNvSpPr>
          <p:nvPr/>
        </p:nvSpPr>
        <p:spPr>
          <a:xfrm xmlns:a="http://schemas.openxmlformats.org/drawingml/2006/main">
            <a:off x="685800" y="20955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SYSTEM GUIDANCE FOLLOWED BY USER TEMPLATE</a:t>
            </a:r>
          </a:p>
        </p:txBody>
      </p:sp>
      <p:sp>
        <p:nvSpPr>
          <p:cNvPr id="9" name="">
            <a:extLst xmlns:a="http://schemas.openxmlformats.org/drawingml/2006/main">
              <a:ext uri="{FF2B5EF4-FFF2-40B4-BE49-F238E27FC236}">
                <a16:creationId xmlns:a16="http://schemas.microsoft.com/office/drawing/2014/main" id="{13A960D9-CEB3-46E8-9663-CBAA218AB5FD}"/>
              </a:ext>
            </a:extLst>
          </p:cNvPr>
          <p:cNvSpPr>
            <a:spLocks xmlns:a="http://schemas.openxmlformats.org/drawingml/2006/main" noGrp="1"/>
          </p:cNvSpPr>
          <p:nvPr/>
        </p:nvSpPr>
        <p:spPr>
          <a:xfrm xmlns:a="http://schemas.openxmlformats.org/drawingml/2006/main">
            <a:off x="685800" y="2343150"/>
            <a:ext cx="2524125"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44" b="0" i="0">
                <a:solidFill>
                  <a:srgbClr val="132238"/>
                </a:solidFill>
              </a:defRPr>
            </a:pPr>
            <a:r>
              <a:rPr sz="544" b="0" i="0">
                <a:solidFill>
                  <a:srgbClr val="132238"/>
                </a:solidFill>
              </a:rPr>
              <a:t>[SYSTEM GUIDANCE]</a:t>
            </a:r>
          </a:p>
          <a:p xmlns:a="http://schemas.openxmlformats.org/drawingml/2006/main">
            <a:pPr algn="l">
              <a:defRPr sz="544" b="0" i="0">
                <a:solidFill>
                  <a:srgbClr val="132238"/>
                </a:solidFill>
              </a:defRPr>
            </a:pPr>
            <a:r>
              <a:rPr sz="544" b="0" i="0">
                <a:solidFill>
                  <a:srgbClr val="132238"/>
                </a:solidFill>
              </a:rPr>
              <a:t># E Exposure Taxonomy</a:t>
            </a:r>
          </a:p>
          <a:p xmlns:a="http://schemas.openxmlformats.org/drawingml/2006/main">
            <a:pPr algn="l">
              <a:defRPr sz="544" b="0" i="0">
                <a:solidFill>
                  <a:srgbClr val="132238"/>
                </a:solidFill>
              </a:defRPr>
            </a:pPr>
            <a:r>
              <a:rPr sz="544" b="0" i="0">
                <a:solidFill>
                  <a:srgbClr val="132238"/>
                </a:solidFill>
              </a:rPr>
              <a:t>            Consider the most powerful OpenAI large language</a:t>
            </a:r>
          </a:p>
          <a:p xmlns:a="http://schemas.openxmlformats.org/drawingml/2006/main">
            <a:pPr algn="l">
              <a:defRPr sz="544" b="0" i="0">
                <a:solidFill>
                  <a:srgbClr val="132238"/>
                </a:solidFill>
              </a:defRPr>
            </a:pPr>
            <a:r>
              <a:rPr sz="544" b="0" i="0">
                <a:solidFill>
                  <a:srgbClr val="132238"/>
                </a:solidFill>
              </a:rPr>
              <a:t>model (LLM) This model can complete many tasks that can be</a:t>
            </a:r>
          </a:p>
          <a:p xmlns:a="http://schemas.openxmlformats.org/drawingml/2006/main">
            <a:pPr algn="l">
              <a:defRPr sz="544" b="0" i="0">
                <a:solidFill>
                  <a:srgbClr val="132238"/>
                </a:solidFill>
              </a:defRPr>
            </a:pPr>
            <a:r>
              <a:rPr sz="544" b="0" i="0">
                <a:solidFill>
                  <a:srgbClr val="132238"/>
                </a:solidFill>
              </a:rPr>
              <a:t>formulated as having text input and text output where the</a:t>
            </a:r>
          </a:p>
          <a:p xmlns:a="http://schemas.openxmlformats.org/drawingml/2006/main">
            <a:pPr algn="l">
              <a:defRPr sz="544" b="0" i="0">
                <a:solidFill>
                  <a:srgbClr val="132238"/>
                </a:solidFill>
              </a:defRPr>
            </a:pPr>
            <a:r>
              <a:rPr sz="544" b="0" i="0">
                <a:solidFill>
                  <a:srgbClr val="132238"/>
                </a:solidFill>
              </a:rPr>
              <a:t>context for the input can be captured in 2000 words.</a:t>
            </a:r>
          </a:p>
          <a:p xmlns:a="http://schemas.openxmlformats.org/drawingml/2006/main">
            <a:pPr algn="l">
              <a:defRPr sz="544" b="0" i="0">
                <a:solidFill>
                  <a:srgbClr val="132238"/>
                </a:solidFill>
              </a:defRPr>
            </a:pPr>
            <a:r>
              <a:rPr sz="544" b="0" i="0">
                <a:solidFill>
                  <a:srgbClr val="132238"/>
                </a:solidFill>
              </a:rPr>
              <a:t>            The model also cannot draw up-to-date facts (those</a:t>
            </a:r>
          </a:p>
          <a:p xmlns:a="http://schemas.openxmlformats.org/drawingml/2006/main">
            <a:pPr algn="l">
              <a:defRPr sz="544" b="0" i="0">
                <a:solidFill>
                  <a:srgbClr val="132238"/>
                </a:solidFill>
              </a:defRPr>
            </a:pPr>
            <a:r>
              <a:rPr sz="544" b="0" i="0">
                <a:solidFill>
                  <a:srgbClr val="132238"/>
                </a:solidFill>
              </a:rPr>
              <a:t>from &lt;1 year ago) unless they are captured in the input.</a:t>
            </a:r>
          </a:p>
          <a:p xmlns:a="http://schemas.openxmlformats.org/drawingml/2006/main">
            <a:pPr algn="l">
              <a:defRPr sz="544" b="0" i="0">
                <a:solidFill>
                  <a:srgbClr val="132238"/>
                </a:solidFill>
              </a:defRPr>
            </a:pPr>
            <a:r>
              <a:rPr sz="544" b="0" i="0">
                <a:solidFill>
                  <a:srgbClr val="132238"/>
                </a:solidFill>
              </a:rPr>
              <a:t>            Assume you are a worker with an average level of</a:t>
            </a:r>
          </a:p>
          <a:p xmlns:a="http://schemas.openxmlformats.org/drawingml/2006/main">
            <a:pPr algn="l">
              <a:defRPr sz="544" b="0" i="0">
                <a:solidFill>
                  <a:srgbClr val="132238"/>
                </a:solidFill>
              </a:defRPr>
            </a:pPr>
            <a:r>
              <a:rPr sz="544" b="0" i="0">
                <a:solidFill>
                  <a:srgbClr val="132238"/>
                </a:solidFill>
              </a:rPr>
              <a:t>expertise in your role trying to complete the given task.</a:t>
            </a:r>
          </a:p>
          <a:p xmlns:a="http://schemas.openxmlformats.org/drawingml/2006/main">
            <a:pPr algn="l">
              <a:defRPr sz="544" b="0" i="0">
                <a:solidFill>
                  <a:srgbClr val="132238"/>
                </a:solidFill>
              </a:defRPr>
            </a:pPr>
            <a:r>
              <a:rPr sz="544" b="0" i="0">
                <a:solidFill>
                  <a:srgbClr val="132238"/>
                </a:solidFill>
              </a:rPr>
              <a:t>            You have access to the LLM as well as any other</a:t>
            </a:r>
          </a:p>
          <a:p xmlns:a="http://schemas.openxmlformats.org/drawingml/2006/main">
            <a:pPr algn="l">
              <a:defRPr sz="544" b="0" i="0">
                <a:solidFill>
                  <a:srgbClr val="132238"/>
                </a:solidFill>
              </a:defRPr>
            </a:pPr>
            <a:r>
              <a:rPr sz="544" b="0" i="0">
                <a:solidFill>
                  <a:srgbClr val="132238"/>
                </a:solidFill>
              </a:rPr>
              <a:t>existing software or computer hardware tools mentioned in the</a:t>
            </a:r>
          </a:p>
          <a:p xmlns:a="http://schemas.openxmlformats.org/drawingml/2006/main">
            <a:pPr algn="l">
              <a:defRPr sz="544" b="0" i="0">
                <a:solidFill>
                  <a:srgbClr val="132238"/>
                </a:solidFill>
              </a:defRPr>
            </a:pPr>
            <a:r>
              <a:rPr sz="544" b="0" i="0">
                <a:solidFill>
                  <a:srgbClr val="132238"/>
                </a:solidFill>
              </a:rPr>
              <a:t>task. You also have access to any commonly available technical</a:t>
            </a:r>
          </a:p>
          <a:p xmlns:a="http://schemas.openxmlformats.org/drawingml/2006/main">
            <a:pPr algn="l">
              <a:defRPr sz="544" b="0" i="0">
                <a:solidFill>
                  <a:srgbClr val="132238"/>
                </a:solidFill>
              </a:defRPr>
            </a:pPr>
            <a:r>
              <a:rPr sz="544" b="0" i="0">
                <a:solidFill>
                  <a:srgbClr val="132238"/>
                </a:solidFill>
              </a:rPr>
              <a:t>tools accessible via a laptop (e.g. a microphone, speakers,</a:t>
            </a:r>
          </a:p>
          <a:p xmlns:a="http://schemas.openxmlformats.org/drawingml/2006/main">
            <a:pPr algn="l">
              <a:defRPr sz="544" b="0" i="0">
                <a:solidFill>
                  <a:srgbClr val="132238"/>
                </a:solidFill>
              </a:defRPr>
            </a:pPr>
            <a:r>
              <a:rPr sz="544" b="0" i="0">
                <a:solidFill>
                  <a:srgbClr val="132238"/>
                </a:solidFill>
              </a:rPr>
              <a:t>etc.). You do not have access to any other physical tools or</a:t>
            </a:r>
          </a:p>
          <a:p xmlns:a="http://schemas.openxmlformats.org/drawingml/2006/main">
            <a:pPr algn="l">
              <a:defRPr sz="544" b="0" i="0">
                <a:solidFill>
                  <a:srgbClr val="132238"/>
                </a:solidFill>
              </a:defRPr>
            </a:pPr>
            <a:r>
              <a:rPr sz="544" b="0" i="0">
                <a:solidFill>
                  <a:srgbClr val="132238"/>
                </a:solidFill>
              </a:rPr>
              <a:t>materials.</a:t>
            </a:r>
          </a:p>
          <a:p xmlns:a="http://schemas.openxmlformats.org/drawingml/2006/main">
            <a:pPr algn="l">
              <a:defRPr sz="544" b="0" i="0">
                <a:solidFill>
                  <a:srgbClr val="132238"/>
                </a:solidFill>
              </a:defRPr>
            </a:pPr>
            <a:r>
              <a:rPr sz="544" b="0" i="0">
                <a:solidFill>
                  <a:srgbClr val="132238"/>
                </a:solidFill>
              </a:rPr>
              <a:t> </a:t>
            </a:r>
          </a:p>
          <a:p xmlns:a="http://schemas.openxmlformats.org/drawingml/2006/main">
            <a:pPr algn="l">
              <a:defRPr sz="544" b="0" i="0">
                <a:solidFill>
                  <a:srgbClr val="132238"/>
                </a:solidFill>
              </a:defRPr>
            </a:pPr>
            <a:r>
              <a:rPr sz="544" b="0" i="0">
                <a:solidFill>
                  <a:srgbClr val="132238"/>
                </a:solidFill>
              </a:rPr>
              <a:t>            Please label the given task performed for the</a:t>
            </a:r>
          </a:p>
          <a:p xmlns:a="http://schemas.openxmlformats.org/drawingml/2006/main">
            <a:pPr algn="l">
              <a:defRPr sz="544" b="0" i="0">
                <a:solidFill>
                  <a:srgbClr val="132238"/>
                </a:solidFill>
              </a:defRPr>
            </a:pPr>
            <a:r>
              <a:rPr sz="544" b="0" i="0">
                <a:solidFill>
                  <a:srgbClr val="132238"/>
                </a:solidFill>
              </a:rPr>
              <a:t>corresponding occupation according to the taxonomy below.</a:t>
            </a:r>
          </a:p>
          <a:p xmlns:a="http://schemas.openxmlformats.org/drawingml/2006/main">
            <a:pPr algn="l">
              <a:defRPr sz="544" b="0" i="0">
                <a:solidFill>
                  <a:srgbClr val="132238"/>
                </a:solidFill>
              </a:defRPr>
            </a:pPr>
            <a:r>
              <a:rPr sz="544" b="0" i="0">
                <a:solidFill>
                  <a:srgbClr val="132238"/>
                </a:solidFill>
              </a:rPr>
              <a:t> </a:t>
            </a:r>
          </a:p>
          <a:p xmlns:a="http://schemas.openxmlformats.org/drawingml/2006/main">
            <a:pPr algn="l">
              <a:defRPr sz="544" b="0" i="0">
                <a:solidFill>
                  <a:srgbClr val="132238"/>
                </a:solidFill>
              </a:defRPr>
            </a:pPr>
            <a:r>
              <a:rPr sz="544" b="0" i="0">
                <a:solidFill>
                  <a:srgbClr val="132238"/>
                </a:solidFill>
              </a:rPr>
              <a:t>            ## E0 – No exposure</a:t>
            </a:r>
          </a:p>
          <a:p xmlns:a="http://schemas.openxmlformats.org/drawingml/2006/main">
            <a:pPr algn="l">
              <a:defRPr sz="544" b="0" i="0">
                <a:solidFill>
                  <a:srgbClr val="132238"/>
                </a:solidFill>
              </a:defRPr>
            </a:pPr>
            <a:r>
              <a:rPr sz="544" b="0" i="0">
                <a:solidFill>
                  <a:srgbClr val="132238"/>
                </a:solidFill>
              </a:rPr>
              <a:t>            Label tasks E0 if direct access to the LLM through</a:t>
            </a:r>
          </a:p>
          <a:p xmlns:a="http://schemas.openxmlformats.org/drawingml/2006/main">
            <a:pPr algn="l">
              <a:defRPr sz="544" b="0" i="0">
                <a:solidFill>
                  <a:srgbClr val="132238"/>
                </a:solidFill>
              </a:defRPr>
            </a:pPr>
            <a:r>
              <a:rPr sz="544" b="0" i="0">
                <a:solidFill>
                  <a:srgbClr val="132238"/>
                </a:solidFill>
              </a:rPr>
              <a:t>an interface like ChatGPT or the OpenAI playground cannot reduce</a:t>
            </a:r>
          </a:p>
          <a:p xmlns:a="http://schemas.openxmlformats.org/drawingml/2006/main">
            <a:pPr algn="l">
              <a:defRPr sz="544" b="0" i="0">
                <a:solidFill>
                  <a:srgbClr val="132238"/>
                </a:solidFill>
              </a:defRPr>
            </a:pPr>
            <a:r>
              <a:rPr sz="544" b="0" i="0">
                <a:solidFill>
                  <a:srgbClr val="132238"/>
                </a:solidFill>
              </a:rPr>
              <a:t>the time it takes to complete this task with equivalent quality</a:t>
            </a:r>
          </a:p>
          <a:p xmlns:a="http://schemas.openxmlformats.org/drawingml/2006/main">
            <a:pPr algn="l">
              <a:defRPr sz="544" b="0" i="0">
                <a:solidFill>
                  <a:srgbClr val="132238"/>
                </a:solidFill>
              </a:defRPr>
            </a:pPr>
            <a:r>
              <a:rPr sz="544" b="0" i="0">
                <a:solidFill>
                  <a:srgbClr val="132238"/>
                </a:solidFill>
              </a:rPr>
              <a:t>by half or more.</a:t>
            </a:r>
          </a:p>
          <a:p xmlns:a="http://schemas.openxmlformats.org/drawingml/2006/main">
            <a:pPr algn="l">
              <a:defRPr sz="544" b="0" i="0">
                <a:solidFill>
                  <a:srgbClr val="132238"/>
                </a:solidFill>
              </a:defRPr>
            </a:pPr>
            <a:r>
              <a:rPr sz="544" b="0" i="0">
                <a:solidFill>
                  <a:srgbClr val="132238"/>
                </a:solidFill>
              </a:rPr>
              <a:t>            If a task requires a high degree of human</a:t>
            </a:r>
          </a:p>
          <a:p xmlns:a="http://schemas.openxmlformats.org/drawingml/2006/main">
            <a:pPr algn="l">
              <a:defRPr sz="544" b="0" i="0">
                <a:solidFill>
                  <a:srgbClr val="132238"/>
                </a:solidFill>
              </a:defRPr>
            </a:pPr>
            <a:r>
              <a:rPr sz="544" b="0" i="0">
                <a:solidFill>
                  <a:srgbClr val="132238"/>
                </a:solidFill>
              </a:rPr>
              <a:t>interaction (for example, in person demonstrations) then it</a:t>
            </a:r>
          </a:p>
          <a:p xmlns:a="http://schemas.openxmlformats.org/drawingml/2006/main">
            <a:pPr algn="l">
              <a:defRPr sz="544" b="0" i="0">
                <a:solidFill>
                  <a:srgbClr val="132238"/>
                </a:solidFill>
              </a:defRPr>
            </a:pPr>
            <a:r>
              <a:rPr sz="544" b="0" i="0">
                <a:solidFill>
                  <a:srgbClr val="132238"/>
                </a:solidFill>
              </a:rPr>
              <a:t>should be classified as E0.</a:t>
            </a:r>
          </a:p>
          <a:p xmlns:a="http://schemas.openxmlformats.org/drawingml/2006/main">
            <a:pPr algn="l">
              <a:defRPr sz="544" b="0" i="0">
                <a:solidFill>
                  <a:srgbClr val="132238"/>
                </a:solidFill>
              </a:defRPr>
            </a:pPr>
            <a:r>
              <a:rPr sz="544" b="0" i="0">
                <a:solidFill>
                  <a:srgbClr val="132238"/>
                </a:solidFill>
              </a:rPr>
              <a:t> </a:t>
            </a:r>
          </a:p>
          <a:p xmlns:a="http://schemas.openxmlformats.org/drawingml/2006/main">
            <a:pPr algn="l">
              <a:defRPr sz="544" b="0" i="0">
                <a:solidFill>
                  <a:srgbClr val="132238"/>
                </a:solidFill>
              </a:defRPr>
            </a:pPr>
            <a:r>
              <a:rPr sz="544" b="0" i="0">
                <a:solidFill>
                  <a:srgbClr val="132238"/>
                </a:solidFill>
              </a:rPr>
              <a:t>            ## E1 – Direct exposure</a:t>
            </a:r>
          </a:p>
          <a:p xmlns:a="http://schemas.openxmlformats.org/drawingml/2006/main">
            <a:pPr algn="l">
              <a:defRPr sz="544" b="0" i="0">
                <a:solidFill>
                  <a:srgbClr val="132238"/>
                </a:solidFill>
              </a:defRPr>
            </a:pPr>
            <a:r>
              <a:rPr sz="544" b="0" i="0">
                <a:solidFill>
                  <a:srgbClr val="132238"/>
                </a:solidFill>
              </a:rPr>
              <a:t>            Label tasks E1 if direct access to the LLM through</a:t>
            </a:r>
          </a:p>
          <a:p xmlns:a="http://schemas.openxmlformats.org/drawingml/2006/main">
            <a:pPr algn="l">
              <a:defRPr sz="544" b="0" i="0">
                <a:solidFill>
                  <a:srgbClr val="132238"/>
                </a:solidFill>
              </a:defRPr>
            </a:pPr>
            <a:r>
              <a:rPr sz="544" b="0" i="0">
                <a:solidFill>
                  <a:srgbClr val="132238"/>
                </a:solidFill>
              </a:rPr>
              <a:t>an interface like ChatGPT or the OpenAI playground alone can</a:t>
            </a:r>
          </a:p>
          <a:p xmlns:a="http://schemas.openxmlformats.org/drawingml/2006/main">
            <a:pPr algn="l">
              <a:defRPr sz="544" b="0" i="0">
                <a:solidFill>
                  <a:srgbClr val="132238"/>
                </a:solidFill>
              </a:defRPr>
            </a:pPr>
            <a:r>
              <a:rPr sz="544" b="0" i="0">
                <a:solidFill>
                  <a:srgbClr val="132238"/>
                </a:solidFill>
              </a:rPr>
              <a:t>reduce the time it takes to complete the task with equivalent</a:t>
            </a:r>
          </a:p>
          <a:p xmlns:a="http://schemas.openxmlformats.org/drawingml/2006/main">
            <a:pPr algn="l">
              <a:defRPr sz="544" b="0" i="0">
                <a:solidFill>
                  <a:srgbClr val="132238"/>
                </a:solidFill>
              </a:defRPr>
            </a:pPr>
            <a:r>
              <a:rPr sz="544" b="0" i="0">
                <a:solidFill>
                  <a:srgbClr val="132238"/>
                </a:solidFill>
              </a:rPr>
              <a:t>quality by at least half.</a:t>
            </a:r>
          </a:p>
          <a:p xmlns:a="http://schemas.openxmlformats.org/drawingml/2006/main">
            <a:pPr algn="l">
              <a:defRPr sz="544" b="0" i="0">
                <a:solidFill>
                  <a:srgbClr val="132238"/>
                </a:solidFill>
              </a:defRPr>
            </a:pPr>
            <a:r>
              <a:rPr sz="544" b="0" i="0">
                <a:solidFill>
                  <a:srgbClr val="132238"/>
                </a:solidFill>
              </a:rPr>
              <a:t>            This includes tasks that can be reduced to:</a:t>
            </a:r>
          </a:p>
          <a:p xmlns:a="http://schemas.openxmlformats.org/drawingml/2006/main">
            <a:pPr algn="l">
              <a:defRPr sz="544" b="0" i="0">
                <a:solidFill>
                  <a:srgbClr val="132238"/>
                </a:solidFill>
              </a:defRPr>
            </a:pPr>
            <a:r>
              <a:rPr sz="544" b="0" i="0">
                <a:solidFill>
                  <a:srgbClr val="132238"/>
                </a:solidFill>
              </a:rPr>
              <a:t>            - Writing and transforming text and code according</a:t>
            </a:r>
          </a:p>
          <a:p xmlns:a="http://schemas.openxmlformats.org/drawingml/2006/main">
            <a:pPr algn="l">
              <a:defRPr sz="544" b="0" i="0">
                <a:solidFill>
                  <a:srgbClr val="132238"/>
                </a:solidFill>
              </a:defRPr>
            </a:pPr>
            <a:r>
              <a:rPr sz="544" b="0" i="0">
                <a:solidFill>
                  <a:srgbClr val="132238"/>
                </a:solidFill>
              </a:rPr>
              <a:t>to complex instructions</a:t>
            </a:r>
          </a:p>
          <a:p xmlns:a="http://schemas.openxmlformats.org/drawingml/2006/main">
            <a:pPr algn="l">
              <a:defRPr sz="544" b="0" i="0">
                <a:solidFill>
                  <a:srgbClr val="132238"/>
                </a:solidFill>
              </a:defRPr>
            </a:pPr>
            <a:r>
              <a:rPr sz="544" b="0" i="0">
                <a:solidFill>
                  <a:srgbClr val="132238"/>
                </a:solidFill>
              </a:rPr>
              <a:t>            - Providing edits to existing text or code following</a:t>
            </a:r>
          </a:p>
          <a:p xmlns:a="http://schemas.openxmlformats.org/drawingml/2006/main">
            <a:pPr algn="l">
              <a:defRPr sz="544" b="0" i="0">
                <a:solidFill>
                  <a:srgbClr val="132238"/>
                </a:solidFill>
              </a:defRPr>
            </a:pPr>
            <a:r>
              <a:rPr sz="544" b="0" i="0">
                <a:solidFill>
                  <a:srgbClr val="132238"/>
                </a:solidFill>
              </a:rPr>
              <a:t>specifications</a:t>
            </a:r>
          </a:p>
          <a:p xmlns:a="http://schemas.openxmlformats.org/drawingml/2006/main">
            <a:pPr algn="l">
              <a:defRPr sz="544" b="0" i="0">
                <a:solidFill>
                  <a:srgbClr val="132238"/>
                </a:solidFill>
              </a:defRPr>
            </a:pPr>
            <a:r>
              <a:rPr sz="544" b="0" i="0">
                <a:solidFill>
                  <a:srgbClr val="132238"/>
                </a:solidFill>
              </a:rPr>
              <a:t>            - Writing code that can help perform a task that</a:t>
            </a:r>
          </a:p>
          <a:p xmlns:a="http://schemas.openxmlformats.org/drawingml/2006/main">
            <a:pPr algn="l">
              <a:defRPr sz="544" b="0" i="0">
                <a:solidFill>
                  <a:srgbClr val="132238"/>
                </a:solidFill>
              </a:defRPr>
            </a:pPr>
            <a:r>
              <a:rPr sz="544" b="0" i="0">
                <a:solidFill>
                  <a:srgbClr val="132238"/>
                </a:solidFill>
              </a:rPr>
              <a:t>used to be done by hand</a:t>
            </a:r>
          </a:p>
          <a:p xmlns:a="http://schemas.openxmlformats.org/drawingml/2006/main">
            <a:pPr algn="l">
              <a:defRPr sz="544" b="0" i="0">
                <a:solidFill>
                  <a:srgbClr val="132238"/>
                </a:solidFill>
              </a:defRPr>
            </a:pPr>
            <a:r>
              <a:rPr sz="544" b="0" i="0">
                <a:solidFill>
                  <a:srgbClr val="132238"/>
                </a:solidFill>
              </a:rPr>
              <a:t>            - Translating text between languages</a:t>
            </a:r>
          </a:p>
          <a:p xmlns:a="http://schemas.openxmlformats.org/drawingml/2006/main">
            <a:pPr algn="l">
              <a:defRPr sz="544" b="0" i="0">
                <a:solidFill>
                  <a:srgbClr val="132238"/>
                </a:solidFill>
              </a:defRPr>
            </a:pPr>
            <a:r>
              <a:rPr sz="544" b="0" i="0">
                <a:solidFill>
                  <a:srgbClr val="132238"/>
                </a:solidFill>
              </a:rPr>
              <a:t>            - Summarizing medium-length documents</a:t>
            </a:r>
          </a:p>
          <a:p xmlns:a="http://schemas.openxmlformats.org/drawingml/2006/main">
            <a:pPr algn="l">
              <a:defRPr sz="544" b="0" i="0">
                <a:solidFill>
                  <a:srgbClr val="132238"/>
                </a:solidFill>
              </a:defRPr>
            </a:pPr>
            <a:r>
              <a:rPr sz="544" b="0" i="0">
                <a:solidFill>
                  <a:srgbClr val="132238"/>
                </a:solidFill>
              </a:rPr>
              <a:t>            - Providing feedback on documents</a:t>
            </a:r>
          </a:p>
          <a:p xmlns:a="http://schemas.openxmlformats.org/drawingml/2006/main">
            <a:pPr algn="l">
              <a:defRPr sz="544" b="0" i="0">
                <a:solidFill>
                  <a:srgbClr val="132238"/>
                </a:solidFill>
              </a:defRPr>
            </a:pPr>
            <a:r>
              <a:rPr sz="544" b="0" i="0">
                <a:solidFill>
                  <a:srgbClr val="132238"/>
                </a:solidFill>
              </a:rPr>
              <a:t>            - Answering questions about a document</a:t>
            </a:r>
          </a:p>
        </p:txBody>
      </p:sp>
      <p:sp>
        <p:nvSpPr>
          <p:cNvPr id="10" name="">
            <a:extLst xmlns:a="http://schemas.openxmlformats.org/drawingml/2006/main">
              <a:ext uri="{FF2B5EF4-FFF2-40B4-BE49-F238E27FC236}">
                <a16:creationId xmlns:a16="http://schemas.microsoft.com/office/drawing/2014/main" id="{08760579-5294-4562-B0D6-E3B97FF406D7}"/>
              </a:ext>
            </a:extLst>
          </p:cNvPr>
          <p:cNvSpPr>
            <a:spLocks xmlns:a="http://schemas.openxmlformats.org/drawingml/2006/main" noGrp="1"/>
          </p:cNvSpPr>
          <p:nvPr/>
        </p:nvSpPr>
        <p:spPr>
          <a:xfrm xmlns:a="http://schemas.openxmlformats.org/drawingml/2006/main">
            <a:off x="3305175" y="2305050"/>
            <a:ext cx="0" cy="394335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1" name="">
            <a:extLst xmlns:a="http://schemas.openxmlformats.org/drawingml/2006/main">
              <a:ext uri="{FF2B5EF4-FFF2-40B4-BE49-F238E27FC236}">
                <a16:creationId xmlns:a16="http://schemas.microsoft.com/office/drawing/2014/main" id="{C7B0E977-7266-4C9F-8508-E9C04F03CEE2}"/>
              </a:ext>
            </a:extLst>
          </p:cNvPr>
          <p:cNvSpPr>
            <a:spLocks xmlns:a="http://schemas.openxmlformats.org/drawingml/2006/main" noGrp="1"/>
          </p:cNvSpPr>
          <p:nvPr/>
        </p:nvSpPr>
        <p:spPr>
          <a:xfrm xmlns:a="http://schemas.openxmlformats.org/drawingml/2006/main">
            <a:off x="3400425" y="2343150"/>
            <a:ext cx="2524125"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44" b="0" i="0">
                <a:solidFill>
                  <a:srgbClr val="132238"/>
                </a:solidFill>
              </a:defRPr>
            </a:pPr>
            <a:r>
              <a:rPr sz="544" b="0" i="0">
                <a:solidFill>
                  <a:srgbClr val="132238"/>
                </a:solidFill>
              </a:rPr>
              <a:t>            - Generating questions a user might want to ask</a:t>
            </a:r>
          </a:p>
          <a:p xmlns:a="http://schemas.openxmlformats.org/drawingml/2006/main">
            <a:pPr algn="l">
              <a:defRPr sz="544" b="0" i="0">
                <a:solidFill>
                  <a:srgbClr val="132238"/>
                </a:solidFill>
              </a:defRPr>
            </a:pPr>
            <a:r>
              <a:rPr sz="544" b="0" i="0">
                <a:solidFill>
                  <a:srgbClr val="132238"/>
                </a:solidFill>
              </a:rPr>
              <a:t>about a document</a:t>
            </a:r>
          </a:p>
          <a:p xmlns:a="http://schemas.openxmlformats.org/drawingml/2006/main">
            <a:pPr algn="l">
              <a:defRPr sz="544" b="0" i="0">
                <a:solidFill>
                  <a:srgbClr val="132238"/>
                </a:solidFill>
              </a:defRPr>
            </a:pPr>
            <a:r>
              <a:rPr sz="544" b="0" i="0">
                <a:solidFill>
                  <a:srgbClr val="132238"/>
                </a:solidFill>
              </a:rPr>
              <a:t> </a:t>
            </a:r>
          </a:p>
          <a:p xmlns:a="http://schemas.openxmlformats.org/drawingml/2006/main">
            <a:pPr algn="l">
              <a:defRPr sz="544" b="0" i="0">
                <a:solidFill>
                  <a:srgbClr val="132238"/>
                </a:solidFill>
              </a:defRPr>
            </a:pPr>
            <a:r>
              <a:rPr sz="544" b="0" i="0">
                <a:solidFill>
                  <a:srgbClr val="132238"/>
                </a:solidFill>
              </a:rPr>
              <a:t>            ## E2 – Exposure by LLM-powered applications</a:t>
            </a:r>
          </a:p>
          <a:p xmlns:a="http://schemas.openxmlformats.org/drawingml/2006/main">
            <a:pPr algn="l">
              <a:defRPr sz="544" b="0" i="0">
                <a:solidFill>
                  <a:srgbClr val="132238"/>
                </a:solidFill>
              </a:defRPr>
            </a:pPr>
            <a:r>
              <a:rPr sz="544" b="0" i="0">
                <a:solidFill>
                  <a:srgbClr val="132238"/>
                </a:solidFill>
              </a:rPr>
              <a:t>            Label tasks E2 if having access to the LLM alone may</a:t>
            </a:r>
          </a:p>
          <a:p xmlns:a="http://schemas.openxmlformats.org/drawingml/2006/main">
            <a:pPr algn="l">
              <a:defRPr sz="544" b="0" i="0">
                <a:solidFill>
                  <a:srgbClr val="132238"/>
                </a:solidFill>
              </a:defRPr>
            </a:pPr>
            <a:r>
              <a:rPr sz="544" b="0" i="0">
                <a:solidFill>
                  <a:srgbClr val="132238"/>
                </a:solidFill>
              </a:rPr>
              <a:t>not reduce the time it takes to complete the task by at least</a:t>
            </a:r>
          </a:p>
          <a:p xmlns:a="http://schemas.openxmlformats.org/drawingml/2006/main">
            <a:pPr algn="l">
              <a:defRPr sz="544" b="0" i="0">
                <a:solidFill>
                  <a:srgbClr val="132238"/>
                </a:solidFill>
              </a:defRPr>
            </a:pPr>
            <a:r>
              <a:rPr sz="544" b="0" i="0">
                <a:solidFill>
                  <a:srgbClr val="132238"/>
                </a:solidFill>
              </a:rPr>
              <a:t>half, but it is easy to imagine additional software that could</a:t>
            </a:r>
          </a:p>
          <a:p xmlns:a="http://schemas.openxmlformats.org/drawingml/2006/main">
            <a:pPr algn="l">
              <a:defRPr sz="544" b="0" i="0">
                <a:solidFill>
                  <a:srgbClr val="132238"/>
                </a:solidFill>
              </a:defRPr>
            </a:pPr>
            <a:r>
              <a:rPr sz="544" b="0" i="0">
                <a:solidFill>
                  <a:srgbClr val="132238"/>
                </a:solidFill>
              </a:rPr>
              <a:t>be developed on top of the LLM that would reduce the time it</a:t>
            </a:r>
          </a:p>
          <a:p xmlns:a="http://schemas.openxmlformats.org/drawingml/2006/main">
            <a:pPr algn="l">
              <a:defRPr sz="544" b="0" i="0">
                <a:solidFill>
                  <a:srgbClr val="132238"/>
                </a:solidFill>
              </a:defRPr>
            </a:pPr>
            <a:r>
              <a:rPr sz="544" b="0" i="0">
                <a:solidFill>
                  <a:srgbClr val="132238"/>
                </a:solidFill>
              </a:rPr>
              <a:t>takes to complete the task by half.</a:t>
            </a:r>
          </a:p>
          <a:p xmlns:a="http://schemas.openxmlformats.org/drawingml/2006/main">
            <a:pPr algn="l">
              <a:defRPr sz="544" b="0" i="0">
                <a:solidFill>
                  <a:srgbClr val="132238"/>
                </a:solidFill>
              </a:defRPr>
            </a:pPr>
            <a:r>
              <a:rPr sz="544" b="0" i="0">
                <a:solidFill>
                  <a:srgbClr val="132238"/>
                </a:solidFill>
              </a:rPr>
              <a:t>            This software may include capabilities such as:</a:t>
            </a:r>
          </a:p>
          <a:p xmlns:a="http://schemas.openxmlformats.org/drawingml/2006/main">
            <a:pPr algn="l">
              <a:defRPr sz="544" b="0" i="0">
                <a:solidFill>
                  <a:srgbClr val="132238"/>
                </a:solidFill>
              </a:defRPr>
            </a:pPr>
            <a:r>
              <a:rPr sz="544" b="0" i="0">
                <a:solidFill>
                  <a:srgbClr val="132238"/>
                </a:solidFill>
              </a:rPr>
              <a:t>            - Summarizing documents longer than 2000 words and</a:t>
            </a:r>
          </a:p>
          <a:p xmlns:a="http://schemas.openxmlformats.org/drawingml/2006/main">
            <a:pPr algn="l">
              <a:defRPr sz="544" b="0" i="0">
                <a:solidFill>
                  <a:srgbClr val="132238"/>
                </a:solidFill>
              </a:defRPr>
            </a:pPr>
            <a:r>
              <a:rPr sz="544" b="0" i="0">
                <a:solidFill>
                  <a:srgbClr val="132238"/>
                </a:solidFill>
              </a:rPr>
              <a:t>answering questions about those documents</a:t>
            </a:r>
          </a:p>
          <a:p xmlns:a="http://schemas.openxmlformats.org/drawingml/2006/main">
            <a:pPr algn="l">
              <a:defRPr sz="544" b="0" i="0">
                <a:solidFill>
                  <a:srgbClr val="132238"/>
                </a:solidFill>
              </a:defRPr>
            </a:pPr>
            <a:r>
              <a:rPr sz="544" b="0" i="0">
                <a:solidFill>
                  <a:srgbClr val="132238"/>
                </a:solidFill>
              </a:rPr>
              <a:t>            - Retrieving up-to-date facts from the Internet and</a:t>
            </a:r>
          </a:p>
          <a:p xmlns:a="http://schemas.openxmlformats.org/drawingml/2006/main">
            <a:pPr algn="l">
              <a:defRPr sz="544" b="0" i="0">
                <a:solidFill>
                  <a:srgbClr val="132238"/>
                </a:solidFill>
              </a:defRPr>
            </a:pPr>
            <a:r>
              <a:rPr sz="544" b="0" i="0">
                <a:solidFill>
                  <a:srgbClr val="132238"/>
                </a:solidFill>
              </a:rPr>
              <a:t>using those facts in combination with the LLM capabilities</a:t>
            </a:r>
          </a:p>
          <a:p xmlns:a="http://schemas.openxmlformats.org/drawingml/2006/main">
            <a:pPr algn="l">
              <a:defRPr sz="544" b="0" i="0">
                <a:solidFill>
                  <a:srgbClr val="132238"/>
                </a:solidFill>
              </a:defRPr>
            </a:pPr>
            <a:r>
              <a:rPr sz="544" b="0" i="0">
                <a:solidFill>
                  <a:srgbClr val="132238"/>
                </a:solidFill>
              </a:rPr>
              <a:t>            - Searching over an organization’s existing</a:t>
            </a:r>
          </a:p>
          <a:p xmlns:a="http://schemas.openxmlformats.org/drawingml/2006/main">
            <a:pPr algn="l">
              <a:defRPr sz="544" b="0" i="0">
                <a:solidFill>
                  <a:srgbClr val="132238"/>
                </a:solidFill>
              </a:defRPr>
            </a:pPr>
            <a:r>
              <a:rPr sz="544" b="0" i="0">
                <a:solidFill>
                  <a:srgbClr val="132238"/>
                </a:solidFill>
              </a:rPr>
              <a:t>knowledge, data, or documents and retreiving information</a:t>
            </a:r>
          </a:p>
          <a:p xmlns:a="http://schemas.openxmlformats.org/drawingml/2006/main">
            <a:pPr algn="l">
              <a:defRPr sz="544" b="0" i="0">
                <a:solidFill>
                  <a:srgbClr val="132238"/>
                </a:solidFill>
              </a:defRPr>
            </a:pPr>
            <a:r>
              <a:rPr sz="544" b="0" i="0">
                <a:solidFill>
                  <a:srgbClr val="132238"/>
                </a:solidFill>
              </a:rPr>
              <a:t>            Examples of software built on top of the LLM that</a:t>
            </a:r>
          </a:p>
          <a:p xmlns:a="http://schemas.openxmlformats.org/drawingml/2006/main">
            <a:pPr algn="l">
              <a:defRPr sz="544" b="0" i="0">
                <a:solidFill>
                  <a:srgbClr val="132238"/>
                </a:solidFill>
              </a:defRPr>
            </a:pPr>
            <a:r>
              <a:rPr sz="544" b="0" i="0">
                <a:solidFill>
                  <a:srgbClr val="132238"/>
                </a:solidFill>
              </a:rPr>
              <a:t>may help complete worker activities include:</a:t>
            </a:r>
          </a:p>
          <a:p xmlns:a="http://schemas.openxmlformats.org/drawingml/2006/main">
            <a:pPr algn="l">
              <a:defRPr sz="544" b="0" i="0">
                <a:solidFill>
                  <a:srgbClr val="132238"/>
                </a:solidFill>
              </a:defRPr>
            </a:pPr>
            <a:r>
              <a:rPr sz="544" b="0" i="0">
                <a:solidFill>
                  <a:srgbClr val="132238"/>
                </a:solidFill>
              </a:rPr>
              <a:t>            - Software built for a home goods company that</a:t>
            </a:r>
          </a:p>
          <a:p xmlns:a="http://schemas.openxmlformats.org/drawingml/2006/main">
            <a:pPr algn="l">
              <a:defRPr sz="544" b="0" i="0">
                <a:solidFill>
                  <a:srgbClr val="132238"/>
                </a:solidFill>
              </a:defRPr>
            </a:pPr>
            <a:r>
              <a:rPr sz="544" b="0" i="0">
                <a:solidFill>
                  <a:srgbClr val="132238"/>
                </a:solidFill>
              </a:rPr>
              <a:t>quickly processes and summarizes their up-to-date internal data</a:t>
            </a:r>
          </a:p>
          <a:p xmlns:a="http://schemas.openxmlformats.org/drawingml/2006/main">
            <a:pPr algn="l">
              <a:defRPr sz="544" b="0" i="0">
                <a:solidFill>
                  <a:srgbClr val="132238"/>
                </a:solidFill>
              </a:defRPr>
            </a:pPr>
            <a:r>
              <a:rPr sz="544" b="0" i="0">
                <a:solidFill>
                  <a:srgbClr val="132238"/>
                </a:solidFill>
              </a:rPr>
              <a:t>in customized ways to inform product or marketing decisions</a:t>
            </a:r>
          </a:p>
          <a:p xmlns:a="http://schemas.openxmlformats.org/drawingml/2006/main">
            <a:pPr algn="l">
              <a:defRPr sz="544" b="0" i="0">
                <a:solidFill>
                  <a:srgbClr val="132238"/>
                </a:solidFill>
              </a:defRPr>
            </a:pPr>
            <a:r>
              <a:rPr sz="544" b="0" i="0">
                <a:solidFill>
                  <a:srgbClr val="132238"/>
                </a:solidFill>
              </a:rPr>
              <a:t>            - Software that is able to suggest live responses</a:t>
            </a:r>
          </a:p>
          <a:p xmlns:a="http://schemas.openxmlformats.org/drawingml/2006/main">
            <a:pPr algn="l">
              <a:defRPr sz="544" b="0" i="0">
                <a:solidFill>
                  <a:srgbClr val="132238"/>
                </a:solidFill>
              </a:defRPr>
            </a:pPr>
            <a:r>
              <a:rPr sz="544" b="0" i="0">
                <a:solidFill>
                  <a:srgbClr val="132238"/>
                </a:solidFill>
              </a:rPr>
              <a:t>for customer service agents speaking to customers in their</a:t>
            </a:r>
          </a:p>
          <a:p xmlns:a="http://schemas.openxmlformats.org/drawingml/2006/main">
            <a:pPr algn="l">
              <a:defRPr sz="544" b="0" i="0">
                <a:solidFill>
                  <a:srgbClr val="132238"/>
                </a:solidFill>
              </a:defRPr>
            </a:pPr>
            <a:r>
              <a:rPr sz="544" b="0" i="0">
                <a:solidFill>
                  <a:srgbClr val="132238"/>
                </a:solidFill>
              </a:rPr>
              <a:t>company’s customer service interface</a:t>
            </a:r>
          </a:p>
          <a:p xmlns:a="http://schemas.openxmlformats.org/drawingml/2006/main">
            <a:pPr algn="l">
              <a:defRPr sz="544" b="0" i="0">
                <a:solidFill>
                  <a:srgbClr val="132238"/>
                </a:solidFill>
              </a:defRPr>
            </a:pPr>
            <a:r>
              <a:rPr sz="544" b="0" i="0">
                <a:solidFill>
                  <a:srgbClr val="132238"/>
                </a:solidFill>
              </a:rPr>
              <a:t>            - Software built for legal purposes that can quickly</a:t>
            </a:r>
          </a:p>
          <a:p xmlns:a="http://schemas.openxmlformats.org/drawingml/2006/main">
            <a:pPr algn="l">
              <a:defRPr sz="544" b="0" i="0">
                <a:solidFill>
                  <a:srgbClr val="132238"/>
                </a:solidFill>
              </a:defRPr>
            </a:pPr>
            <a:r>
              <a:rPr sz="544" b="0" i="0">
                <a:solidFill>
                  <a:srgbClr val="132238"/>
                </a:solidFill>
              </a:rPr>
              <a:t>aggregate and summarize all previous cases in a particular legal</a:t>
            </a:r>
          </a:p>
          <a:p xmlns:a="http://schemas.openxmlformats.org/drawingml/2006/main">
            <a:pPr algn="l">
              <a:defRPr sz="544" b="0" i="0">
                <a:solidFill>
                  <a:srgbClr val="132238"/>
                </a:solidFill>
              </a:defRPr>
            </a:pPr>
            <a:r>
              <a:rPr sz="544" b="0" i="0">
                <a:solidFill>
                  <a:srgbClr val="132238"/>
                </a:solidFill>
              </a:rPr>
              <a:t>area and write legal research memos tailored to the law firm’s</a:t>
            </a:r>
          </a:p>
          <a:p xmlns:a="http://schemas.openxmlformats.org/drawingml/2006/main">
            <a:pPr algn="l">
              <a:defRPr sz="544" b="0" i="0">
                <a:solidFill>
                  <a:srgbClr val="132238"/>
                </a:solidFill>
              </a:defRPr>
            </a:pPr>
            <a:r>
              <a:rPr sz="544" b="0" i="0">
                <a:solidFill>
                  <a:srgbClr val="132238"/>
                </a:solidFill>
              </a:rPr>
              <a:t>needs</a:t>
            </a:r>
          </a:p>
          <a:p xmlns:a="http://schemas.openxmlformats.org/drawingml/2006/main">
            <a:pPr algn="l">
              <a:defRPr sz="544" b="0" i="0">
                <a:solidFill>
                  <a:srgbClr val="132238"/>
                </a:solidFill>
              </a:defRPr>
            </a:pPr>
            <a:r>
              <a:rPr sz="544" b="0" i="0">
                <a:solidFill>
                  <a:srgbClr val="132238"/>
                </a:solidFill>
              </a:rPr>
              <a:t>            - Software specifically designed for teachers that</a:t>
            </a:r>
          </a:p>
          <a:p xmlns:a="http://schemas.openxmlformats.org/drawingml/2006/main">
            <a:pPr algn="l">
              <a:defRPr sz="544" b="0" i="0">
                <a:solidFill>
                  <a:srgbClr val="132238"/>
                </a:solidFill>
              </a:defRPr>
            </a:pPr>
            <a:r>
              <a:rPr sz="544" b="0" i="0">
                <a:solidFill>
                  <a:srgbClr val="132238"/>
                </a:solidFill>
              </a:rPr>
              <a:t>allows them to input a grading rubric and upload the text files</a:t>
            </a:r>
          </a:p>
          <a:p xmlns:a="http://schemas.openxmlformats.org/drawingml/2006/main">
            <a:pPr algn="l">
              <a:defRPr sz="544" b="0" i="0">
                <a:solidFill>
                  <a:srgbClr val="132238"/>
                </a:solidFill>
              </a:defRPr>
            </a:pPr>
            <a:r>
              <a:rPr sz="544" b="0" i="0">
                <a:solidFill>
                  <a:srgbClr val="132238"/>
                </a:solidFill>
              </a:rPr>
              <a:t>of all student essays and have the software output a letter</a:t>
            </a:r>
          </a:p>
          <a:p xmlns:a="http://schemas.openxmlformats.org/drawingml/2006/main">
            <a:pPr algn="l">
              <a:defRPr sz="544" b="0" i="0">
                <a:solidFill>
                  <a:srgbClr val="132238"/>
                </a:solidFill>
              </a:defRPr>
            </a:pPr>
            <a:r>
              <a:rPr sz="544" b="0" i="0">
                <a:solidFill>
                  <a:srgbClr val="132238"/>
                </a:solidFill>
              </a:rPr>
              <a:t>grade for each essay</a:t>
            </a:r>
          </a:p>
          <a:p xmlns:a="http://schemas.openxmlformats.org/drawingml/2006/main">
            <a:pPr algn="l">
              <a:defRPr sz="544" b="0" i="0">
                <a:solidFill>
                  <a:srgbClr val="132238"/>
                </a:solidFill>
              </a:defRPr>
            </a:pPr>
            <a:r>
              <a:rPr sz="544" b="0" i="0">
                <a:solidFill>
                  <a:srgbClr val="132238"/>
                </a:solidFill>
              </a:rPr>
              <a:t>            - Software that retrieves up-to-date facts from the</a:t>
            </a:r>
          </a:p>
          <a:p xmlns:a="http://schemas.openxmlformats.org/drawingml/2006/main">
            <a:pPr algn="l">
              <a:defRPr sz="544" b="0" i="0">
                <a:solidFill>
                  <a:srgbClr val="132238"/>
                </a:solidFill>
              </a:defRPr>
            </a:pPr>
            <a:r>
              <a:rPr sz="544" b="0" i="0">
                <a:solidFill>
                  <a:srgbClr val="132238"/>
                </a:solidFill>
              </a:rPr>
              <a:t>internet and uses the capabilities of the LLM to output news</a:t>
            </a:r>
          </a:p>
          <a:p xmlns:a="http://schemas.openxmlformats.org/drawingml/2006/main">
            <a:pPr algn="l">
              <a:defRPr sz="544" b="0" i="0">
                <a:solidFill>
                  <a:srgbClr val="132238"/>
                </a:solidFill>
              </a:defRPr>
            </a:pPr>
            <a:r>
              <a:rPr sz="544" b="0" i="0">
                <a:solidFill>
                  <a:srgbClr val="132238"/>
                </a:solidFill>
              </a:rPr>
              <a:t>summaries in different languages</a:t>
            </a:r>
          </a:p>
          <a:p xmlns:a="http://schemas.openxmlformats.org/drawingml/2006/main">
            <a:pPr algn="l">
              <a:defRPr sz="544" b="0" i="0">
                <a:solidFill>
                  <a:srgbClr val="132238"/>
                </a:solidFill>
              </a:defRPr>
            </a:pPr>
            <a:r>
              <a:rPr sz="544" b="0" i="0">
                <a:solidFill>
                  <a:srgbClr val="132238"/>
                </a:solidFill>
              </a:rPr>
              <a:t> </a:t>
            </a:r>
          </a:p>
          <a:p xmlns:a="http://schemas.openxmlformats.org/drawingml/2006/main">
            <a:pPr algn="l">
              <a:defRPr sz="544" b="0" i="0">
                <a:solidFill>
                  <a:srgbClr val="132238"/>
                </a:solidFill>
              </a:defRPr>
            </a:pPr>
            <a:r>
              <a:rPr sz="544" b="0" i="0">
                <a:solidFill>
                  <a:srgbClr val="132238"/>
                </a:solidFill>
              </a:rPr>
              <a:t>            ## E3 – Exposure given image capabilities</a:t>
            </a:r>
          </a:p>
          <a:p xmlns:a="http://schemas.openxmlformats.org/drawingml/2006/main">
            <a:pPr algn="l">
              <a:defRPr sz="544" b="0" i="0">
                <a:solidFill>
                  <a:srgbClr val="132238"/>
                </a:solidFill>
              </a:defRPr>
            </a:pPr>
            <a:r>
              <a:rPr sz="544" b="0" i="0">
                <a:solidFill>
                  <a:srgbClr val="132238"/>
                </a:solidFill>
              </a:rPr>
              <a:t>            Suppose you had access to both the LLM and a system</a:t>
            </a:r>
          </a:p>
          <a:p xmlns:a="http://schemas.openxmlformats.org/drawingml/2006/main">
            <a:pPr algn="l">
              <a:defRPr sz="544" b="0" i="0">
                <a:solidFill>
                  <a:srgbClr val="132238"/>
                </a:solidFill>
              </a:defRPr>
            </a:pPr>
            <a:r>
              <a:rPr sz="544" b="0" i="0">
                <a:solidFill>
                  <a:srgbClr val="132238"/>
                </a:solidFill>
              </a:rPr>
              <a:t>that could view, caption, and create images.</a:t>
            </a:r>
          </a:p>
          <a:p xmlns:a="http://schemas.openxmlformats.org/drawingml/2006/main">
            <a:pPr algn="l">
              <a:defRPr sz="544" b="0" i="0">
                <a:solidFill>
                  <a:srgbClr val="132238"/>
                </a:solidFill>
              </a:defRPr>
            </a:pPr>
            <a:r>
              <a:rPr sz="544" b="0" i="0">
                <a:solidFill>
                  <a:srgbClr val="132238"/>
                </a:solidFill>
              </a:rPr>
              <a:t>            This system cannot take video media as inputs. </a:t>
            </a:r>
          </a:p>
          <a:p xmlns:a="http://schemas.openxmlformats.org/drawingml/2006/main">
            <a:pPr algn="l">
              <a:defRPr sz="544" b="0" i="0">
                <a:solidFill>
                  <a:srgbClr val="132238"/>
                </a:solidFill>
              </a:defRPr>
            </a:pPr>
            <a:r>
              <a:rPr sz="544" b="0" i="0">
                <a:solidFill>
                  <a:srgbClr val="132238"/>
                </a:solidFill>
              </a:rPr>
              <a:t>            This system cannot accurately retrieve very detailed</a:t>
            </a:r>
          </a:p>
          <a:p xmlns:a="http://schemas.openxmlformats.org/drawingml/2006/main">
            <a:pPr algn="l">
              <a:defRPr sz="544" b="0" i="0">
                <a:solidFill>
                  <a:srgbClr val="132238"/>
                </a:solidFill>
              </a:defRPr>
            </a:pPr>
            <a:r>
              <a:rPr sz="544" b="0" i="0">
                <a:solidFill>
                  <a:srgbClr val="132238"/>
                </a:solidFill>
              </a:rPr>
              <a:t>information from image inputs, such as measurements of</a:t>
            </a:r>
          </a:p>
          <a:p xmlns:a="http://schemas.openxmlformats.org/drawingml/2006/main">
            <a:pPr algn="l">
              <a:defRPr sz="544" b="0" i="0">
                <a:solidFill>
                  <a:srgbClr val="132238"/>
                </a:solidFill>
              </a:defRPr>
            </a:pPr>
            <a:r>
              <a:rPr sz="544" b="0" i="0">
                <a:solidFill>
                  <a:srgbClr val="132238"/>
                </a:solidFill>
              </a:rPr>
              <a:t>dimensions within an image.</a:t>
            </a:r>
          </a:p>
          <a:p xmlns:a="http://schemas.openxmlformats.org/drawingml/2006/main">
            <a:pPr algn="l">
              <a:defRPr sz="544" b="0" i="0">
                <a:solidFill>
                  <a:srgbClr val="132238"/>
                </a:solidFill>
              </a:defRPr>
            </a:pPr>
            <a:r>
              <a:rPr sz="544" b="0" i="0">
                <a:solidFill>
                  <a:srgbClr val="132238"/>
                </a:solidFill>
              </a:rPr>
              <a:t>            Label tasks as E3 if there is a significant</a:t>
            </a:r>
          </a:p>
          <a:p xmlns:a="http://schemas.openxmlformats.org/drawingml/2006/main">
            <a:pPr algn="l">
              <a:defRPr sz="544" b="0" i="0">
                <a:solidFill>
                  <a:srgbClr val="132238"/>
                </a:solidFill>
              </a:defRPr>
            </a:pPr>
            <a:r>
              <a:rPr sz="544" b="0" i="0">
                <a:solidFill>
                  <a:srgbClr val="132238"/>
                </a:solidFill>
              </a:rPr>
              <a:t>reduction in the time it takes to complete the task given access</a:t>
            </a:r>
          </a:p>
        </p:txBody>
      </p:sp>
      <p:sp>
        <p:nvSpPr>
          <p:cNvPr id="12" name="">
            <a:extLst xmlns:a="http://schemas.openxmlformats.org/drawingml/2006/main">
              <a:ext uri="{FF2B5EF4-FFF2-40B4-BE49-F238E27FC236}">
                <a16:creationId xmlns:a16="http://schemas.microsoft.com/office/drawing/2014/main" id="{F4027A97-319F-4C8C-9C45-6EB071BA29F8}"/>
              </a:ext>
            </a:extLst>
          </p:cNvPr>
          <p:cNvSpPr>
            <a:spLocks xmlns:a="http://schemas.openxmlformats.org/drawingml/2006/main" noGrp="1"/>
          </p:cNvSpPr>
          <p:nvPr/>
        </p:nvSpPr>
        <p:spPr>
          <a:xfrm xmlns:a="http://schemas.openxmlformats.org/drawingml/2006/main">
            <a:off x="6019800" y="2305050"/>
            <a:ext cx="0" cy="394335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3" name="">
            <a:extLst xmlns:a="http://schemas.openxmlformats.org/drawingml/2006/main">
              <a:ext uri="{FF2B5EF4-FFF2-40B4-BE49-F238E27FC236}">
                <a16:creationId xmlns:a16="http://schemas.microsoft.com/office/drawing/2014/main" id="{377337D5-C682-43A9-B0C9-7A4DBC7BDA9F}"/>
              </a:ext>
            </a:extLst>
          </p:cNvPr>
          <p:cNvSpPr>
            <a:spLocks xmlns:a="http://schemas.openxmlformats.org/drawingml/2006/main" noGrp="1"/>
          </p:cNvSpPr>
          <p:nvPr/>
        </p:nvSpPr>
        <p:spPr>
          <a:xfrm xmlns:a="http://schemas.openxmlformats.org/drawingml/2006/main">
            <a:off x="6115050" y="2343150"/>
            <a:ext cx="2524125"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44" b="0" i="0">
                <a:solidFill>
                  <a:srgbClr val="132238"/>
                </a:solidFill>
              </a:defRPr>
            </a:pPr>
            <a:r>
              <a:rPr sz="544" b="0" i="0">
                <a:solidFill>
                  <a:srgbClr val="132238"/>
                </a:solidFill>
              </a:rPr>
              <a:t>to a LLM and these image capabilities:</a:t>
            </a:r>
          </a:p>
          <a:p xmlns:a="http://schemas.openxmlformats.org/drawingml/2006/main">
            <a:pPr algn="l">
              <a:defRPr sz="544" b="0" i="0">
                <a:solidFill>
                  <a:srgbClr val="132238"/>
                </a:solidFill>
              </a:defRPr>
            </a:pPr>
            <a:r>
              <a:rPr sz="544" b="0" i="0">
                <a:solidFill>
                  <a:srgbClr val="132238"/>
                </a:solidFill>
              </a:rPr>
              <a:t>            - Reading text from PDFs</a:t>
            </a:r>
          </a:p>
          <a:p xmlns:a="http://schemas.openxmlformats.org/drawingml/2006/main">
            <a:pPr algn="l">
              <a:defRPr sz="544" b="0" i="0">
                <a:solidFill>
                  <a:srgbClr val="132238"/>
                </a:solidFill>
              </a:defRPr>
            </a:pPr>
            <a:r>
              <a:rPr sz="544" b="0" i="0">
                <a:solidFill>
                  <a:srgbClr val="132238"/>
                </a:solidFill>
              </a:rPr>
              <a:t>            - Scanning images</a:t>
            </a:r>
          </a:p>
          <a:p xmlns:a="http://schemas.openxmlformats.org/drawingml/2006/main">
            <a:pPr algn="l">
              <a:defRPr sz="544" b="0" i="0">
                <a:solidFill>
                  <a:srgbClr val="132238"/>
                </a:solidFill>
              </a:defRPr>
            </a:pPr>
            <a:r>
              <a:rPr sz="544" b="0" i="0">
                <a:solidFill>
                  <a:srgbClr val="132238"/>
                </a:solidFill>
              </a:rPr>
              <a:t>            - Creating or editing digital images according to</a:t>
            </a:r>
          </a:p>
          <a:p xmlns:a="http://schemas.openxmlformats.org/drawingml/2006/main">
            <a:pPr algn="l">
              <a:defRPr sz="544" b="0" i="0">
                <a:solidFill>
                  <a:srgbClr val="132238"/>
                </a:solidFill>
              </a:defRPr>
            </a:pPr>
            <a:r>
              <a:rPr sz="544" b="0" i="0">
                <a:solidFill>
                  <a:srgbClr val="132238"/>
                </a:solidFill>
              </a:rPr>
              <a:t>instructions</a:t>
            </a:r>
          </a:p>
          <a:p xmlns:a="http://schemas.openxmlformats.org/drawingml/2006/main">
            <a:pPr algn="l">
              <a:defRPr sz="544" b="0" i="0">
                <a:solidFill>
                  <a:srgbClr val="132238"/>
                </a:solidFill>
              </a:defRPr>
            </a:pPr>
            <a:r>
              <a:rPr sz="544" b="0" i="0">
                <a:solidFill>
                  <a:srgbClr val="132238"/>
                </a:solidFill>
              </a:rPr>
              <a:t> </a:t>
            </a:r>
          </a:p>
          <a:p xmlns:a="http://schemas.openxmlformats.org/drawingml/2006/main">
            <a:pPr algn="l">
              <a:defRPr sz="544" b="0" i="0">
                <a:solidFill>
                  <a:srgbClr val="132238"/>
                </a:solidFill>
              </a:defRPr>
            </a:pPr>
            <a:r>
              <a:rPr sz="544" b="0" i="0">
                <a:solidFill>
                  <a:srgbClr val="132238"/>
                </a:solidFill>
              </a:rPr>
              <a:t>            ## Annotation examples:</a:t>
            </a:r>
          </a:p>
          <a:p xmlns:a="http://schemas.openxmlformats.org/drawingml/2006/main">
            <a:pPr algn="l">
              <a:defRPr sz="544" b="0" i="0">
                <a:solidFill>
                  <a:srgbClr val="132238"/>
                </a:solidFill>
              </a:defRPr>
            </a:pPr>
            <a:r>
              <a:rPr sz="544" b="0" i="0">
                <a:solidFill>
                  <a:srgbClr val="132238"/>
                </a:solidFill>
              </a:rPr>
              <a:t>            Occupation: Marketing Manager</a:t>
            </a:r>
          </a:p>
          <a:p xmlns:a="http://schemas.openxmlformats.org/drawingml/2006/main">
            <a:pPr algn="l">
              <a:defRPr sz="544" b="0" i="0">
                <a:solidFill>
                  <a:srgbClr val="132238"/>
                </a:solidFill>
              </a:defRPr>
            </a:pPr>
            <a:r>
              <a:rPr sz="544" b="0" i="0">
                <a:solidFill>
                  <a:srgbClr val="132238"/>
                </a:solidFill>
              </a:rPr>
              <a:t>            Task: Monitor key measurement indicators to track</a:t>
            </a:r>
          </a:p>
          <a:p xmlns:a="http://schemas.openxmlformats.org/drawingml/2006/main">
            <a:pPr algn="l">
              <a:defRPr sz="544" b="0" i="0">
                <a:solidFill>
                  <a:srgbClr val="132238"/>
                </a:solidFill>
              </a:defRPr>
            </a:pPr>
            <a:r>
              <a:rPr sz="544" b="0" i="0">
                <a:solidFill>
                  <a:srgbClr val="132238"/>
                </a:solidFill>
              </a:rPr>
              <a:t>campaign effectiveness.</a:t>
            </a:r>
          </a:p>
          <a:p xmlns:a="http://schemas.openxmlformats.org/drawingml/2006/main">
            <a:pPr algn="l">
              <a:defRPr sz="544" b="0" i="0">
                <a:solidFill>
                  <a:srgbClr val="132238"/>
                </a:solidFill>
              </a:defRPr>
            </a:pPr>
            <a:r>
              <a:rPr sz="544" b="0" i="0">
                <a:solidFill>
                  <a:srgbClr val="132238"/>
                </a:solidFill>
              </a:rPr>
              <a:t>            Final_label: E2</a:t>
            </a:r>
          </a:p>
          <a:p xmlns:a="http://schemas.openxmlformats.org/drawingml/2006/main">
            <a:pPr algn="l">
              <a:defRPr sz="544" b="0" i="0">
                <a:solidFill>
                  <a:srgbClr val="132238"/>
                </a:solidFill>
              </a:defRPr>
            </a:pPr>
            <a:r>
              <a:rPr sz="544" b="0" i="0">
                <a:solidFill>
                  <a:srgbClr val="132238"/>
                </a:solidFill>
              </a:rPr>
              <a:t>            Explanation: Direct use of an LLM (E1) can assist</a:t>
            </a:r>
          </a:p>
          <a:p xmlns:a="http://schemas.openxmlformats.org/drawingml/2006/main">
            <a:pPr algn="l">
              <a:defRPr sz="544" b="0" i="0">
                <a:solidFill>
                  <a:srgbClr val="132238"/>
                </a:solidFill>
              </a:defRPr>
            </a:pPr>
            <a:r>
              <a:rPr sz="544" b="0" i="0">
                <a:solidFill>
                  <a:srgbClr val="132238"/>
                </a:solidFill>
              </a:rPr>
              <a:t>with writing reports or interpreting data summaries but cannot</a:t>
            </a:r>
          </a:p>
          <a:p xmlns:a="http://schemas.openxmlformats.org/drawingml/2006/main">
            <a:pPr algn="l">
              <a:defRPr sz="544" b="0" i="0">
                <a:solidFill>
                  <a:srgbClr val="132238"/>
                </a:solidFill>
              </a:defRPr>
            </a:pPr>
            <a:r>
              <a:rPr sz="544" b="0" i="0">
                <a:solidFill>
                  <a:srgbClr val="132238"/>
                </a:solidFill>
              </a:rPr>
              <a:t>alone monitor or track measurement indicators, as that requires</a:t>
            </a:r>
          </a:p>
          <a:p xmlns:a="http://schemas.openxmlformats.org/drawingml/2006/main">
            <a:pPr algn="l">
              <a:defRPr sz="544" b="0" i="0">
                <a:solidFill>
                  <a:srgbClr val="132238"/>
                </a:solidFill>
              </a:defRPr>
            </a:pPr>
            <a:r>
              <a:rPr sz="544" b="0" i="0">
                <a:solidFill>
                  <a:srgbClr val="132238"/>
                </a:solidFill>
              </a:rPr>
              <a:t>data retrieval and analytics dashboards. However, with</a:t>
            </a:r>
          </a:p>
          <a:p xmlns:a="http://schemas.openxmlformats.org/drawingml/2006/main">
            <a:pPr algn="l">
              <a:defRPr sz="544" b="0" i="0">
                <a:solidFill>
                  <a:srgbClr val="132238"/>
                </a:solidFill>
              </a:defRPr>
            </a:pPr>
            <a:r>
              <a:rPr sz="544" b="0" i="0">
                <a:solidFill>
                  <a:srgbClr val="132238"/>
                </a:solidFill>
              </a:rPr>
              <a:t>LLM-powered software integrated with marketing analytics</a:t>
            </a:r>
          </a:p>
          <a:p xmlns:a="http://schemas.openxmlformats.org/drawingml/2006/main">
            <a:pPr algn="l">
              <a:defRPr sz="544" b="0" i="0">
                <a:solidFill>
                  <a:srgbClr val="132238"/>
                </a:solidFill>
              </a:defRPr>
            </a:pPr>
            <a:r>
              <a:rPr sz="544" b="0" i="0">
                <a:solidFill>
                  <a:srgbClr val="132238"/>
                </a:solidFill>
              </a:rPr>
              <a:t>platforms (e.g. Google Analytics, HubSpot, CRM dashboards), it</a:t>
            </a:r>
          </a:p>
          <a:p xmlns:a="http://schemas.openxmlformats.org/drawingml/2006/main">
            <a:pPr algn="l">
              <a:defRPr sz="544" b="0" i="0">
                <a:solidFill>
                  <a:srgbClr val="132238"/>
                </a:solidFill>
              </a:defRPr>
            </a:pPr>
            <a:r>
              <a:rPr sz="544" b="0" i="0">
                <a:solidFill>
                  <a:srgbClr val="132238"/>
                </a:solidFill>
              </a:rPr>
              <a:t>is easy to imagine tools that summarise and interpret campaign</a:t>
            </a:r>
          </a:p>
          <a:p xmlns:a="http://schemas.openxmlformats.org/drawingml/2006/main">
            <a:pPr algn="l">
              <a:defRPr sz="544" b="0" i="0">
                <a:solidFill>
                  <a:srgbClr val="132238"/>
                </a:solidFill>
              </a:defRPr>
            </a:pPr>
            <a:r>
              <a:rPr sz="544" b="0" i="0">
                <a:solidFill>
                  <a:srgbClr val="132238"/>
                </a:solidFill>
              </a:rPr>
              <a:t>KPIs rapidly, reducing task time by half.</a:t>
            </a:r>
          </a:p>
          <a:p xmlns:a="http://schemas.openxmlformats.org/drawingml/2006/main">
            <a:pPr algn="l">
              <a:defRPr sz="544" b="0" i="0">
                <a:solidFill>
                  <a:srgbClr val="132238"/>
                </a:solidFill>
              </a:defRPr>
            </a:pPr>
            <a:r>
              <a:rPr sz="544" b="0" i="0">
                <a:solidFill>
                  <a:srgbClr val="132238"/>
                </a:solidFill>
              </a:rPr>
              <a:t> </a:t>
            </a:r>
          </a:p>
          <a:p xmlns:a="http://schemas.openxmlformats.org/drawingml/2006/main">
            <a:pPr algn="l">
              <a:defRPr sz="544" b="0" i="0">
                <a:solidFill>
                  <a:srgbClr val="132238"/>
                </a:solidFill>
              </a:defRPr>
            </a:pPr>
            <a:r>
              <a:rPr sz="544" b="0" i="0">
                <a:solidFill>
                  <a:srgbClr val="132238"/>
                </a:solidFill>
              </a:rPr>
              <a:t>            Occupation: Sales Executive</a:t>
            </a:r>
          </a:p>
          <a:p xmlns:a="http://schemas.openxmlformats.org/drawingml/2006/main">
            <a:pPr algn="l">
              <a:defRPr sz="544" b="0" i="0">
                <a:solidFill>
                  <a:srgbClr val="132238"/>
                </a:solidFill>
              </a:defRPr>
            </a:pPr>
            <a:r>
              <a:rPr sz="544" b="0" i="0">
                <a:solidFill>
                  <a:srgbClr val="132238"/>
                </a:solidFill>
              </a:rPr>
              <a:t>            Task: Keep up-to-date on consumption developments</a:t>
            </a:r>
          </a:p>
          <a:p xmlns:a="http://schemas.openxmlformats.org/drawingml/2006/main">
            <a:pPr algn="l">
              <a:defRPr sz="544" b="0" i="0">
                <a:solidFill>
                  <a:srgbClr val="132238"/>
                </a:solidFill>
              </a:defRPr>
            </a:pPr>
            <a:r>
              <a:rPr sz="544" b="0" i="0">
                <a:solidFill>
                  <a:srgbClr val="132238"/>
                </a:solidFill>
              </a:rPr>
              <a:t>and trends in the marketplace.</a:t>
            </a:r>
          </a:p>
          <a:p xmlns:a="http://schemas.openxmlformats.org/drawingml/2006/main">
            <a:pPr algn="l">
              <a:defRPr sz="544" b="0" i="0">
                <a:solidFill>
                  <a:srgbClr val="132238"/>
                </a:solidFill>
              </a:defRPr>
            </a:pPr>
            <a:r>
              <a:rPr sz="544" b="0" i="0">
                <a:solidFill>
                  <a:srgbClr val="132238"/>
                </a:solidFill>
              </a:rPr>
              <a:t>            Final_label: E2</a:t>
            </a:r>
          </a:p>
          <a:p xmlns:a="http://schemas.openxmlformats.org/drawingml/2006/main">
            <a:pPr algn="l">
              <a:defRPr sz="544" b="0" i="0">
                <a:solidFill>
                  <a:srgbClr val="132238"/>
                </a:solidFill>
              </a:defRPr>
            </a:pPr>
            <a:r>
              <a:rPr sz="544" b="0" i="0">
                <a:solidFill>
                  <a:srgbClr val="132238"/>
                </a:solidFill>
              </a:rPr>
              <a:t>            Explanation: Direct LLM use (E1) cannot fully</a:t>
            </a:r>
          </a:p>
          <a:p xmlns:a="http://schemas.openxmlformats.org/drawingml/2006/main">
            <a:pPr algn="l">
              <a:defRPr sz="544" b="0" i="0">
                <a:solidFill>
                  <a:srgbClr val="132238"/>
                </a:solidFill>
              </a:defRPr>
            </a:pPr>
            <a:r>
              <a:rPr sz="544" b="0" i="0">
                <a:solidFill>
                  <a:srgbClr val="132238"/>
                </a:solidFill>
              </a:rPr>
              <a:t>automate keeping up-to-date on market trends, as it lacks access</a:t>
            </a:r>
          </a:p>
          <a:p xmlns:a="http://schemas.openxmlformats.org/drawingml/2006/main">
            <a:pPr algn="l">
              <a:defRPr sz="544" b="0" i="0">
                <a:solidFill>
                  <a:srgbClr val="132238"/>
                </a:solidFill>
              </a:defRPr>
            </a:pPr>
            <a:r>
              <a:rPr sz="544" b="0" i="0">
                <a:solidFill>
                  <a:srgbClr val="132238"/>
                </a:solidFill>
              </a:rPr>
              <a:t>to real-time, up-to-date external data sources. LLM-powered</a:t>
            </a:r>
          </a:p>
          <a:p xmlns:a="http://schemas.openxmlformats.org/drawingml/2006/main">
            <a:pPr algn="l">
              <a:defRPr sz="544" b="0" i="0">
                <a:solidFill>
                  <a:srgbClr val="132238"/>
                </a:solidFill>
              </a:defRPr>
            </a:pPr>
            <a:r>
              <a:rPr sz="544" b="0" i="0">
                <a:solidFill>
                  <a:srgbClr val="132238"/>
                </a:solidFill>
              </a:rPr>
              <a:t>applications (E2) that integrate web scraping, news feeds,</a:t>
            </a:r>
          </a:p>
          <a:p xmlns:a="http://schemas.openxmlformats.org/drawingml/2006/main">
            <a:pPr algn="l">
              <a:defRPr sz="544" b="0" i="0">
                <a:solidFill>
                  <a:srgbClr val="132238"/>
                </a:solidFill>
              </a:defRPr>
            </a:pPr>
            <a:r>
              <a:rPr sz="544" b="0" i="0">
                <a:solidFill>
                  <a:srgbClr val="132238"/>
                </a:solidFill>
              </a:rPr>
              <a:t>market intelligence tools can summarise latest consumption</a:t>
            </a:r>
          </a:p>
          <a:p xmlns:a="http://schemas.openxmlformats.org/drawingml/2006/main">
            <a:pPr algn="l">
              <a:defRPr sz="544" b="0" i="0">
                <a:solidFill>
                  <a:srgbClr val="132238"/>
                </a:solidFill>
              </a:defRPr>
            </a:pPr>
            <a:r>
              <a:rPr sz="544" b="0" i="0">
                <a:solidFill>
                  <a:srgbClr val="132238"/>
                </a:solidFill>
              </a:rPr>
              <a:t>trends efficiently, reducing task time by half. If only relying</a:t>
            </a:r>
          </a:p>
          <a:p xmlns:a="http://schemas.openxmlformats.org/drawingml/2006/main">
            <a:pPr algn="l">
              <a:defRPr sz="544" b="0" i="0">
                <a:solidFill>
                  <a:srgbClr val="132238"/>
                </a:solidFill>
              </a:defRPr>
            </a:pPr>
            <a:r>
              <a:rPr sz="544" b="0" i="0">
                <a:solidFill>
                  <a:srgbClr val="132238"/>
                </a:solidFill>
              </a:rPr>
              <a:t>on ChatGPT without data retrieval integration, it would remain</a:t>
            </a:r>
          </a:p>
          <a:p xmlns:a="http://schemas.openxmlformats.org/drawingml/2006/main">
            <a:pPr algn="l">
              <a:defRPr sz="544" b="0" i="0">
                <a:solidFill>
                  <a:srgbClr val="132238"/>
                </a:solidFill>
              </a:defRPr>
            </a:pPr>
            <a:r>
              <a:rPr sz="544" b="0" i="0">
                <a:solidFill>
                  <a:srgbClr val="132238"/>
                </a:solidFill>
              </a:rPr>
              <a:t>E0, but with practical LLM-powered tools, E2 is appropriate.</a:t>
            </a:r>
          </a:p>
          <a:p xmlns:a="http://schemas.openxmlformats.org/drawingml/2006/main">
            <a:pPr algn="l">
              <a:defRPr sz="544" b="0" i="0">
                <a:solidFill>
                  <a:srgbClr val="132238"/>
                </a:solidFill>
              </a:defRPr>
            </a:pPr>
            <a:r>
              <a:rPr sz="544" b="0" i="0">
                <a:solidFill>
                  <a:srgbClr val="132238"/>
                </a:solidFill>
              </a:rPr>
              <a:t> </a:t>
            </a:r>
          </a:p>
          <a:p xmlns:a="http://schemas.openxmlformats.org/drawingml/2006/main">
            <a:pPr algn="l">
              <a:defRPr sz="544" b="0" i="0">
                <a:solidFill>
                  <a:srgbClr val="132238"/>
                </a:solidFill>
              </a:defRPr>
            </a:pPr>
            <a:r>
              <a:rPr sz="544" b="0" i="0">
                <a:solidFill>
                  <a:srgbClr val="132238"/>
                </a:solidFill>
              </a:rPr>
              <a:t>            Occupation: E-Commerce Director</a:t>
            </a:r>
          </a:p>
          <a:p xmlns:a="http://schemas.openxmlformats.org/drawingml/2006/main">
            <a:pPr algn="l">
              <a:defRPr sz="544" b="0" i="0">
                <a:solidFill>
                  <a:srgbClr val="132238"/>
                </a:solidFill>
              </a:defRPr>
            </a:pPr>
            <a:r>
              <a:rPr sz="544" b="0" i="0">
                <a:solidFill>
                  <a:srgbClr val="132238"/>
                </a:solidFill>
              </a:rPr>
              <a:t>            Task: Strategise, lead, and oversee performance of</a:t>
            </a:r>
          </a:p>
          <a:p xmlns:a="http://schemas.openxmlformats.org/drawingml/2006/main">
            <a:pPr algn="l">
              <a:defRPr sz="544" b="0" i="0">
                <a:solidFill>
                  <a:srgbClr val="132238"/>
                </a:solidFill>
              </a:defRPr>
            </a:pPr>
            <a:r>
              <a:rPr sz="544" b="0" i="0">
                <a:solidFill>
                  <a:srgbClr val="132238"/>
                </a:solidFill>
              </a:rPr>
              <a:t>technology vendor relationships.</a:t>
            </a:r>
          </a:p>
          <a:p xmlns:a="http://schemas.openxmlformats.org/drawingml/2006/main">
            <a:pPr algn="l">
              <a:defRPr sz="544" b="0" i="0">
                <a:solidFill>
                  <a:srgbClr val="132238"/>
                </a:solidFill>
              </a:defRPr>
            </a:pPr>
            <a:r>
              <a:rPr sz="544" b="0" i="0">
                <a:solidFill>
                  <a:srgbClr val="132238"/>
                </a:solidFill>
              </a:rPr>
              <a:t>            Final_label: E0</a:t>
            </a:r>
          </a:p>
          <a:p xmlns:a="http://schemas.openxmlformats.org/drawingml/2006/main">
            <a:pPr algn="l">
              <a:defRPr sz="544" b="0" i="0">
                <a:solidFill>
                  <a:srgbClr val="132238"/>
                </a:solidFill>
              </a:defRPr>
            </a:pPr>
            <a:r>
              <a:rPr sz="544" b="0" i="0">
                <a:solidFill>
                  <a:srgbClr val="132238"/>
                </a:solidFill>
              </a:rPr>
              <a:t>            Explanation: This task involves strategic</a:t>
            </a:r>
          </a:p>
          <a:p xmlns:a="http://schemas.openxmlformats.org/drawingml/2006/main">
            <a:pPr algn="l">
              <a:defRPr sz="544" b="0" i="0">
                <a:solidFill>
                  <a:srgbClr val="132238"/>
                </a:solidFill>
              </a:defRPr>
            </a:pPr>
            <a:r>
              <a:rPr sz="544" b="0" i="0">
                <a:solidFill>
                  <a:srgbClr val="132238"/>
                </a:solidFill>
              </a:rPr>
              <a:t>leadership, relationship management, negotiation, and</a:t>
            </a:r>
          </a:p>
          <a:p xmlns:a="http://schemas.openxmlformats.org/drawingml/2006/main">
            <a:pPr algn="l">
              <a:defRPr sz="544" b="0" i="0">
                <a:solidFill>
                  <a:srgbClr val="132238"/>
                </a:solidFill>
              </a:defRPr>
            </a:pPr>
            <a:r>
              <a:rPr sz="544" b="0" i="0">
                <a:solidFill>
                  <a:srgbClr val="132238"/>
                </a:solidFill>
              </a:rPr>
              <a:t>judgement-based decisions with technology vendors. Direct LLM</a:t>
            </a:r>
          </a:p>
          <a:p xmlns:a="http://schemas.openxmlformats.org/drawingml/2006/main">
            <a:pPr algn="l">
              <a:defRPr sz="544" b="0" i="0">
                <a:solidFill>
                  <a:srgbClr val="132238"/>
                </a:solidFill>
              </a:defRPr>
            </a:pPr>
            <a:r>
              <a:rPr sz="544" b="0" i="0">
                <a:solidFill>
                  <a:srgbClr val="132238"/>
                </a:solidFill>
              </a:rPr>
              <a:t>use (E1) cannot halve time for strategic leadership or</a:t>
            </a:r>
          </a:p>
          <a:p xmlns:a="http://schemas.openxmlformats.org/drawingml/2006/main">
            <a:pPr algn="l">
              <a:defRPr sz="544" b="0" i="0">
                <a:solidFill>
                  <a:srgbClr val="132238"/>
                </a:solidFill>
              </a:defRPr>
            </a:pPr>
            <a:r>
              <a:rPr sz="544" b="0" i="0">
                <a:solidFill>
                  <a:srgbClr val="132238"/>
                </a:solidFill>
              </a:rPr>
              <a:t>relationship management. LLM-powered applications (E2) cannot</a:t>
            </a:r>
          </a:p>
          <a:p xmlns:a="http://schemas.openxmlformats.org/drawingml/2006/main">
            <a:pPr algn="l">
              <a:defRPr sz="544" b="0" i="0">
                <a:solidFill>
                  <a:srgbClr val="132238"/>
                </a:solidFill>
              </a:defRPr>
            </a:pPr>
            <a:r>
              <a:rPr sz="544" b="0" i="0">
                <a:solidFill>
                  <a:srgbClr val="132238"/>
                </a:solidFill>
              </a:rPr>
              <a:t>replace or halve the time for high-level human interaction and</a:t>
            </a:r>
          </a:p>
          <a:p xmlns:a="http://schemas.openxmlformats.org/drawingml/2006/main">
            <a:pPr algn="l">
              <a:defRPr sz="544" b="0" i="0">
                <a:solidFill>
                  <a:srgbClr val="132238"/>
                </a:solidFill>
              </a:defRPr>
            </a:pPr>
            <a:r>
              <a:rPr sz="544" b="0" i="0">
                <a:solidFill>
                  <a:srgbClr val="132238"/>
                </a:solidFill>
              </a:rPr>
              <a:t>strategic decisions, though they may assist in drafting</a:t>
            </a:r>
          </a:p>
          <a:p xmlns:a="http://schemas.openxmlformats.org/drawingml/2006/main">
            <a:pPr algn="l">
              <a:defRPr sz="544" b="0" i="0">
                <a:solidFill>
                  <a:srgbClr val="132238"/>
                </a:solidFill>
              </a:defRPr>
            </a:pPr>
            <a:r>
              <a:rPr sz="544" b="0" i="0">
                <a:solidFill>
                  <a:srgbClr val="132238"/>
                </a:solidFill>
              </a:rPr>
              <a:t>documents or analysing data.</a:t>
            </a:r>
          </a:p>
        </p:txBody>
      </p:sp>
      <p:sp>
        <p:nvSpPr>
          <p:cNvPr id="14" name="">
            <a:extLst xmlns:a="http://schemas.openxmlformats.org/drawingml/2006/main">
              <a:ext uri="{FF2B5EF4-FFF2-40B4-BE49-F238E27FC236}">
                <a16:creationId xmlns:a16="http://schemas.microsoft.com/office/drawing/2014/main" id="{B214CAAB-5577-4B53-9320-4118FD8796DB}"/>
              </a:ext>
            </a:extLst>
          </p:cNvPr>
          <p:cNvSpPr>
            <a:spLocks xmlns:a="http://schemas.openxmlformats.org/drawingml/2006/main" noGrp="1"/>
          </p:cNvSpPr>
          <p:nvPr/>
        </p:nvSpPr>
        <p:spPr>
          <a:xfrm xmlns:a="http://schemas.openxmlformats.org/drawingml/2006/main">
            <a:off x="8734425" y="2305050"/>
            <a:ext cx="0" cy="394335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5" name="">
            <a:extLst xmlns:a="http://schemas.openxmlformats.org/drawingml/2006/main">
              <a:ext uri="{FF2B5EF4-FFF2-40B4-BE49-F238E27FC236}">
                <a16:creationId xmlns:a16="http://schemas.microsoft.com/office/drawing/2014/main" id="{3E42EFF9-1FE0-4157-ADD9-D61DBD593FAE}"/>
              </a:ext>
            </a:extLst>
          </p:cNvPr>
          <p:cNvSpPr>
            <a:spLocks xmlns:a="http://schemas.openxmlformats.org/drawingml/2006/main" noGrp="1"/>
          </p:cNvSpPr>
          <p:nvPr/>
        </p:nvSpPr>
        <p:spPr>
          <a:xfrm xmlns:a="http://schemas.openxmlformats.org/drawingml/2006/main">
            <a:off x="8829675" y="2343150"/>
            <a:ext cx="2524125"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44" b="0" i="0">
                <a:solidFill>
                  <a:srgbClr val="132238"/>
                </a:solidFill>
              </a:defRPr>
            </a:pPr>
            <a:r>
              <a:rPr sz="544" b="0" i="0">
                <a:solidFill>
                  <a:srgbClr val="132238"/>
                </a:solidFill>
              </a:rPr>
              <a:t> </a:t>
            </a:r>
          </a:p>
          <a:p xmlns:a="http://schemas.openxmlformats.org/drawingml/2006/main">
            <a:pPr algn="l">
              <a:defRPr sz="544" b="0" i="0">
                <a:solidFill>
                  <a:srgbClr val="132238"/>
                </a:solidFill>
              </a:defRPr>
            </a:pPr>
            <a:r>
              <a:rPr sz="544" b="0" i="0">
                <a:solidFill>
                  <a:srgbClr val="132238"/>
                </a:solidFill>
              </a:rPr>
              <a:t>            Occupation: Merchandising Director</a:t>
            </a:r>
          </a:p>
          <a:p xmlns:a="http://schemas.openxmlformats.org/drawingml/2006/main">
            <a:pPr algn="l">
              <a:defRPr sz="544" b="0" i="0">
                <a:solidFill>
                  <a:srgbClr val="132238"/>
                </a:solidFill>
              </a:defRPr>
            </a:pPr>
            <a:r>
              <a:rPr sz="544" b="0" i="0">
                <a:solidFill>
                  <a:srgbClr val="132238"/>
                </a:solidFill>
              </a:rPr>
              <a:t>            Task: Establish Key Performance Indicators (KPIs) to</a:t>
            </a:r>
          </a:p>
          <a:p xmlns:a="http://schemas.openxmlformats.org/drawingml/2006/main">
            <a:pPr algn="l">
              <a:defRPr sz="544" b="0" i="0">
                <a:solidFill>
                  <a:srgbClr val="132238"/>
                </a:solidFill>
              </a:defRPr>
            </a:pPr>
            <a:r>
              <a:rPr sz="544" b="0" i="0">
                <a:solidFill>
                  <a:srgbClr val="132238"/>
                </a:solidFill>
              </a:rPr>
              <a:t>evaluate category management and product assortment.</a:t>
            </a:r>
          </a:p>
          <a:p xmlns:a="http://schemas.openxmlformats.org/drawingml/2006/main">
            <a:pPr algn="l">
              <a:defRPr sz="544" b="0" i="0">
                <a:solidFill>
                  <a:srgbClr val="132238"/>
                </a:solidFill>
              </a:defRPr>
            </a:pPr>
            <a:r>
              <a:rPr sz="544" b="0" i="0">
                <a:solidFill>
                  <a:srgbClr val="132238"/>
                </a:solidFill>
              </a:rPr>
              <a:t>            Final_label: E1</a:t>
            </a:r>
          </a:p>
          <a:p xmlns:a="http://schemas.openxmlformats.org/drawingml/2006/main">
            <a:pPr algn="l">
              <a:defRPr sz="544" b="0" i="0">
                <a:solidFill>
                  <a:srgbClr val="132238"/>
                </a:solidFill>
              </a:defRPr>
            </a:pPr>
            <a:r>
              <a:rPr sz="544" b="0" i="0">
                <a:solidFill>
                  <a:srgbClr val="132238"/>
                </a:solidFill>
              </a:rPr>
              <a:t>            Explanation: Direct LLM use can significantly reduce</a:t>
            </a:r>
          </a:p>
          <a:p xmlns:a="http://schemas.openxmlformats.org/drawingml/2006/main">
            <a:pPr algn="l">
              <a:defRPr sz="544" b="0" i="0">
                <a:solidFill>
                  <a:srgbClr val="132238"/>
                </a:solidFill>
              </a:defRPr>
            </a:pPr>
            <a:r>
              <a:rPr sz="544" b="0" i="0">
                <a:solidFill>
                  <a:srgbClr val="132238"/>
                </a:solidFill>
              </a:rPr>
              <a:t>time for:</a:t>
            </a:r>
          </a:p>
          <a:p xmlns:a="http://schemas.openxmlformats.org/drawingml/2006/main">
            <a:pPr algn="l">
              <a:defRPr sz="544" b="0" i="0">
                <a:solidFill>
                  <a:srgbClr val="132238"/>
                </a:solidFill>
              </a:defRPr>
            </a:pPr>
            <a:r>
              <a:rPr sz="544" b="0" i="0">
                <a:solidFill>
                  <a:srgbClr val="132238"/>
                </a:solidFill>
              </a:rPr>
              <a:t>            - Drafting and refining KPI definitions.</a:t>
            </a:r>
          </a:p>
          <a:p xmlns:a="http://schemas.openxmlformats.org/drawingml/2006/main">
            <a:pPr algn="l">
              <a:defRPr sz="544" b="0" i="0">
                <a:solidFill>
                  <a:srgbClr val="132238"/>
                </a:solidFill>
              </a:defRPr>
            </a:pPr>
            <a:r>
              <a:rPr sz="544" b="0" i="0">
                <a:solidFill>
                  <a:srgbClr val="132238"/>
                </a:solidFill>
              </a:rPr>
              <a:t>            - Researching industry benchmarks.</a:t>
            </a:r>
          </a:p>
          <a:p xmlns:a="http://schemas.openxmlformats.org/drawingml/2006/main">
            <a:pPr algn="l">
              <a:defRPr sz="544" b="0" i="0">
                <a:solidFill>
                  <a:srgbClr val="132238"/>
                </a:solidFill>
              </a:defRPr>
            </a:pPr>
            <a:r>
              <a:rPr sz="544" b="0" i="0">
                <a:solidFill>
                  <a:srgbClr val="132238"/>
                </a:solidFill>
              </a:rPr>
              <a:t>            - Generating structured KPI frameworks and</a:t>
            </a:r>
          </a:p>
          <a:p xmlns:a="http://schemas.openxmlformats.org/drawingml/2006/main">
            <a:pPr algn="l">
              <a:defRPr sz="544" b="0" i="0">
                <a:solidFill>
                  <a:srgbClr val="132238"/>
                </a:solidFill>
              </a:defRPr>
            </a:pPr>
            <a:r>
              <a:rPr sz="544" b="0" i="0">
                <a:solidFill>
                  <a:srgbClr val="132238"/>
                </a:solidFill>
              </a:rPr>
              <a:t>justifications.</a:t>
            </a:r>
          </a:p>
          <a:p xmlns:a="http://schemas.openxmlformats.org/drawingml/2006/main">
            <a:pPr algn="l">
              <a:defRPr sz="544" b="0" i="0">
                <a:solidFill>
                  <a:srgbClr val="132238"/>
                </a:solidFill>
              </a:defRPr>
            </a:pPr>
            <a:r>
              <a:rPr sz="544" b="0" i="0">
                <a:solidFill>
                  <a:srgbClr val="132238"/>
                </a:solidFill>
              </a:rPr>
              <a:t>            The task still requires final human judgement and</a:t>
            </a:r>
          </a:p>
          <a:p xmlns:a="http://schemas.openxmlformats.org/drawingml/2006/main">
            <a:pPr algn="l">
              <a:defRPr sz="544" b="0" i="0">
                <a:solidFill>
                  <a:srgbClr val="132238"/>
                </a:solidFill>
              </a:defRPr>
            </a:pPr>
            <a:r>
              <a:rPr sz="544" b="0" i="0">
                <a:solidFill>
                  <a:srgbClr val="132238"/>
                </a:solidFill>
              </a:rPr>
              <a:t>alignment with organisational goals, but LLMs can halve the time</a:t>
            </a:r>
          </a:p>
          <a:p xmlns:a="http://schemas.openxmlformats.org/drawingml/2006/main">
            <a:pPr algn="l">
              <a:defRPr sz="544" b="0" i="0">
                <a:solidFill>
                  <a:srgbClr val="132238"/>
                </a:solidFill>
              </a:defRPr>
            </a:pPr>
            <a:r>
              <a:rPr sz="544" b="0" i="0">
                <a:solidFill>
                  <a:srgbClr val="132238"/>
                </a:solidFill>
              </a:rPr>
              <a:t>needed to draft, structure, and iterate KPI proposals.</a:t>
            </a:r>
          </a:p>
          <a:p xmlns:a="http://schemas.openxmlformats.org/drawingml/2006/main">
            <a:pPr algn="l">
              <a:defRPr sz="544" b="0" i="0">
                <a:solidFill>
                  <a:srgbClr val="132238"/>
                </a:solidFill>
              </a:defRPr>
            </a:pPr>
            <a:r>
              <a:rPr sz="544" b="0" i="0">
                <a:solidFill>
                  <a:srgbClr val="132238"/>
                </a:solidFill>
              </a:rPr>
              <a:t> </a:t>
            </a:r>
          </a:p>
          <a:p xmlns:a="http://schemas.openxmlformats.org/drawingml/2006/main">
            <a:pPr algn="l">
              <a:defRPr sz="544" b="0" i="0">
                <a:solidFill>
                  <a:srgbClr val="132238"/>
                </a:solidFill>
              </a:defRPr>
            </a:pPr>
            <a:r>
              <a:rPr sz="544" b="0" i="0">
                <a:solidFill>
                  <a:srgbClr val="132238"/>
                </a:solidFill>
              </a:rPr>
              <a:t>            Occupation: Senior Artificial Intelligence / Machine</a:t>
            </a:r>
          </a:p>
          <a:p xmlns:a="http://schemas.openxmlformats.org/drawingml/2006/main">
            <a:pPr algn="l">
              <a:defRPr sz="544" b="0" i="0">
                <a:solidFill>
                  <a:srgbClr val="132238"/>
                </a:solidFill>
              </a:defRPr>
            </a:pPr>
            <a:r>
              <a:rPr sz="544" b="0" i="0">
                <a:solidFill>
                  <a:srgbClr val="132238"/>
                </a:solidFill>
              </a:rPr>
              <a:t>Learning Engineer</a:t>
            </a:r>
          </a:p>
          <a:p xmlns:a="http://schemas.openxmlformats.org/drawingml/2006/main">
            <a:pPr algn="l">
              <a:defRPr sz="544" b="0" i="0">
                <a:solidFill>
                  <a:srgbClr val="132238"/>
                </a:solidFill>
              </a:defRPr>
            </a:pPr>
            <a:r>
              <a:rPr sz="544" b="0" i="0">
                <a:solidFill>
                  <a:srgbClr val="132238"/>
                </a:solidFill>
              </a:rPr>
              <a:t>            Task: Deliver scalable AI/ML solutions</a:t>
            </a:r>
          </a:p>
          <a:p xmlns:a="http://schemas.openxmlformats.org/drawingml/2006/main">
            <a:pPr algn="l">
              <a:defRPr sz="544" b="0" i="0">
                <a:solidFill>
                  <a:srgbClr val="132238"/>
                </a:solidFill>
              </a:defRPr>
            </a:pPr>
            <a:r>
              <a:rPr sz="544" b="0" i="0">
                <a:solidFill>
                  <a:srgbClr val="132238"/>
                </a:solidFill>
              </a:rPr>
              <a:t>            Final_lable: E0</a:t>
            </a:r>
          </a:p>
          <a:p xmlns:a="http://schemas.openxmlformats.org/drawingml/2006/main">
            <a:pPr algn="l">
              <a:defRPr sz="544" b="0" i="0">
                <a:solidFill>
                  <a:srgbClr val="132238"/>
                </a:solidFill>
              </a:defRPr>
            </a:pPr>
            <a:r>
              <a:rPr sz="544" b="0" i="0">
                <a:solidFill>
                  <a:srgbClr val="132238"/>
                </a:solidFill>
              </a:rPr>
              <a:t>            Explanation: Direct LLM use (E1) can assist with</a:t>
            </a:r>
          </a:p>
          <a:p xmlns:a="http://schemas.openxmlformats.org/drawingml/2006/main">
            <a:pPr algn="l">
              <a:defRPr sz="544" b="0" i="0">
                <a:solidFill>
                  <a:srgbClr val="132238"/>
                </a:solidFill>
              </a:defRPr>
            </a:pPr>
            <a:r>
              <a:rPr sz="544" b="0" i="0">
                <a:solidFill>
                  <a:srgbClr val="132238"/>
                </a:solidFill>
              </a:rPr>
              <a:t>code snippets, debugging, and conceptual explanations, but</a:t>
            </a:r>
          </a:p>
          <a:p xmlns:a="http://schemas.openxmlformats.org/drawingml/2006/main">
            <a:pPr algn="l">
              <a:defRPr sz="544" b="0" i="0">
                <a:solidFill>
                  <a:srgbClr val="132238"/>
                </a:solidFill>
              </a:defRPr>
            </a:pPr>
            <a:r>
              <a:rPr sz="544" b="0" i="0">
                <a:solidFill>
                  <a:srgbClr val="132238"/>
                </a:solidFill>
              </a:rPr>
              <a:t>delivering scalable AI/ML solutions requires:</a:t>
            </a:r>
          </a:p>
          <a:p xmlns:a="http://schemas.openxmlformats.org/drawingml/2006/main">
            <a:pPr algn="l">
              <a:defRPr sz="544" b="0" i="0">
                <a:solidFill>
                  <a:srgbClr val="132238"/>
                </a:solidFill>
              </a:defRPr>
            </a:pPr>
            <a:r>
              <a:rPr sz="544" b="0" i="0">
                <a:solidFill>
                  <a:srgbClr val="132238"/>
                </a:solidFill>
              </a:rPr>
              <a:t>            - System design decisions</a:t>
            </a:r>
          </a:p>
          <a:p xmlns:a="http://schemas.openxmlformats.org/drawingml/2006/main">
            <a:pPr algn="l">
              <a:defRPr sz="544" b="0" i="0">
                <a:solidFill>
                  <a:srgbClr val="132238"/>
                </a:solidFill>
              </a:defRPr>
            </a:pPr>
            <a:r>
              <a:rPr sz="544" b="0" i="0">
                <a:solidFill>
                  <a:srgbClr val="132238"/>
                </a:solidFill>
              </a:rPr>
              <a:t>            - Integration into production environments</a:t>
            </a:r>
          </a:p>
          <a:p xmlns:a="http://schemas.openxmlformats.org/drawingml/2006/main">
            <a:pPr algn="l">
              <a:defRPr sz="544" b="0" i="0">
                <a:solidFill>
                  <a:srgbClr val="132238"/>
                </a:solidFill>
              </a:defRPr>
            </a:pPr>
            <a:r>
              <a:rPr sz="544" b="0" i="0">
                <a:solidFill>
                  <a:srgbClr val="132238"/>
                </a:solidFill>
              </a:rPr>
              <a:t>            - Data pipeline engineering</a:t>
            </a:r>
          </a:p>
          <a:p xmlns:a="http://schemas.openxmlformats.org/drawingml/2006/main">
            <a:pPr algn="l">
              <a:defRPr sz="544" b="0" i="0">
                <a:solidFill>
                  <a:srgbClr val="132238"/>
                </a:solidFill>
              </a:defRPr>
            </a:pPr>
            <a:r>
              <a:rPr sz="544" b="0" i="0">
                <a:solidFill>
                  <a:srgbClr val="132238"/>
                </a:solidFill>
              </a:rPr>
              <a:t>            - Model evaluation, deployment, and monitoring</a:t>
            </a:r>
          </a:p>
          <a:p xmlns:a="http://schemas.openxmlformats.org/drawingml/2006/main">
            <a:pPr algn="l">
              <a:defRPr sz="544" b="0" i="0">
                <a:solidFill>
                  <a:srgbClr val="132238"/>
                </a:solidFill>
              </a:defRPr>
            </a:pPr>
            <a:r>
              <a:rPr sz="544" b="0" i="0">
                <a:solidFill>
                  <a:srgbClr val="132238"/>
                </a:solidFill>
              </a:rPr>
              <a:t>            These require hands-on technical execution,</a:t>
            </a:r>
          </a:p>
          <a:p xmlns:a="http://schemas.openxmlformats.org/drawingml/2006/main">
            <a:pPr algn="l">
              <a:defRPr sz="544" b="0" i="0">
                <a:solidFill>
                  <a:srgbClr val="132238"/>
                </a:solidFill>
              </a:defRPr>
            </a:pPr>
            <a:r>
              <a:rPr sz="544" b="0" i="0">
                <a:solidFill>
                  <a:srgbClr val="132238"/>
                </a:solidFill>
              </a:rPr>
              <a:t>infrastructure work, and human judgement beyond what LLMs or</a:t>
            </a:r>
          </a:p>
          <a:p xmlns:a="http://schemas.openxmlformats.org/drawingml/2006/main">
            <a:pPr algn="l">
              <a:defRPr sz="544" b="0" i="0">
                <a:solidFill>
                  <a:srgbClr val="132238"/>
                </a:solidFill>
              </a:defRPr>
            </a:pPr>
            <a:r>
              <a:rPr sz="544" b="0" i="0">
                <a:solidFill>
                  <a:srgbClr val="132238"/>
                </a:solidFill>
              </a:rPr>
              <a:t>LLM-powered applications can reduce by half.</a:t>
            </a:r>
          </a:p>
          <a:p xmlns:a="http://schemas.openxmlformats.org/drawingml/2006/main">
            <a:pPr algn="l">
              <a:defRPr sz="544" b="0" i="0">
                <a:solidFill>
                  <a:srgbClr val="132238"/>
                </a:solidFill>
              </a:defRPr>
            </a:pPr>
            <a:r>
              <a:rPr sz="544" b="0" i="0">
                <a:solidFill>
                  <a:srgbClr val="132238"/>
                </a:solidFill>
              </a:rPr>
              <a:t> </a:t>
            </a:r>
          </a:p>
          <a:p xmlns:a="http://schemas.openxmlformats.org/drawingml/2006/main">
            <a:pPr algn="l">
              <a:defRPr sz="544" b="0" i="0">
                <a:solidFill>
                  <a:srgbClr val="132238"/>
                </a:solidFill>
              </a:defRPr>
            </a:pPr>
            <a:r>
              <a:rPr sz="544" b="0" i="0">
                <a:solidFill>
                  <a:srgbClr val="132238"/>
                </a:solidFill>
              </a:rPr>
              <a:t>            OUTPUT FORMAT:</a:t>
            </a:r>
          </a:p>
          <a:p xmlns:a="http://schemas.openxmlformats.org/drawingml/2006/main">
            <a:pPr algn="l">
              <a:defRPr sz="544" b="0" i="0">
                <a:solidFill>
                  <a:srgbClr val="132238"/>
                </a:solidFill>
              </a:defRPr>
            </a:pPr>
            <a:r>
              <a:rPr sz="544" b="0" i="0">
                <a:solidFill>
                  <a:srgbClr val="132238"/>
                </a:solidFill>
              </a:rPr>
              <a:t>            Give your response in JSON format like this:</a:t>
            </a:r>
          </a:p>
          <a:p xmlns:a="http://schemas.openxmlformats.org/drawingml/2006/main">
            <a:pPr algn="l">
              <a:defRPr sz="544" b="0" i="0">
                <a:solidFill>
                  <a:srgbClr val="132238"/>
                </a:solidFill>
              </a:defRPr>
            </a:pPr>
            <a:r>
              <a:rPr sz="544" b="0" i="0">
                <a:solidFill>
                  <a:srgbClr val="132238"/>
                </a:solidFill>
              </a:rPr>
              <a:t>            {"label": 'final_label'}</a:t>
            </a:r>
          </a:p>
          <a:p xmlns:a="http://schemas.openxmlformats.org/drawingml/2006/main">
            <a:pPr algn="l">
              <a:defRPr sz="544" b="0" i="0">
                <a:solidFill>
                  <a:srgbClr val="132238"/>
                </a:solidFill>
              </a:defRPr>
            </a:pPr>
            <a:r>
              <a:rPr sz="544" b="0" i="0">
                <a:solidFill>
                  <a:srgbClr val="132238"/>
                </a:solidFill>
              </a:rPr>
              <a:t>            YOUR OUTPUT IS MEANT TO BE PARSED BY ANOTHER</a:t>
            </a:r>
          </a:p>
          <a:p xmlns:a="http://schemas.openxmlformats.org/drawingml/2006/main">
            <a:pPr algn="l">
              <a:defRPr sz="544" b="0" i="0">
                <a:solidFill>
                  <a:srgbClr val="132238"/>
                </a:solidFill>
              </a:defRPr>
            </a:pPr>
            <a:r>
              <a:rPr sz="544" b="0" i="0">
                <a:solidFill>
                  <a:srgbClr val="132238"/>
                </a:solidFill>
              </a:rPr>
              <a:t>COMPUTER PROGRAM.</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[USER TEMPLATE]</a:t>
            </a:r>
          </a:p>
          <a:p xmlns:a="http://schemas.openxmlformats.org/drawingml/2006/main">
            <a:pPr algn="l">
              <a:defRPr sz="544" b="0" i="0">
                <a:solidFill>
                  <a:srgbClr val="132238"/>
                </a:solidFill>
              </a:defRPr>
            </a:pPr>
            <a:r>
              <a:rPr sz="544" b="0" i="0">
                <a:solidFill>
                  <a:srgbClr val="132238"/>
                </a:solidFill>
              </a:rPr>
              <a:t>Label the given task performed for the corresponding occupation</a:t>
            </a:r>
          </a:p>
          <a:p xmlns:a="http://schemas.openxmlformats.org/drawingml/2006/main">
            <a:pPr algn="l">
              <a:defRPr sz="544" b="0" i="0">
                <a:solidFill>
                  <a:srgbClr val="132238"/>
                </a:solidFill>
              </a:defRPr>
            </a:pPr>
            <a:r>
              <a:rPr sz="544" b="0" i="0">
                <a:solidFill>
                  <a:srgbClr val="132238"/>
                </a:solidFill>
              </a:rPr>
              <a:t>with E0/E1/E2/E3.</a:t>
            </a:r>
          </a:p>
          <a:p xmlns:a="http://schemas.openxmlformats.org/drawingml/2006/main">
            <a:pPr algn="l">
              <a:defRPr sz="544" b="0" i="0">
                <a:solidFill>
                  <a:srgbClr val="132238"/>
                </a:solidFill>
              </a:defRPr>
            </a:pPr>
            <a:r>
              <a:rPr sz="544" b="0" i="0">
                <a:solidFill>
                  <a:srgbClr val="132238"/>
                </a:solidFill>
              </a:rPr>
              <a:t>Occupation: {occupation}; Task: {task}</a:t>
            </a:r>
          </a:p>
          <a:p xmlns:a="http://schemas.openxmlformats.org/drawingml/2006/main">
            <a:pPr algn="l">
              <a:defRPr sz="544" b="0" i="0">
                <a:solidFill>
                  <a:srgbClr val="132238"/>
                </a:solidFill>
              </a:defRPr>
            </a:pPr>
            <a:r>
              <a:rPr sz="544" b="0" i="0">
                <a:solidFill>
                  <a:srgbClr val="132238"/>
                </a:solidFill>
              </a:rPr>
              <a:t>Give your response in JSON format like this: {{'label':</a:t>
            </a:r>
          </a:p>
          <a:p xmlns:a="http://schemas.openxmlformats.org/drawingml/2006/main">
            <a:pPr algn="l">
              <a:defRPr sz="544" b="0" i="0">
                <a:solidFill>
                  <a:srgbClr val="132238"/>
                </a:solidFill>
              </a:defRPr>
            </a:pPr>
            <a:r>
              <a:rPr sz="544" b="0" i="0">
                <a:solidFill>
                  <a:srgbClr val="132238"/>
                </a:solidFill>
              </a:rPr>
              <a:t>'final_lable'}}</a:t>
            </a:r>
          </a:p>
        </p:txBody>
      </p:sp>
    </p:spTree>
    <p:extLst>
      <p:ext uri="{BB962C8B-B14F-4D97-AF65-F5344CB8AC3E}">
        <p14:creationId xmlns:p14="http://schemas.microsoft.com/office/powerpoint/2010/main" val="1092474880"/>
      </p:ext>
    </p:extLst>
  </p:cSld>
</p:sld>
</file>

<file path=ppt/slides/slide3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E53F475-F3D2-4112-A8A6-059B2C22D8F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1CF812EB-F0A7-44A7-93DF-7BCACA951666}"/>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APPENDIX A14 | VERBATIM PROMPT</a:t>
            </a:r>
          </a:p>
        </p:txBody>
      </p:sp>
      <p:sp>
        <p:nvSpPr>
          <p:cNvPr id="3" name="">
            <a:extLst xmlns:a="http://schemas.openxmlformats.org/drawingml/2006/main">
              <a:ext uri="{FF2B5EF4-FFF2-40B4-BE49-F238E27FC236}">
                <a16:creationId xmlns:a16="http://schemas.microsoft.com/office/drawing/2014/main" id="{1F4E8235-C2EF-480A-92FF-BD2D2851A5E1}"/>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32238"/>
                </a:solidFill>
              </a:defRPr>
            </a:pPr>
            <a:r>
              <a:rPr sz="2550" b="1" i="0">
                <a:solidFill>
                  <a:srgbClr val="132238"/>
                </a:solidFill>
              </a:rPr>
              <a:t>Current POC guidance: verbatim prompt</a:t>
            </a:r>
          </a:p>
        </p:txBody>
      </p:sp>
      <p:sp>
        <p:nvSpPr>
          <p:cNvPr id="4" name="">
            <a:extLst xmlns:a="http://schemas.openxmlformats.org/drawingml/2006/main">
              <a:ext uri="{FF2B5EF4-FFF2-40B4-BE49-F238E27FC236}">
                <a16:creationId xmlns:a16="http://schemas.microsoft.com/office/drawing/2014/main" id="{988BA78F-57DA-4057-860B-8102B6788189}"/>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Verbatim controlled text used in the study. Line breaks are reflowed for display only; wording is unchanged.</a:t>
            </a:r>
          </a:p>
        </p:txBody>
      </p:sp>
      <p:sp>
        <p:nvSpPr>
          <p:cNvPr id="5" name="">
            <a:extLst xmlns:a="http://schemas.openxmlformats.org/drawingml/2006/main">
              <a:ext uri="{FF2B5EF4-FFF2-40B4-BE49-F238E27FC236}">
                <a16:creationId xmlns:a16="http://schemas.microsoft.com/office/drawing/2014/main" id="{0470E097-9088-42B5-BFC7-83BC957F93F6}"/>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76668EC4-9817-48A1-B602-E0D0FD19F5A8}"/>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Technical appendix | controlled prompt artifacts</a:t>
            </a:r>
          </a:p>
        </p:txBody>
      </p:sp>
      <p:sp>
        <p:nvSpPr>
          <p:cNvPr id="7" name="">
            <a:extLst xmlns:a="http://schemas.openxmlformats.org/drawingml/2006/main">
              <a:ext uri="{FF2B5EF4-FFF2-40B4-BE49-F238E27FC236}">
                <a16:creationId xmlns:a16="http://schemas.microsoft.com/office/drawing/2014/main" id="{7A6A6335-6893-49E1-B4D3-AD1998957403}"/>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32</a:t>
            </a:r>
          </a:p>
        </p:txBody>
      </p:sp>
      <p:sp>
        <p:nvSpPr>
          <p:cNvPr id="8" name="">
            <a:extLst xmlns:a="http://schemas.openxmlformats.org/drawingml/2006/main">
              <a:ext uri="{FF2B5EF4-FFF2-40B4-BE49-F238E27FC236}">
                <a16:creationId xmlns:a16="http://schemas.microsoft.com/office/drawing/2014/main" id="{AADE2666-A811-4FFF-BF8A-1E800DF80BB2}"/>
              </a:ext>
            </a:extLst>
          </p:cNvPr>
          <p:cNvSpPr>
            <a:spLocks xmlns:a="http://schemas.openxmlformats.org/drawingml/2006/main" noGrp="1"/>
          </p:cNvSpPr>
          <p:nvPr/>
        </p:nvSpPr>
        <p:spPr>
          <a:xfrm xmlns:a="http://schemas.openxmlformats.org/drawingml/2006/main">
            <a:off x="685800" y="20955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SYSTEM GUIDANCE FOLLOWED BY USER TEMPLATE</a:t>
            </a:r>
          </a:p>
        </p:txBody>
      </p:sp>
      <p:sp>
        <p:nvSpPr>
          <p:cNvPr id="9" name="">
            <a:extLst xmlns:a="http://schemas.openxmlformats.org/drawingml/2006/main">
              <a:ext uri="{FF2B5EF4-FFF2-40B4-BE49-F238E27FC236}">
                <a16:creationId xmlns:a16="http://schemas.microsoft.com/office/drawing/2014/main" id="{90531285-AFC4-4DF6-AE10-EAC734F82486}"/>
              </a:ext>
            </a:extLst>
          </p:cNvPr>
          <p:cNvSpPr>
            <a:spLocks xmlns:a="http://schemas.openxmlformats.org/drawingml/2006/main" noGrp="1"/>
          </p:cNvSpPr>
          <p:nvPr/>
        </p:nvSpPr>
        <p:spPr>
          <a:xfrm xmlns:a="http://schemas.openxmlformats.org/drawingml/2006/main">
            <a:off x="685800" y="2343150"/>
            <a:ext cx="2524125"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44" b="0" i="0">
                <a:solidFill>
                  <a:srgbClr val="132238"/>
                </a:solidFill>
              </a:defRPr>
            </a:pPr>
            <a:r>
              <a:rPr sz="544" b="0" i="0">
                <a:solidFill>
                  <a:srgbClr val="132238"/>
                </a:solidFill>
              </a:rPr>
              <a:t>[SYSTEM GUIDANCE]</a:t>
            </a:r>
          </a:p>
          <a:p xmlns:a="http://schemas.openxmlformats.org/drawingml/2006/main">
            <a:pPr algn="l">
              <a:defRPr sz="544" b="0" i="0">
                <a:solidFill>
                  <a:srgbClr val="132238"/>
                </a:solidFill>
              </a:defRPr>
            </a:pPr>
            <a:r>
              <a:rPr sz="544" b="0" i="0">
                <a:solidFill>
                  <a:srgbClr val="132238"/>
                </a:solidFill>
              </a:rPr>
              <a:t># E Exposure Taxonomy</a:t>
            </a:r>
          </a:p>
          <a:p xmlns:a="http://schemas.openxmlformats.org/drawingml/2006/main">
            <a:pPr algn="l">
              <a:defRPr sz="544" b="0" i="0">
                <a:solidFill>
                  <a:srgbClr val="132238"/>
                </a:solidFill>
              </a:defRPr>
            </a:pPr>
            <a:r>
              <a:rPr sz="544" b="0" i="0">
                <a:solidFill>
                  <a:srgbClr val="132238"/>
                </a:solidFill>
              </a:rPr>
              <a:t>Consider the most powerful OpenAI large language model (LLM).</a:t>
            </a:r>
          </a:p>
          <a:p xmlns:a="http://schemas.openxmlformats.org/drawingml/2006/main">
            <a:pPr algn="l">
              <a:defRPr sz="544" b="0" i="0">
                <a:solidFill>
                  <a:srgbClr val="132238"/>
                </a:solidFill>
              </a:defRPr>
            </a:pPr>
            <a:r>
              <a:rPr sz="544" b="0" i="0">
                <a:solidFill>
                  <a:srgbClr val="132238"/>
                </a:solidFill>
              </a:rPr>
              <a:t>This model can complete many tasks that can be formulated as</a:t>
            </a:r>
          </a:p>
          <a:p xmlns:a="http://schemas.openxmlformats.org/drawingml/2006/main">
            <a:pPr algn="l">
              <a:defRPr sz="544" b="0" i="0">
                <a:solidFill>
                  <a:srgbClr val="132238"/>
                </a:solidFill>
              </a:defRPr>
            </a:pPr>
            <a:r>
              <a:rPr sz="544" b="0" i="0">
                <a:solidFill>
                  <a:srgbClr val="132238"/>
                </a:solidFill>
              </a:rPr>
              <a:t>having text input and text output where the context for the</a:t>
            </a:r>
          </a:p>
          <a:p xmlns:a="http://schemas.openxmlformats.org/drawingml/2006/main">
            <a:pPr algn="l">
              <a:defRPr sz="544" b="0" i="0">
                <a:solidFill>
                  <a:srgbClr val="132238"/>
                </a:solidFill>
              </a:defRPr>
            </a:pPr>
            <a:r>
              <a:rPr sz="544" b="0" i="0">
                <a:solidFill>
                  <a:srgbClr val="132238"/>
                </a:solidFill>
              </a:rPr>
              <a:t>input can be captured in 2000 words. The model also cannot draw</a:t>
            </a:r>
          </a:p>
          <a:p xmlns:a="http://schemas.openxmlformats.org/drawingml/2006/main">
            <a:pPr algn="l">
              <a:defRPr sz="544" b="0" i="0">
                <a:solidFill>
                  <a:srgbClr val="132238"/>
                </a:solidFill>
              </a:defRPr>
            </a:pPr>
            <a:r>
              <a:rPr sz="544" b="0" i="0">
                <a:solidFill>
                  <a:srgbClr val="132238"/>
                </a:solidFill>
              </a:rPr>
              <a:t>up-to-date facts (those from &lt;1 year ago) unless they are</a:t>
            </a:r>
          </a:p>
          <a:p xmlns:a="http://schemas.openxmlformats.org/drawingml/2006/main">
            <a:pPr algn="l">
              <a:defRPr sz="544" b="0" i="0">
                <a:solidFill>
                  <a:srgbClr val="132238"/>
                </a:solidFill>
              </a:defRPr>
            </a:pPr>
            <a:r>
              <a:rPr sz="544" b="0" i="0">
                <a:solidFill>
                  <a:srgbClr val="132238"/>
                </a:solidFill>
              </a:rPr>
              <a:t>captured in the input.</a:t>
            </a:r>
          </a:p>
          <a:p xmlns:a="http://schemas.openxmlformats.org/drawingml/2006/main">
            <a:pPr algn="l">
              <a:defRPr sz="544" b="0" i="0">
                <a:solidFill>
                  <a:srgbClr val="132238"/>
                </a:solidFill>
              </a:defRPr>
            </a:pPr>
            <a:r>
              <a:rPr sz="544" b="0" i="0">
                <a:solidFill>
                  <a:srgbClr val="132238"/>
                </a:solidFill>
              </a:rPr>
              <a:t>Assume you are a worker with an average level of expertise in</a:t>
            </a:r>
          </a:p>
          <a:p xmlns:a="http://schemas.openxmlformats.org/drawingml/2006/main">
            <a:pPr algn="l">
              <a:defRPr sz="544" b="0" i="0">
                <a:solidFill>
                  <a:srgbClr val="132238"/>
                </a:solidFill>
              </a:defRPr>
            </a:pPr>
            <a:r>
              <a:rPr sz="544" b="0" i="0">
                <a:solidFill>
                  <a:srgbClr val="132238"/>
                </a:solidFill>
              </a:rPr>
              <a:t>your role trying to complete the given task. You have access to</a:t>
            </a:r>
          </a:p>
          <a:p xmlns:a="http://schemas.openxmlformats.org/drawingml/2006/main">
            <a:pPr algn="l">
              <a:defRPr sz="544" b="0" i="0">
                <a:solidFill>
                  <a:srgbClr val="132238"/>
                </a:solidFill>
              </a:defRPr>
            </a:pPr>
            <a:r>
              <a:rPr sz="544" b="0" i="0">
                <a:solidFill>
                  <a:srgbClr val="132238"/>
                </a:solidFill>
              </a:rPr>
              <a:t>the LLM as well as any other existing software or computer</a:t>
            </a:r>
          </a:p>
          <a:p xmlns:a="http://schemas.openxmlformats.org/drawingml/2006/main">
            <a:pPr algn="l">
              <a:defRPr sz="544" b="0" i="0">
                <a:solidFill>
                  <a:srgbClr val="132238"/>
                </a:solidFill>
              </a:defRPr>
            </a:pPr>
            <a:r>
              <a:rPr sz="544" b="0" i="0">
                <a:solidFill>
                  <a:srgbClr val="132238"/>
                </a:solidFill>
              </a:rPr>
              <a:t>hardware tools mentioned in the task. You also have access to</a:t>
            </a:r>
          </a:p>
          <a:p xmlns:a="http://schemas.openxmlformats.org/drawingml/2006/main">
            <a:pPr algn="l">
              <a:defRPr sz="544" b="0" i="0">
                <a:solidFill>
                  <a:srgbClr val="132238"/>
                </a:solidFill>
              </a:defRPr>
            </a:pPr>
            <a:r>
              <a:rPr sz="544" b="0" i="0">
                <a:solidFill>
                  <a:srgbClr val="132238"/>
                </a:solidFill>
              </a:rPr>
              <a:t>any commonly available technical tools accessible via a laptop</a:t>
            </a:r>
          </a:p>
          <a:p xmlns:a="http://schemas.openxmlformats.org/drawingml/2006/main">
            <a:pPr algn="l">
              <a:defRPr sz="544" b="0" i="0">
                <a:solidFill>
                  <a:srgbClr val="132238"/>
                </a:solidFill>
              </a:defRPr>
            </a:pPr>
            <a:r>
              <a:rPr sz="544" b="0" i="0">
                <a:solidFill>
                  <a:srgbClr val="132238"/>
                </a:solidFill>
              </a:rPr>
              <a:t>(e.g. a microphone, speakers, etc.). You do not have access to</a:t>
            </a:r>
          </a:p>
          <a:p xmlns:a="http://schemas.openxmlformats.org/drawingml/2006/main">
            <a:pPr algn="l">
              <a:defRPr sz="544" b="0" i="0">
                <a:solidFill>
                  <a:srgbClr val="132238"/>
                </a:solidFill>
              </a:defRPr>
            </a:pPr>
            <a:r>
              <a:rPr sz="544" b="0" i="0">
                <a:solidFill>
                  <a:srgbClr val="132238"/>
                </a:solidFill>
              </a:rPr>
              <a:t>any other physical tools or materials.</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Please label the given task performed for the corresponding</a:t>
            </a:r>
          </a:p>
          <a:p xmlns:a="http://schemas.openxmlformats.org/drawingml/2006/main">
            <a:pPr algn="l">
              <a:defRPr sz="544" b="0" i="0">
                <a:solidFill>
                  <a:srgbClr val="132238"/>
                </a:solidFill>
              </a:defRPr>
            </a:pPr>
            <a:r>
              <a:rPr sz="544" b="0" i="0">
                <a:solidFill>
                  <a:srgbClr val="132238"/>
                </a:solidFill>
              </a:rPr>
              <a:t>occupation according to the taxonomy below.</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 DECISION HEURISTICS</a:t>
            </a:r>
          </a:p>
          <a:p xmlns:a="http://schemas.openxmlformats.org/drawingml/2006/main">
            <a:pPr algn="l">
              <a:defRPr sz="544" b="0" i="0">
                <a:solidFill>
                  <a:srgbClr val="132238"/>
                </a:solidFill>
              </a:defRPr>
            </a:pPr>
            <a:r>
              <a:rPr sz="544" b="0" i="0">
                <a:solidFill>
                  <a:srgbClr val="132238"/>
                </a:solidFill>
              </a:rPr>
              <a:t>Focus on the PRIMARY OUTPUT of the task, not the surrounding</a:t>
            </a:r>
          </a:p>
          <a:p xmlns:a="http://schemas.openxmlformats.org/drawingml/2006/main">
            <a:pPr algn="l">
              <a:defRPr sz="544" b="0" i="0">
                <a:solidFill>
                  <a:srgbClr val="132238"/>
                </a:solidFill>
              </a:defRPr>
            </a:pPr>
            <a:r>
              <a:rPr sz="544" b="0" i="0">
                <a:solidFill>
                  <a:srgbClr val="132238"/>
                </a:solidFill>
              </a:rPr>
              <a:t>context. If the main deliverable is a document, analysis,</a:t>
            </a:r>
          </a:p>
          <a:p xmlns:a="http://schemas.openxmlformats.org/drawingml/2006/main">
            <a:pPr algn="l">
              <a:defRPr sz="544" b="0" i="0">
                <a:solidFill>
                  <a:srgbClr val="132238"/>
                </a:solidFill>
              </a:defRPr>
            </a:pPr>
            <a:r>
              <a:rPr sz="544" b="0" i="0">
                <a:solidFill>
                  <a:srgbClr val="132238"/>
                </a:solidFill>
              </a:rPr>
              <a:t>presentation, report, or written communication — it is likely E1</a:t>
            </a:r>
          </a:p>
          <a:p xmlns:a="http://schemas.openxmlformats.org/drawingml/2006/main">
            <a:pPr algn="l">
              <a:defRPr sz="544" b="0" i="0">
                <a:solidFill>
                  <a:srgbClr val="132238"/>
                </a:solidFill>
              </a:defRPr>
            </a:pPr>
            <a:r>
              <a:rPr sz="544" b="0" i="0">
                <a:solidFill>
                  <a:srgbClr val="132238"/>
                </a:solidFill>
              </a:rPr>
              <a:t>or E2 even if the task also involves some stakeholder</a:t>
            </a:r>
          </a:p>
          <a:p xmlns:a="http://schemas.openxmlformats.org/drawingml/2006/main">
            <a:pPr algn="l">
              <a:defRPr sz="544" b="0" i="0">
                <a:solidFill>
                  <a:srgbClr val="132238"/>
                </a:solidFill>
              </a:defRPr>
            </a:pPr>
            <a:r>
              <a:rPr sz="544" b="0" i="0">
                <a:solidFill>
                  <a:srgbClr val="132238"/>
                </a:solidFill>
              </a:rPr>
              <a:t>interaction or judgment.</a:t>
            </a:r>
          </a:p>
          <a:p xmlns:a="http://schemas.openxmlformats.org/drawingml/2006/main">
            <a:pPr algn="l">
              <a:defRPr sz="544" b="0" i="0">
                <a:solidFill>
                  <a:srgbClr val="132238"/>
                </a:solidFill>
              </a:defRPr>
            </a:pPr>
            <a:r>
              <a:rPr sz="544" b="0" i="0">
                <a:solidFill>
                  <a:srgbClr val="132238"/>
                </a:solidFill>
              </a:rPr>
              <a:t>Almost every professional task involves some human judgment. The</a:t>
            </a:r>
          </a:p>
          <a:p xmlns:a="http://schemas.openxmlformats.org/drawingml/2006/main">
            <a:pPr algn="l">
              <a:defRPr sz="544" b="0" i="0">
                <a:solidFill>
                  <a:srgbClr val="132238"/>
                </a:solidFill>
              </a:defRPr>
            </a:pPr>
            <a:r>
              <a:rPr sz="544" b="0" i="0">
                <a:solidFill>
                  <a:srgbClr val="132238"/>
                </a:solidFill>
              </a:rPr>
              <a:t>question is whether an LLM (or LLM-powered software) can reduce</a:t>
            </a:r>
          </a:p>
          <a:p xmlns:a="http://schemas.openxmlformats.org/drawingml/2006/main">
            <a:pPr algn="l">
              <a:defRPr sz="544" b="0" i="0">
                <a:solidFill>
                  <a:srgbClr val="132238"/>
                </a:solidFill>
              </a:defRPr>
            </a:pPr>
            <a:r>
              <a:rPr sz="544" b="0" i="0">
                <a:solidFill>
                  <a:srgbClr val="132238"/>
                </a:solidFill>
              </a:rPr>
              <a:t>the CORE WORK by 50%, not whether the task has any human element</a:t>
            </a:r>
          </a:p>
          <a:p xmlns:a="http://schemas.openxmlformats.org/drawingml/2006/main">
            <a:pPr algn="l">
              <a:defRPr sz="544" b="0" i="0">
                <a:solidFill>
                  <a:srgbClr val="132238"/>
                </a:solidFill>
              </a:defRPr>
            </a:pPr>
            <a:r>
              <a:rPr sz="544" b="0" i="0">
                <a:solidFill>
                  <a:srgbClr val="132238"/>
                </a:solidFill>
              </a:rPr>
              <a:t>at all.</a:t>
            </a:r>
          </a:p>
          <a:p xmlns:a="http://schemas.openxmlformats.org/drawingml/2006/main">
            <a:pPr algn="l">
              <a:defRPr sz="544" b="0" i="0">
                <a:solidFill>
                  <a:srgbClr val="132238"/>
                </a:solidFill>
              </a:defRPr>
            </a:pPr>
            <a:r>
              <a:rPr sz="544" b="0" i="0">
                <a:solidFill>
                  <a:srgbClr val="132238"/>
                </a:solidFill>
              </a:rPr>
              <a:t>Ask yourself: what is the worker spending most of their time</a:t>
            </a:r>
          </a:p>
          <a:p xmlns:a="http://schemas.openxmlformats.org/drawingml/2006/main">
            <a:pPr algn="l">
              <a:defRPr sz="544" b="0" i="0">
                <a:solidFill>
                  <a:srgbClr val="132238"/>
                </a:solidFill>
              </a:defRPr>
            </a:pPr>
            <a:r>
              <a:rPr sz="544" b="0" i="0">
                <a:solidFill>
                  <a:srgbClr val="132238"/>
                </a:solidFill>
              </a:rPr>
              <a:t>doing? If it is reading, writing, researching, analysing data,</a:t>
            </a:r>
          </a:p>
          <a:p xmlns:a="http://schemas.openxmlformats.org/drawingml/2006/main">
            <a:pPr algn="l">
              <a:defRPr sz="544" b="0" i="0">
                <a:solidFill>
                  <a:srgbClr val="132238"/>
                </a:solidFill>
              </a:defRPr>
            </a:pPr>
            <a:r>
              <a:rPr sz="544" b="0" i="0">
                <a:solidFill>
                  <a:srgbClr val="132238"/>
                </a:solidFill>
              </a:rPr>
              <a:t>or synthesising information — that is automatable. If it is</a:t>
            </a:r>
          </a:p>
          <a:p xmlns:a="http://schemas.openxmlformats.org/drawingml/2006/main">
            <a:pPr algn="l">
              <a:defRPr sz="544" b="0" i="0">
                <a:solidFill>
                  <a:srgbClr val="132238"/>
                </a:solidFill>
              </a:defRPr>
            </a:pPr>
            <a:r>
              <a:rPr sz="544" b="0" i="0">
                <a:solidFill>
                  <a:srgbClr val="132238"/>
                </a:solidFill>
              </a:rPr>
              <a:t>physically present with people, coaching face-to-face,</a:t>
            </a:r>
          </a:p>
          <a:p xmlns:a="http://schemas.openxmlformats.org/drawingml/2006/main">
            <a:pPr algn="l">
              <a:defRPr sz="544" b="0" i="0">
                <a:solidFill>
                  <a:srgbClr val="132238"/>
                </a:solidFill>
              </a:defRPr>
            </a:pPr>
            <a:r>
              <a:rPr sz="544" b="0" i="0">
                <a:solidFill>
                  <a:srgbClr val="132238"/>
                </a:solidFill>
              </a:rPr>
              <a:t>facilitating live discussions, or building relationships through</a:t>
            </a:r>
          </a:p>
          <a:p xmlns:a="http://schemas.openxmlformats.org/drawingml/2006/main">
            <a:pPr algn="l">
              <a:defRPr sz="544" b="0" i="0">
                <a:solidFill>
                  <a:srgbClr val="132238"/>
                </a:solidFill>
              </a:defRPr>
            </a:pPr>
            <a:r>
              <a:rPr sz="544" b="0" i="0">
                <a:solidFill>
                  <a:srgbClr val="132238"/>
                </a:solidFill>
              </a:rPr>
              <a:t>personal interaction — that is E0.</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 E0 – No exposure</a:t>
            </a:r>
          </a:p>
          <a:p xmlns:a="http://schemas.openxmlformats.org/drawingml/2006/main">
            <a:pPr algn="l">
              <a:defRPr sz="544" b="0" i="0">
                <a:solidFill>
                  <a:srgbClr val="132238"/>
                </a:solidFill>
              </a:defRPr>
            </a:pPr>
            <a:r>
              <a:rPr sz="544" b="0" i="0">
                <a:solidFill>
                  <a:srgbClr val="132238"/>
                </a:solidFill>
              </a:rPr>
              <a:t>Label tasks E0 if direct access to the LLM through an interface</a:t>
            </a:r>
          </a:p>
          <a:p xmlns:a="http://schemas.openxmlformats.org/drawingml/2006/main">
            <a:pPr algn="l">
              <a:defRPr sz="544" b="0" i="0">
                <a:solidFill>
                  <a:srgbClr val="132238"/>
                </a:solidFill>
              </a:defRPr>
            </a:pPr>
            <a:r>
              <a:rPr sz="544" b="0" i="0">
                <a:solidFill>
                  <a:srgbClr val="132238"/>
                </a:solidFill>
              </a:rPr>
              <a:t>like ChatGPT or the OpenAI playground cannot reduce the time it</a:t>
            </a:r>
          </a:p>
          <a:p xmlns:a="http://schemas.openxmlformats.org/drawingml/2006/main">
            <a:pPr algn="l">
              <a:defRPr sz="544" b="0" i="0">
                <a:solidFill>
                  <a:srgbClr val="132238"/>
                </a:solidFill>
              </a:defRPr>
            </a:pPr>
            <a:r>
              <a:rPr sz="544" b="0" i="0">
                <a:solidFill>
                  <a:srgbClr val="132238"/>
                </a:solidFill>
              </a:rPr>
              <a:t>takes to complete this task with equivalent quality by half or</a:t>
            </a:r>
          </a:p>
          <a:p xmlns:a="http://schemas.openxmlformats.org/drawingml/2006/main">
            <a:pPr algn="l">
              <a:defRPr sz="544" b="0" i="0">
                <a:solidFill>
                  <a:srgbClr val="132238"/>
                </a:solidFill>
              </a:defRPr>
            </a:pPr>
            <a:r>
              <a:rPr sz="544" b="0" i="0">
                <a:solidFill>
                  <a:srgbClr val="132238"/>
                </a:solidFill>
              </a:rPr>
              <a:t>more. If a task requires a high degree of human interaction (for</a:t>
            </a:r>
          </a:p>
          <a:p xmlns:a="http://schemas.openxmlformats.org/drawingml/2006/main">
            <a:pPr algn="l">
              <a:defRPr sz="544" b="0" i="0">
                <a:solidFill>
                  <a:srgbClr val="132238"/>
                </a:solidFill>
              </a:defRPr>
            </a:pPr>
            <a:r>
              <a:rPr sz="544" b="0" i="0">
                <a:solidFill>
                  <a:srgbClr val="132238"/>
                </a:solidFill>
              </a:rPr>
              <a:t>example, in person demonstrations) then it should be classified</a:t>
            </a:r>
          </a:p>
          <a:p xmlns:a="http://schemas.openxmlformats.org/drawingml/2006/main">
            <a:pPr algn="l">
              <a:defRPr sz="544" b="0" i="0">
                <a:solidFill>
                  <a:srgbClr val="132238"/>
                </a:solidFill>
              </a:defRPr>
            </a:pPr>
            <a:r>
              <a:rPr sz="544" b="0" i="0">
                <a:solidFill>
                  <a:srgbClr val="132238"/>
                </a:solidFill>
              </a:rPr>
              <a:t>as E0.</a:t>
            </a:r>
          </a:p>
          <a:p xmlns:a="http://schemas.openxmlformats.org/drawingml/2006/main">
            <a:pPr algn="l">
              <a:defRPr sz="544" b="0" i="0">
                <a:solidFill>
                  <a:srgbClr val="132238"/>
                </a:solidFill>
              </a:defRPr>
            </a:pPr>
            <a:r>
              <a:rPr sz="544" b="0" i="0">
                <a:solidFill>
                  <a:srgbClr val="132238"/>
                </a:solidFill>
              </a:rPr>
              <a:t>E0 is reserved for tasks where the PRIMARY ACTIVITY is physical,</a:t>
            </a:r>
          </a:p>
          <a:p xmlns:a="http://schemas.openxmlformats.org/drawingml/2006/main">
            <a:pPr algn="l">
              <a:defRPr sz="544" b="0" i="0">
                <a:solidFill>
                  <a:srgbClr val="132238"/>
                </a:solidFill>
              </a:defRPr>
            </a:pPr>
            <a:r>
              <a:rPr sz="544" b="0" i="0">
                <a:solidFill>
                  <a:srgbClr val="132238"/>
                </a:solidFill>
              </a:rPr>
              <a:t>interpersonal, or requires real-time human presence — such as</a:t>
            </a:r>
          </a:p>
          <a:p xmlns:a="http://schemas.openxmlformats.org/drawingml/2006/main">
            <a:pPr algn="l">
              <a:defRPr sz="544" b="0" i="0">
                <a:solidFill>
                  <a:srgbClr val="132238"/>
                </a:solidFill>
              </a:defRPr>
            </a:pPr>
            <a:r>
              <a:rPr sz="544" b="0" i="0">
                <a:solidFill>
                  <a:srgbClr val="132238"/>
                </a:solidFill>
              </a:rPr>
              <a:t>coaching sessions, facilitating live meetings, in-person</a:t>
            </a:r>
          </a:p>
          <a:p xmlns:a="http://schemas.openxmlformats.org/drawingml/2006/main">
            <a:pPr algn="l">
              <a:defRPr sz="544" b="0" i="0">
                <a:solidFill>
                  <a:srgbClr val="132238"/>
                </a:solidFill>
              </a:defRPr>
            </a:pPr>
            <a:r>
              <a:rPr sz="544" b="0" i="0">
                <a:solidFill>
                  <a:srgbClr val="132238"/>
                </a:solidFill>
              </a:rPr>
              <a:t>demonstrations, managing relationships, or providing emotional</a:t>
            </a:r>
          </a:p>
        </p:txBody>
      </p:sp>
      <p:sp>
        <p:nvSpPr>
          <p:cNvPr id="10" name="">
            <a:extLst xmlns:a="http://schemas.openxmlformats.org/drawingml/2006/main">
              <a:ext uri="{FF2B5EF4-FFF2-40B4-BE49-F238E27FC236}">
                <a16:creationId xmlns:a16="http://schemas.microsoft.com/office/drawing/2014/main" id="{532DAD7C-AC29-4288-BABC-2FDA3716B4AD}"/>
              </a:ext>
            </a:extLst>
          </p:cNvPr>
          <p:cNvSpPr>
            <a:spLocks xmlns:a="http://schemas.openxmlformats.org/drawingml/2006/main" noGrp="1"/>
          </p:cNvSpPr>
          <p:nvPr/>
        </p:nvSpPr>
        <p:spPr>
          <a:xfrm xmlns:a="http://schemas.openxmlformats.org/drawingml/2006/main">
            <a:off x="3305175" y="2305050"/>
            <a:ext cx="0" cy="394335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1" name="">
            <a:extLst xmlns:a="http://schemas.openxmlformats.org/drawingml/2006/main">
              <a:ext uri="{FF2B5EF4-FFF2-40B4-BE49-F238E27FC236}">
                <a16:creationId xmlns:a16="http://schemas.microsoft.com/office/drawing/2014/main" id="{28D6FB6C-F537-49AF-9E96-A8221C55EEDE}"/>
              </a:ext>
            </a:extLst>
          </p:cNvPr>
          <p:cNvSpPr>
            <a:spLocks xmlns:a="http://schemas.openxmlformats.org/drawingml/2006/main" noGrp="1"/>
          </p:cNvSpPr>
          <p:nvPr/>
        </p:nvSpPr>
        <p:spPr>
          <a:xfrm xmlns:a="http://schemas.openxmlformats.org/drawingml/2006/main">
            <a:off x="3400425" y="2343150"/>
            <a:ext cx="2524125"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44" b="0" i="0">
                <a:solidFill>
                  <a:srgbClr val="132238"/>
                </a:solidFill>
              </a:defRPr>
            </a:pPr>
            <a:r>
              <a:rPr sz="544" b="0" i="0">
                <a:solidFill>
                  <a:srgbClr val="132238"/>
                </a:solidFill>
              </a:rPr>
              <a:t>support.</a:t>
            </a:r>
          </a:p>
          <a:p xmlns:a="http://schemas.openxmlformats.org/drawingml/2006/main">
            <a:pPr algn="l">
              <a:defRPr sz="544" b="0" i="0">
                <a:solidFill>
                  <a:srgbClr val="132238"/>
                </a:solidFill>
              </a:defRPr>
            </a:pPr>
            <a:r>
              <a:rPr sz="544" b="0" i="0">
                <a:solidFill>
                  <a:srgbClr val="132238"/>
                </a:solidFill>
              </a:rPr>
              <a:t>Do NOT classify a task as E0 simply because it involves some</a:t>
            </a:r>
          </a:p>
          <a:p xmlns:a="http://schemas.openxmlformats.org/drawingml/2006/main">
            <a:pPr algn="l">
              <a:defRPr sz="544" b="0" i="0">
                <a:solidFill>
                  <a:srgbClr val="132238"/>
                </a:solidFill>
              </a:defRPr>
            </a:pPr>
            <a:r>
              <a:rPr sz="544" b="0" i="0">
                <a:solidFill>
                  <a:srgbClr val="132238"/>
                </a:solidFill>
              </a:rPr>
              <a:t>judgment or decision-making. If the core work involves writing,</a:t>
            </a:r>
          </a:p>
          <a:p xmlns:a="http://schemas.openxmlformats.org/drawingml/2006/main">
            <a:pPr algn="l">
              <a:defRPr sz="544" b="0" i="0">
                <a:solidFill>
                  <a:srgbClr val="132238"/>
                </a:solidFill>
              </a:defRPr>
            </a:pPr>
            <a:r>
              <a:rPr sz="544" b="0" i="0">
                <a:solidFill>
                  <a:srgbClr val="132238"/>
                </a:solidFill>
              </a:rPr>
              <a:t>analysis, research, or information synthesis, it belongs in E1</a:t>
            </a:r>
          </a:p>
          <a:p xmlns:a="http://schemas.openxmlformats.org/drawingml/2006/main">
            <a:pPr algn="l">
              <a:defRPr sz="544" b="0" i="0">
                <a:solidFill>
                  <a:srgbClr val="132238"/>
                </a:solidFill>
              </a:defRPr>
            </a:pPr>
            <a:r>
              <a:rPr sz="544" b="0" i="0">
                <a:solidFill>
                  <a:srgbClr val="132238"/>
                </a:solidFill>
              </a:rPr>
              <a:t>or E2 even if judgment is also needed.</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 E1 – Direct exposure</a:t>
            </a:r>
          </a:p>
          <a:p xmlns:a="http://schemas.openxmlformats.org/drawingml/2006/main">
            <a:pPr algn="l">
              <a:defRPr sz="544" b="0" i="0">
                <a:solidFill>
                  <a:srgbClr val="132238"/>
                </a:solidFill>
              </a:defRPr>
            </a:pPr>
            <a:r>
              <a:rPr sz="544" b="0" i="0">
                <a:solidFill>
                  <a:srgbClr val="132238"/>
                </a:solidFill>
              </a:rPr>
              <a:t>Label tasks E1 if direct access to the LLM through an interface</a:t>
            </a:r>
          </a:p>
          <a:p xmlns:a="http://schemas.openxmlformats.org/drawingml/2006/main">
            <a:pPr algn="l">
              <a:defRPr sz="544" b="0" i="0">
                <a:solidFill>
                  <a:srgbClr val="132238"/>
                </a:solidFill>
              </a:defRPr>
            </a:pPr>
            <a:r>
              <a:rPr sz="544" b="0" i="0">
                <a:solidFill>
                  <a:srgbClr val="132238"/>
                </a:solidFill>
              </a:rPr>
              <a:t>like ChatGPT or the OpenAI playground alone can reduce the time</a:t>
            </a:r>
          </a:p>
          <a:p xmlns:a="http://schemas.openxmlformats.org/drawingml/2006/main">
            <a:pPr algn="l">
              <a:defRPr sz="544" b="0" i="0">
                <a:solidFill>
                  <a:srgbClr val="132238"/>
                </a:solidFill>
              </a:defRPr>
            </a:pPr>
            <a:r>
              <a:rPr sz="544" b="0" i="0">
                <a:solidFill>
                  <a:srgbClr val="132238"/>
                </a:solidFill>
              </a:rPr>
              <a:t>it takes to complete the task with equivalent quality by at</a:t>
            </a:r>
          </a:p>
          <a:p xmlns:a="http://schemas.openxmlformats.org/drawingml/2006/main">
            <a:pPr algn="l">
              <a:defRPr sz="544" b="0" i="0">
                <a:solidFill>
                  <a:srgbClr val="132238"/>
                </a:solidFill>
              </a:defRPr>
            </a:pPr>
            <a:r>
              <a:rPr sz="544" b="0" i="0">
                <a:solidFill>
                  <a:srgbClr val="132238"/>
                </a:solidFill>
              </a:rPr>
              <a:t>least half.</a:t>
            </a:r>
          </a:p>
          <a:p xmlns:a="http://schemas.openxmlformats.org/drawingml/2006/main">
            <a:pPr algn="l">
              <a:defRPr sz="544" b="0" i="0">
                <a:solidFill>
                  <a:srgbClr val="132238"/>
                </a:solidFill>
              </a:defRPr>
            </a:pPr>
            <a:r>
              <a:rPr sz="544" b="0" i="0">
                <a:solidFill>
                  <a:srgbClr val="132238"/>
                </a:solidFill>
              </a:rPr>
              <a:t>SIGNAL: Tasks where the primary output is text are typically E1</a:t>
            </a:r>
          </a:p>
          <a:p xmlns:a="http://schemas.openxmlformats.org/drawingml/2006/main">
            <a:pPr algn="l">
              <a:defRPr sz="544" b="0" i="0">
                <a:solidFill>
                  <a:srgbClr val="132238"/>
                </a:solidFill>
              </a:defRPr>
            </a:pPr>
            <a:r>
              <a:rPr sz="544" b="0" i="0">
                <a:solidFill>
                  <a:srgbClr val="132238"/>
                </a:solidFill>
              </a:rPr>
              <a:t>— drafting documents, writing communications, creating</a:t>
            </a:r>
          </a:p>
          <a:p xmlns:a="http://schemas.openxmlformats.org/drawingml/2006/main">
            <a:pPr algn="l">
              <a:defRPr sz="544" b="0" i="0">
                <a:solidFill>
                  <a:srgbClr val="132238"/>
                </a:solidFill>
              </a:defRPr>
            </a:pPr>
            <a:r>
              <a:rPr sz="544" b="0" i="0">
                <a:solidFill>
                  <a:srgbClr val="132238"/>
                </a:solidFill>
              </a:rPr>
              <a:t>recommendations, reviewing or advising in written form,</a:t>
            </a:r>
          </a:p>
          <a:p xmlns:a="http://schemas.openxmlformats.org/drawingml/2006/main">
            <a:pPr algn="l">
              <a:defRPr sz="544" b="0" i="0">
                <a:solidFill>
                  <a:srgbClr val="132238"/>
                </a:solidFill>
              </a:defRPr>
            </a:pPr>
            <a:r>
              <a:rPr sz="544" b="0" i="0">
                <a:solidFill>
                  <a:srgbClr val="132238"/>
                </a:solidFill>
              </a:rPr>
              <a:t>preparing presentations, justifying proposals, or producing any</a:t>
            </a:r>
          </a:p>
          <a:p xmlns:a="http://schemas.openxmlformats.org/drawingml/2006/main">
            <a:pPr algn="l">
              <a:defRPr sz="544" b="0" i="0">
                <a:solidFill>
                  <a:srgbClr val="132238"/>
                </a:solidFill>
              </a:defRPr>
            </a:pPr>
            <a:r>
              <a:rPr sz="544" b="0" i="0">
                <a:solidFill>
                  <a:srgbClr val="132238"/>
                </a:solidFill>
              </a:rPr>
              <a:t>written deliverable.</a:t>
            </a:r>
          </a:p>
          <a:p xmlns:a="http://schemas.openxmlformats.org/drawingml/2006/main">
            <a:pPr algn="l">
              <a:defRPr sz="544" b="0" i="0">
                <a:solidFill>
                  <a:srgbClr val="132238"/>
                </a:solidFill>
              </a:defRPr>
            </a:pPr>
            <a:r>
              <a:rPr sz="544" b="0" i="0">
                <a:solidFill>
                  <a:srgbClr val="132238"/>
                </a:solidFill>
              </a:rPr>
              <a:t>This includes tasks that can be reduced to:</a:t>
            </a:r>
          </a:p>
          <a:p xmlns:a="http://schemas.openxmlformats.org/drawingml/2006/main">
            <a:pPr algn="l">
              <a:defRPr sz="544" b="0" i="0">
                <a:solidFill>
                  <a:srgbClr val="132238"/>
                </a:solidFill>
              </a:defRPr>
            </a:pPr>
            <a:r>
              <a:rPr sz="544" b="0" i="0">
                <a:solidFill>
                  <a:srgbClr val="132238"/>
                </a:solidFill>
              </a:rPr>
              <a:t>- Writing and transforming text and code according to complex</a:t>
            </a:r>
          </a:p>
          <a:p xmlns:a="http://schemas.openxmlformats.org/drawingml/2006/main">
            <a:pPr algn="l">
              <a:defRPr sz="544" b="0" i="0">
                <a:solidFill>
                  <a:srgbClr val="132238"/>
                </a:solidFill>
              </a:defRPr>
            </a:pPr>
            <a:r>
              <a:rPr sz="544" b="0" i="0">
                <a:solidFill>
                  <a:srgbClr val="132238"/>
                </a:solidFill>
              </a:rPr>
              <a:t>instructions</a:t>
            </a:r>
          </a:p>
          <a:p xmlns:a="http://schemas.openxmlformats.org/drawingml/2006/main">
            <a:pPr algn="l">
              <a:defRPr sz="544" b="0" i="0">
                <a:solidFill>
                  <a:srgbClr val="132238"/>
                </a:solidFill>
              </a:defRPr>
            </a:pPr>
            <a:r>
              <a:rPr sz="544" b="0" i="0">
                <a:solidFill>
                  <a:srgbClr val="132238"/>
                </a:solidFill>
              </a:rPr>
              <a:t>- Providing edits to existing text or code following</a:t>
            </a:r>
          </a:p>
          <a:p xmlns:a="http://schemas.openxmlformats.org/drawingml/2006/main">
            <a:pPr algn="l">
              <a:defRPr sz="544" b="0" i="0">
                <a:solidFill>
                  <a:srgbClr val="132238"/>
                </a:solidFill>
              </a:defRPr>
            </a:pPr>
            <a:r>
              <a:rPr sz="544" b="0" i="0">
                <a:solidFill>
                  <a:srgbClr val="132238"/>
                </a:solidFill>
              </a:rPr>
              <a:t>specifications</a:t>
            </a:r>
          </a:p>
          <a:p xmlns:a="http://schemas.openxmlformats.org/drawingml/2006/main">
            <a:pPr algn="l">
              <a:defRPr sz="544" b="0" i="0">
                <a:solidFill>
                  <a:srgbClr val="132238"/>
                </a:solidFill>
              </a:defRPr>
            </a:pPr>
            <a:r>
              <a:rPr sz="544" b="0" i="0">
                <a:solidFill>
                  <a:srgbClr val="132238"/>
                </a:solidFill>
              </a:rPr>
              <a:t>- Writing code that can help perform a task that used to be done</a:t>
            </a:r>
          </a:p>
          <a:p xmlns:a="http://schemas.openxmlformats.org/drawingml/2006/main">
            <a:pPr algn="l">
              <a:defRPr sz="544" b="0" i="0">
                <a:solidFill>
                  <a:srgbClr val="132238"/>
                </a:solidFill>
              </a:defRPr>
            </a:pPr>
            <a:r>
              <a:rPr sz="544" b="0" i="0">
                <a:solidFill>
                  <a:srgbClr val="132238"/>
                </a:solidFill>
              </a:rPr>
              <a:t>by hand</a:t>
            </a:r>
          </a:p>
          <a:p xmlns:a="http://schemas.openxmlformats.org/drawingml/2006/main">
            <a:pPr algn="l">
              <a:defRPr sz="544" b="0" i="0">
                <a:solidFill>
                  <a:srgbClr val="132238"/>
                </a:solidFill>
              </a:defRPr>
            </a:pPr>
            <a:r>
              <a:rPr sz="544" b="0" i="0">
                <a:solidFill>
                  <a:srgbClr val="132238"/>
                </a:solidFill>
              </a:rPr>
              <a:t>- Translating text between languages</a:t>
            </a:r>
          </a:p>
          <a:p xmlns:a="http://schemas.openxmlformats.org/drawingml/2006/main">
            <a:pPr algn="l">
              <a:defRPr sz="544" b="0" i="0">
                <a:solidFill>
                  <a:srgbClr val="132238"/>
                </a:solidFill>
              </a:defRPr>
            </a:pPr>
            <a:r>
              <a:rPr sz="544" b="0" i="0">
                <a:solidFill>
                  <a:srgbClr val="132238"/>
                </a:solidFill>
              </a:rPr>
              <a:t>- Summarizing medium-length documents</a:t>
            </a:r>
          </a:p>
          <a:p xmlns:a="http://schemas.openxmlformats.org/drawingml/2006/main">
            <a:pPr algn="l">
              <a:defRPr sz="544" b="0" i="0">
                <a:solidFill>
                  <a:srgbClr val="132238"/>
                </a:solidFill>
              </a:defRPr>
            </a:pPr>
            <a:r>
              <a:rPr sz="544" b="0" i="0">
                <a:solidFill>
                  <a:srgbClr val="132238"/>
                </a:solidFill>
              </a:rPr>
              <a:t>- Providing feedback on documents</a:t>
            </a:r>
          </a:p>
          <a:p xmlns:a="http://schemas.openxmlformats.org/drawingml/2006/main">
            <a:pPr algn="l">
              <a:defRPr sz="544" b="0" i="0">
                <a:solidFill>
                  <a:srgbClr val="132238"/>
                </a:solidFill>
              </a:defRPr>
            </a:pPr>
            <a:r>
              <a:rPr sz="544" b="0" i="0">
                <a:solidFill>
                  <a:srgbClr val="132238"/>
                </a:solidFill>
              </a:rPr>
              <a:t>- Answering questions about a document</a:t>
            </a:r>
          </a:p>
          <a:p xmlns:a="http://schemas.openxmlformats.org/drawingml/2006/main">
            <a:pPr algn="l">
              <a:defRPr sz="544" b="0" i="0">
                <a:solidFill>
                  <a:srgbClr val="132238"/>
                </a:solidFill>
              </a:defRPr>
            </a:pPr>
            <a:r>
              <a:rPr sz="544" b="0" i="0">
                <a:solidFill>
                  <a:srgbClr val="132238"/>
                </a:solidFill>
              </a:rPr>
              <a:t>- Generating questions a user might want to ask about a document</a:t>
            </a:r>
          </a:p>
          <a:p xmlns:a="http://schemas.openxmlformats.org/drawingml/2006/main">
            <a:pPr algn="l">
              <a:defRPr sz="544" b="0" i="0">
                <a:solidFill>
                  <a:srgbClr val="132238"/>
                </a:solidFill>
              </a:defRPr>
            </a:pPr>
            <a:r>
              <a:rPr sz="544" b="0" i="0">
                <a:solidFill>
                  <a:srgbClr val="132238"/>
                </a:solidFill>
              </a:rPr>
              <a:t>- Drafting contracts, policies, or legal documents from</a:t>
            </a:r>
          </a:p>
          <a:p xmlns:a="http://schemas.openxmlformats.org/drawingml/2006/main">
            <a:pPr algn="l">
              <a:defRPr sz="544" b="0" i="0">
                <a:solidFill>
                  <a:srgbClr val="132238"/>
                </a:solidFill>
              </a:defRPr>
            </a:pPr>
            <a:r>
              <a:rPr sz="544" b="0" i="0">
                <a:solidFill>
                  <a:srgbClr val="132238"/>
                </a:solidFill>
              </a:rPr>
              <a:t>templates</a:t>
            </a:r>
          </a:p>
          <a:p xmlns:a="http://schemas.openxmlformats.org/drawingml/2006/main">
            <a:pPr algn="l">
              <a:defRPr sz="544" b="0" i="0">
                <a:solidFill>
                  <a:srgbClr val="132238"/>
                </a:solidFill>
              </a:defRPr>
            </a:pPr>
            <a:r>
              <a:rPr sz="544" b="0" i="0">
                <a:solidFill>
                  <a:srgbClr val="132238"/>
                </a:solidFill>
              </a:rPr>
              <a:t>- Writing strategic recommendations or advisory memos</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 E2 – Exposure by LLM-powered applications</a:t>
            </a:r>
          </a:p>
          <a:p xmlns:a="http://schemas.openxmlformats.org/drawingml/2006/main">
            <a:pPr algn="l">
              <a:defRPr sz="544" b="0" i="0">
                <a:solidFill>
                  <a:srgbClr val="132238"/>
                </a:solidFill>
              </a:defRPr>
            </a:pPr>
            <a:r>
              <a:rPr sz="544" b="0" i="0">
                <a:solidFill>
                  <a:srgbClr val="132238"/>
                </a:solidFill>
              </a:rPr>
              <a:t>Label tasks E2 if having access to the LLM alone may not reduce</a:t>
            </a:r>
          </a:p>
          <a:p xmlns:a="http://schemas.openxmlformats.org/drawingml/2006/main">
            <a:pPr algn="l">
              <a:defRPr sz="544" b="0" i="0">
                <a:solidFill>
                  <a:srgbClr val="132238"/>
                </a:solidFill>
              </a:defRPr>
            </a:pPr>
            <a:r>
              <a:rPr sz="544" b="0" i="0">
                <a:solidFill>
                  <a:srgbClr val="132238"/>
                </a:solidFill>
              </a:rPr>
              <a:t>the time it takes to complete the task by at least half, but it</a:t>
            </a:r>
          </a:p>
          <a:p xmlns:a="http://schemas.openxmlformats.org/drawingml/2006/main">
            <a:pPr algn="l">
              <a:defRPr sz="544" b="0" i="0">
                <a:solidFill>
                  <a:srgbClr val="132238"/>
                </a:solidFill>
              </a:defRPr>
            </a:pPr>
            <a:r>
              <a:rPr sz="544" b="0" i="0">
                <a:solidFill>
                  <a:srgbClr val="132238"/>
                </a:solidFill>
              </a:rPr>
              <a:t>is easy to imagine additional software that could be developed</a:t>
            </a:r>
          </a:p>
          <a:p xmlns:a="http://schemas.openxmlformats.org/drawingml/2006/main">
            <a:pPr algn="l">
              <a:defRPr sz="544" b="0" i="0">
                <a:solidFill>
                  <a:srgbClr val="132238"/>
                </a:solidFill>
              </a:defRPr>
            </a:pPr>
            <a:r>
              <a:rPr sz="544" b="0" i="0">
                <a:solidFill>
                  <a:srgbClr val="132238"/>
                </a:solidFill>
              </a:rPr>
              <a:t>on top of the LLM that would reduce the time it takes to</a:t>
            </a:r>
          </a:p>
          <a:p xmlns:a="http://schemas.openxmlformats.org/drawingml/2006/main">
            <a:pPr algn="l">
              <a:defRPr sz="544" b="0" i="0">
                <a:solidFill>
                  <a:srgbClr val="132238"/>
                </a:solidFill>
              </a:defRPr>
            </a:pPr>
            <a:r>
              <a:rPr sz="544" b="0" i="0">
                <a:solidFill>
                  <a:srgbClr val="132238"/>
                </a:solidFill>
              </a:rPr>
              <a:t>complete the task by half.</a:t>
            </a:r>
          </a:p>
          <a:p xmlns:a="http://schemas.openxmlformats.org/drawingml/2006/main">
            <a:pPr algn="l">
              <a:defRPr sz="544" b="0" i="0">
                <a:solidFill>
                  <a:srgbClr val="132238"/>
                </a:solidFill>
              </a:defRPr>
            </a:pPr>
            <a:r>
              <a:rPr sz="544" b="0" i="0">
                <a:solidFill>
                  <a:srgbClr val="132238"/>
                </a:solidFill>
              </a:rPr>
              <a:t>SIGNAL: Tasks involving data analysis, research, compliance</a:t>
            </a:r>
          </a:p>
          <a:p xmlns:a="http://schemas.openxmlformats.org/drawingml/2006/main">
            <a:pPr algn="l">
              <a:defRPr sz="544" b="0" i="0">
                <a:solidFill>
                  <a:srgbClr val="132238"/>
                </a:solidFill>
              </a:defRPr>
            </a:pPr>
            <a:r>
              <a:rPr sz="544" b="0" i="0">
                <a:solidFill>
                  <a:srgbClr val="132238"/>
                </a:solidFill>
              </a:rPr>
              <a:t>checking, trend monitoring, benchmarking, forecasting, or</a:t>
            </a:r>
          </a:p>
          <a:p xmlns:a="http://schemas.openxmlformats.org/drawingml/2006/main">
            <a:pPr algn="l">
              <a:defRPr sz="544" b="0" i="0">
                <a:solidFill>
                  <a:srgbClr val="132238"/>
                </a:solidFill>
              </a:defRPr>
            </a:pPr>
            <a:r>
              <a:rPr sz="544" b="0" i="0">
                <a:solidFill>
                  <a:srgbClr val="132238"/>
                </a:solidFill>
              </a:rPr>
              <a:t>working with structured data are typically E2 — they need LLM +</a:t>
            </a:r>
          </a:p>
          <a:p xmlns:a="http://schemas.openxmlformats.org/drawingml/2006/main">
            <a:pPr algn="l">
              <a:defRPr sz="544" b="0" i="0">
                <a:solidFill>
                  <a:srgbClr val="132238"/>
                </a:solidFill>
              </a:defRPr>
            </a:pPr>
            <a:r>
              <a:rPr sz="544" b="0" i="0">
                <a:solidFill>
                  <a:srgbClr val="132238"/>
                </a:solidFill>
              </a:rPr>
              <a:t>data retrieval, search, analytics, or specialised tools to be</a:t>
            </a:r>
          </a:p>
          <a:p xmlns:a="http://schemas.openxmlformats.org/drawingml/2006/main">
            <a:pPr algn="l">
              <a:defRPr sz="544" b="0" i="0">
                <a:solidFill>
                  <a:srgbClr val="132238"/>
                </a:solidFill>
              </a:defRPr>
            </a:pPr>
            <a:r>
              <a:rPr sz="544" b="0" i="0">
                <a:solidFill>
                  <a:srgbClr val="132238"/>
                </a:solidFill>
              </a:rPr>
              <a:t>effective.</a:t>
            </a:r>
          </a:p>
          <a:p xmlns:a="http://schemas.openxmlformats.org/drawingml/2006/main">
            <a:pPr algn="l">
              <a:defRPr sz="544" b="0" i="0">
                <a:solidFill>
                  <a:srgbClr val="132238"/>
                </a:solidFill>
              </a:defRPr>
            </a:pPr>
            <a:r>
              <a:rPr sz="544" b="0" i="0">
                <a:solidFill>
                  <a:srgbClr val="132238"/>
                </a:solidFill>
              </a:rPr>
              <a:t>This software may include capabilities such as:</a:t>
            </a:r>
          </a:p>
          <a:p xmlns:a="http://schemas.openxmlformats.org/drawingml/2006/main">
            <a:pPr algn="l">
              <a:defRPr sz="544" b="0" i="0">
                <a:solidFill>
                  <a:srgbClr val="132238"/>
                </a:solidFill>
              </a:defRPr>
            </a:pPr>
            <a:r>
              <a:rPr sz="544" b="0" i="0">
                <a:solidFill>
                  <a:srgbClr val="132238"/>
                </a:solidFill>
              </a:rPr>
              <a:t>This includes tasks that can be reduced to:</a:t>
            </a:r>
          </a:p>
          <a:p xmlns:a="http://schemas.openxmlformats.org/drawingml/2006/main">
            <a:pPr algn="l">
              <a:defRPr sz="544" b="0" i="0">
                <a:solidFill>
                  <a:srgbClr val="132238"/>
                </a:solidFill>
              </a:defRPr>
            </a:pPr>
            <a:r>
              <a:rPr sz="544" b="0" i="0">
                <a:solidFill>
                  <a:srgbClr val="132238"/>
                </a:solidFill>
              </a:rPr>
              <a:t>- Summarizing documents longer than 2000 words and answering</a:t>
            </a:r>
          </a:p>
          <a:p xmlns:a="http://schemas.openxmlformats.org/drawingml/2006/main">
            <a:pPr algn="l">
              <a:defRPr sz="544" b="0" i="0">
                <a:solidFill>
                  <a:srgbClr val="132238"/>
                </a:solidFill>
              </a:defRPr>
            </a:pPr>
            <a:r>
              <a:rPr sz="544" b="0" i="0">
                <a:solidFill>
                  <a:srgbClr val="132238"/>
                </a:solidFill>
              </a:rPr>
              <a:t>questions about those documents</a:t>
            </a:r>
          </a:p>
        </p:txBody>
      </p:sp>
      <p:sp>
        <p:nvSpPr>
          <p:cNvPr id="12" name="">
            <a:extLst xmlns:a="http://schemas.openxmlformats.org/drawingml/2006/main">
              <a:ext uri="{FF2B5EF4-FFF2-40B4-BE49-F238E27FC236}">
                <a16:creationId xmlns:a16="http://schemas.microsoft.com/office/drawing/2014/main" id="{F646243A-0EDC-4475-835B-FB8C87CEA29D}"/>
              </a:ext>
            </a:extLst>
          </p:cNvPr>
          <p:cNvSpPr>
            <a:spLocks xmlns:a="http://schemas.openxmlformats.org/drawingml/2006/main" noGrp="1"/>
          </p:cNvSpPr>
          <p:nvPr/>
        </p:nvSpPr>
        <p:spPr>
          <a:xfrm xmlns:a="http://schemas.openxmlformats.org/drawingml/2006/main">
            <a:off x="6019800" y="2305050"/>
            <a:ext cx="0" cy="394335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3" name="">
            <a:extLst xmlns:a="http://schemas.openxmlformats.org/drawingml/2006/main">
              <a:ext uri="{FF2B5EF4-FFF2-40B4-BE49-F238E27FC236}">
                <a16:creationId xmlns:a16="http://schemas.microsoft.com/office/drawing/2014/main" id="{C9E7CD5A-5F5C-47BA-884E-2B9245B1985B}"/>
              </a:ext>
            </a:extLst>
          </p:cNvPr>
          <p:cNvSpPr>
            <a:spLocks xmlns:a="http://schemas.openxmlformats.org/drawingml/2006/main" noGrp="1"/>
          </p:cNvSpPr>
          <p:nvPr/>
        </p:nvSpPr>
        <p:spPr>
          <a:xfrm xmlns:a="http://schemas.openxmlformats.org/drawingml/2006/main">
            <a:off x="6115050" y="2343150"/>
            <a:ext cx="2524125"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44" b="0" i="0">
                <a:solidFill>
                  <a:srgbClr val="132238"/>
                </a:solidFill>
              </a:defRPr>
            </a:pPr>
            <a:r>
              <a:rPr sz="544" b="0" i="0">
                <a:solidFill>
                  <a:srgbClr val="132238"/>
                </a:solidFill>
              </a:rPr>
              <a:t>- Retrieving up-to-date facts from the Internet and using those</a:t>
            </a:r>
          </a:p>
          <a:p xmlns:a="http://schemas.openxmlformats.org/drawingml/2006/main">
            <a:pPr algn="l">
              <a:defRPr sz="544" b="0" i="0">
                <a:solidFill>
                  <a:srgbClr val="132238"/>
                </a:solidFill>
              </a:defRPr>
            </a:pPr>
            <a:r>
              <a:rPr sz="544" b="0" i="0">
                <a:solidFill>
                  <a:srgbClr val="132238"/>
                </a:solidFill>
              </a:rPr>
              <a:t>facts in combination with the LLM capabilities</a:t>
            </a:r>
          </a:p>
          <a:p xmlns:a="http://schemas.openxmlformats.org/drawingml/2006/main">
            <a:pPr algn="l">
              <a:defRPr sz="544" b="0" i="0">
                <a:solidFill>
                  <a:srgbClr val="132238"/>
                </a:solidFill>
              </a:defRPr>
            </a:pPr>
            <a:r>
              <a:rPr sz="544" b="0" i="0">
                <a:solidFill>
                  <a:srgbClr val="132238"/>
                </a:solidFill>
              </a:rPr>
              <a:t>- Searching over an organization's existing knowledge, data, or</a:t>
            </a:r>
          </a:p>
          <a:p xmlns:a="http://schemas.openxmlformats.org/drawingml/2006/main">
            <a:pPr algn="l">
              <a:defRPr sz="544" b="0" i="0">
                <a:solidFill>
                  <a:srgbClr val="132238"/>
                </a:solidFill>
              </a:defRPr>
            </a:pPr>
            <a:r>
              <a:rPr sz="544" b="0" i="0">
                <a:solidFill>
                  <a:srgbClr val="132238"/>
                </a:solidFill>
              </a:rPr>
              <a:t>documents and retrieving information</a:t>
            </a:r>
          </a:p>
          <a:p xmlns:a="http://schemas.openxmlformats.org/drawingml/2006/main">
            <a:pPr algn="l">
              <a:defRPr sz="544" b="0" i="0">
                <a:solidFill>
                  <a:srgbClr val="132238"/>
                </a:solidFill>
              </a:defRPr>
            </a:pPr>
            <a:r>
              <a:rPr sz="544" b="0" i="0">
                <a:solidFill>
                  <a:srgbClr val="132238"/>
                </a:solidFill>
              </a:rPr>
              <a:t>- Connecting to databases, spreadsheets, or APIs to analyse</a:t>
            </a:r>
          </a:p>
          <a:p xmlns:a="http://schemas.openxmlformats.org/drawingml/2006/main">
            <a:pPr algn="l">
              <a:defRPr sz="544" b="0" i="0">
                <a:solidFill>
                  <a:srgbClr val="132238"/>
                </a:solidFill>
              </a:defRPr>
            </a:pPr>
            <a:r>
              <a:rPr sz="544" b="0" i="0">
                <a:solidFill>
                  <a:srgbClr val="132238"/>
                </a:solidFill>
              </a:rPr>
              <a:t>structured data</a:t>
            </a:r>
          </a:p>
          <a:p xmlns:a="http://schemas.openxmlformats.org/drawingml/2006/main">
            <a:pPr algn="l">
              <a:defRPr sz="544" b="0" i="0">
                <a:solidFill>
                  <a:srgbClr val="132238"/>
                </a:solidFill>
              </a:defRPr>
            </a:pPr>
            <a:r>
              <a:rPr sz="544" b="0" i="0">
                <a:solidFill>
                  <a:srgbClr val="132238"/>
                </a:solidFill>
              </a:rPr>
              <a:t>- Monitoring regulatory changes, industry trends, or compliance</a:t>
            </a:r>
          </a:p>
          <a:p xmlns:a="http://schemas.openxmlformats.org/drawingml/2006/main">
            <a:pPr algn="l">
              <a:defRPr sz="544" b="0" i="0">
                <a:solidFill>
                  <a:srgbClr val="132238"/>
                </a:solidFill>
              </a:defRPr>
            </a:pPr>
            <a:r>
              <a:rPr sz="544" b="0" i="0">
                <a:solidFill>
                  <a:srgbClr val="132238"/>
                </a:solidFill>
              </a:rPr>
              <a:t>requirements</a:t>
            </a:r>
          </a:p>
          <a:p xmlns:a="http://schemas.openxmlformats.org/drawingml/2006/main">
            <a:pPr algn="l">
              <a:defRPr sz="544" b="0" i="0">
                <a:solidFill>
                  <a:srgbClr val="132238"/>
                </a:solidFill>
              </a:defRPr>
            </a:pPr>
            <a:r>
              <a:rPr sz="544" b="0" i="0">
                <a:solidFill>
                  <a:srgbClr val="132238"/>
                </a:solidFill>
              </a:rPr>
              <a:t>- Building dashboards, reports, or visualisations from</a:t>
            </a:r>
          </a:p>
          <a:p xmlns:a="http://schemas.openxmlformats.org/drawingml/2006/main">
            <a:pPr algn="l">
              <a:defRPr sz="544" b="0" i="0">
                <a:solidFill>
                  <a:srgbClr val="132238"/>
                </a:solidFill>
              </a:defRPr>
            </a:pPr>
            <a:r>
              <a:rPr sz="544" b="0" i="0">
                <a:solidFill>
                  <a:srgbClr val="132238"/>
                </a:solidFill>
              </a:rPr>
              <a:t>organisational data</a:t>
            </a:r>
          </a:p>
          <a:p xmlns:a="http://schemas.openxmlformats.org/drawingml/2006/main">
            <a:pPr algn="l">
              <a:defRPr sz="544" b="0" i="0">
                <a:solidFill>
                  <a:srgbClr val="132238"/>
                </a:solidFill>
              </a:defRPr>
            </a:pPr>
            <a:r>
              <a:rPr sz="544" b="0" i="0">
                <a:solidFill>
                  <a:srgbClr val="132238"/>
                </a:solidFill>
              </a:rPr>
              <a:t>Examples of software built on top of the LLM that may help</a:t>
            </a:r>
          </a:p>
          <a:p xmlns:a="http://schemas.openxmlformats.org/drawingml/2006/main">
            <a:pPr algn="l">
              <a:defRPr sz="544" b="0" i="0">
                <a:solidFill>
                  <a:srgbClr val="132238"/>
                </a:solidFill>
              </a:defRPr>
            </a:pPr>
            <a:r>
              <a:rPr sz="544" b="0" i="0">
                <a:solidFill>
                  <a:srgbClr val="132238"/>
                </a:solidFill>
              </a:rPr>
              <a:t>complete worker activities include:</a:t>
            </a:r>
          </a:p>
          <a:p xmlns:a="http://schemas.openxmlformats.org/drawingml/2006/main">
            <a:pPr algn="l">
              <a:defRPr sz="544" b="0" i="0">
                <a:solidFill>
                  <a:srgbClr val="132238"/>
                </a:solidFill>
              </a:defRPr>
            </a:pPr>
            <a:r>
              <a:rPr sz="544" b="0" i="0">
                <a:solidFill>
                  <a:srgbClr val="132238"/>
                </a:solidFill>
              </a:rPr>
              <a:t>- Software built for a home goods company that quickly processes</a:t>
            </a:r>
          </a:p>
          <a:p xmlns:a="http://schemas.openxmlformats.org/drawingml/2006/main">
            <a:pPr algn="l">
              <a:defRPr sz="544" b="0" i="0">
                <a:solidFill>
                  <a:srgbClr val="132238"/>
                </a:solidFill>
              </a:defRPr>
            </a:pPr>
            <a:r>
              <a:rPr sz="544" b="0" i="0">
                <a:solidFill>
                  <a:srgbClr val="132238"/>
                </a:solidFill>
              </a:rPr>
              <a:t>and summarizes their up-to-date internal data in customized ways</a:t>
            </a:r>
          </a:p>
          <a:p xmlns:a="http://schemas.openxmlformats.org/drawingml/2006/main">
            <a:pPr algn="l">
              <a:defRPr sz="544" b="0" i="0">
                <a:solidFill>
                  <a:srgbClr val="132238"/>
                </a:solidFill>
              </a:defRPr>
            </a:pPr>
            <a:r>
              <a:rPr sz="544" b="0" i="0">
                <a:solidFill>
                  <a:srgbClr val="132238"/>
                </a:solidFill>
              </a:rPr>
              <a:t>to inform product or marketing decisions</a:t>
            </a:r>
          </a:p>
          <a:p xmlns:a="http://schemas.openxmlformats.org/drawingml/2006/main">
            <a:pPr algn="l">
              <a:defRPr sz="544" b="0" i="0">
                <a:solidFill>
                  <a:srgbClr val="132238"/>
                </a:solidFill>
              </a:defRPr>
            </a:pPr>
            <a:r>
              <a:rPr sz="544" b="0" i="0">
                <a:solidFill>
                  <a:srgbClr val="132238"/>
                </a:solidFill>
              </a:rPr>
              <a:t>- Software that is able to suggest live responses for customer</a:t>
            </a:r>
          </a:p>
          <a:p xmlns:a="http://schemas.openxmlformats.org/drawingml/2006/main">
            <a:pPr algn="l">
              <a:defRPr sz="544" b="0" i="0">
                <a:solidFill>
                  <a:srgbClr val="132238"/>
                </a:solidFill>
              </a:defRPr>
            </a:pPr>
            <a:r>
              <a:rPr sz="544" b="0" i="0">
                <a:solidFill>
                  <a:srgbClr val="132238"/>
                </a:solidFill>
              </a:rPr>
              <a:t>service agents speaking to customers in their company's customer</a:t>
            </a:r>
          </a:p>
          <a:p xmlns:a="http://schemas.openxmlformats.org/drawingml/2006/main">
            <a:pPr algn="l">
              <a:defRPr sz="544" b="0" i="0">
                <a:solidFill>
                  <a:srgbClr val="132238"/>
                </a:solidFill>
              </a:defRPr>
            </a:pPr>
            <a:r>
              <a:rPr sz="544" b="0" i="0">
                <a:solidFill>
                  <a:srgbClr val="132238"/>
                </a:solidFill>
              </a:rPr>
              <a:t>service interface</a:t>
            </a:r>
          </a:p>
          <a:p xmlns:a="http://schemas.openxmlformats.org/drawingml/2006/main">
            <a:pPr algn="l">
              <a:defRPr sz="544" b="0" i="0">
                <a:solidFill>
                  <a:srgbClr val="132238"/>
                </a:solidFill>
              </a:defRPr>
            </a:pPr>
            <a:r>
              <a:rPr sz="544" b="0" i="0">
                <a:solidFill>
                  <a:srgbClr val="132238"/>
                </a:solidFill>
              </a:rPr>
              <a:t>- Software built for legal purposes that can quickly aggregate</a:t>
            </a:r>
          </a:p>
          <a:p xmlns:a="http://schemas.openxmlformats.org/drawingml/2006/main">
            <a:pPr algn="l">
              <a:defRPr sz="544" b="0" i="0">
                <a:solidFill>
                  <a:srgbClr val="132238"/>
                </a:solidFill>
              </a:defRPr>
            </a:pPr>
            <a:r>
              <a:rPr sz="544" b="0" i="0">
                <a:solidFill>
                  <a:srgbClr val="132238"/>
                </a:solidFill>
              </a:rPr>
              <a:t>and summarize all previous cases in a particular legal area and</a:t>
            </a:r>
          </a:p>
          <a:p xmlns:a="http://schemas.openxmlformats.org/drawingml/2006/main">
            <a:pPr algn="l">
              <a:defRPr sz="544" b="0" i="0">
                <a:solidFill>
                  <a:srgbClr val="132238"/>
                </a:solidFill>
              </a:defRPr>
            </a:pPr>
            <a:r>
              <a:rPr sz="544" b="0" i="0">
                <a:solidFill>
                  <a:srgbClr val="132238"/>
                </a:solidFill>
              </a:rPr>
              <a:t>write legal research memos tailored to the law firm's needs</a:t>
            </a:r>
          </a:p>
          <a:p xmlns:a="http://schemas.openxmlformats.org/drawingml/2006/main">
            <a:pPr algn="l">
              <a:defRPr sz="544" b="0" i="0">
                <a:solidFill>
                  <a:srgbClr val="132238"/>
                </a:solidFill>
              </a:defRPr>
            </a:pPr>
            <a:r>
              <a:rPr sz="544" b="0" i="0">
                <a:solidFill>
                  <a:srgbClr val="132238"/>
                </a:solidFill>
              </a:rPr>
              <a:t>- Software specifically designed for teachers that allows them</a:t>
            </a:r>
          </a:p>
          <a:p xmlns:a="http://schemas.openxmlformats.org/drawingml/2006/main">
            <a:pPr algn="l">
              <a:defRPr sz="544" b="0" i="0">
                <a:solidFill>
                  <a:srgbClr val="132238"/>
                </a:solidFill>
              </a:defRPr>
            </a:pPr>
            <a:r>
              <a:rPr sz="544" b="0" i="0">
                <a:solidFill>
                  <a:srgbClr val="132238"/>
                </a:solidFill>
              </a:rPr>
              <a:t>to input a grading rubric and upload the text files of all</a:t>
            </a:r>
          </a:p>
          <a:p xmlns:a="http://schemas.openxmlformats.org/drawingml/2006/main">
            <a:pPr algn="l">
              <a:defRPr sz="544" b="0" i="0">
                <a:solidFill>
                  <a:srgbClr val="132238"/>
                </a:solidFill>
              </a:defRPr>
            </a:pPr>
            <a:r>
              <a:rPr sz="544" b="0" i="0">
                <a:solidFill>
                  <a:srgbClr val="132238"/>
                </a:solidFill>
              </a:rPr>
              <a:t>student essays and have the software output a letter grade for</a:t>
            </a:r>
          </a:p>
          <a:p xmlns:a="http://schemas.openxmlformats.org/drawingml/2006/main">
            <a:pPr algn="l">
              <a:defRPr sz="544" b="0" i="0">
                <a:solidFill>
                  <a:srgbClr val="132238"/>
                </a:solidFill>
              </a:defRPr>
            </a:pPr>
            <a:r>
              <a:rPr sz="544" b="0" i="0">
                <a:solidFill>
                  <a:srgbClr val="132238"/>
                </a:solidFill>
              </a:rPr>
              <a:t>each essay</a:t>
            </a:r>
          </a:p>
          <a:p xmlns:a="http://schemas.openxmlformats.org/drawingml/2006/main">
            <a:pPr algn="l">
              <a:defRPr sz="544" b="0" i="0">
                <a:solidFill>
                  <a:srgbClr val="132238"/>
                </a:solidFill>
              </a:defRPr>
            </a:pPr>
            <a:r>
              <a:rPr sz="544" b="0" i="0">
                <a:solidFill>
                  <a:srgbClr val="132238"/>
                </a:solidFill>
              </a:rPr>
              <a:t>- Software that retrieves up-to-date facts from the internet and</a:t>
            </a:r>
          </a:p>
          <a:p xmlns:a="http://schemas.openxmlformats.org/drawingml/2006/main">
            <a:pPr algn="l">
              <a:defRPr sz="544" b="0" i="0">
                <a:solidFill>
                  <a:srgbClr val="132238"/>
                </a:solidFill>
              </a:defRPr>
            </a:pPr>
            <a:r>
              <a:rPr sz="544" b="0" i="0">
                <a:solidFill>
                  <a:srgbClr val="132238"/>
                </a:solidFill>
              </a:rPr>
              <a:t>uses the capabilities of the LLM to output news summaries in</a:t>
            </a:r>
          </a:p>
          <a:p xmlns:a="http://schemas.openxmlformats.org/drawingml/2006/main">
            <a:pPr algn="l">
              <a:defRPr sz="544" b="0" i="0">
                <a:solidFill>
                  <a:srgbClr val="132238"/>
                </a:solidFill>
              </a:defRPr>
            </a:pPr>
            <a:r>
              <a:rPr sz="544" b="0" i="0">
                <a:solidFill>
                  <a:srgbClr val="132238"/>
                </a:solidFill>
              </a:rPr>
              <a:t>different languages</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 E3 – Exposure given image capabilities</a:t>
            </a:r>
          </a:p>
          <a:p xmlns:a="http://schemas.openxmlformats.org/drawingml/2006/main">
            <a:pPr algn="l">
              <a:defRPr sz="544" b="0" i="0">
                <a:solidFill>
                  <a:srgbClr val="132238"/>
                </a:solidFill>
              </a:defRPr>
            </a:pPr>
            <a:r>
              <a:rPr sz="544" b="0" i="0">
                <a:solidFill>
                  <a:srgbClr val="132238"/>
                </a:solidFill>
              </a:rPr>
              <a:t>Suppose you had access to both the LLM and a system that could</a:t>
            </a:r>
          </a:p>
          <a:p xmlns:a="http://schemas.openxmlformats.org/drawingml/2006/main">
            <a:pPr algn="l">
              <a:defRPr sz="544" b="0" i="0">
                <a:solidFill>
                  <a:srgbClr val="132238"/>
                </a:solidFill>
              </a:defRPr>
            </a:pPr>
            <a:r>
              <a:rPr sz="544" b="0" i="0">
                <a:solidFill>
                  <a:srgbClr val="132238"/>
                </a:solidFill>
              </a:rPr>
              <a:t>view, caption, and create images. This system cannot take video</a:t>
            </a:r>
          </a:p>
          <a:p xmlns:a="http://schemas.openxmlformats.org/drawingml/2006/main">
            <a:pPr algn="l">
              <a:defRPr sz="544" b="0" i="0">
                <a:solidFill>
                  <a:srgbClr val="132238"/>
                </a:solidFill>
              </a:defRPr>
            </a:pPr>
            <a:r>
              <a:rPr sz="544" b="0" i="0">
                <a:solidFill>
                  <a:srgbClr val="132238"/>
                </a:solidFill>
              </a:rPr>
              <a:t>media as inputs. This system cannot accurately retrieve very</a:t>
            </a:r>
          </a:p>
          <a:p xmlns:a="http://schemas.openxmlformats.org/drawingml/2006/main">
            <a:pPr algn="l">
              <a:defRPr sz="544" b="0" i="0">
                <a:solidFill>
                  <a:srgbClr val="132238"/>
                </a:solidFill>
              </a:defRPr>
            </a:pPr>
            <a:r>
              <a:rPr sz="544" b="0" i="0">
                <a:solidFill>
                  <a:srgbClr val="132238"/>
                </a:solidFill>
              </a:rPr>
              <a:t>detailed information from image inputs, such as measurements of</a:t>
            </a:r>
          </a:p>
          <a:p xmlns:a="http://schemas.openxmlformats.org/drawingml/2006/main">
            <a:pPr algn="l">
              <a:defRPr sz="544" b="0" i="0">
                <a:solidFill>
                  <a:srgbClr val="132238"/>
                </a:solidFill>
              </a:defRPr>
            </a:pPr>
            <a:r>
              <a:rPr sz="544" b="0" i="0">
                <a:solidFill>
                  <a:srgbClr val="132238"/>
                </a:solidFill>
              </a:rPr>
              <a:t>dimensions within an image. Label tasks as E3 if there is a</a:t>
            </a:r>
          </a:p>
          <a:p xmlns:a="http://schemas.openxmlformats.org/drawingml/2006/main">
            <a:pPr algn="l">
              <a:defRPr sz="544" b="0" i="0">
                <a:solidFill>
                  <a:srgbClr val="132238"/>
                </a:solidFill>
              </a:defRPr>
            </a:pPr>
            <a:r>
              <a:rPr sz="544" b="0" i="0">
                <a:solidFill>
                  <a:srgbClr val="132238"/>
                </a:solidFill>
              </a:rPr>
              <a:t>significant reduction in the time it takes to complete the task</a:t>
            </a:r>
          </a:p>
          <a:p xmlns:a="http://schemas.openxmlformats.org/drawingml/2006/main">
            <a:pPr algn="l">
              <a:defRPr sz="544" b="0" i="0">
                <a:solidFill>
                  <a:srgbClr val="132238"/>
                </a:solidFill>
              </a:defRPr>
            </a:pPr>
            <a:r>
              <a:rPr sz="544" b="0" i="0">
                <a:solidFill>
                  <a:srgbClr val="132238"/>
                </a:solidFill>
              </a:rPr>
              <a:t>given access to a LLM and these image capabilities:</a:t>
            </a:r>
          </a:p>
          <a:p xmlns:a="http://schemas.openxmlformats.org/drawingml/2006/main">
            <a:pPr algn="l">
              <a:defRPr sz="544" b="0" i="0">
                <a:solidFill>
                  <a:srgbClr val="132238"/>
                </a:solidFill>
              </a:defRPr>
            </a:pPr>
            <a:r>
              <a:rPr sz="544" b="0" i="0">
                <a:solidFill>
                  <a:srgbClr val="132238"/>
                </a:solidFill>
              </a:rPr>
              <a:t>This includes tasks that can be reduced to:</a:t>
            </a:r>
          </a:p>
          <a:p xmlns:a="http://schemas.openxmlformats.org/drawingml/2006/main">
            <a:pPr algn="l">
              <a:defRPr sz="544" b="0" i="0">
                <a:solidFill>
                  <a:srgbClr val="132238"/>
                </a:solidFill>
              </a:defRPr>
            </a:pPr>
            <a:r>
              <a:rPr sz="544" b="0" i="0">
                <a:solidFill>
                  <a:srgbClr val="132238"/>
                </a:solidFill>
              </a:rPr>
              <a:t>- Reading text from PDFs</a:t>
            </a:r>
          </a:p>
          <a:p xmlns:a="http://schemas.openxmlformats.org/drawingml/2006/main">
            <a:pPr algn="l">
              <a:defRPr sz="544" b="0" i="0">
                <a:solidFill>
                  <a:srgbClr val="132238"/>
                </a:solidFill>
              </a:defRPr>
            </a:pPr>
            <a:r>
              <a:rPr sz="544" b="0" i="0">
                <a:solidFill>
                  <a:srgbClr val="132238"/>
                </a:solidFill>
              </a:rPr>
              <a:t>- Scanning images</a:t>
            </a:r>
          </a:p>
          <a:p xmlns:a="http://schemas.openxmlformats.org/drawingml/2006/main">
            <a:pPr algn="l">
              <a:defRPr sz="544" b="0" i="0">
                <a:solidFill>
                  <a:srgbClr val="132238"/>
                </a:solidFill>
              </a:defRPr>
            </a:pPr>
            <a:r>
              <a:rPr sz="544" b="0" i="0">
                <a:solidFill>
                  <a:srgbClr val="132238"/>
                </a:solidFill>
              </a:rPr>
              <a:t>- Creating or editing digital images according to instructions</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 OUTPUT FORMAT</a:t>
            </a:r>
          </a:p>
          <a:p xmlns:a="http://schemas.openxmlformats.org/drawingml/2006/main">
            <a:pPr algn="l">
              <a:defRPr sz="544" b="0" i="0">
                <a:solidFill>
                  <a:srgbClr val="132238"/>
                </a:solidFill>
              </a:defRPr>
            </a:pPr>
            <a:r>
              <a:rPr sz="544" b="0" i="0">
                <a:solidFill>
                  <a:srgbClr val="132238"/>
                </a:solidFill>
              </a:rPr>
              <a:t>Return your output in the given JSON format.</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Please think step-by-step.</a:t>
            </a:r>
          </a:p>
          <a:p xmlns:a="http://schemas.openxmlformats.org/drawingml/2006/main">
            <a:r>
              <a:t/>
            </a:r>
          </a:p>
        </p:txBody>
      </p:sp>
      <p:sp>
        <p:nvSpPr>
          <p:cNvPr id="14" name="">
            <a:extLst xmlns:a="http://schemas.openxmlformats.org/drawingml/2006/main">
              <a:ext uri="{FF2B5EF4-FFF2-40B4-BE49-F238E27FC236}">
                <a16:creationId xmlns:a16="http://schemas.microsoft.com/office/drawing/2014/main" id="{CFABA2FD-A0E6-4B11-9098-90E9A847E3ED}"/>
              </a:ext>
            </a:extLst>
          </p:cNvPr>
          <p:cNvSpPr>
            <a:spLocks xmlns:a="http://schemas.openxmlformats.org/drawingml/2006/main" noGrp="1"/>
          </p:cNvSpPr>
          <p:nvPr/>
        </p:nvSpPr>
        <p:spPr>
          <a:xfrm xmlns:a="http://schemas.openxmlformats.org/drawingml/2006/main">
            <a:off x="8734425" y="2305050"/>
            <a:ext cx="0" cy="394335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5" name="">
            <a:extLst xmlns:a="http://schemas.openxmlformats.org/drawingml/2006/main">
              <a:ext uri="{FF2B5EF4-FFF2-40B4-BE49-F238E27FC236}">
                <a16:creationId xmlns:a16="http://schemas.microsoft.com/office/drawing/2014/main" id="{B16C45EC-B35C-4B87-A6EB-60B4D6666FFB}"/>
              </a:ext>
            </a:extLst>
          </p:cNvPr>
          <p:cNvSpPr>
            <a:spLocks xmlns:a="http://schemas.openxmlformats.org/drawingml/2006/main" noGrp="1"/>
          </p:cNvSpPr>
          <p:nvPr/>
        </p:nvSpPr>
        <p:spPr>
          <a:xfrm xmlns:a="http://schemas.openxmlformats.org/drawingml/2006/main">
            <a:off x="8829675" y="2343150"/>
            <a:ext cx="2524125"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44" b="0" i="0">
                <a:solidFill>
                  <a:srgbClr val="132238"/>
                </a:solidFill>
              </a:defRPr>
            </a:pPr>
            <a:r>
              <a:rPr sz="544" b="0" i="0">
                <a:solidFill>
                  <a:srgbClr val="132238"/>
                </a:solidFill>
              </a:rPr>
              <a:t>[USER TEMPLATE]</a:t>
            </a:r>
          </a:p>
          <a:p xmlns:a="http://schemas.openxmlformats.org/drawingml/2006/main">
            <a:pPr algn="l">
              <a:defRPr sz="544" b="0" i="0">
                <a:solidFill>
                  <a:srgbClr val="132238"/>
                </a:solidFill>
              </a:defRPr>
            </a:pPr>
            <a:r>
              <a:rPr sz="544" b="0" i="0">
                <a:solidFill>
                  <a:srgbClr val="132238"/>
                </a:solidFill>
              </a:rPr>
              <a:t>Label the given task performed for the corresponding occupation</a:t>
            </a:r>
          </a:p>
          <a:p xmlns:a="http://schemas.openxmlformats.org/drawingml/2006/main">
            <a:pPr algn="l">
              <a:defRPr sz="544" b="0" i="0">
                <a:solidFill>
                  <a:srgbClr val="132238"/>
                </a:solidFill>
              </a:defRPr>
            </a:pPr>
            <a:r>
              <a:rPr sz="544" b="0" i="0">
                <a:solidFill>
                  <a:srgbClr val="132238"/>
                </a:solidFill>
              </a:rPr>
              <a:t>with E0/E1/E2/E3.</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Here are some worked examples:</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Example 1:</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Occupation: HR Manager; Task: Coach line managers to manage</a:t>
            </a:r>
          </a:p>
          <a:p xmlns:a="http://schemas.openxmlformats.org/drawingml/2006/main">
            <a:pPr algn="l">
              <a:defRPr sz="544" b="0" i="0">
                <a:solidFill>
                  <a:srgbClr val="132238"/>
                </a:solidFill>
              </a:defRPr>
            </a:pPr>
            <a:r>
              <a:rPr sz="544" b="0" i="0">
                <a:solidFill>
                  <a:srgbClr val="132238"/>
                </a:solidFill>
              </a:rPr>
              <a:t>involuntary exits</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Reasoning: The primary activity is live, face-to-face coaching —</a:t>
            </a:r>
          </a:p>
          <a:p xmlns:a="http://schemas.openxmlformats.org/drawingml/2006/main">
            <a:pPr algn="l">
              <a:defRPr sz="544" b="0" i="0">
                <a:solidFill>
                  <a:srgbClr val="132238"/>
                </a:solidFill>
              </a:defRPr>
            </a:pPr>
            <a:r>
              <a:rPr sz="544" b="0" i="0">
                <a:solidFill>
                  <a:srgbClr val="132238"/>
                </a:solidFill>
              </a:rPr>
              <a:t>the worker must be personally present to guide managers through</a:t>
            </a:r>
          </a:p>
          <a:p xmlns:a="http://schemas.openxmlformats.org/drawingml/2006/main">
            <a:pPr algn="l">
              <a:defRPr sz="544" b="0" i="0">
                <a:solidFill>
                  <a:srgbClr val="132238"/>
                </a:solidFill>
              </a:defRPr>
            </a:pPr>
            <a:r>
              <a:rPr sz="544" b="0" i="0">
                <a:solidFill>
                  <a:srgbClr val="132238"/>
                </a:solidFill>
              </a:rPr>
              <a:t>sensitive conversations. An LLM can help prepare talking points</a:t>
            </a:r>
          </a:p>
          <a:p xmlns:a="http://schemas.openxmlformats.org/drawingml/2006/main">
            <a:pPr algn="l">
              <a:defRPr sz="544" b="0" i="0">
                <a:solidFill>
                  <a:srgbClr val="132238"/>
                </a:solidFill>
              </a:defRPr>
            </a:pPr>
            <a:r>
              <a:rPr sz="544" b="0" i="0">
                <a:solidFill>
                  <a:srgbClr val="132238"/>
                </a:solidFill>
              </a:rPr>
              <a:t>but cannot replace the interpersonal coaching itself.</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Label: E0</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Example 2:</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Occupation: HR Manager; Task: Develop communication materials</a:t>
            </a:r>
          </a:p>
          <a:p xmlns:a="http://schemas.openxmlformats.org/drawingml/2006/main">
            <a:pPr algn="l">
              <a:defRPr sz="544" b="0" i="0">
                <a:solidFill>
                  <a:srgbClr val="132238"/>
                </a:solidFill>
              </a:defRPr>
            </a:pPr>
            <a:r>
              <a:rPr sz="544" b="0" i="0">
                <a:solidFill>
                  <a:srgbClr val="132238"/>
                </a:solidFill>
              </a:rPr>
              <a:t>for HR programmes</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Reasoning: The primary output is written content — brochures,</a:t>
            </a:r>
          </a:p>
          <a:p xmlns:a="http://schemas.openxmlformats.org/drawingml/2006/main">
            <a:pPr algn="l">
              <a:defRPr sz="544" b="0" i="0">
                <a:solidFill>
                  <a:srgbClr val="132238"/>
                </a:solidFill>
              </a:defRPr>
            </a:pPr>
            <a:r>
              <a:rPr sz="544" b="0" i="0">
                <a:solidFill>
                  <a:srgbClr val="132238"/>
                </a:solidFill>
              </a:rPr>
              <a:t>emails, information kits. An LLM can draft, edit, and refine</a:t>
            </a:r>
          </a:p>
          <a:p xmlns:a="http://schemas.openxmlformats.org/drawingml/2006/main">
            <a:pPr algn="l">
              <a:defRPr sz="544" b="0" i="0">
                <a:solidFill>
                  <a:srgbClr val="132238"/>
                </a:solidFill>
              </a:defRPr>
            </a:pPr>
            <a:r>
              <a:rPr sz="544" b="0" i="0">
                <a:solidFill>
                  <a:srgbClr val="132238"/>
                </a:solidFill>
              </a:rPr>
              <a:t>these materials directly, reducing the core work by well over</a:t>
            </a:r>
          </a:p>
          <a:p xmlns:a="http://schemas.openxmlformats.org/drawingml/2006/main">
            <a:pPr algn="l">
              <a:defRPr sz="544" b="0" i="0">
                <a:solidFill>
                  <a:srgbClr val="132238"/>
                </a:solidFill>
              </a:defRPr>
            </a:pPr>
            <a:r>
              <a:rPr sz="544" b="0" i="0">
                <a:solidFill>
                  <a:srgbClr val="132238"/>
                </a:solidFill>
              </a:rPr>
              <a:t>half.</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Label: E1</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Example 3:</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Occupation: HR Manager; Task: Analyse financial and HR data to</a:t>
            </a:r>
          </a:p>
          <a:p xmlns:a="http://schemas.openxmlformats.org/drawingml/2006/main">
            <a:pPr algn="l">
              <a:defRPr sz="544" b="0" i="0">
                <a:solidFill>
                  <a:srgbClr val="132238"/>
                </a:solidFill>
              </a:defRPr>
            </a:pPr>
            <a:r>
              <a:rPr sz="544" b="0" i="0">
                <a:solidFill>
                  <a:srgbClr val="132238"/>
                </a:solidFill>
              </a:rPr>
              <a:t>identify trends and develop forecasts</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Reasoning: The core work is data analysis and forecasting. An</a:t>
            </a:r>
          </a:p>
          <a:p xmlns:a="http://schemas.openxmlformats.org/drawingml/2006/main">
            <a:pPr algn="l">
              <a:defRPr sz="544" b="0" i="0">
                <a:solidFill>
                  <a:srgbClr val="132238"/>
                </a:solidFill>
              </a:defRPr>
            </a:pPr>
            <a:r>
              <a:rPr sz="544" b="0" i="0">
                <a:solidFill>
                  <a:srgbClr val="132238"/>
                </a:solidFill>
              </a:rPr>
              <a:t>LLM alone cannot access the organisation's databases, but</a:t>
            </a:r>
          </a:p>
          <a:p xmlns:a="http://schemas.openxmlformats.org/drawingml/2006/main">
            <a:pPr algn="l">
              <a:defRPr sz="544" b="0" i="0">
                <a:solidFill>
                  <a:srgbClr val="132238"/>
                </a:solidFill>
              </a:defRPr>
            </a:pPr>
            <a:r>
              <a:rPr sz="544" b="0" i="0">
                <a:solidFill>
                  <a:srgbClr val="132238"/>
                </a:solidFill>
              </a:rPr>
              <a:t>LLM-powered software with data retrieval and analytics</a:t>
            </a:r>
          </a:p>
          <a:p xmlns:a="http://schemas.openxmlformats.org/drawingml/2006/main">
            <a:pPr algn="l">
              <a:defRPr sz="544" b="0" i="0">
                <a:solidFill>
                  <a:srgbClr val="132238"/>
                </a:solidFill>
              </a:defRPr>
            </a:pPr>
            <a:r>
              <a:rPr sz="544" b="0" i="0">
                <a:solidFill>
                  <a:srgbClr val="132238"/>
                </a:solidFill>
              </a:rPr>
              <a:t>capabilities could process the data, identify trends, and</a:t>
            </a:r>
          </a:p>
          <a:p xmlns:a="http://schemas.openxmlformats.org/drawingml/2006/main">
            <a:pPr algn="l">
              <a:defRPr sz="544" b="0" i="0">
                <a:solidFill>
                  <a:srgbClr val="132238"/>
                </a:solidFill>
              </a:defRPr>
            </a:pPr>
            <a:r>
              <a:rPr sz="544" b="0" i="0">
                <a:solidFill>
                  <a:srgbClr val="132238"/>
                </a:solidFill>
              </a:rPr>
              <a:t>generate forecasts.</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Label: E2</a:t>
            </a:r>
          </a:p>
          <a:p xmlns:a="http://schemas.openxmlformats.org/drawingml/2006/main">
            <a:r>
              <a:t/>
            </a:r>
          </a:p>
          <a:p xmlns:a="http://schemas.openxmlformats.org/drawingml/2006/main">
            <a:pPr algn="l">
              <a:defRPr sz="544" b="0" i="0">
                <a:solidFill>
                  <a:srgbClr val="132238"/>
                </a:solidFill>
              </a:defRPr>
            </a:pPr>
            <a:r>
              <a:rPr sz="544" b="0" i="0">
                <a:solidFill>
                  <a:srgbClr val="132238"/>
                </a:solidFill>
              </a:rPr>
              <a:t>Now label this task:</a:t>
            </a:r>
          </a:p>
          <a:p xmlns:a="http://schemas.openxmlformats.org/drawingml/2006/main">
            <a:pPr algn="l">
              <a:defRPr sz="544" b="0" i="0">
                <a:solidFill>
                  <a:srgbClr val="132238"/>
                </a:solidFill>
              </a:defRPr>
            </a:pPr>
            <a:r>
              <a:rPr sz="544" b="0" i="0">
                <a:solidFill>
                  <a:srgbClr val="132238"/>
                </a:solidFill>
              </a:rPr>
              <a:t>Occupation: {occupation}; Task: {task}</a:t>
            </a:r>
          </a:p>
        </p:txBody>
      </p:sp>
    </p:spTree>
    <p:extLst>
      <p:ext uri="{BB962C8B-B14F-4D97-AF65-F5344CB8AC3E}">
        <p14:creationId xmlns:p14="http://schemas.microsoft.com/office/powerpoint/2010/main" val="833572770"/>
      </p:ext>
    </p:extLst>
  </p:cSld>
</p:sld>
</file>

<file path=ppt/slides/slide3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6EAE191-40CB-4AE3-B5B0-A882779220B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87A76"/>
          </a:solidFill>
          <a:ln xmlns:a="http://schemas.openxmlformats.org/drawingml/2006/main" w="5715">
            <a:solidFill>
              <a:srgbClr val="087A76"/>
            </a:solidFill>
            <a:prstDash val="solid"/>
          </a:ln>
        </p:spPr>
      </p:sp>
      <p:sp>
        <p:nvSpPr>
          <p:cNvPr id="2" name="">
            <a:extLst xmlns:a="http://schemas.openxmlformats.org/drawingml/2006/main">
              <a:ext uri="{FF2B5EF4-FFF2-40B4-BE49-F238E27FC236}">
                <a16:creationId xmlns:a16="http://schemas.microsoft.com/office/drawing/2014/main" id="{438FD298-937C-4A88-8C71-9DFD4C6A4ABE}"/>
              </a:ext>
            </a:extLst>
          </p:cNvPr>
          <p:cNvSpPr>
            <a:spLocks xmlns:a="http://schemas.openxmlformats.org/drawingml/2006/main" noGrp="1"/>
          </p:cNvSpPr>
          <p:nvPr/>
        </p:nvSpPr>
        <p:spPr>
          <a:xfrm xmlns:a="http://schemas.openxmlformats.org/drawingml/2006/main">
            <a:off x="666750" y="34290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87A76"/>
                </a:solidFill>
              </a:defRPr>
            </a:pPr>
            <a:r>
              <a:rPr sz="900" b="1" i="0">
                <a:solidFill>
                  <a:srgbClr val="087A76"/>
                </a:solidFill>
              </a:rPr>
              <a:t>APPENDIX A15 | VERBATIM PROMPT</a:t>
            </a:r>
          </a:p>
        </p:txBody>
      </p:sp>
      <p:sp>
        <p:nvSpPr>
          <p:cNvPr id="3" name="">
            <a:extLst xmlns:a="http://schemas.openxmlformats.org/drawingml/2006/main">
              <a:ext uri="{FF2B5EF4-FFF2-40B4-BE49-F238E27FC236}">
                <a16:creationId xmlns:a16="http://schemas.microsoft.com/office/drawing/2014/main" id="{48821D75-27E8-4FEB-8AA9-200DF3C00019}"/>
              </a:ext>
            </a:extLst>
          </p:cNvPr>
          <p:cNvSpPr>
            <a:spLocks xmlns:a="http://schemas.openxmlformats.org/drawingml/2006/main" noGrp="1"/>
          </p:cNvSpPr>
          <p:nvPr/>
        </p:nvSpPr>
        <p:spPr>
          <a:xfrm xmlns:a="http://schemas.openxmlformats.org/drawingml/2006/main">
            <a:off x="666750" y="60960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32238"/>
                </a:solidFill>
              </a:defRPr>
            </a:pPr>
            <a:r>
              <a:rPr sz="2550" b="1" i="0">
                <a:solidFill>
                  <a:srgbClr val="132238"/>
                </a:solidFill>
              </a:rPr>
              <a:t>Current POC guidance with historical examples: verbatim prompt</a:t>
            </a:r>
          </a:p>
        </p:txBody>
      </p:sp>
      <p:sp>
        <p:nvSpPr>
          <p:cNvPr id="4" name="">
            <a:extLst xmlns:a="http://schemas.openxmlformats.org/drawingml/2006/main">
              <a:ext uri="{FF2B5EF4-FFF2-40B4-BE49-F238E27FC236}">
                <a16:creationId xmlns:a16="http://schemas.microsoft.com/office/drawing/2014/main" id="{18ABC8D4-CEBB-40BF-9643-EBAD08C0B059}"/>
              </a:ext>
            </a:extLst>
          </p:cNvPr>
          <p:cNvSpPr>
            <a:spLocks xmlns:a="http://schemas.openxmlformats.org/drawingml/2006/main" noGrp="1"/>
          </p:cNvSpPr>
          <p:nvPr/>
        </p:nvSpPr>
        <p:spPr>
          <a:xfrm xmlns:a="http://schemas.openxmlformats.org/drawingml/2006/main">
            <a:off x="685800" y="17526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E7B"/>
                </a:solidFill>
              </a:defRPr>
            </a:pPr>
            <a:r>
              <a:rPr sz="1350" b="0" i="0">
                <a:solidFill>
                  <a:srgbClr val="5F6E7B"/>
                </a:solidFill>
              </a:rPr>
              <a:t>Verbatim controlled text used in the study. Line breaks are reflowed for display only; wording is unchanged.</a:t>
            </a:r>
          </a:p>
        </p:txBody>
      </p:sp>
      <p:sp>
        <p:nvSpPr>
          <p:cNvPr id="5" name="">
            <a:extLst xmlns:a="http://schemas.openxmlformats.org/drawingml/2006/main">
              <a:ext uri="{FF2B5EF4-FFF2-40B4-BE49-F238E27FC236}">
                <a16:creationId xmlns:a16="http://schemas.microsoft.com/office/drawing/2014/main" id="{6D5C6DEA-E3D5-4B25-8D83-1909A1968CE9}"/>
              </a:ext>
            </a:extLst>
          </p:cNvPr>
          <p:cNvSpPr>
            <a:spLocks xmlns:a="http://schemas.openxmlformats.org/drawingml/2006/main" noGrp="1"/>
          </p:cNvSpPr>
          <p:nvPr/>
        </p:nvSpPr>
        <p:spPr>
          <a:xfrm xmlns:a="http://schemas.openxmlformats.org/drawingml/2006/main">
            <a:off x="666750" y="6429375"/>
            <a:ext cx="10858500" cy="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6" name="">
            <a:extLst xmlns:a="http://schemas.openxmlformats.org/drawingml/2006/main">
              <a:ext uri="{FF2B5EF4-FFF2-40B4-BE49-F238E27FC236}">
                <a16:creationId xmlns:a16="http://schemas.microsoft.com/office/drawing/2014/main" id="{31BABF94-827F-41F6-AC9F-E47BA74978D9}"/>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F6E7B"/>
                </a:solidFill>
              </a:defRPr>
            </a:pPr>
            <a:r>
              <a:rPr sz="750" b="0" i="0">
                <a:solidFill>
                  <a:srgbClr val="5F6E7B"/>
                </a:solidFill>
              </a:rPr>
              <a:t>Technical appendix | controlled prompt artifacts</a:t>
            </a:r>
          </a:p>
        </p:txBody>
      </p:sp>
      <p:sp>
        <p:nvSpPr>
          <p:cNvPr id="7" name="">
            <a:extLst xmlns:a="http://schemas.openxmlformats.org/drawingml/2006/main">
              <a:ext uri="{FF2B5EF4-FFF2-40B4-BE49-F238E27FC236}">
                <a16:creationId xmlns:a16="http://schemas.microsoft.com/office/drawing/2014/main" id="{5160007C-C751-403C-8964-6F699D0C9205}"/>
              </a:ext>
            </a:extLst>
          </p:cNvPr>
          <p:cNvSpPr>
            <a:spLocks xmlns:a="http://schemas.openxmlformats.org/drawingml/2006/main" noGrp="1"/>
          </p:cNvSpPr>
          <p:nvPr/>
        </p:nvSpPr>
        <p:spPr>
          <a:xfrm xmlns:a="http://schemas.openxmlformats.org/drawingml/2006/main">
            <a:off x="11096625"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5F6E7B"/>
                </a:solidFill>
              </a:defRPr>
            </a:pPr>
            <a:r>
              <a:rPr sz="750" b="1" i="0">
                <a:solidFill>
                  <a:srgbClr val="5F6E7B"/>
                </a:solidFill>
              </a:rPr>
              <a:t>33</a:t>
            </a:r>
          </a:p>
        </p:txBody>
      </p:sp>
      <p:sp>
        <p:nvSpPr>
          <p:cNvPr id="8" name="">
            <a:extLst xmlns:a="http://schemas.openxmlformats.org/drawingml/2006/main">
              <a:ext uri="{FF2B5EF4-FFF2-40B4-BE49-F238E27FC236}">
                <a16:creationId xmlns:a16="http://schemas.microsoft.com/office/drawing/2014/main" id="{E04AEAC0-F1F1-4F03-80FD-BD5334A1DFD7}"/>
              </a:ext>
            </a:extLst>
          </p:cNvPr>
          <p:cNvSpPr>
            <a:spLocks xmlns:a="http://schemas.openxmlformats.org/drawingml/2006/main" noGrp="1"/>
          </p:cNvSpPr>
          <p:nvPr/>
        </p:nvSpPr>
        <p:spPr>
          <a:xfrm xmlns:a="http://schemas.openxmlformats.org/drawingml/2006/main">
            <a:off x="685800" y="20955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5F6E7B"/>
                </a:solidFill>
              </a:defRPr>
            </a:pPr>
            <a:r>
              <a:rPr sz="825" b="1" i="0">
                <a:solidFill>
                  <a:srgbClr val="5F6E7B"/>
                </a:solidFill>
              </a:rPr>
              <a:t>SYSTEM GUIDANCE FOLLOWED BY USER TEMPLATE</a:t>
            </a:r>
          </a:p>
        </p:txBody>
      </p:sp>
      <p:sp>
        <p:nvSpPr>
          <p:cNvPr id="9" name="">
            <a:extLst xmlns:a="http://schemas.openxmlformats.org/drawingml/2006/main">
              <a:ext uri="{FF2B5EF4-FFF2-40B4-BE49-F238E27FC236}">
                <a16:creationId xmlns:a16="http://schemas.microsoft.com/office/drawing/2014/main" id="{487683F2-501E-402B-A2F7-70791446FD0C}"/>
              </a:ext>
            </a:extLst>
          </p:cNvPr>
          <p:cNvSpPr>
            <a:spLocks xmlns:a="http://schemas.openxmlformats.org/drawingml/2006/main" noGrp="1"/>
          </p:cNvSpPr>
          <p:nvPr/>
        </p:nvSpPr>
        <p:spPr>
          <a:xfrm xmlns:a="http://schemas.openxmlformats.org/drawingml/2006/main">
            <a:off x="685800" y="2343150"/>
            <a:ext cx="2019300"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 b="0" i="0">
                <a:solidFill>
                  <a:srgbClr val="132238"/>
                </a:solidFill>
              </a:defRPr>
            </a:pPr>
            <a:r>
              <a:rPr sz="480" b="0" i="0">
                <a:solidFill>
                  <a:srgbClr val="132238"/>
                </a:solidFill>
              </a:rPr>
              <a:t>[SYSTEM GUIDANCE]</a:t>
            </a:r>
          </a:p>
          <a:p xmlns:a="http://schemas.openxmlformats.org/drawingml/2006/main">
            <a:pPr algn="l">
              <a:defRPr sz="480" b="0" i="0">
                <a:solidFill>
                  <a:srgbClr val="132238"/>
                </a:solidFill>
              </a:defRPr>
            </a:pPr>
            <a:r>
              <a:rPr sz="480" b="0" i="0">
                <a:solidFill>
                  <a:srgbClr val="132238"/>
                </a:solidFill>
              </a:rPr>
              <a:t># E Exposure Taxonomy</a:t>
            </a:r>
          </a:p>
          <a:p xmlns:a="http://schemas.openxmlformats.org/drawingml/2006/main">
            <a:pPr algn="l">
              <a:defRPr sz="480" b="0" i="0">
                <a:solidFill>
                  <a:srgbClr val="132238"/>
                </a:solidFill>
              </a:defRPr>
            </a:pPr>
            <a:r>
              <a:rPr sz="480" b="0" i="0">
                <a:solidFill>
                  <a:srgbClr val="132238"/>
                </a:solidFill>
              </a:rPr>
              <a:t>Consider the most powerful OpenAI large language model</a:t>
            </a:r>
          </a:p>
          <a:p xmlns:a="http://schemas.openxmlformats.org/drawingml/2006/main">
            <a:pPr algn="l">
              <a:defRPr sz="480" b="0" i="0">
                <a:solidFill>
                  <a:srgbClr val="132238"/>
                </a:solidFill>
              </a:defRPr>
            </a:pPr>
            <a:r>
              <a:rPr sz="480" b="0" i="0">
                <a:solidFill>
                  <a:srgbClr val="132238"/>
                </a:solidFill>
              </a:rPr>
              <a:t>(LLM). This model can complete many tasks that can be</a:t>
            </a:r>
          </a:p>
          <a:p xmlns:a="http://schemas.openxmlformats.org/drawingml/2006/main">
            <a:pPr algn="l">
              <a:defRPr sz="480" b="0" i="0">
                <a:solidFill>
                  <a:srgbClr val="132238"/>
                </a:solidFill>
              </a:defRPr>
            </a:pPr>
            <a:r>
              <a:rPr sz="480" b="0" i="0">
                <a:solidFill>
                  <a:srgbClr val="132238"/>
                </a:solidFill>
              </a:rPr>
              <a:t>formulated as having text input and text output where</a:t>
            </a:r>
          </a:p>
          <a:p xmlns:a="http://schemas.openxmlformats.org/drawingml/2006/main">
            <a:pPr algn="l">
              <a:defRPr sz="480" b="0" i="0">
                <a:solidFill>
                  <a:srgbClr val="132238"/>
                </a:solidFill>
              </a:defRPr>
            </a:pPr>
            <a:r>
              <a:rPr sz="480" b="0" i="0">
                <a:solidFill>
                  <a:srgbClr val="132238"/>
                </a:solidFill>
              </a:rPr>
              <a:t>the context for the input can be captured in 2000 words.</a:t>
            </a:r>
          </a:p>
          <a:p xmlns:a="http://schemas.openxmlformats.org/drawingml/2006/main">
            <a:pPr algn="l">
              <a:defRPr sz="480" b="0" i="0">
                <a:solidFill>
                  <a:srgbClr val="132238"/>
                </a:solidFill>
              </a:defRPr>
            </a:pPr>
            <a:r>
              <a:rPr sz="480" b="0" i="0">
                <a:solidFill>
                  <a:srgbClr val="132238"/>
                </a:solidFill>
              </a:rPr>
              <a:t>The model also cannot draw up-to-date facts (those from</a:t>
            </a:r>
          </a:p>
          <a:p xmlns:a="http://schemas.openxmlformats.org/drawingml/2006/main">
            <a:pPr algn="l">
              <a:defRPr sz="480" b="0" i="0">
                <a:solidFill>
                  <a:srgbClr val="132238"/>
                </a:solidFill>
              </a:defRPr>
            </a:pPr>
            <a:r>
              <a:rPr sz="480" b="0" i="0">
                <a:solidFill>
                  <a:srgbClr val="132238"/>
                </a:solidFill>
              </a:rPr>
              <a:t>&lt;1 year ago) unless they are captured in the input.</a:t>
            </a:r>
          </a:p>
          <a:p xmlns:a="http://schemas.openxmlformats.org/drawingml/2006/main">
            <a:pPr algn="l">
              <a:defRPr sz="480" b="0" i="0">
                <a:solidFill>
                  <a:srgbClr val="132238"/>
                </a:solidFill>
              </a:defRPr>
            </a:pPr>
            <a:r>
              <a:rPr sz="480" b="0" i="0">
                <a:solidFill>
                  <a:srgbClr val="132238"/>
                </a:solidFill>
              </a:rPr>
              <a:t>Assume you are a worker with an average level of</a:t>
            </a:r>
          </a:p>
          <a:p xmlns:a="http://schemas.openxmlformats.org/drawingml/2006/main">
            <a:pPr algn="l">
              <a:defRPr sz="480" b="0" i="0">
                <a:solidFill>
                  <a:srgbClr val="132238"/>
                </a:solidFill>
              </a:defRPr>
            </a:pPr>
            <a:r>
              <a:rPr sz="480" b="0" i="0">
                <a:solidFill>
                  <a:srgbClr val="132238"/>
                </a:solidFill>
              </a:rPr>
              <a:t>expertise in your role trying to complete the given</a:t>
            </a:r>
          </a:p>
          <a:p xmlns:a="http://schemas.openxmlformats.org/drawingml/2006/main">
            <a:pPr algn="l">
              <a:defRPr sz="480" b="0" i="0">
                <a:solidFill>
                  <a:srgbClr val="132238"/>
                </a:solidFill>
              </a:defRPr>
            </a:pPr>
            <a:r>
              <a:rPr sz="480" b="0" i="0">
                <a:solidFill>
                  <a:srgbClr val="132238"/>
                </a:solidFill>
              </a:rPr>
              <a:t>task. You have access to the LLM as well as any other</a:t>
            </a:r>
          </a:p>
          <a:p xmlns:a="http://schemas.openxmlformats.org/drawingml/2006/main">
            <a:pPr algn="l">
              <a:defRPr sz="480" b="0" i="0">
                <a:solidFill>
                  <a:srgbClr val="132238"/>
                </a:solidFill>
              </a:defRPr>
            </a:pPr>
            <a:r>
              <a:rPr sz="480" b="0" i="0">
                <a:solidFill>
                  <a:srgbClr val="132238"/>
                </a:solidFill>
              </a:rPr>
              <a:t>existing software or computer hardware tools mentioned</a:t>
            </a:r>
          </a:p>
          <a:p xmlns:a="http://schemas.openxmlformats.org/drawingml/2006/main">
            <a:pPr algn="l">
              <a:defRPr sz="480" b="0" i="0">
                <a:solidFill>
                  <a:srgbClr val="132238"/>
                </a:solidFill>
              </a:defRPr>
            </a:pPr>
            <a:r>
              <a:rPr sz="480" b="0" i="0">
                <a:solidFill>
                  <a:srgbClr val="132238"/>
                </a:solidFill>
              </a:rPr>
              <a:t>in the task. You also have access to any commonly</a:t>
            </a:r>
          </a:p>
          <a:p xmlns:a="http://schemas.openxmlformats.org/drawingml/2006/main">
            <a:pPr algn="l">
              <a:defRPr sz="480" b="0" i="0">
                <a:solidFill>
                  <a:srgbClr val="132238"/>
                </a:solidFill>
              </a:defRPr>
            </a:pPr>
            <a:r>
              <a:rPr sz="480" b="0" i="0">
                <a:solidFill>
                  <a:srgbClr val="132238"/>
                </a:solidFill>
              </a:rPr>
              <a:t>available technical tools accessible via a laptop (e.g.</a:t>
            </a:r>
          </a:p>
          <a:p xmlns:a="http://schemas.openxmlformats.org/drawingml/2006/main">
            <a:pPr algn="l">
              <a:defRPr sz="480" b="0" i="0">
                <a:solidFill>
                  <a:srgbClr val="132238"/>
                </a:solidFill>
              </a:defRPr>
            </a:pPr>
            <a:r>
              <a:rPr sz="480" b="0" i="0">
                <a:solidFill>
                  <a:srgbClr val="132238"/>
                </a:solidFill>
              </a:rPr>
              <a:t>a microphone, speakers, etc.). You do not have access to</a:t>
            </a:r>
          </a:p>
          <a:p xmlns:a="http://schemas.openxmlformats.org/drawingml/2006/main">
            <a:pPr algn="l">
              <a:defRPr sz="480" b="0" i="0">
                <a:solidFill>
                  <a:srgbClr val="132238"/>
                </a:solidFill>
              </a:defRPr>
            </a:pPr>
            <a:r>
              <a:rPr sz="480" b="0" i="0">
                <a:solidFill>
                  <a:srgbClr val="132238"/>
                </a:solidFill>
              </a:rPr>
              <a:t>any other physical tools or materials.</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Please label the given task performed for the</a:t>
            </a:r>
          </a:p>
          <a:p xmlns:a="http://schemas.openxmlformats.org/drawingml/2006/main">
            <a:pPr algn="l">
              <a:defRPr sz="480" b="0" i="0">
                <a:solidFill>
                  <a:srgbClr val="132238"/>
                </a:solidFill>
              </a:defRPr>
            </a:pPr>
            <a:r>
              <a:rPr sz="480" b="0" i="0">
                <a:solidFill>
                  <a:srgbClr val="132238"/>
                </a:solidFill>
              </a:rPr>
              <a:t>corresponding occupation according to the taxonomy</a:t>
            </a:r>
          </a:p>
          <a:p xmlns:a="http://schemas.openxmlformats.org/drawingml/2006/main">
            <a:pPr algn="l">
              <a:defRPr sz="480" b="0" i="0">
                <a:solidFill>
                  <a:srgbClr val="132238"/>
                </a:solidFill>
              </a:defRPr>
            </a:pPr>
            <a:r>
              <a:rPr sz="480" b="0" i="0">
                <a:solidFill>
                  <a:srgbClr val="132238"/>
                </a:solidFill>
              </a:rPr>
              <a:t>below.</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 DECISION HEURISTICS</a:t>
            </a:r>
          </a:p>
          <a:p xmlns:a="http://schemas.openxmlformats.org/drawingml/2006/main">
            <a:pPr algn="l">
              <a:defRPr sz="480" b="0" i="0">
                <a:solidFill>
                  <a:srgbClr val="132238"/>
                </a:solidFill>
              </a:defRPr>
            </a:pPr>
            <a:r>
              <a:rPr sz="480" b="0" i="0">
                <a:solidFill>
                  <a:srgbClr val="132238"/>
                </a:solidFill>
              </a:rPr>
              <a:t>Focus on the PRIMARY OUTPUT of the task, not the</a:t>
            </a:r>
          </a:p>
          <a:p xmlns:a="http://schemas.openxmlformats.org/drawingml/2006/main">
            <a:pPr algn="l">
              <a:defRPr sz="480" b="0" i="0">
                <a:solidFill>
                  <a:srgbClr val="132238"/>
                </a:solidFill>
              </a:defRPr>
            </a:pPr>
            <a:r>
              <a:rPr sz="480" b="0" i="0">
                <a:solidFill>
                  <a:srgbClr val="132238"/>
                </a:solidFill>
              </a:rPr>
              <a:t>surrounding context. If the main deliverable is a</a:t>
            </a:r>
          </a:p>
          <a:p xmlns:a="http://schemas.openxmlformats.org/drawingml/2006/main">
            <a:pPr algn="l">
              <a:defRPr sz="480" b="0" i="0">
                <a:solidFill>
                  <a:srgbClr val="132238"/>
                </a:solidFill>
              </a:defRPr>
            </a:pPr>
            <a:r>
              <a:rPr sz="480" b="0" i="0">
                <a:solidFill>
                  <a:srgbClr val="132238"/>
                </a:solidFill>
              </a:rPr>
              <a:t>document, analysis, presentation, report, or written</a:t>
            </a:r>
          </a:p>
          <a:p xmlns:a="http://schemas.openxmlformats.org/drawingml/2006/main">
            <a:pPr algn="l">
              <a:defRPr sz="480" b="0" i="0">
                <a:solidFill>
                  <a:srgbClr val="132238"/>
                </a:solidFill>
              </a:defRPr>
            </a:pPr>
            <a:r>
              <a:rPr sz="480" b="0" i="0">
                <a:solidFill>
                  <a:srgbClr val="132238"/>
                </a:solidFill>
              </a:rPr>
              <a:t>communication — it is likely E1 or E2 even if the task</a:t>
            </a:r>
          </a:p>
          <a:p xmlns:a="http://schemas.openxmlformats.org/drawingml/2006/main">
            <a:pPr algn="l">
              <a:defRPr sz="480" b="0" i="0">
                <a:solidFill>
                  <a:srgbClr val="132238"/>
                </a:solidFill>
              </a:defRPr>
            </a:pPr>
            <a:r>
              <a:rPr sz="480" b="0" i="0">
                <a:solidFill>
                  <a:srgbClr val="132238"/>
                </a:solidFill>
              </a:rPr>
              <a:t>also involves some stakeholder interaction or judgment.</a:t>
            </a:r>
          </a:p>
          <a:p xmlns:a="http://schemas.openxmlformats.org/drawingml/2006/main">
            <a:pPr algn="l">
              <a:defRPr sz="480" b="0" i="0">
                <a:solidFill>
                  <a:srgbClr val="132238"/>
                </a:solidFill>
              </a:defRPr>
            </a:pPr>
            <a:r>
              <a:rPr sz="480" b="0" i="0">
                <a:solidFill>
                  <a:srgbClr val="132238"/>
                </a:solidFill>
              </a:rPr>
              <a:t>Almost every professional task involves some human</a:t>
            </a:r>
          </a:p>
          <a:p xmlns:a="http://schemas.openxmlformats.org/drawingml/2006/main">
            <a:pPr algn="l">
              <a:defRPr sz="480" b="0" i="0">
                <a:solidFill>
                  <a:srgbClr val="132238"/>
                </a:solidFill>
              </a:defRPr>
            </a:pPr>
            <a:r>
              <a:rPr sz="480" b="0" i="0">
                <a:solidFill>
                  <a:srgbClr val="132238"/>
                </a:solidFill>
              </a:rPr>
              <a:t>judgment. The question is whether an LLM (or LLM-powered</a:t>
            </a:r>
          </a:p>
          <a:p xmlns:a="http://schemas.openxmlformats.org/drawingml/2006/main">
            <a:pPr algn="l">
              <a:defRPr sz="480" b="0" i="0">
                <a:solidFill>
                  <a:srgbClr val="132238"/>
                </a:solidFill>
              </a:defRPr>
            </a:pPr>
            <a:r>
              <a:rPr sz="480" b="0" i="0">
                <a:solidFill>
                  <a:srgbClr val="132238"/>
                </a:solidFill>
              </a:rPr>
              <a:t>software) can reduce the CORE WORK by 50%, not whether</a:t>
            </a:r>
          </a:p>
          <a:p xmlns:a="http://schemas.openxmlformats.org/drawingml/2006/main">
            <a:pPr algn="l">
              <a:defRPr sz="480" b="0" i="0">
                <a:solidFill>
                  <a:srgbClr val="132238"/>
                </a:solidFill>
              </a:defRPr>
            </a:pPr>
            <a:r>
              <a:rPr sz="480" b="0" i="0">
                <a:solidFill>
                  <a:srgbClr val="132238"/>
                </a:solidFill>
              </a:rPr>
              <a:t>the task has any human element at all.</a:t>
            </a:r>
          </a:p>
          <a:p xmlns:a="http://schemas.openxmlformats.org/drawingml/2006/main">
            <a:pPr algn="l">
              <a:defRPr sz="480" b="0" i="0">
                <a:solidFill>
                  <a:srgbClr val="132238"/>
                </a:solidFill>
              </a:defRPr>
            </a:pPr>
            <a:r>
              <a:rPr sz="480" b="0" i="0">
                <a:solidFill>
                  <a:srgbClr val="132238"/>
                </a:solidFill>
              </a:rPr>
              <a:t>Ask yourself: what is the worker spending most of their</a:t>
            </a:r>
          </a:p>
          <a:p xmlns:a="http://schemas.openxmlformats.org/drawingml/2006/main">
            <a:pPr algn="l">
              <a:defRPr sz="480" b="0" i="0">
                <a:solidFill>
                  <a:srgbClr val="132238"/>
                </a:solidFill>
              </a:defRPr>
            </a:pPr>
            <a:r>
              <a:rPr sz="480" b="0" i="0">
                <a:solidFill>
                  <a:srgbClr val="132238"/>
                </a:solidFill>
              </a:rPr>
              <a:t>time doing? If it is reading, writing, researching,</a:t>
            </a:r>
          </a:p>
          <a:p xmlns:a="http://schemas.openxmlformats.org/drawingml/2006/main">
            <a:pPr algn="l">
              <a:defRPr sz="480" b="0" i="0">
                <a:solidFill>
                  <a:srgbClr val="132238"/>
                </a:solidFill>
              </a:defRPr>
            </a:pPr>
            <a:r>
              <a:rPr sz="480" b="0" i="0">
                <a:solidFill>
                  <a:srgbClr val="132238"/>
                </a:solidFill>
              </a:rPr>
              <a:t>analysing data, or synthesising information — that is</a:t>
            </a:r>
          </a:p>
          <a:p xmlns:a="http://schemas.openxmlformats.org/drawingml/2006/main">
            <a:pPr algn="l">
              <a:defRPr sz="480" b="0" i="0">
                <a:solidFill>
                  <a:srgbClr val="132238"/>
                </a:solidFill>
              </a:defRPr>
            </a:pPr>
            <a:r>
              <a:rPr sz="480" b="0" i="0">
                <a:solidFill>
                  <a:srgbClr val="132238"/>
                </a:solidFill>
              </a:rPr>
              <a:t>automatable. If it is physically present with people,</a:t>
            </a:r>
          </a:p>
          <a:p xmlns:a="http://schemas.openxmlformats.org/drawingml/2006/main">
            <a:pPr algn="l">
              <a:defRPr sz="480" b="0" i="0">
                <a:solidFill>
                  <a:srgbClr val="132238"/>
                </a:solidFill>
              </a:defRPr>
            </a:pPr>
            <a:r>
              <a:rPr sz="480" b="0" i="0">
                <a:solidFill>
                  <a:srgbClr val="132238"/>
                </a:solidFill>
              </a:rPr>
              <a:t>coaching face-to-face, facilitating live discussions, or</a:t>
            </a:r>
          </a:p>
          <a:p xmlns:a="http://schemas.openxmlformats.org/drawingml/2006/main">
            <a:pPr algn="l">
              <a:defRPr sz="480" b="0" i="0">
                <a:solidFill>
                  <a:srgbClr val="132238"/>
                </a:solidFill>
              </a:defRPr>
            </a:pPr>
            <a:r>
              <a:rPr sz="480" b="0" i="0">
                <a:solidFill>
                  <a:srgbClr val="132238"/>
                </a:solidFill>
              </a:rPr>
              <a:t>building relationships through personal interaction —</a:t>
            </a:r>
          </a:p>
          <a:p xmlns:a="http://schemas.openxmlformats.org/drawingml/2006/main">
            <a:pPr algn="l">
              <a:defRPr sz="480" b="0" i="0">
                <a:solidFill>
                  <a:srgbClr val="132238"/>
                </a:solidFill>
              </a:defRPr>
            </a:pPr>
            <a:r>
              <a:rPr sz="480" b="0" i="0">
                <a:solidFill>
                  <a:srgbClr val="132238"/>
                </a:solidFill>
              </a:rPr>
              <a:t>that is E0.</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 E0 – No exposure</a:t>
            </a:r>
          </a:p>
          <a:p xmlns:a="http://schemas.openxmlformats.org/drawingml/2006/main">
            <a:pPr algn="l">
              <a:defRPr sz="480" b="0" i="0">
                <a:solidFill>
                  <a:srgbClr val="132238"/>
                </a:solidFill>
              </a:defRPr>
            </a:pPr>
            <a:r>
              <a:rPr sz="480" b="0" i="0">
                <a:solidFill>
                  <a:srgbClr val="132238"/>
                </a:solidFill>
              </a:rPr>
              <a:t>Label tasks E0 if direct access to the LLM through an</a:t>
            </a:r>
          </a:p>
          <a:p xmlns:a="http://schemas.openxmlformats.org/drawingml/2006/main">
            <a:pPr algn="l">
              <a:defRPr sz="480" b="0" i="0">
                <a:solidFill>
                  <a:srgbClr val="132238"/>
                </a:solidFill>
              </a:defRPr>
            </a:pPr>
            <a:r>
              <a:rPr sz="480" b="0" i="0">
                <a:solidFill>
                  <a:srgbClr val="132238"/>
                </a:solidFill>
              </a:rPr>
              <a:t>interface like ChatGPT or the OpenAI playground cannot</a:t>
            </a:r>
          </a:p>
          <a:p xmlns:a="http://schemas.openxmlformats.org/drawingml/2006/main">
            <a:pPr algn="l">
              <a:defRPr sz="480" b="0" i="0">
                <a:solidFill>
                  <a:srgbClr val="132238"/>
                </a:solidFill>
              </a:defRPr>
            </a:pPr>
            <a:r>
              <a:rPr sz="480" b="0" i="0">
                <a:solidFill>
                  <a:srgbClr val="132238"/>
                </a:solidFill>
              </a:rPr>
              <a:t>reduce the time it takes to complete this task with</a:t>
            </a:r>
          </a:p>
          <a:p xmlns:a="http://schemas.openxmlformats.org/drawingml/2006/main">
            <a:pPr algn="l">
              <a:defRPr sz="480" b="0" i="0">
                <a:solidFill>
                  <a:srgbClr val="132238"/>
                </a:solidFill>
              </a:defRPr>
            </a:pPr>
            <a:r>
              <a:rPr sz="480" b="0" i="0">
                <a:solidFill>
                  <a:srgbClr val="132238"/>
                </a:solidFill>
              </a:rPr>
              <a:t>equivalent quality by half or more. If a task requires a</a:t>
            </a:r>
          </a:p>
          <a:p xmlns:a="http://schemas.openxmlformats.org/drawingml/2006/main">
            <a:pPr algn="l">
              <a:defRPr sz="480" b="0" i="0">
                <a:solidFill>
                  <a:srgbClr val="132238"/>
                </a:solidFill>
              </a:defRPr>
            </a:pPr>
            <a:r>
              <a:rPr sz="480" b="0" i="0">
                <a:solidFill>
                  <a:srgbClr val="132238"/>
                </a:solidFill>
              </a:rPr>
              <a:t>high degree of human interaction (for example, in person</a:t>
            </a:r>
          </a:p>
          <a:p xmlns:a="http://schemas.openxmlformats.org/drawingml/2006/main">
            <a:pPr algn="l">
              <a:defRPr sz="480" b="0" i="0">
                <a:solidFill>
                  <a:srgbClr val="132238"/>
                </a:solidFill>
              </a:defRPr>
            </a:pPr>
            <a:r>
              <a:rPr sz="480" b="0" i="0">
                <a:solidFill>
                  <a:srgbClr val="132238"/>
                </a:solidFill>
              </a:rPr>
              <a:t>demonstrations) then it should be classified as E0.</a:t>
            </a:r>
          </a:p>
          <a:p xmlns:a="http://schemas.openxmlformats.org/drawingml/2006/main">
            <a:pPr algn="l">
              <a:defRPr sz="480" b="0" i="0">
                <a:solidFill>
                  <a:srgbClr val="132238"/>
                </a:solidFill>
              </a:defRPr>
            </a:pPr>
            <a:r>
              <a:rPr sz="480" b="0" i="0">
                <a:solidFill>
                  <a:srgbClr val="132238"/>
                </a:solidFill>
              </a:rPr>
              <a:t>E0 is reserved for tasks where the PRIMARY ACTIVITY is</a:t>
            </a:r>
          </a:p>
          <a:p xmlns:a="http://schemas.openxmlformats.org/drawingml/2006/main">
            <a:pPr algn="l">
              <a:defRPr sz="480" b="0" i="0">
                <a:solidFill>
                  <a:srgbClr val="132238"/>
                </a:solidFill>
              </a:defRPr>
            </a:pPr>
            <a:r>
              <a:rPr sz="480" b="0" i="0">
                <a:solidFill>
                  <a:srgbClr val="132238"/>
                </a:solidFill>
              </a:rPr>
              <a:t>physical, interpersonal, or requires real-time human</a:t>
            </a:r>
          </a:p>
          <a:p xmlns:a="http://schemas.openxmlformats.org/drawingml/2006/main">
            <a:pPr algn="l">
              <a:defRPr sz="480" b="0" i="0">
                <a:solidFill>
                  <a:srgbClr val="132238"/>
                </a:solidFill>
              </a:defRPr>
            </a:pPr>
            <a:r>
              <a:rPr sz="480" b="0" i="0">
                <a:solidFill>
                  <a:srgbClr val="132238"/>
                </a:solidFill>
              </a:rPr>
              <a:t>presence — such as coaching sessions, facilitating live</a:t>
            </a:r>
          </a:p>
          <a:p xmlns:a="http://schemas.openxmlformats.org/drawingml/2006/main">
            <a:pPr algn="l">
              <a:defRPr sz="480" b="0" i="0">
                <a:solidFill>
                  <a:srgbClr val="132238"/>
                </a:solidFill>
              </a:defRPr>
            </a:pPr>
            <a:r>
              <a:rPr sz="480" b="0" i="0">
                <a:solidFill>
                  <a:srgbClr val="132238"/>
                </a:solidFill>
              </a:rPr>
              <a:t>meetings, in-person demonstrations, managing</a:t>
            </a:r>
          </a:p>
          <a:p xmlns:a="http://schemas.openxmlformats.org/drawingml/2006/main">
            <a:pPr algn="l">
              <a:defRPr sz="480" b="0" i="0">
                <a:solidFill>
                  <a:srgbClr val="132238"/>
                </a:solidFill>
              </a:defRPr>
            </a:pPr>
            <a:r>
              <a:rPr sz="480" b="0" i="0">
                <a:solidFill>
                  <a:srgbClr val="132238"/>
                </a:solidFill>
              </a:rPr>
              <a:t>relationships, or providing emotional support.</a:t>
            </a:r>
          </a:p>
          <a:p xmlns:a="http://schemas.openxmlformats.org/drawingml/2006/main">
            <a:pPr algn="l">
              <a:defRPr sz="480" b="0" i="0">
                <a:solidFill>
                  <a:srgbClr val="132238"/>
                </a:solidFill>
              </a:defRPr>
            </a:pPr>
            <a:r>
              <a:rPr sz="480" b="0" i="0">
                <a:solidFill>
                  <a:srgbClr val="132238"/>
                </a:solidFill>
              </a:rPr>
              <a:t>Do NOT classify a task as E0 simply because it involves</a:t>
            </a:r>
          </a:p>
          <a:p xmlns:a="http://schemas.openxmlformats.org/drawingml/2006/main">
            <a:pPr algn="l">
              <a:defRPr sz="480" b="0" i="0">
                <a:solidFill>
                  <a:srgbClr val="132238"/>
                </a:solidFill>
              </a:defRPr>
            </a:pPr>
            <a:r>
              <a:rPr sz="480" b="0" i="0">
                <a:solidFill>
                  <a:srgbClr val="132238"/>
                </a:solidFill>
              </a:rPr>
              <a:t>some judgment or decision-making. If the core work</a:t>
            </a:r>
          </a:p>
          <a:p xmlns:a="http://schemas.openxmlformats.org/drawingml/2006/main">
            <a:pPr algn="l">
              <a:defRPr sz="480" b="0" i="0">
                <a:solidFill>
                  <a:srgbClr val="132238"/>
                </a:solidFill>
              </a:defRPr>
            </a:pPr>
            <a:r>
              <a:rPr sz="480" b="0" i="0">
                <a:solidFill>
                  <a:srgbClr val="132238"/>
                </a:solidFill>
              </a:rPr>
              <a:t>involves writing, analysis, research, or information</a:t>
            </a:r>
          </a:p>
          <a:p xmlns:a="http://schemas.openxmlformats.org/drawingml/2006/main">
            <a:pPr algn="l">
              <a:defRPr sz="480" b="0" i="0">
                <a:solidFill>
                  <a:srgbClr val="132238"/>
                </a:solidFill>
              </a:defRPr>
            </a:pPr>
            <a:r>
              <a:rPr sz="480" b="0" i="0">
                <a:solidFill>
                  <a:srgbClr val="132238"/>
                </a:solidFill>
              </a:rPr>
              <a:t>synthesis, it belongs in E1 or E2 even if judgment is</a:t>
            </a:r>
          </a:p>
          <a:p xmlns:a="http://schemas.openxmlformats.org/drawingml/2006/main">
            <a:pPr algn="l">
              <a:defRPr sz="480" b="0" i="0">
                <a:solidFill>
                  <a:srgbClr val="132238"/>
                </a:solidFill>
              </a:defRPr>
            </a:pPr>
            <a:r>
              <a:rPr sz="480" b="0" i="0">
                <a:solidFill>
                  <a:srgbClr val="132238"/>
                </a:solidFill>
              </a:rPr>
              <a:t>also needed.</a:t>
            </a:r>
          </a:p>
        </p:txBody>
      </p:sp>
      <p:sp>
        <p:nvSpPr>
          <p:cNvPr id="10" name="">
            <a:extLst xmlns:a="http://schemas.openxmlformats.org/drawingml/2006/main">
              <a:ext uri="{FF2B5EF4-FFF2-40B4-BE49-F238E27FC236}">
                <a16:creationId xmlns:a16="http://schemas.microsoft.com/office/drawing/2014/main" id="{4CBEC88E-D91B-40C7-A727-591C1C87959C}"/>
              </a:ext>
            </a:extLst>
          </p:cNvPr>
          <p:cNvSpPr>
            <a:spLocks xmlns:a="http://schemas.openxmlformats.org/drawingml/2006/main" noGrp="1"/>
          </p:cNvSpPr>
          <p:nvPr/>
        </p:nvSpPr>
        <p:spPr>
          <a:xfrm xmlns:a="http://schemas.openxmlformats.org/drawingml/2006/main">
            <a:off x="2762250" y="2305050"/>
            <a:ext cx="0" cy="394335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1" name="">
            <a:extLst xmlns:a="http://schemas.openxmlformats.org/drawingml/2006/main">
              <a:ext uri="{FF2B5EF4-FFF2-40B4-BE49-F238E27FC236}">
                <a16:creationId xmlns:a16="http://schemas.microsoft.com/office/drawing/2014/main" id="{A2A722A8-0FFF-4574-A9B2-FBA6F9A44386}"/>
              </a:ext>
            </a:extLst>
          </p:cNvPr>
          <p:cNvSpPr>
            <a:spLocks xmlns:a="http://schemas.openxmlformats.org/drawingml/2006/main" noGrp="1"/>
          </p:cNvSpPr>
          <p:nvPr/>
        </p:nvSpPr>
        <p:spPr>
          <a:xfrm xmlns:a="http://schemas.openxmlformats.org/drawingml/2006/main">
            <a:off x="2857500" y="2343150"/>
            <a:ext cx="2019300"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a:p xmlns:a="http://schemas.openxmlformats.org/drawingml/2006/main">
            <a:pPr algn="l">
              <a:defRPr sz="480" b="0" i="0">
                <a:solidFill>
                  <a:srgbClr val="132238"/>
                </a:solidFill>
              </a:defRPr>
            </a:pPr>
            <a:r>
              <a:rPr sz="480" b="0" i="0">
                <a:solidFill>
                  <a:srgbClr val="132238"/>
                </a:solidFill>
              </a:rPr>
              <a:t>## E1 – Direct exposure</a:t>
            </a:r>
          </a:p>
          <a:p xmlns:a="http://schemas.openxmlformats.org/drawingml/2006/main">
            <a:pPr algn="l">
              <a:defRPr sz="480" b="0" i="0">
                <a:solidFill>
                  <a:srgbClr val="132238"/>
                </a:solidFill>
              </a:defRPr>
            </a:pPr>
            <a:r>
              <a:rPr sz="480" b="0" i="0">
                <a:solidFill>
                  <a:srgbClr val="132238"/>
                </a:solidFill>
              </a:rPr>
              <a:t>Label tasks E1 if direct access to the LLM through an</a:t>
            </a:r>
          </a:p>
          <a:p xmlns:a="http://schemas.openxmlformats.org/drawingml/2006/main">
            <a:pPr algn="l">
              <a:defRPr sz="480" b="0" i="0">
                <a:solidFill>
                  <a:srgbClr val="132238"/>
                </a:solidFill>
              </a:defRPr>
            </a:pPr>
            <a:r>
              <a:rPr sz="480" b="0" i="0">
                <a:solidFill>
                  <a:srgbClr val="132238"/>
                </a:solidFill>
              </a:rPr>
              <a:t>interface like ChatGPT or the OpenAI playground alone</a:t>
            </a:r>
          </a:p>
          <a:p xmlns:a="http://schemas.openxmlformats.org/drawingml/2006/main">
            <a:pPr algn="l">
              <a:defRPr sz="480" b="0" i="0">
                <a:solidFill>
                  <a:srgbClr val="132238"/>
                </a:solidFill>
              </a:defRPr>
            </a:pPr>
            <a:r>
              <a:rPr sz="480" b="0" i="0">
                <a:solidFill>
                  <a:srgbClr val="132238"/>
                </a:solidFill>
              </a:rPr>
              <a:t>can reduce the time it takes to complete the task with</a:t>
            </a:r>
          </a:p>
          <a:p xmlns:a="http://schemas.openxmlformats.org/drawingml/2006/main">
            <a:pPr algn="l">
              <a:defRPr sz="480" b="0" i="0">
                <a:solidFill>
                  <a:srgbClr val="132238"/>
                </a:solidFill>
              </a:defRPr>
            </a:pPr>
            <a:r>
              <a:rPr sz="480" b="0" i="0">
                <a:solidFill>
                  <a:srgbClr val="132238"/>
                </a:solidFill>
              </a:rPr>
              <a:t>equivalent quality by at least half.</a:t>
            </a:r>
          </a:p>
          <a:p xmlns:a="http://schemas.openxmlformats.org/drawingml/2006/main">
            <a:pPr algn="l">
              <a:defRPr sz="480" b="0" i="0">
                <a:solidFill>
                  <a:srgbClr val="132238"/>
                </a:solidFill>
              </a:defRPr>
            </a:pPr>
            <a:r>
              <a:rPr sz="480" b="0" i="0">
                <a:solidFill>
                  <a:srgbClr val="132238"/>
                </a:solidFill>
              </a:rPr>
              <a:t>SIGNAL: Tasks where the primary output is text are</a:t>
            </a:r>
          </a:p>
          <a:p xmlns:a="http://schemas.openxmlformats.org/drawingml/2006/main">
            <a:pPr algn="l">
              <a:defRPr sz="480" b="0" i="0">
                <a:solidFill>
                  <a:srgbClr val="132238"/>
                </a:solidFill>
              </a:defRPr>
            </a:pPr>
            <a:r>
              <a:rPr sz="480" b="0" i="0">
                <a:solidFill>
                  <a:srgbClr val="132238"/>
                </a:solidFill>
              </a:rPr>
              <a:t>typically E1 — drafting documents, writing</a:t>
            </a:r>
          </a:p>
          <a:p xmlns:a="http://schemas.openxmlformats.org/drawingml/2006/main">
            <a:pPr algn="l">
              <a:defRPr sz="480" b="0" i="0">
                <a:solidFill>
                  <a:srgbClr val="132238"/>
                </a:solidFill>
              </a:defRPr>
            </a:pPr>
            <a:r>
              <a:rPr sz="480" b="0" i="0">
                <a:solidFill>
                  <a:srgbClr val="132238"/>
                </a:solidFill>
              </a:rPr>
              <a:t>communications, creating recommendations, reviewing or</a:t>
            </a:r>
          </a:p>
          <a:p xmlns:a="http://schemas.openxmlformats.org/drawingml/2006/main">
            <a:pPr algn="l">
              <a:defRPr sz="480" b="0" i="0">
                <a:solidFill>
                  <a:srgbClr val="132238"/>
                </a:solidFill>
              </a:defRPr>
            </a:pPr>
            <a:r>
              <a:rPr sz="480" b="0" i="0">
                <a:solidFill>
                  <a:srgbClr val="132238"/>
                </a:solidFill>
              </a:rPr>
              <a:t>advising in written form, preparing presentations,</a:t>
            </a:r>
          </a:p>
          <a:p xmlns:a="http://schemas.openxmlformats.org/drawingml/2006/main">
            <a:pPr algn="l">
              <a:defRPr sz="480" b="0" i="0">
                <a:solidFill>
                  <a:srgbClr val="132238"/>
                </a:solidFill>
              </a:defRPr>
            </a:pPr>
            <a:r>
              <a:rPr sz="480" b="0" i="0">
                <a:solidFill>
                  <a:srgbClr val="132238"/>
                </a:solidFill>
              </a:rPr>
              <a:t>justifying proposals, or producing any written</a:t>
            </a:r>
          </a:p>
          <a:p xmlns:a="http://schemas.openxmlformats.org/drawingml/2006/main">
            <a:pPr algn="l">
              <a:defRPr sz="480" b="0" i="0">
                <a:solidFill>
                  <a:srgbClr val="132238"/>
                </a:solidFill>
              </a:defRPr>
            </a:pPr>
            <a:r>
              <a:rPr sz="480" b="0" i="0">
                <a:solidFill>
                  <a:srgbClr val="132238"/>
                </a:solidFill>
              </a:rPr>
              <a:t>deliverable.</a:t>
            </a:r>
          </a:p>
          <a:p xmlns:a="http://schemas.openxmlformats.org/drawingml/2006/main">
            <a:pPr algn="l">
              <a:defRPr sz="480" b="0" i="0">
                <a:solidFill>
                  <a:srgbClr val="132238"/>
                </a:solidFill>
              </a:defRPr>
            </a:pPr>
            <a:r>
              <a:rPr sz="480" b="0" i="0">
                <a:solidFill>
                  <a:srgbClr val="132238"/>
                </a:solidFill>
              </a:rPr>
              <a:t>This includes tasks that can be reduced to:</a:t>
            </a:r>
          </a:p>
          <a:p xmlns:a="http://schemas.openxmlformats.org/drawingml/2006/main">
            <a:pPr algn="l">
              <a:defRPr sz="480" b="0" i="0">
                <a:solidFill>
                  <a:srgbClr val="132238"/>
                </a:solidFill>
              </a:defRPr>
            </a:pPr>
            <a:r>
              <a:rPr sz="480" b="0" i="0">
                <a:solidFill>
                  <a:srgbClr val="132238"/>
                </a:solidFill>
              </a:rPr>
              <a:t>- Writing and transforming text and code according to</a:t>
            </a:r>
          </a:p>
          <a:p xmlns:a="http://schemas.openxmlformats.org/drawingml/2006/main">
            <a:pPr algn="l">
              <a:defRPr sz="480" b="0" i="0">
                <a:solidFill>
                  <a:srgbClr val="132238"/>
                </a:solidFill>
              </a:defRPr>
            </a:pPr>
            <a:r>
              <a:rPr sz="480" b="0" i="0">
                <a:solidFill>
                  <a:srgbClr val="132238"/>
                </a:solidFill>
              </a:rPr>
              <a:t>complex instructions</a:t>
            </a:r>
          </a:p>
          <a:p xmlns:a="http://schemas.openxmlformats.org/drawingml/2006/main">
            <a:pPr algn="l">
              <a:defRPr sz="480" b="0" i="0">
                <a:solidFill>
                  <a:srgbClr val="132238"/>
                </a:solidFill>
              </a:defRPr>
            </a:pPr>
            <a:r>
              <a:rPr sz="480" b="0" i="0">
                <a:solidFill>
                  <a:srgbClr val="132238"/>
                </a:solidFill>
              </a:rPr>
              <a:t>- Providing edits to existing text or code following</a:t>
            </a:r>
          </a:p>
          <a:p xmlns:a="http://schemas.openxmlformats.org/drawingml/2006/main">
            <a:pPr algn="l">
              <a:defRPr sz="480" b="0" i="0">
                <a:solidFill>
                  <a:srgbClr val="132238"/>
                </a:solidFill>
              </a:defRPr>
            </a:pPr>
            <a:r>
              <a:rPr sz="480" b="0" i="0">
                <a:solidFill>
                  <a:srgbClr val="132238"/>
                </a:solidFill>
              </a:rPr>
              <a:t>specifications</a:t>
            </a:r>
          </a:p>
          <a:p xmlns:a="http://schemas.openxmlformats.org/drawingml/2006/main">
            <a:pPr algn="l">
              <a:defRPr sz="480" b="0" i="0">
                <a:solidFill>
                  <a:srgbClr val="132238"/>
                </a:solidFill>
              </a:defRPr>
            </a:pPr>
            <a:r>
              <a:rPr sz="480" b="0" i="0">
                <a:solidFill>
                  <a:srgbClr val="132238"/>
                </a:solidFill>
              </a:rPr>
              <a:t>- Writing code that can help perform a task that used to</a:t>
            </a:r>
          </a:p>
          <a:p xmlns:a="http://schemas.openxmlformats.org/drawingml/2006/main">
            <a:pPr algn="l">
              <a:defRPr sz="480" b="0" i="0">
                <a:solidFill>
                  <a:srgbClr val="132238"/>
                </a:solidFill>
              </a:defRPr>
            </a:pPr>
            <a:r>
              <a:rPr sz="480" b="0" i="0">
                <a:solidFill>
                  <a:srgbClr val="132238"/>
                </a:solidFill>
              </a:rPr>
              <a:t>be done by hand</a:t>
            </a:r>
          </a:p>
          <a:p xmlns:a="http://schemas.openxmlformats.org/drawingml/2006/main">
            <a:pPr algn="l">
              <a:defRPr sz="480" b="0" i="0">
                <a:solidFill>
                  <a:srgbClr val="132238"/>
                </a:solidFill>
              </a:defRPr>
            </a:pPr>
            <a:r>
              <a:rPr sz="480" b="0" i="0">
                <a:solidFill>
                  <a:srgbClr val="132238"/>
                </a:solidFill>
              </a:rPr>
              <a:t>- Translating text between languages</a:t>
            </a:r>
          </a:p>
          <a:p xmlns:a="http://schemas.openxmlformats.org/drawingml/2006/main">
            <a:pPr algn="l">
              <a:defRPr sz="480" b="0" i="0">
                <a:solidFill>
                  <a:srgbClr val="132238"/>
                </a:solidFill>
              </a:defRPr>
            </a:pPr>
            <a:r>
              <a:rPr sz="480" b="0" i="0">
                <a:solidFill>
                  <a:srgbClr val="132238"/>
                </a:solidFill>
              </a:rPr>
              <a:t>- Summarizing medium-length documents</a:t>
            </a:r>
          </a:p>
          <a:p xmlns:a="http://schemas.openxmlformats.org/drawingml/2006/main">
            <a:pPr algn="l">
              <a:defRPr sz="480" b="0" i="0">
                <a:solidFill>
                  <a:srgbClr val="132238"/>
                </a:solidFill>
              </a:defRPr>
            </a:pPr>
            <a:r>
              <a:rPr sz="480" b="0" i="0">
                <a:solidFill>
                  <a:srgbClr val="132238"/>
                </a:solidFill>
              </a:rPr>
              <a:t>- Providing feedback on documents</a:t>
            </a:r>
          </a:p>
          <a:p xmlns:a="http://schemas.openxmlformats.org/drawingml/2006/main">
            <a:pPr algn="l">
              <a:defRPr sz="480" b="0" i="0">
                <a:solidFill>
                  <a:srgbClr val="132238"/>
                </a:solidFill>
              </a:defRPr>
            </a:pPr>
            <a:r>
              <a:rPr sz="480" b="0" i="0">
                <a:solidFill>
                  <a:srgbClr val="132238"/>
                </a:solidFill>
              </a:rPr>
              <a:t>- Answering questions about a document</a:t>
            </a:r>
          </a:p>
          <a:p xmlns:a="http://schemas.openxmlformats.org/drawingml/2006/main">
            <a:pPr algn="l">
              <a:defRPr sz="480" b="0" i="0">
                <a:solidFill>
                  <a:srgbClr val="132238"/>
                </a:solidFill>
              </a:defRPr>
            </a:pPr>
            <a:r>
              <a:rPr sz="480" b="0" i="0">
                <a:solidFill>
                  <a:srgbClr val="132238"/>
                </a:solidFill>
              </a:rPr>
              <a:t>- Generating questions a user might want to ask about a</a:t>
            </a:r>
          </a:p>
          <a:p xmlns:a="http://schemas.openxmlformats.org/drawingml/2006/main">
            <a:pPr algn="l">
              <a:defRPr sz="480" b="0" i="0">
                <a:solidFill>
                  <a:srgbClr val="132238"/>
                </a:solidFill>
              </a:defRPr>
            </a:pPr>
            <a:r>
              <a:rPr sz="480" b="0" i="0">
                <a:solidFill>
                  <a:srgbClr val="132238"/>
                </a:solidFill>
              </a:rPr>
              <a:t>document</a:t>
            </a:r>
          </a:p>
          <a:p xmlns:a="http://schemas.openxmlformats.org/drawingml/2006/main">
            <a:pPr algn="l">
              <a:defRPr sz="480" b="0" i="0">
                <a:solidFill>
                  <a:srgbClr val="132238"/>
                </a:solidFill>
              </a:defRPr>
            </a:pPr>
            <a:r>
              <a:rPr sz="480" b="0" i="0">
                <a:solidFill>
                  <a:srgbClr val="132238"/>
                </a:solidFill>
              </a:rPr>
              <a:t>- Drafting contracts, policies, or legal documents from</a:t>
            </a:r>
          </a:p>
          <a:p xmlns:a="http://schemas.openxmlformats.org/drawingml/2006/main">
            <a:pPr algn="l">
              <a:defRPr sz="480" b="0" i="0">
                <a:solidFill>
                  <a:srgbClr val="132238"/>
                </a:solidFill>
              </a:defRPr>
            </a:pPr>
            <a:r>
              <a:rPr sz="480" b="0" i="0">
                <a:solidFill>
                  <a:srgbClr val="132238"/>
                </a:solidFill>
              </a:rPr>
              <a:t>templates</a:t>
            </a:r>
          </a:p>
          <a:p xmlns:a="http://schemas.openxmlformats.org/drawingml/2006/main">
            <a:pPr algn="l">
              <a:defRPr sz="480" b="0" i="0">
                <a:solidFill>
                  <a:srgbClr val="132238"/>
                </a:solidFill>
              </a:defRPr>
            </a:pPr>
            <a:r>
              <a:rPr sz="480" b="0" i="0">
                <a:solidFill>
                  <a:srgbClr val="132238"/>
                </a:solidFill>
              </a:rPr>
              <a:t>- Writing strategic recommendations or advisory memos</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 E2 – Exposure by LLM-powered applications</a:t>
            </a:r>
          </a:p>
          <a:p xmlns:a="http://schemas.openxmlformats.org/drawingml/2006/main">
            <a:pPr algn="l">
              <a:defRPr sz="480" b="0" i="0">
                <a:solidFill>
                  <a:srgbClr val="132238"/>
                </a:solidFill>
              </a:defRPr>
            </a:pPr>
            <a:r>
              <a:rPr sz="480" b="0" i="0">
                <a:solidFill>
                  <a:srgbClr val="132238"/>
                </a:solidFill>
              </a:rPr>
              <a:t>Label tasks E2 if having access to the LLM alone may not</a:t>
            </a:r>
          </a:p>
          <a:p xmlns:a="http://schemas.openxmlformats.org/drawingml/2006/main">
            <a:pPr algn="l">
              <a:defRPr sz="480" b="0" i="0">
                <a:solidFill>
                  <a:srgbClr val="132238"/>
                </a:solidFill>
              </a:defRPr>
            </a:pPr>
            <a:r>
              <a:rPr sz="480" b="0" i="0">
                <a:solidFill>
                  <a:srgbClr val="132238"/>
                </a:solidFill>
              </a:rPr>
              <a:t>reduce the time it takes to complete the task by at</a:t>
            </a:r>
          </a:p>
          <a:p xmlns:a="http://schemas.openxmlformats.org/drawingml/2006/main">
            <a:pPr algn="l">
              <a:defRPr sz="480" b="0" i="0">
                <a:solidFill>
                  <a:srgbClr val="132238"/>
                </a:solidFill>
              </a:defRPr>
            </a:pPr>
            <a:r>
              <a:rPr sz="480" b="0" i="0">
                <a:solidFill>
                  <a:srgbClr val="132238"/>
                </a:solidFill>
              </a:rPr>
              <a:t>least half, but it is easy to imagine additional</a:t>
            </a:r>
          </a:p>
          <a:p xmlns:a="http://schemas.openxmlformats.org/drawingml/2006/main">
            <a:pPr algn="l">
              <a:defRPr sz="480" b="0" i="0">
                <a:solidFill>
                  <a:srgbClr val="132238"/>
                </a:solidFill>
              </a:defRPr>
            </a:pPr>
            <a:r>
              <a:rPr sz="480" b="0" i="0">
                <a:solidFill>
                  <a:srgbClr val="132238"/>
                </a:solidFill>
              </a:rPr>
              <a:t>software that could be developed on top of the LLM that</a:t>
            </a:r>
          </a:p>
          <a:p xmlns:a="http://schemas.openxmlformats.org/drawingml/2006/main">
            <a:pPr algn="l">
              <a:defRPr sz="480" b="0" i="0">
                <a:solidFill>
                  <a:srgbClr val="132238"/>
                </a:solidFill>
              </a:defRPr>
            </a:pPr>
            <a:r>
              <a:rPr sz="480" b="0" i="0">
                <a:solidFill>
                  <a:srgbClr val="132238"/>
                </a:solidFill>
              </a:rPr>
              <a:t>would reduce the time it takes to complete the task by</a:t>
            </a:r>
          </a:p>
          <a:p xmlns:a="http://schemas.openxmlformats.org/drawingml/2006/main">
            <a:pPr algn="l">
              <a:defRPr sz="480" b="0" i="0">
                <a:solidFill>
                  <a:srgbClr val="132238"/>
                </a:solidFill>
              </a:defRPr>
            </a:pPr>
            <a:r>
              <a:rPr sz="480" b="0" i="0">
                <a:solidFill>
                  <a:srgbClr val="132238"/>
                </a:solidFill>
              </a:rPr>
              <a:t>half.</a:t>
            </a:r>
          </a:p>
          <a:p xmlns:a="http://schemas.openxmlformats.org/drawingml/2006/main">
            <a:pPr algn="l">
              <a:defRPr sz="480" b="0" i="0">
                <a:solidFill>
                  <a:srgbClr val="132238"/>
                </a:solidFill>
              </a:defRPr>
            </a:pPr>
            <a:r>
              <a:rPr sz="480" b="0" i="0">
                <a:solidFill>
                  <a:srgbClr val="132238"/>
                </a:solidFill>
              </a:rPr>
              <a:t>SIGNAL: Tasks involving data analysis, research,</a:t>
            </a:r>
          </a:p>
          <a:p xmlns:a="http://schemas.openxmlformats.org/drawingml/2006/main">
            <a:pPr algn="l">
              <a:defRPr sz="480" b="0" i="0">
                <a:solidFill>
                  <a:srgbClr val="132238"/>
                </a:solidFill>
              </a:defRPr>
            </a:pPr>
            <a:r>
              <a:rPr sz="480" b="0" i="0">
                <a:solidFill>
                  <a:srgbClr val="132238"/>
                </a:solidFill>
              </a:rPr>
              <a:t>compliance checking, trend monitoring, benchmarking,</a:t>
            </a:r>
          </a:p>
          <a:p xmlns:a="http://schemas.openxmlformats.org/drawingml/2006/main">
            <a:pPr algn="l">
              <a:defRPr sz="480" b="0" i="0">
                <a:solidFill>
                  <a:srgbClr val="132238"/>
                </a:solidFill>
              </a:defRPr>
            </a:pPr>
            <a:r>
              <a:rPr sz="480" b="0" i="0">
                <a:solidFill>
                  <a:srgbClr val="132238"/>
                </a:solidFill>
              </a:rPr>
              <a:t>forecasting, or working with structured data are</a:t>
            </a:r>
          </a:p>
          <a:p xmlns:a="http://schemas.openxmlformats.org/drawingml/2006/main">
            <a:pPr algn="l">
              <a:defRPr sz="480" b="0" i="0">
                <a:solidFill>
                  <a:srgbClr val="132238"/>
                </a:solidFill>
              </a:defRPr>
            </a:pPr>
            <a:r>
              <a:rPr sz="480" b="0" i="0">
                <a:solidFill>
                  <a:srgbClr val="132238"/>
                </a:solidFill>
              </a:rPr>
              <a:t>typically E2 — they need LLM + data retrieval, search,</a:t>
            </a:r>
          </a:p>
          <a:p xmlns:a="http://schemas.openxmlformats.org/drawingml/2006/main">
            <a:pPr algn="l">
              <a:defRPr sz="480" b="0" i="0">
                <a:solidFill>
                  <a:srgbClr val="132238"/>
                </a:solidFill>
              </a:defRPr>
            </a:pPr>
            <a:r>
              <a:rPr sz="480" b="0" i="0">
                <a:solidFill>
                  <a:srgbClr val="132238"/>
                </a:solidFill>
              </a:rPr>
              <a:t>analytics, or specialised tools to be effective.</a:t>
            </a:r>
          </a:p>
          <a:p xmlns:a="http://schemas.openxmlformats.org/drawingml/2006/main">
            <a:pPr algn="l">
              <a:defRPr sz="480" b="0" i="0">
                <a:solidFill>
                  <a:srgbClr val="132238"/>
                </a:solidFill>
              </a:defRPr>
            </a:pPr>
            <a:r>
              <a:rPr sz="480" b="0" i="0">
                <a:solidFill>
                  <a:srgbClr val="132238"/>
                </a:solidFill>
              </a:rPr>
              <a:t>This software may include capabilities such as:</a:t>
            </a:r>
          </a:p>
          <a:p xmlns:a="http://schemas.openxmlformats.org/drawingml/2006/main">
            <a:pPr algn="l">
              <a:defRPr sz="480" b="0" i="0">
                <a:solidFill>
                  <a:srgbClr val="132238"/>
                </a:solidFill>
              </a:defRPr>
            </a:pPr>
            <a:r>
              <a:rPr sz="480" b="0" i="0">
                <a:solidFill>
                  <a:srgbClr val="132238"/>
                </a:solidFill>
              </a:rPr>
              <a:t>This includes tasks that can be reduced to:</a:t>
            </a:r>
          </a:p>
          <a:p xmlns:a="http://schemas.openxmlformats.org/drawingml/2006/main">
            <a:pPr algn="l">
              <a:defRPr sz="480" b="0" i="0">
                <a:solidFill>
                  <a:srgbClr val="132238"/>
                </a:solidFill>
              </a:defRPr>
            </a:pPr>
            <a:r>
              <a:rPr sz="480" b="0" i="0">
                <a:solidFill>
                  <a:srgbClr val="132238"/>
                </a:solidFill>
              </a:rPr>
              <a:t>- Summarizing documents longer than 2000 words and</a:t>
            </a:r>
          </a:p>
          <a:p xmlns:a="http://schemas.openxmlformats.org/drawingml/2006/main">
            <a:pPr algn="l">
              <a:defRPr sz="480" b="0" i="0">
                <a:solidFill>
                  <a:srgbClr val="132238"/>
                </a:solidFill>
              </a:defRPr>
            </a:pPr>
            <a:r>
              <a:rPr sz="480" b="0" i="0">
                <a:solidFill>
                  <a:srgbClr val="132238"/>
                </a:solidFill>
              </a:rPr>
              <a:t>answering questions about those documents</a:t>
            </a:r>
          </a:p>
          <a:p xmlns:a="http://schemas.openxmlformats.org/drawingml/2006/main">
            <a:pPr algn="l">
              <a:defRPr sz="480" b="0" i="0">
                <a:solidFill>
                  <a:srgbClr val="132238"/>
                </a:solidFill>
              </a:defRPr>
            </a:pPr>
            <a:r>
              <a:rPr sz="480" b="0" i="0">
                <a:solidFill>
                  <a:srgbClr val="132238"/>
                </a:solidFill>
              </a:rPr>
              <a:t>- Retrieving up-to-date facts from the Internet and</a:t>
            </a:r>
          </a:p>
          <a:p xmlns:a="http://schemas.openxmlformats.org/drawingml/2006/main">
            <a:pPr algn="l">
              <a:defRPr sz="480" b="0" i="0">
                <a:solidFill>
                  <a:srgbClr val="132238"/>
                </a:solidFill>
              </a:defRPr>
            </a:pPr>
            <a:r>
              <a:rPr sz="480" b="0" i="0">
                <a:solidFill>
                  <a:srgbClr val="132238"/>
                </a:solidFill>
              </a:rPr>
              <a:t>using those facts in combination with the LLM</a:t>
            </a:r>
          </a:p>
          <a:p xmlns:a="http://schemas.openxmlformats.org/drawingml/2006/main">
            <a:pPr algn="l">
              <a:defRPr sz="480" b="0" i="0">
                <a:solidFill>
                  <a:srgbClr val="132238"/>
                </a:solidFill>
              </a:defRPr>
            </a:pPr>
            <a:r>
              <a:rPr sz="480" b="0" i="0">
                <a:solidFill>
                  <a:srgbClr val="132238"/>
                </a:solidFill>
              </a:rPr>
              <a:t>capabilities</a:t>
            </a:r>
          </a:p>
          <a:p xmlns:a="http://schemas.openxmlformats.org/drawingml/2006/main">
            <a:pPr algn="l">
              <a:defRPr sz="480" b="0" i="0">
                <a:solidFill>
                  <a:srgbClr val="132238"/>
                </a:solidFill>
              </a:defRPr>
            </a:pPr>
            <a:r>
              <a:rPr sz="480" b="0" i="0">
                <a:solidFill>
                  <a:srgbClr val="132238"/>
                </a:solidFill>
              </a:rPr>
              <a:t>- Searching over an organization's existing knowledge,</a:t>
            </a:r>
          </a:p>
          <a:p xmlns:a="http://schemas.openxmlformats.org/drawingml/2006/main">
            <a:pPr algn="l">
              <a:defRPr sz="480" b="0" i="0">
                <a:solidFill>
                  <a:srgbClr val="132238"/>
                </a:solidFill>
              </a:defRPr>
            </a:pPr>
            <a:r>
              <a:rPr sz="480" b="0" i="0">
                <a:solidFill>
                  <a:srgbClr val="132238"/>
                </a:solidFill>
              </a:rPr>
              <a:t>data, or documents and retrieving information</a:t>
            </a:r>
          </a:p>
          <a:p xmlns:a="http://schemas.openxmlformats.org/drawingml/2006/main">
            <a:pPr algn="l">
              <a:defRPr sz="480" b="0" i="0">
                <a:solidFill>
                  <a:srgbClr val="132238"/>
                </a:solidFill>
              </a:defRPr>
            </a:pPr>
            <a:r>
              <a:rPr sz="480" b="0" i="0">
                <a:solidFill>
                  <a:srgbClr val="132238"/>
                </a:solidFill>
              </a:rPr>
              <a:t>- Connecting to databases, spreadsheets, or APIs to</a:t>
            </a:r>
          </a:p>
          <a:p xmlns:a="http://schemas.openxmlformats.org/drawingml/2006/main">
            <a:pPr algn="l">
              <a:defRPr sz="480" b="0" i="0">
                <a:solidFill>
                  <a:srgbClr val="132238"/>
                </a:solidFill>
              </a:defRPr>
            </a:pPr>
            <a:r>
              <a:rPr sz="480" b="0" i="0">
                <a:solidFill>
                  <a:srgbClr val="132238"/>
                </a:solidFill>
              </a:rPr>
              <a:t>analyse structured data</a:t>
            </a:r>
          </a:p>
          <a:p xmlns:a="http://schemas.openxmlformats.org/drawingml/2006/main">
            <a:pPr algn="l">
              <a:defRPr sz="480" b="0" i="0">
                <a:solidFill>
                  <a:srgbClr val="132238"/>
                </a:solidFill>
              </a:defRPr>
            </a:pPr>
            <a:r>
              <a:rPr sz="480" b="0" i="0">
                <a:solidFill>
                  <a:srgbClr val="132238"/>
                </a:solidFill>
              </a:rPr>
              <a:t>- Monitoring regulatory changes, industry trends, or</a:t>
            </a:r>
          </a:p>
          <a:p xmlns:a="http://schemas.openxmlformats.org/drawingml/2006/main">
            <a:pPr algn="l">
              <a:defRPr sz="480" b="0" i="0">
                <a:solidFill>
                  <a:srgbClr val="132238"/>
                </a:solidFill>
              </a:defRPr>
            </a:pPr>
            <a:r>
              <a:rPr sz="480" b="0" i="0">
                <a:solidFill>
                  <a:srgbClr val="132238"/>
                </a:solidFill>
              </a:rPr>
              <a:t>compliance requirements</a:t>
            </a:r>
          </a:p>
          <a:p xmlns:a="http://schemas.openxmlformats.org/drawingml/2006/main">
            <a:pPr algn="l">
              <a:defRPr sz="480" b="0" i="0">
                <a:solidFill>
                  <a:srgbClr val="132238"/>
                </a:solidFill>
              </a:defRPr>
            </a:pPr>
            <a:r>
              <a:rPr sz="480" b="0" i="0">
                <a:solidFill>
                  <a:srgbClr val="132238"/>
                </a:solidFill>
              </a:rPr>
              <a:t>- Building dashboards, reports, or visualisations from</a:t>
            </a:r>
          </a:p>
          <a:p xmlns:a="http://schemas.openxmlformats.org/drawingml/2006/main">
            <a:pPr algn="l">
              <a:defRPr sz="480" b="0" i="0">
                <a:solidFill>
                  <a:srgbClr val="132238"/>
                </a:solidFill>
              </a:defRPr>
            </a:pPr>
            <a:r>
              <a:rPr sz="480" b="0" i="0">
                <a:solidFill>
                  <a:srgbClr val="132238"/>
                </a:solidFill>
              </a:rPr>
              <a:t>organisational data</a:t>
            </a:r>
          </a:p>
        </p:txBody>
      </p:sp>
      <p:sp>
        <p:nvSpPr>
          <p:cNvPr id="12" name="">
            <a:extLst xmlns:a="http://schemas.openxmlformats.org/drawingml/2006/main">
              <a:ext uri="{FF2B5EF4-FFF2-40B4-BE49-F238E27FC236}">
                <a16:creationId xmlns:a16="http://schemas.microsoft.com/office/drawing/2014/main" id="{447D3F3D-39DA-4503-9F1B-0DDAB6041D87}"/>
              </a:ext>
            </a:extLst>
          </p:cNvPr>
          <p:cNvSpPr>
            <a:spLocks xmlns:a="http://schemas.openxmlformats.org/drawingml/2006/main" noGrp="1"/>
          </p:cNvSpPr>
          <p:nvPr/>
        </p:nvSpPr>
        <p:spPr>
          <a:xfrm xmlns:a="http://schemas.openxmlformats.org/drawingml/2006/main">
            <a:off x="4933950" y="2305050"/>
            <a:ext cx="0" cy="394335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3" name="">
            <a:extLst xmlns:a="http://schemas.openxmlformats.org/drawingml/2006/main">
              <a:ext uri="{FF2B5EF4-FFF2-40B4-BE49-F238E27FC236}">
                <a16:creationId xmlns:a16="http://schemas.microsoft.com/office/drawing/2014/main" id="{A82FA68D-0EBE-4425-AB15-2EF09EA3521B}"/>
              </a:ext>
            </a:extLst>
          </p:cNvPr>
          <p:cNvSpPr>
            <a:spLocks xmlns:a="http://schemas.openxmlformats.org/drawingml/2006/main" noGrp="1"/>
          </p:cNvSpPr>
          <p:nvPr/>
        </p:nvSpPr>
        <p:spPr>
          <a:xfrm xmlns:a="http://schemas.openxmlformats.org/drawingml/2006/main">
            <a:off x="5029200" y="2343150"/>
            <a:ext cx="2019300"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 b="0" i="0">
                <a:solidFill>
                  <a:srgbClr val="132238"/>
                </a:solidFill>
              </a:defRPr>
            </a:pPr>
            <a:r>
              <a:rPr sz="480" b="0" i="0">
                <a:solidFill>
                  <a:srgbClr val="132238"/>
                </a:solidFill>
              </a:rPr>
              <a:t>Examples of software built on top of the LLM that may</a:t>
            </a:r>
          </a:p>
          <a:p xmlns:a="http://schemas.openxmlformats.org/drawingml/2006/main">
            <a:pPr algn="l">
              <a:defRPr sz="480" b="0" i="0">
                <a:solidFill>
                  <a:srgbClr val="132238"/>
                </a:solidFill>
              </a:defRPr>
            </a:pPr>
            <a:r>
              <a:rPr sz="480" b="0" i="0">
                <a:solidFill>
                  <a:srgbClr val="132238"/>
                </a:solidFill>
              </a:rPr>
              <a:t>help complete worker activities include:</a:t>
            </a:r>
          </a:p>
          <a:p xmlns:a="http://schemas.openxmlformats.org/drawingml/2006/main">
            <a:pPr algn="l">
              <a:defRPr sz="480" b="0" i="0">
                <a:solidFill>
                  <a:srgbClr val="132238"/>
                </a:solidFill>
              </a:defRPr>
            </a:pPr>
            <a:r>
              <a:rPr sz="480" b="0" i="0">
                <a:solidFill>
                  <a:srgbClr val="132238"/>
                </a:solidFill>
              </a:rPr>
              <a:t>- Software built for a home goods company that quickly</a:t>
            </a:r>
          </a:p>
          <a:p xmlns:a="http://schemas.openxmlformats.org/drawingml/2006/main">
            <a:pPr algn="l">
              <a:defRPr sz="480" b="0" i="0">
                <a:solidFill>
                  <a:srgbClr val="132238"/>
                </a:solidFill>
              </a:defRPr>
            </a:pPr>
            <a:r>
              <a:rPr sz="480" b="0" i="0">
                <a:solidFill>
                  <a:srgbClr val="132238"/>
                </a:solidFill>
              </a:rPr>
              <a:t>processes and summarizes their up-to-date internal data</a:t>
            </a:r>
          </a:p>
          <a:p xmlns:a="http://schemas.openxmlformats.org/drawingml/2006/main">
            <a:pPr algn="l">
              <a:defRPr sz="480" b="0" i="0">
                <a:solidFill>
                  <a:srgbClr val="132238"/>
                </a:solidFill>
              </a:defRPr>
            </a:pPr>
            <a:r>
              <a:rPr sz="480" b="0" i="0">
                <a:solidFill>
                  <a:srgbClr val="132238"/>
                </a:solidFill>
              </a:rPr>
              <a:t>in customized ways to inform product or marketing</a:t>
            </a:r>
          </a:p>
          <a:p xmlns:a="http://schemas.openxmlformats.org/drawingml/2006/main">
            <a:pPr algn="l">
              <a:defRPr sz="480" b="0" i="0">
                <a:solidFill>
                  <a:srgbClr val="132238"/>
                </a:solidFill>
              </a:defRPr>
            </a:pPr>
            <a:r>
              <a:rPr sz="480" b="0" i="0">
                <a:solidFill>
                  <a:srgbClr val="132238"/>
                </a:solidFill>
              </a:rPr>
              <a:t>decisions</a:t>
            </a:r>
          </a:p>
          <a:p xmlns:a="http://schemas.openxmlformats.org/drawingml/2006/main">
            <a:pPr algn="l">
              <a:defRPr sz="480" b="0" i="0">
                <a:solidFill>
                  <a:srgbClr val="132238"/>
                </a:solidFill>
              </a:defRPr>
            </a:pPr>
            <a:r>
              <a:rPr sz="480" b="0" i="0">
                <a:solidFill>
                  <a:srgbClr val="132238"/>
                </a:solidFill>
              </a:rPr>
              <a:t>- Software that is able to suggest live responses for</a:t>
            </a:r>
          </a:p>
          <a:p xmlns:a="http://schemas.openxmlformats.org/drawingml/2006/main">
            <a:pPr algn="l">
              <a:defRPr sz="480" b="0" i="0">
                <a:solidFill>
                  <a:srgbClr val="132238"/>
                </a:solidFill>
              </a:defRPr>
            </a:pPr>
            <a:r>
              <a:rPr sz="480" b="0" i="0">
                <a:solidFill>
                  <a:srgbClr val="132238"/>
                </a:solidFill>
              </a:rPr>
              <a:t>customer service agents speaking to customers in their</a:t>
            </a:r>
          </a:p>
          <a:p xmlns:a="http://schemas.openxmlformats.org/drawingml/2006/main">
            <a:pPr algn="l">
              <a:defRPr sz="480" b="0" i="0">
                <a:solidFill>
                  <a:srgbClr val="132238"/>
                </a:solidFill>
              </a:defRPr>
            </a:pPr>
            <a:r>
              <a:rPr sz="480" b="0" i="0">
                <a:solidFill>
                  <a:srgbClr val="132238"/>
                </a:solidFill>
              </a:rPr>
              <a:t>company's customer service interface</a:t>
            </a:r>
          </a:p>
          <a:p xmlns:a="http://schemas.openxmlformats.org/drawingml/2006/main">
            <a:pPr algn="l">
              <a:defRPr sz="480" b="0" i="0">
                <a:solidFill>
                  <a:srgbClr val="132238"/>
                </a:solidFill>
              </a:defRPr>
            </a:pPr>
            <a:r>
              <a:rPr sz="480" b="0" i="0">
                <a:solidFill>
                  <a:srgbClr val="132238"/>
                </a:solidFill>
              </a:rPr>
              <a:t>- Software built for legal purposes that can quickly</a:t>
            </a:r>
          </a:p>
          <a:p xmlns:a="http://schemas.openxmlformats.org/drawingml/2006/main">
            <a:pPr algn="l">
              <a:defRPr sz="480" b="0" i="0">
                <a:solidFill>
                  <a:srgbClr val="132238"/>
                </a:solidFill>
              </a:defRPr>
            </a:pPr>
            <a:r>
              <a:rPr sz="480" b="0" i="0">
                <a:solidFill>
                  <a:srgbClr val="132238"/>
                </a:solidFill>
              </a:rPr>
              <a:t>aggregate and summarize all previous cases in a</a:t>
            </a:r>
          </a:p>
          <a:p xmlns:a="http://schemas.openxmlformats.org/drawingml/2006/main">
            <a:pPr algn="l">
              <a:defRPr sz="480" b="0" i="0">
                <a:solidFill>
                  <a:srgbClr val="132238"/>
                </a:solidFill>
              </a:defRPr>
            </a:pPr>
            <a:r>
              <a:rPr sz="480" b="0" i="0">
                <a:solidFill>
                  <a:srgbClr val="132238"/>
                </a:solidFill>
              </a:rPr>
              <a:t>particular legal area and write legal research memos</a:t>
            </a:r>
          </a:p>
          <a:p xmlns:a="http://schemas.openxmlformats.org/drawingml/2006/main">
            <a:pPr algn="l">
              <a:defRPr sz="480" b="0" i="0">
                <a:solidFill>
                  <a:srgbClr val="132238"/>
                </a:solidFill>
              </a:defRPr>
            </a:pPr>
            <a:r>
              <a:rPr sz="480" b="0" i="0">
                <a:solidFill>
                  <a:srgbClr val="132238"/>
                </a:solidFill>
              </a:rPr>
              <a:t>tailored to the law firm's needs</a:t>
            </a:r>
          </a:p>
          <a:p xmlns:a="http://schemas.openxmlformats.org/drawingml/2006/main">
            <a:pPr algn="l">
              <a:defRPr sz="480" b="0" i="0">
                <a:solidFill>
                  <a:srgbClr val="132238"/>
                </a:solidFill>
              </a:defRPr>
            </a:pPr>
            <a:r>
              <a:rPr sz="480" b="0" i="0">
                <a:solidFill>
                  <a:srgbClr val="132238"/>
                </a:solidFill>
              </a:rPr>
              <a:t>- Software specifically designed for teachers that</a:t>
            </a:r>
          </a:p>
          <a:p xmlns:a="http://schemas.openxmlformats.org/drawingml/2006/main">
            <a:pPr algn="l">
              <a:defRPr sz="480" b="0" i="0">
                <a:solidFill>
                  <a:srgbClr val="132238"/>
                </a:solidFill>
              </a:defRPr>
            </a:pPr>
            <a:r>
              <a:rPr sz="480" b="0" i="0">
                <a:solidFill>
                  <a:srgbClr val="132238"/>
                </a:solidFill>
              </a:rPr>
              <a:t>allows them to input a grading rubric and upload the</a:t>
            </a:r>
          </a:p>
          <a:p xmlns:a="http://schemas.openxmlformats.org/drawingml/2006/main">
            <a:pPr algn="l">
              <a:defRPr sz="480" b="0" i="0">
                <a:solidFill>
                  <a:srgbClr val="132238"/>
                </a:solidFill>
              </a:defRPr>
            </a:pPr>
            <a:r>
              <a:rPr sz="480" b="0" i="0">
                <a:solidFill>
                  <a:srgbClr val="132238"/>
                </a:solidFill>
              </a:rPr>
              <a:t>text files of all student essays and have the software</a:t>
            </a:r>
          </a:p>
          <a:p xmlns:a="http://schemas.openxmlformats.org/drawingml/2006/main">
            <a:pPr algn="l">
              <a:defRPr sz="480" b="0" i="0">
                <a:solidFill>
                  <a:srgbClr val="132238"/>
                </a:solidFill>
              </a:defRPr>
            </a:pPr>
            <a:r>
              <a:rPr sz="480" b="0" i="0">
                <a:solidFill>
                  <a:srgbClr val="132238"/>
                </a:solidFill>
              </a:rPr>
              <a:t>output a letter grade for each essay</a:t>
            </a:r>
          </a:p>
          <a:p xmlns:a="http://schemas.openxmlformats.org/drawingml/2006/main">
            <a:pPr algn="l">
              <a:defRPr sz="480" b="0" i="0">
                <a:solidFill>
                  <a:srgbClr val="132238"/>
                </a:solidFill>
              </a:defRPr>
            </a:pPr>
            <a:r>
              <a:rPr sz="480" b="0" i="0">
                <a:solidFill>
                  <a:srgbClr val="132238"/>
                </a:solidFill>
              </a:rPr>
              <a:t>- Software that retrieves up-to-date facts from the</a:t>
            </a:r>
          </a:p>
          <a:p xmlns:a="http://schemas.openxmlformats.org/drawingml/2006/main">
            <a:pPr algn="l">
              <a:defRPr sz="480" b="0" i="0">
                <a:solidFill>
                  <a:srgbClr val="132238"/>
                </a:solidFill>
              </a:defRPr>
            </a:pPr>
            <a:r>
              <a:rPr sz="480" b="0" i="0">
                <a:solidFill>
                  <a:srgbClr val="132238"/>
                </a:solidFill>
              </a:rPr>
              <a:t>internet and uses the capabilities of the LLM to output</a:t>
            </a:r>
          </a:p>
          <a:p xmlns:a="http://schemas.openxmlformats.org/drawingml/2006/main">
            <a:pPr algn="l">
              <a:defRPr sz="480" b="0" i="0">
                <a:solidFill>
                  <a:srgbClr val="132238"/>
                </a:solidFill>
              </a:defRPr>
            </a:pPr>
            <a:r>
              <a:rPr sz="480" b="0" i="0">
                <a:solidFill>
                  <a:srgbClr val="132238"/>
                </a:solidFill>
              </a:rPr>
              <a:t>news summaries in different languages</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 E3 – Exposure given image capabilities</a:t>
            </a:r>
          </a:p>
          <a:p xmlns:a="http://schemas.openxmlformats.org/drawingml/2006/main">
            <a:pPr algn="l">
              <a:defRPr sz="480" b="0" i="0">
                <a:solidFill>
                  <a:srgbClr val="132238"/>
                </a:solidFill>
              </a:defRPr>
            </a:pPr>
            <a:r>
              <a:rPr sz="480" b="0" i="0">
                <a:solidFill>
                  <a:srgbClr val="132238"/>
                </a:solidFill>
              </a:rPr>
              <a:t>Suppose you had access to both the LLM and a system that</a:t>
            </a:r>
          </a:p>
          <a:p xmlns:a="http://schemas.openxmlformats.org/drawingml/2006/main">
            <a:pPr algn="l">
              <a:defRPr sz="480" b="0" i="0">
                <a:solidFill>
                  <a:srgbClr val="132238"/>
                </a:solidFill>
              </a:defRPr>
            </a:pPr>
            <a:r>
              <a:rPr sz="480" b="0" i="0">
                <a:solidFill>
                  <a:srgbClr val="132238"/>
                </a:solidFill>
              </a:rPr>
              <a:t>could view, caption, and create images. This system</a:t>
            </a:r>
          </a:p>
          <a:p xmlns:a="http://schemas.openxmlformats.org/drawingml/2006/main">
            <a:pPr algn="l">
              <a:defRPr sz="480" b="0" i="0">
                <a:solidFill>
                  <a:srgbClr val="132238"/>
                </a:solidFill>
              </a:defRPr>
            </a:pPr>
            <a:r>
              <a:rPr sz="480" b="0" i="0">
                <a:solidFill>
                  <a:srgbClr val="132238"/>
                </a:solidFill>
              </a:rPr>
              <a:t>cannot take video media as inputs. This system cannot</a:t>
            </a:r>
          </a:p>
          <a:p xmlns:a="http://schemas.openxmlformats.org/drawingml/2006/main">
            <a:pPr algn="l">
              <a:defRPr sz="480" b="0" i="0">
                <a:solidFill>
                  <a:srgbClr val="132238"/>
                </a:solidFill>
              </a:defRPr>
            </a:pPr>
            <a:r>
              <a:rPr sz="480" b="0" i="0">
                <a:solidFill>
                  <a:srgbClr val="132238"/>
                </a:solidFill>
              </a:rPr>
              <a:t>accurately retrieve very detailed information from image</a:t>
            </a:r>
          </a:p>
          <a:p xmlns:a="http://schemas.openxmlformats.org/drawingml/2006/main">
            <a:pPr algn="l">
              <a:defRPr sz="480" b="0" i="0">
                <a:solidFill>
                  <a:srgbClr val="132238"/>
                </a:solidFill>
              </a:defRPr>
            </a:pPr>
            <a:r>
              <a:rPr sz="480" b="0" i="0">
                <a:solidFill>
                  <a:srgbClr val="132238"/>
                </a:solidFill>
              </a:rPr>
              <a:t>inputs, such as measurements of dimensions within an</a:t>
            </a:r>
          </a:p>
          <a:p xmlns:a="http://schemas.openxmlformats.org/drawingml/2006/main">
            <a:pPr algn="l">
              <a:defRPr sz="480" b="0" i="0">
                <a:solidFill>
                  <a:srgbClr val="132238"/>
                </a:solidFill>
              </a:defRPr>
            </a:pPr>
            <a:r>
              <a:rPr sz="480" b="0" i="0">
                <a:solidFill>
                  <a:srgbClr val="132238"/>
                </a:solidFill>
              </a:rPr>
              <a:t>image. Label tasks as E3 if there is a significant</a:t>
            </a:r>
          </a:p>
          <a:p xmlns:a="http://schemas.openxmlformats.org/drawingml/2006/main">
            <a:pPr algn="l">
              <a:defRPr sz="480" b="0" i="0">
                <a:solidFill>
                  <a:srgbClr val="132238"/>
                </a:solidFill>
              </a:defRPr>
            </a:pPr>
            <a:r>
              <a:rPr sz="480" b="0" i="0">
                <a:solidFill>
                  <a:srgbClr val="132238"/>
                </a:solidFill>
              </a:rPr>
              <a:t>reduction in the time it takes to complete the task</a:t>
            </a:r>
          </a:p>
          <a:p xmlns:a="http://schemas.openxmlformats.org/drawingml/2006/main">
            <a:pPr algn="l">
              <a:defRPr sz="480" b="0" i="0">
                <a:solidFill>
                  <a:srgbClr val="132238"/>
                </a:solidFill>
              </a:defRPr>
            </a:pPr>
            <a:r>
              <a:rPr sz="480" b="0" i="0">
                <a:solidFill>
                  <a:srgbClr val="132238"/>
                </a:solidFill>
              </a:rPr>
              <a:t>given access to a LLM and these image capabilities:</a:t>
            </a:r>
          </a:p>
          <a:p xmlns:a="http://schemas.openxmlformats.org/drawingml/2006/main">
            <a:pPr algn="l">
              <a:defRPr sz="480" b="0" i="0">
                <a:solidFill>
                  <a:srgbClr val="132238"/>
                </a:solidFill>
              </a:defRPr>
            </a:pPr>
            <a:r>
              <a:rPr sz="480" b="0" i="0">
                <a:solidFill>
                  <a:srgbClr val="132238"/>
                </a:solidFill>
              </a:rPr>
              <a:t>This includes tasks that can be reduced to:</a:t>
            </a:r>
          </a:p>
          <a:p xmlns:a="http://schemas.openxmlformats.org/drawingml/2006/main">
            <a:pPr algn="l">
              <a:defRPr sz="480" b="0" i="0">
                <a:solidFill>
                  <a:srgbClr val="132238"/>
                </a:solidFill>
              </a:defRPr>
            </a:pPr>
            <a:r>
              <a:rPr sz="480" b="0" i="0">
                <a:solidFill>
                  <a:srgbClr val="132238"/>
                </a:solidFill>
              </a:rPr>
              <a:t>- Reading text from PDFs</a:t>
            </a:r>
          </a:p>
          <a:p xmlns:a="http://schemas.openxmlformats.org/drawingml/2006/main">
            <a:pPr algn="l">
              <a:defRPr sz="480" b="0" i="0">
                <a:solidFill>
                  <a:srgbClr val="132238"/>
                </a:solidFill>
              </a:defRPr>
            </a:pPr>
            <a:r>
              <a:rPr sz="480" b="0" i="0">
                <a:solidFill>
                  <a:srgbClr val="132238"/>
                </a:solidFill>
              </a:rPr>
              <a:t>- Scanning images</a:t>
            </a:r>
          </a:p>
          <a:p xmlns:a="http://schemas.openxmlformats.org/drawingml/2006/main">
            <a:pPr algn="l">
              <a:defRPr sz="480" b="0" i="0">
                <a:solidFill>
                  <a:srgbClr val="132238"/>
                </a:solidFill>
              </a:defRPr>
            </a:pPr>
            <a:r>
              <a:rPr sz="480" b="0" i="0">
                <a:solidFill>
                  <a:srgbClr val="132238"/>
                </a:solidFill>
              </a:rPr>
              <a:t>- Creating or editing digital images according to</a:t>
            </a:r>
          </a:p>
          <a:p xmlns:a="http://schemas.openxmlformats.org/drawingml/2006/main">
            <a:pPr algn="l">
              <a:defRPr sz="480" b="0" i="0">
                <a:solidFill>
                  <a:srgbClr val="132238"/>
                </a:solidFill>
              </a:defRPr>
            </a:pPr>
            <a:r>
              <a:rPr sz="480" b="0" i="0">
                <a:solidFill>
                  <a:srgbClr val="132238"/>
                </a:solidFill>
              </a:rPr>
              <a:t>instructions</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 Legacy SFW calibration anchors</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Occupation: Marketing Manager</a:t>
            </a:r>
          </a:p>
          <a:p xmlns:a="http://schemas.openxmlformats.org/drawingml/2006/main">
            <a:pPr algn="l">
              <a:defRPr sz="480" b="0" i="0">
                <a:solidFill>
                  <a:srgbClr val="132238"/>
                </a:solidFill>
              </a:defRPr>
            </a:pPr>
            <a:r>
              <a:rPr sz="480" b="0" i="0">
                <a:solidFill>
                  <a:srgbClr val="132238"/>
                </a:solidFill>
              </a:rPr>
              <a:t>            Task: Monitor key measurement indicators to</a:t>
            </a:r>
          </a:p>
          <a:p xmlns:a="http://schemas.openxmlformats.org/drawingml/2006/main">
            <a:pPr algn="l">
              <a:defRPr sz="480" b="0" i="0">
                <a:solidFill>
                  <a:srgbClr val="132238"/>
                </a:solidFill>
              </a:defRPr>
            </a:pPr>
            <a:r>
              <a:rPr sz="480" b="0" i="0">
                <a:solidFill>
                  <a:srgbClr val="132238"/>
                </a:solidFill>
              </a:rPr>
              <a:t>track campaign effectiveness.</a:t>
            </a:r>
          </a:p>
          <a:p xmlns:a="http://schemas.openxmlformats.org/drawingml/2006/main">
            <a:pPr algn="l">
              <a:defRPr sz="480" b="0" i="0">
                <a:solidFill>
                  <a:srgbClr val="132238"/>
                </a:solidFill>
              </a:defRPr>
            </a:pPr>
            <a:r>
              <a:rPr sz="480" b="0" i="0">
                <a:solidFill>
                  <a:srgbClr val="132238"/>
                </a:solidFill>
              </a:rPr>
              <a:t>            Final_label: E2</a:t>
            </a:r>
          </a:p>
          <a:p xmlns:a="http://schemas.openxmlformats.org/drawingml/2006/main">
            <a:pPr algn="l">
              <a:defRPr sz="480" b="0" i="0">
                <a:solidFill>
                  <a:srgbClr val="132238"/>
                </a:solidFill>
              </a:defRPr>
            </a:pPr>
            <a:r>
              <a:rPr sz="480" b="0" i="0">
                <a:solidFill>
                  <a:srgbClr val="132238"/>
                </a:solidFill>
              </a:rPr>
              <a:t>            Explanation: Direct use of an LLM (E1) can</a:t>
            </a:r>
          </a:p>
          <a:p xmlns:a="http://schemas.openxmlformats.org/drawingml/2006/main">
            <a:pPr algn="l">
              <a:defRPr sz="480" b="0" i="0">
                <a:solidFill>
                  <a:srgbClr val="132238"/>
                </a:solidFill>
              </a:defRPr>
            </a:pPr>
            <a:r>
              <a:rPr sz="480" b="0" i="0">
                <a:solidFill>
                  <a:srgbClr val="132238"/>
                </a:solidFill>
              </a:rPr>
              <a:t>assist with writing reports or interpreting data</a:t>
            </a:r>
          </a:p>
          <a:p xmlns:a="http://schemas.openxmlformats.org/drawingml/2006/main">
            <a:pPr algn="l">
              <a:defRPr sz="480" b="0" i="0">
                <a:solidFill>
                  <a:srgbClr val="132238"/>
                </a:solidFill>
              </a:defRPr>
            </a:pPr>
            <a:r>
              <a:rPr sz="480" b="0" i="0">
                <a:solidFill>
                  <a:srgbClr val="132238"/>
                </a:solidFill>
              </a:rPr>
              <a:t>summaries but cannot alone monitor or track measurement</a:t>
            </a:r>
          </a:p>
          <a:p xmlns:a="http://schemas.openxmlformats.org/drawingml/2006/main">
            <a:pPr algn="l">
              <a:defRPr sz="480" b="0" i="0">
                <a:solidFill>
                  <a:srgbClr val="132238"/>
                </a:solidFill>
              </a:defRPr>
            </a:pPr>
            <a:r>
              <a:rPr sz="480" b="0" i="0">
                <a:solidFill>
                  <a:srgbClr val="132238"/>
                </a:solidFill>
              </a:rPr>
              <a:t>indicators, as that requires data retrieval and</a:t>
            </a:r>
          </a:p>
          <a:p xmlns:a="http://schemas.openxmlformats.org/drawingml/2006/main">
            <a:pPr algn="l">
              <a:defRPr sz="480" b="0" i="0">
                <a:solidFill>
                  <a:srgbClr val="132238"/>
                </a:solidFill>
              </a:defRPr>
            </a:pPr>
            <a:r>
              <a:rPr sz="480" b="0" i="0">
                <a:solidFill>
                  <a:srgbClr val="132238"/>
                </a:solidFill>
              </a:rPr>
              <a:t>analytics dashboards. However, with LLM-powered software</a:t>
            </a:r>
          </a:p>
          <a:p xmlns:a="http://schemas.openxmlformats.org/drawingml/2006/main">
            <a:pPr algn="l">
              <a:defRPr sz="480" b="0" i="0">
                <a:solidFill>
                  <a:srgbClr val="132238"/>
                </a:solidFill>
              </a:defRPr>
            </a:pPr>
            <a:r>
              <a:rPr sz="480" b="0" i="0">
                <a:solidFill>
                  <a:srgbClr val="132238"/>
                </a:solidFill>
              </a:rPr>
              <a:t>integrated with marketing analytics platforms (e.g.</a:t>
            </a:r>
          </a:p>
          <a:p xmlns:a="http://schemas.openxmlformats.org/drawingml/2006/main">
            <a:pPr algn="l">
              <a:defRPr sz="480" b="0" i="0">
                <a:solidFill>
                  <a:srgbClr val="132238"/>
                </a:solidFill>
              </a:defRPr>
            </a:pPr>
            <a:r>
              <a:rPr sz="480" b="0" i="0">
                <a:solidFill>
                  <a:srgbClr val="132238"/>
                </a:solidFill>
              </a:rPr>
              <a:t>Google Analytics, HubSpot, CRM dashboards), it is easy</a:t>
            </a:r>
          </a:p>
          <a:p xmlns:a="http://schemas.openxmlformats.org/drawingml/2006/main">
            <a:pPr algn="l">
              <a:defRPr sz="480" b="0" i="0">
                <a:solidFill>
                  <a:srgbClr val="132238"/>
                </a:solidFill>
              </a:defRPr>
            </a:pPr>
            <a:r>
              <a:rPr sz="480" b="0" i="0">
                <a:solidFill>
                  <a:srgbClr val="132238"/>
                </a:solidFill>
              </a:rPr>
              <a:t>to imagine tools that summarise and interpret campaign</a:t>
            </a:r>
          </a:p>
          <a:p xmlns:a="http://schemas.openxmlformats.org/drawingml/2006/main">
            <a:pPr algn="l">
              <a:defRPr sz="480" b="0" i="0">
                <a:solidFill>
                  <a:srgbClr val="132238"/>
                </a:solidFill>
              </a:defRPr>
            </a:pPr>
            <a:r>
              <a:rPr sz="480" b="0" i="0">
                <a:solidFill>
                  <a:srgbClr val="132238"/>
                </a:solidFill>
              </a:rPr>
              <a:t>KPIs rapidly, reducing task time by half.</a:t>
            </a:r>
          </a:p>
          <a:p xmlns:a="http://schemas.openxmlformats.org/drawingml/2006/main">
            <a:pPr algn="l">
              <a:defRPr sz="480" b="0" i="0">
                <a:solidFill>
                  <a:srgbClr val="132238"/>
                </a:solidFill>
              </a:defRPr>
            </a:pPr>
            <a:r>
              <a:rPr sz="480" b="0" i="0">
                <a:solidFill>
                  <a:srgbClr val="132238"/>
                </a:solidFill>
              </a:rPr>
              <a:t> </a:t>
            </a:r>
          </a:p>
          <a:p xmlns:a="http://schemas.openxmlformats.org/drawingml/2006/main">
            <a:pPr algn="l">
              <a:defRPr sz="480" b="0" i="0">
                <a:solidFill>
                  <a:srgbClr val="132238"/>
                </a:solidFill>
              </a:defRPr>
            </a:pPr>
            <a:r>
              <a:rPr sz="480" b="0" i="0">
                <a:solidFill>
                  <a:srgbClr val="132238"/>
                </a:solidFill>
              </a:rPr>
              <a:t>            Occupation: Sales Executive</a:t>
            </a:r>
          </a:p>
          <a:p xmlns:a="http://schemas.openxmlformats.org/drawingml/2006/main">
            <a:pPr algn="l">
              <a:defRPr sz="480" b="0" i="0">
                <a:solidFill>
                  <a:srgbClr val="132238"/>
                </a:solidFill>
              </a:defRPr>
            </a:pPr>
            <a:r>
              <a:rPr sz="480" b="0" i="0">
                <a:solidFill>
                  <a:srgbClr val="132238"/>
                </a:solidFill>
              </a:rPr>
              <a:t>            Task: Keep up-to-date on consumption</a:t>
            </a:r>
          </a:p>
          <a:p xmlns:a="http://schemas.openxmlformats.org/drawingml/2006/main">
            <a:pPr algn="l">
              <a:defRPr sz="480" b="0" i="0">
                <a:solidFill>
                  <a:srgbClr val="132238"/>
                </a:solidFill>
              </a:defRPr>
            </a:pPr>
            <a:r>
              <a:rPr sz="480" b="0" i="0">
                <a:solidFill>
                  <a:srgbClr val="132238"/>
                </a:solidFill>
              </a:rPr>
              <a:t>developments and trends in the marketplace.</a:t>
            </a:r>
          </a:p>
          <a:p xmlns:a="http://schemas.openxmlformats.org/drawingml/2006/main">
            <a:pPr algn="l">
              <a:defRPr sz="480" b="0" i="0">
                <a:solidFill>
                  <a:srgbClr val="132238"/>
                </a:solidFill>
              </a:defRPr>
            </a:pPr>
            <a:r>
              <a:rPr sz="480" b="0" i="0">
                <a:solidFill>
                  <a:srgbClr val="132238"/>
                </a:solidFill>
              </a:rPr>
              <a:t>            Final_label: E2</a:t>
            </a:r>
          </a:p>
        </p:txBody>
      </p:sp>
      <p:sp>
        <p:nvSpPr>
          <p:cNvPr id="14" name="">
            <a:extLst xmlns:a="http://schemas.openxmlformats.org/drawingml/2006/main">
              <a:ext uri="{FF2B5EF4-FFF2-40B4-BE49-F238E27FC236}">
                <a16:creationId xmlns:a16="http://schemas.microsoft.com/office/drawing/2014/main" id="{53C379F6-C40F-4F83-A175-DAC027B5D31B}"/>
              </a:ext>
            </a:extLst>
          </p:cNvPr>
          <p:cNvSpPr>
            <a:spLocks xmlns:a="http://schemas.openxmlformats.org/drawingml/2006/main" noGrp="1"/>
          </p:cNvSpPr>
          <p:nvPr/>
        </p:nvSpPr>
        <p:spPr>
          <a:xfrm xmlns:a="http://schemas.openxmlformats.org/drawingml/2006/main">
            <a:off x="7105650" y="2305050"/>
            <a:ext cx="0" cy="394335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5" name="">
            <a:extLst xmlns:a="http://schemas.openxmlformats.org/drawingml/2006/main">
              <a:ext uri="{FF2B5EF4-FFF2-40B4-BE49-F238E27FC236}">
                <a16:creationId xmlns:a16="http://schemas.microsoft.com/office/drawing/2014/main" id="{0144B868-A9C0-4BE7-95A5-99DEF7962612}"/>
              </a:ext>
            </a:extLst>
          </p:cNvPr>
          <p:cNvSpPr>
            <a:spLocks xmlns:a="http://schemas.openxmlformats.org/drawingml/2006/main" noGrp="1"/>
          </p:cNvSpPr>
          <p:nvPr/>
        </p:nvSpPr>
        <p:spPr>
          <a:xfrm xmlns:a="http://schemas.openxmlformats.org/drawingml/2006/main">
            <a:off x="7200900" y="2343150"/>
            <a:ext cx="2019300"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 b="0" i="0">
                <a:solidFill>
                  <a:srgbClr val="132238"/>
                </a:solidFill>
              </a:defRPr>
            </a:pPr>
            <a:r>
              <a:rPr sz="480" b="0" i="0">
                <a:solidFill>
                  <a:srgbClr val="132238"/>
                </a:solidFill>
              </a:rPr>
              <a:t>            Explanation: Direct LLM use (E1) cannot</a:t>
            </a:r>
          </a:p>
          <a:p xmlns:a="http://schemas.openxmlformats.org/drawingml/2006/main">
            <a:pPr algn="l">
              <a:defRPr sz="480" b="0" i="0">
                <a:solidFill>
                  <a:srgbClr val="132238"/>
                </a:solidFill>
              </a:defRPr>
            </a:pPr>
            <a:r>
              <a:rPr sz="480" b="0" i="0">
                <a:solidFill>
                  <a:srgbClr val="132238"/>
                </a:solidFill>
              </a:rPr>
              <a:t>fully automate keeping up-to-date on market trends, as</a:t>
            </a:r>
          </a:p>
          <a:p xmlns:a="http://schemas.openxmlformats.org/drawingml/2006/main">
            <a:pPr algn="l">
              <a:defRPr sz="480" b="0" i="0">
                <a:solidFill>
                  <a:srgbClr val="132238"/>
                </a:solidFill>
              </a:defRPr>
            </a:pPr>
            <a:r>
              <a:rPr sz="480" b="0" i="0">
                <a:solidFill>
                  <a:srgbClr val="132238"/>
                </a:solidFill>
              </a:rPr>
              <a:t>it lacks access to real-time, up-to-date external data</a:t>
            </a:r>
          </a:p>
          <a:p xmlns:a="http://schemas.openxmlformats.org/drawingml/2006/main">
            <a:pPr algn="l">
              <a:defRPr sz="480" b="0" i="0">
                <a:solidFill>
                  <a:srgbClr val="132238"/>
                </a:solidFill>
              </a:defRPr>
            </a:pPr>
            <a:r>
              <a:rPr sz="480" b="0" i="0">
                <a:solidFill>
                  <a:srgbClr val="132238"/>
                </a:solidFill>
              </a:rPr>
              <a:t>sources. LLM-powered applications (E2) that integrate</a:t>
            </a:r>
          </a:p>
          <a:p xmlns:a="http://schemas.openxmlformats.org/drawingml/2006/main">
            <a:pPr algn="l">
              <a:defRPr sz="480" b="0" i="0">
                <a:solidFill>
                  <a:srgbClr val="132238"/>
                </a:solidFill>
              </a:defRPr>
            </a:pPr>
            <a:r>
              <a:rPr sz="480" b="0" i="0">
                <a:solidFill>
                  <a:srgbClr val="132238"/>
                </a:solidFill>
              </a:rPr>
              <a:t>web scraping, news feeds, market intelligence tools can</a:t>
            </a:r>
          </a:p>
          <a:p xmlns:a="http://schemas.openxmlformats.org/drawingml/2006/main">
            <a:pPr algn="l">
              <a:defRPr sz="480" b="0" i="0">
                <a:solidFill>
                  <a:srgbClr val="132238"/>
                </a:solidFill>
              </a:defRPr>
            </a:pPr>
            <a:r>
              <a:rPr sz="480" b="0" i="0">
                <a:solidFill>
                  <a:srgbClr val="132238"/>
                </a:solidFill>
              </a:rPr>
              <a:t>summarise latest consumption trends efficiently,</a:t>
            </a:r>
          </a:p>
          <a:p xmlns:a="http://schemas.openxmlformats.org/drawingml/2006/main">
            <a:pPr algn="l">
              <a:defRPr sz="480" b="0" i="0">
                <a:solidFill>
                  <a:srgbClr val="132238"/>
                </a:solidFill>
              </a:defRPr>
            </a:pPr>
            <a:r>
              <a:rPr sz="480" b="0" i="0">
                <a:solidFill>
                  <a:srgbClr val="132238"/>
                </a:solidFill>
              </a:rPr>
              <a:t>reducing task time by half. If only relying on ChatGPT</a:t>
            </a:r>
          </a:p>
          <a:p xmlns:a="http://schemas.openxmlformats.org/drawingml/2006/main">
            <a:pPr algn="l">
              <a:defRPr sz="480" b="0" i="0">
                <a:solidFill>
                  <a:srgbClr val="132238"/>
                </a:solidFill>
              </a:defRPr>
            </a:pPr>
            <a:r>
              <a:rPr sz="480" b="0" i="0">
                <a:solidFill>
                  <a:srgbClr val="132238"/>
                </a:solidFill>
              </a:rPr>
              <a:t>without data retrieval integration, it would remain E0,</a:t>
            </a:r>
          </a:p>
          <a:p xmlns:a="http://schemas.openxmlformats.org/drawingml/2006/main">
            <a:pPr algn="l">
              <a:defRPr sz="480" b="0" i="0">
                <a:solidFill>
                  <a:srgbClr val="132238"/>
                </a:solidFill>
              </a:defRPr>
            </a:pPr>
            <a:r>
              <a:rPr sz="480" b="0" i="0">
                <a:solidFill>
                  <a:srgbClr val="132238"/>
                </a:solidFill>
              </a:rPr>
              <a:t>but with practical LLM-powered tools, E2 is appropriate.</a:t>
            </a:r>
          </a:p>
          <a:p xmlns:a="http://schemas.openxmlformats.org/drawingml/2006/main">
            <a:pPr algn="l">
              <a:defRPr sz="480" b="0" i="0">
                <a:solidFill>
                  <a:srgbClr val="132238"/>
                </a:solidFill>
              </a:defRPr>
            </a:pPr>
            <a:r>
              <a:rPr sz="480" b="0" i="0">
                <a:solidFill>
                  <a:srgbClr val="132238"/>
                </a:solidFill>
              </a:rPr>
              <a:t> </a:t>
            </a:r>
          </a:p>
          <a:p xmlns:a="http://schemas.openxmlformats.org/drawingml/2006/main">
            <a:pPr algn="l">
              <a:defRPr sz="480" b="0" i="0">
                <a:solidFill>
                  <a:srgbClr val="132238"/>
                </a:solidFill>
              </a:defRPr>
            </a:pPr>
            <a:r>
              <a:rPr sz="480" b="0" i="0">
                <a:solidFill>
                  <a:srgbClr val="132238"/>
                </a:solidFill>
              </a:rPr>
              <a:t>            Occupation: E-Commerce Director</a:t>
            </a:r>
          </a:p>
          <a:p xmlns:a="http://schemas.openxmlformats.org/drawingml/2006/main">
            <a:pPr algn="l">
              <a:defRPr sz="480" b="0" i="0">
                <a:solidFill>
                  <a:srgbClr val="132238"/>
                </a:solidFill>
              </a:defRPr>
            </a:pPr>
            <a:r>
              <a:rPr sz="480" b="0" i="0">
                <a:solidFill>
                  <a:srgbClr val="132238"/>
                </a:solidFill>
              </a:rPr>
              <a:t>            Task: Strategise, lead, and oversee</a:t>
            </a:r>
          </a:p>
          <a:p xmlns:a="http://schemas.openxmlformats.org/drawingml/2006/main">
            <a:pPr algn="l">
              <a:defRPr sz="480" b="0" i="0">
                <a:solidFill>
                  <a:srgbClr val="132238"/>
                </a:solidFill>
              </a:defRPr>
            </a:pPr>
            <a:r>
              <a:rPr sz="480" b="0" i="0">
                <a:solidFill>
                  <a:srgbClr val="132238"/>
                </a:solidFill>
              </a:rPr>
              <a:t>performance of technology vendor relationships.</a:t>
            </a:r>
          </a:p>
          <a:p xmlns:a="http://schemas.openxmlformats.org/drawingml/2006/main">
            <a:pPr algn="l">
              <a:defRPr sz="480" b="0" i="0">
                <a:solidFill>
                  <a:srgbClr val="132238"/>
                </a:solidFill>
              </a:defRPr>
            </a:pPr>
            <a:r>
              <a:rPr sz="480" b="0" i="0">
                <a:solidFill>
                  <a:srgbClr val="132238"/>
                </a:solidFill>
              </a:rPr>
              <a:t>            Final_label: E0</a:t>
            </a:r>
          </a:p>
          <a:p xmlns:a="http://schemas.openxmlformats.org/drawingml/2006/main">
            <a:pPr algn="l">
              <a:defRPr sz="480" b="0" i="0">
                <a:solidFill>
                  <a:srgbClr val="132238"/>
                </a:solidFill>
              </a:defRPr>
            </a:pPr>
            <a:r>
              <a:rPr sz="480" b="0" i="0">
                <a:solidFill>
                  <a:srgbClr val="132238"/>
                </a:solidFill>
              </a:rPr>
              <a:t>            Explanation: This task involves strategic</a:t>
            </a:r>
          </a:p>
          <a:p xmlns:a="http://schemas.openxmlformats.org/drawingml/2006/main">
            <a:pPr algn="l">
              <a:defRPr sz="480" b="0" i="0">
                <a:solidFill>
                  <a:srgbClr val="132238"/>
                </a:solidFill>
              </a:defRPr>
            </a:pPr>
            <a:r>
              <a:rPr sz="480" b="0" i="0">
                <a:solidFill>
                  <a:srgbClr val="132238"/>
                </a:solidFill>
              </a:rPr>
              <a:t>leadership, relationship management, negotiation, and</a:t>
            </a:r>
          </a:p>
          <a:p xmlns:a="http://schemas.openxmlformats.org/drawingml/2006/main">
            <a:pPr algn="l">
              <a:defRPr sz="480" b="0" i="0">
                <a:solidFill>
                  <a:srgbClr val="132238"/>
                </a:solidFill>
              </a:defRPr>
            </a:pPr>
            <a:r>
              <a:rPr sz="480" b="0" i="0">
                <a:solidFill>
                  <a:srgbClr val="132238"/>
                </a:solidFill>
              </a:rPr>
              <a:t>judgement-based decisions with technology vendors.</a:t>
            </a:r>
          </a:p>
          <a:p xmlns:a="http://schemas.openxmlformats.org/drawingml/2006/main">
            <a:pPr algn="l">
              <a:defRPr sz="480" b="0" i="0">
                <a:solidFill>
                  <a:srgbClr val="132238"/>
                </a:solidFill>
              </a:defRPr>
            </a:pPr>
            <a:r>
              <a:rPr sz="480" b="0" i="0">
                <a:solidFill>
                  <a:srgbClr val="132238"/>
                </a:solidFill>
              </a:rPr>
              <a:t>Direct LLM use (E1) cannot halve time for strategic</a:t>
            </a:r>
          </a:p>
          <a:p xmlns:a="http://schemas.openxmlformats.org/drawingml/2006/main">
            <a:pPr algn="l">
              <a:defRPr sz="480" b="0" i="0">
                <a:solidFill>
                  <a:srgbClr val="132238"/>
                </a:solidFill>
              </a:defRPr>
            </a:pPr>
            <a:r>
              <a:rPr sz="480" b="0" i="0">
                <a:solidFill>
                  <a:srgbClr val="132238"/>
                </a:solidFill>
              </a:rPr>
              <a:t>leadership or relationship management. LLM-powered</a:t>
            </a:r>
          </a:p>
          <a:p xmlns:a="http://schemas.openxmlformats.org/drawingml/2006/main">
            <a:pPr algn="l">
              <a:defRPr sz="480" b="0" i="0">
                <a:solidFill>
                  <a:srgbClr val="132238"/>
                </a:solidFill>
              </a:defRPr>
            </a:pPr>
            <a:r>
              <a:rPr sz="480" b="0" i="0">
                <a:solidFill>
                  <a:srgbClr val="132238"/>
                </a:solidFill>
              </a:rPr>
              <a:t>applications (E2) cannot replace or halve the time for</a:t>
            </a:r>
          </a:p>
          <a:p xmlns:a="http://schemas.openxmlformats.org/drawingml/2006/main">
            <a:pPr algn="l">
              <a:defRPr sz="480" b="0" i="0">
                <a:solidFill>
                  <a:srgbClr val="132238"/>
                </a:solidFill>
              </a:defRPr>
            </a:pPr>
            <a:r>
              <a:rPr sz="480" b="0" i="0">
                <a:solidFill>
                  <a:srgbClr val="132238"/>
                </a:solidFill>
              </a:rPr>
              <a:t>high-level human interaction and strategic decisions,</a:t>
            </a:r>
          </a:p>
          <a:p xmlns:a="http://schemas.openxmlformats.org/drawingml/2006/main">
            <a:pPr algn="l">
              <a:defRPr sz="480" b="0" i="0">
                <a:solidFill>
                  <a:srgbClr val="132238"/>
                </a:solidFill>
              </a:defRPr>
            </a:pPr>
            <a:r>
              <a:rPr sz="480" b="0" i="0">
                <a:solidFill>
                  <a:srgbClr val="132238"/>
                </a:solidFill>
              </a:rPr>
              <a:t>though they may assist in drafting documents or</a:t>
            </a:r>
          </a:p>
          <a:p xmlns:a="http://schemas.openxmlformats.org/drawingml/2006/main">
            <a:pPr algn="l">
              <a:defRPr sz="480" b="0" i="0">
                <a:solidFill>
                  <a:srgbClr val="132238"/>
                </a:solidFill>
              </a:defRPr>
            </a:pPr>
            <a:r>
              <a:rPr sz="480" b="0" i="0">
                <a:solidFill>
                  <a:srgbClr val="132238"/>
                </a:solidFill>
              </a:rPr>
              <a:t>analysing data.</a:t>
            </a:r>
          </a:p>
          <a:p xmlns:a="http://schemas.openxmlformats.org/drawingml/2006/main">
            <a:pPr algn="l">
              <a:defRPr sz="480" b="0" i="0">
                <a:solidFill>
                  <a:srgbClr val="132238"/>
                </a:solidFill>
              </a:defRPr>
            </a:pPr>
            <a:r>
              <a:rPr sz="480" b="0" i="0">
                <a:solidFill>
                  <a:srgbClr val="132238"/>
                </a:solidFill>
              </a:rPr>
              <a:t> </a:t>
            </a:r>
          </a:p>
          <a:p xmlns:a="http://schemas.openxmlformats.org/drawingml/2006/main">
            <a:pPr algn="l">
              <a:defRPr sz="480" b="0" i="0">
                <a:solidFill>
                  <a:srgbClr val="132238"/>
                </a:solidFill>
              </a:defRPr>
            </a:pPr>
            <a:r>
              <a:rPr sz="480" b="0" i="0">
                <a:solidFill>
                  <a:srgbClr val="132238"/>
                </a:solidFill>
              </a:rPr>
              <a:t>            Occupation: Merchandising Director</a:t>
            </a:r>
          </a:p>
          <a:p xmlns:a="http://schemas.openxmlformats.org/drawingml/2006/main">
            <a:pPr algn="l">
              <a:defRPr sz="480" b="0" i="0">
                <a:solidFill>
                  <a:srgbClr val="132238"/>
                </a:solidFill>
              </a:defRPr>
            </a:pPr>
            <a:r>
              <a:rPr sz="480" b="0" i="0">
                <a:solidFill>
                  <a:srgbClr val="132238"/>
                </a:solidFill>
              </a:rPr>
              <a:t>            Task: Establish Key Performance Indicators</a:t>
            </a:r>
          </a:p>
          <a:p xmlns:a="http://schemas.openxmlformats.org/drawingml/2006/main">
            <a:pPr algn="l">
              <a:defRPr sz="480" b="0" i="0">
                <a:solidFill>
                  <a:srgbClr val="132238"/>
                </a:solidFill>
              </a:defRPr>
            </a:pPr>
            <a:r>
              <a:rPr sz="480" b="0" i="0">
                <a:solidFill>
                  <a:srgbClr val="132238"/>
                </a:solidFill>
              </a:rPr>
              <a:t>(KPIs) to evaluate category management and product</a:t>
            </a:r>
          </a:p>
          <a:p xmlns:a="http://schemas.openxmlformats.org/drawingml/2006/main">
            <a:pPr algn="l">
              <a:defRPr sz="480" b="0" i="0">
                <a:solidFill>
                  <a:srgbClr val="132238"/>
                </a:solidFill>
              </a:defRPr>
            </a:pPr>
            <a:r>
              <a:rPr sz="480" b="0" i="0">
                <a:solidFill>
                  <a:srgbClr val="132238"/>
                </a:solidFill>
              </a:rPr>
              <a:t>assortment.</a:t>
            </a:r>
          </a:p>
          <a:p xmlns:a="http://schemas.openxmlformats.org/drawingml/2006/main">
            <a:pPr algn="l">
              <a:defRPr sz="480" b="0" i="0">
                <a:solidFill>
                  <a:srgbClr val="132238"/>
                </a:solidFill>
              </a:defRPr>
            </a:pPr>
            <a:r>
              <a:rPr sz="480" b="0" i="0">
                <a:solidFill>
                  <a:srgbClr val="132238"/>
                </a:solidFill>
              </a:rPr>
              <a:t>            Final_label: E1</a:t>
            </a:r>
          </a:p>
          <a:p xmlns:a="http://schemas.openxmlformats.org/drawingml/2006/main">
            <a:pPr algn="l">
              <a:defRPr sz="480" b="0" i="0">
                <a:solidFill>
                  <a:srgbClr val="132238"/>
                </a:solidFill>
              </a:defRPr>
            </a:pPr>
            <a:r>
              <a:rPr sz="480" b="0" i="0">
                <a:solidFill>
                  <a:srgbClr val="132238"/>
                </a:solidFill>
              </a:rPr>
              <a:t>            Explanation: Direct LLM use can</a:t>
            </a:r>
          </a:p>
          <a:p xmlns:a="http://schemas.openxmlformats.org/drawingml/2006/main">
            <a:pPr algn="l">
              <a:defRPr sz="480" b="0" i="0">
                <a:solidFill>
                  <a:srgbClr val="132238"/>
                </a:solidFill>
              </a:defRPr>
            </a:pPr>
            <a:r>
              <a:rPr sz="480" b="0" i="0">
                <a:solidFill>
                  <a:srgbClr val="132238"/>
                </a:solidFill>
              </a:rPr>
              <a:t>significantly reduce time for:</a:t>
            </a:r>
          </a:p>
          <a:p xmlns:a="http://schemas.openxmlformats.org/drawingml/2006/main">
            <a:pPr algn="l">
              <a:defRPr sz="480" b="0" i="0">
                <a:solidFill>
                  <a:srgbClr val="132238"/>
                </a:solidFill>
              </a:defRPr>
            </a:pPr>
            <a:r>
              <a:rPr sz="480" b="0" i="0">
                <a:solidFill>
                  <a:srgbClr val="132238"/>
                </a:solidFill>
              </a:rPr>
              <a:t>            - Drafting and refining KPI definitions.</a:t>
            </a:r>
          </a:p>
          <a:p xmlns:a="http://schemas.openxmlformats.org/drawingml/2006/main">
            <a:pPr algn="l">
              <a:defRPr sz="480" b="0" i="0">
                <a:solidFill>
                  <a:srgbClr val="132238"/>
                </a:solidFill>
              </a:defRPr>
            </a:pPr>
            <a:r>
              <a:rPr sz="480" b="0" i="0">
                <a:solidFill>
                  <a:srgbClr val="132238"/>
                </a:solidFill>
              </a:rPr>
              <a:t>            - Researching industry benchmarks.</a:t>
            </a:r>
          </a:p>
          <a:p xmlns:a="http://schemas.openxmlformats.org/drawingml/2006/main">
            <a:pPr algn="l">
              <a:defRPr sz="480" b="0" i="0">
                <a:solidFill>
                  <a:srgbClr val="132238"/>
                </a:solidFill>
              </a:defRPr>
            </a:pPr>
            <a:r>
              <a:rPr sz="480" b="0" i="0">
                <a:solidFill>
                  <a:srgbClr val="132238"/>
                </a:solidFill>
              </a:rPr>
              <a:t>            - Generating structured KPI frameworks and</a:t>
            </a:r>
          </a:p>
          <a:p xmlns:a="http://schemas.openxmlformats.org/drawingml/2006/main">
            <a:pPr algn="l">
              <a:defRPr sz="480" b="0" i="0">
                <a:solidFill>
                  <a:srgbClr val="132238"/>
                </a:solidFill>
              </a:defRPr>
            </a:pPr>
            <a:r>
              <a:rPr sz="480" b="0" i="0">
                <a:solidFill>
                  <a:srgbClr val="132238"/>
                </a:solidFill>
              </a:rPr>
              <a:t>justifications.</a:t>
            </a:r>
          </a:p>
          <a:p xmlns:a="http://schemas.openxmlformats.org/drawingml/2006/main">
            <a:pPr algn="l">
              <a:defRPr sz="480" b="0" i="0">
                <a:solidFill>
                  <a:srgbClr val="132238"/>
                </a:solidFill>
              </a:defRPr>
            </a:pPr>
            <a:r>
              <a:rPr sz="480" b="0" i="0">
                <a:solidFill>
                  <a:srgbClr val="132238"/>
                </a:solidFill>
              </a:rPr>
              <a:t>            The task still requires final human</a:t>
            </a:r>
          </a:p>
          <a:p xmlns:a="http://schemas.openxmlformats.org/drawingml/2006/main">
            <a:pPr algn="l">
              <a:defRPr sz="480" b="0" i="0">
                <a:solidFill>
                  <a:srgbClr val="132238"/>
                </a:solidFill>
              </a:defRPr>
            </a:pPr>
            <a:r>
              <a:rPr sz="480" b="0" i="0">
                <a:solidFill>
                  <a:srgbClr val="132238"/>
                </a:solidFill>
              </a:rPr>
              <a:t>judgement and alignment with organisational goals, but</a:t>
            </a:r>
          </a:p>
          <a:p xmlns:a="http://schemas.openxmlformats.org/drawingml/2006/main">
            <a:pPr algn="l">
              <a:defRPr sz="480" b="0" i="0">
                <a:solidFill>
                  <a:srgbClr val="132238"/>
                </a:solidFill>
              </a:defRPr>
            </a:pPr>
            <a:r>
              <a:rPr sz="480" b="0" i="0">
                <a:solidFill>
                  <a:srgbClr val="132238"/>
                </a:solidFill>
              </a:rPr>
              <a:t>LLMs can halve the time needed to draft, structure, and</a:t>
            </a:r>
          </a:p>
          <a:p xmlns:a="http://schemas.openxmlformats.org/drawingml/2006/main">
            <a:pPr algn="l">
              <a:defRPr sz="480" b="0" i="0">
                <a:solidFill>
                  <a:srgbClr val="132238"/>
                </a:solidFill>
              </a:defRPr>
            </a:pPr>
            <a:r>
              <a:rPr sz="480" b="0" i="0">
                <a:solidFill>
                  <a:srgbClr val="132238"/>
                </a:solidFill>
              </a:rPr>
              <a:t>iterate KPI proposals.</a:t>
            </a:r>
          </a:p>
          <a:p xmlns:a="http://schemas.openxmlformats.org/drawingml/2006/main">
            <a:pPr algn="l">
              <a:defRPr sz="480" b="0" i="0">
                <a:solidFill>
                  <a:srgbClr val="132238"/>
                </a:solidFill>
              </a:defRPr>
            </a:pPr>
            <a:r>
              <a:rPr sz="480" b="0" i="0">
                <a:solidFill>
                  <a:srgbClr val="132238"/>
                </a:solidFill>
              </a:rPr>
              <a:t> </a:t>
            </a:r>
          </a:p>
          <a:p xmlns:a="http://schemas.openxmlformats.org/drawingml/2006/main">
            <a:pPr algn="l">
              <a:defRPr sz="480" b="0" i="0">
                <a:solidFill>
                  <a:srgbClr val="132238"/>
                </a:solidFill>
              </a:defRPr>
            </a:pPr>
            <a:r>
              <a:rPr sz="480" b="0" i="0">
                <a:solidFill>
                  <a:srgbClr val="132238"/>
                </a:solidFill>
              </a:rPr>
              <a:t>            Occupation: Senior Artificial Intelligence /</a:t>
            </a:r>
          </a:p>
          <a:p xmlns:a="http://schemas.openxmlformats.org/drawingml/2006/main">
            <a:pPr algn="l">
              <a:defRPr sz="480" b="0" i="0">
                <a:solidFill>
                  <a:srgbClr val="132238"/>
                </a:solidFill>
              </a:defRPr>
            </a:pPr>
            <a:r>
              <a:rPr sz="480" b="0" i="0">
                <a:solidFill>
                  <a:srgbClr val="132238"/>
                </a:solidFill>
              </a:rPr>
              <a:t>Machine Learning Engineer</a:t>
            </a:r>
          </a:p>
          <a:p xmlns:a="http://schemas.openxmlformats.org/drawingml/2006/main">
            <a:pPr algn="l">
              <a:defRPr sz="480" b="0" i="0">
                <a:solidFill>
                  <a:srgbClr val="132238"/>
                </a:solidFill>
              </a:defRPr>
            </a:pPr>
            <a:r>
              <a:rPr sz="480" b="0" i="0">
                <a:solidFill>
                  <a:srgbClr val="132238"/>
                </a:solidFill>
              </a:rPr>
              <a:t>            Task: Deliver scalable AI/ML solutions</a:t>
            </a:r>
          </a:p>
          <a:p xmlns:a="http://schemas.openxmlformats.org/drawingml/2006/main">
            <a:pPr algn="l">
              <a:defRPr sz="480" b="0" i="0">
                <a:solidFill>
                  <a:srgbClr val="132238"/>
                </a:solidFill>
              </a:defRPr>
            </a:pPr>
            <a:r>
              <a:rPr sz="480" b="0" i="0">
                <a:solidFill>
                  <a:srgbClr val="132238"/>
                </a:solidFill>
              </a:rPr>
              <a:t>            Final_lable: E0</a:t>
            </a:r>
          </a:p>
          <a:p xmlns:a="http://schemas.openxmlformats.org/drawingml/2006/main">
            <a:pPr algn="l">
              <a:defRPr sz="480" b="0" i="0">
                <a:solidFill>
                  <a:srgbClr val="132238"/>
                </a:solidFill>
              </a:defRPr>
            </a:pPr>
            <a:r>
              <a:rPr sz="480" b="0" i="0">
                <a:solidFill>
                  <a:srgbClr val="132238"/>
                </a:solidFill>
              </a:rPr>
              <a:t>            Explanation: Direct LLM use (E1) can assist</a:t>
            </a:r>
          </a:p>
          <a:p xmlns:a="http://schemas.openxmlformats.org/drawingml/2006/main">
            <a:pPr algn="l">
              <a:defRPr sz="480" b="0" i="0">
                <a:solidFill>
                  <a:srgbClr val="132238"/>
                </a:solidFill>
              </a:defRPr>
            </a:pPr>
            <a:r>
              <a:rPr sz="480" b="0" i="0">
                <a:solidFill>
                  <a:srgbClr val="132238"/>
                </a:solidFill>
              </a:rPr>
              <a:t>with code snippets, debugging, and conceptual</a:t>
            </a:r>
          </a:p>
          <a:p xmlns:a="http://schemas.openxmlformats.org/drawingml/2006/main">
            <a:pPr algn="l">
              <a:defRPr sz="480" b="0" i="0">
                <a:solidFill>
                  <a:srgbClr val="132238"/>
                </a:solidFill>
              </a:defRPr>
            </a:pPr>
            <a:r>
              <a:rPr sz="480" b="0" i="0">
                <a:solidFill>
                  <a:srgbClr val="132238"/>
                </a:solidFill>
              </a:rPr>
              <a:t>explanations, but delivering scalable AI/ML solutions</a:t>
            </a:r>
          </a:p>
          <a:p xmlns:a="http://schemas.openxmlformats.org/drawingml/2006/main">
            <a:pPr algn="l">
              <a:defRPr sz="480" b="0" i="0">
                <a:solidFill>
                  <a:srgbClr val="132238"/>
                </a:solidFill>
              </a:defRPr>
            </a:pPr>
            <a:r>
              <a:rPr sz="480" b="0" i="0">
                <a:solidFill>
                  <a:srgbClr val="132238"/>
                </a:solidFill>
              </a:rPr>
              <a:t>requires:</a:t>
            </a:r>
          </a:p>
          <a:p xmlns:a="http://schemas.openxmlformats.org/drawingml/2006/main">
            <a:pPr algn="l">
              <a:defRPr sz="480" b="0" i="0">
                <a:solidFill>
                  <a:srgbClr val="132238"/>
                </a:solidFill>
              </a:defRPr>
            </a:pPr>
            <a:r>
              <a:rPr sz="480" b="0" i="0">
                <a:solidFill>
                  <a:srgbClr val="132238"/>
                </a:solidFill>
              </a:rPr>
              <a:t>            - System design decisions</a:t>
            </a:r>
          </a:p>
          <a:p xmlns:a="http://schemas.openxmlformats.org/drawingml/2006/main">
            <a:pPr algn="l">
              <a:defRPr sz="480" b="0" i="0">
                <a:solidFill>
                  <a:srgbClr val="132238"/>
                </a:solidFill>
              </a:defRPr>
            </a:pPr>
            <a:r>
              <a:rPr sz="480" b="0" i="0">
                <a:solidFill>
                  <a:srgbClr val="132238"/>
                </a:solidFill>
              </a:rPr>
              <a:t>            - Integration into production environments</a:t>
            </a:r>
          </a:p>
          <a:p xmlns:a="http://schemas.openxmlformats.org/drawingml/2006/main">
            <a:pPr algn="l">
              <a:defRPr sz="480" b="0" i="0">
                <a:solidFill>
                  <a:srgbClr val="132238"/>
                </a:solidFill>
              </a:defRPr>
            </a:pPr>
            <a:r>
              <a:rPr sz="480" b="0" i="0">
                <a:solidFill>
                  <a:srgbClr val="132238"/>
                </a:solidFill>
              </a:rPr>
              <a:t>            - Data pipeline engineering</a:t>
            </a:r>
          </a:p>
          <a:p xmlns:a="http://schemas.openxmlformats.org/drawingml/2006/main">
            <a:pPr algn="l">
              <a:defRPr sz="480" b="0" i="0">
                <a:solidFill>
                  <a:srgbClr val="132238"/>
                </a:solidFill>
              </a:defRPr>
            </a:pPr>
            <a:r>
              <a:rPr sz="480" b="0" i="0">
                <a:solidFill>
                  <a:srgbClr val="132238"/>
                </a:solidFill>
              </a:rPr>
              <a:t>            - Model evaluation, deployment, and</a:t>
            </a:r>
          </a:p>
          <a:p xmlns:a="http://schemas.openxmlformats.org/drawingml/2006/main">
            <a:pPr algn="l">
              <a:defRPr sz="480" b="0" i="0">
                <a:solidFill>
                  <a:srgbClr val="132238"/>
                </a:solidFill>
              </a:defRPr>
            </a:pPr>
            <a:r>
              <a:rPr sz="480" b="0" i="0">
                <a:solidFill>
                  <a:srgbClr val="132238"/>
                </a:solidFill>
              </a:rPr>
              <a:t>monitoring</a:t>
            </a:r>
          </a:p>
          <a:p xmlns:a="http://schemas.openxmlformats.org/drawingml/2006/main">
            <a:pPr algn="l">
              <a:defRPr sz="480" b="0" i="0">
                <a:solidFill>
                  <a:srgbClr val="132238"/>
                </a:solidFill>
              </a:defRPr>
            </a:pPr>
            <a:r>
              <a:rPr sz="480" b="0" i="0">
                <a:solidFill>
                  <a:srgbClr val="132238"/>
                </a:solidFill>
              </a:rPr>
              <a:t>            These require hands-on technical execution,</a:t>
            </a:r>
          </a:p>
          <a:p xmlns:a="http://schemas.openxmlformats.org/drawingml/2006/main">
            <a:pPr algn="l">
              <a:defRPr sz="480" b="0" i="0">
                <a:solidFill>
                  <a:srgbClr val="132238"/>
                </a:solidFill>
              </a:defRPr>
            </a:pPr>
            <a:r>
              <a:rPr sz="480" b="0" i="0">
                <a:solidFill>
                  <a:srgbClr val="132238"/>
                </a:solidFill>
              </a:rPr>
              <a:t>infrastructure work, and human judgement beyond what</a:t>
            </a:r>
          </a:p>
          <a:p xmlns:a="http://schemas.openxmlformats.org/drawingml/2006/main">
            <a:pPr algn="l">
              <a:defRPr sz="480" b="0" i="0">
                <a:solidFill>
                  <a:srgbClr val="132238"/>
                </a:solidFill>
              </a:defRPr>
            </a:pPr>
            <a:r>
              <a:rPr sz="480" b="0" i="0">
                <a:solidFill>
                  <a:srgbClr val="132238"/>
                </a:solidFill>
              </a:rPr>
              <a:t>LLMs or LLM-powered applications can reduce by half.</a:t>
            </a:r>
          </a:p>
        </p:txBody>
      </p:sp>
      <p:sp>
        <p:nvSpPr>
          <p:cNvPr id="16" name="">
            <a:extLst xmlns:a="http://schemas.openxmlformats.org/drawingml/2006/main">
              <a:ext uri="{FF2B5EF4-FFF2-40B4-BE49-F238E27FC236}">
                <a16:creationId xmlns:a16="http://schemas.microsoft.com/office/drawing/2014/main" id="{2A8DB64A-8B7A-4F37-8FF9-C04461460DE6}"/>
              </a:ext>
            </a:extLst>
          </p:cNvPr>
          <p:cNvSpPr>
            <a:spLocks xmlns:a="http://schemas.openxmlformats.org/drawingml/2006/main" noGrp="1"/>
          </p:cNvSpPr>
          <p:nvPr/>
        </p:nvSpPr>
        <p:spPr>
          <a:xfrm xmlns:a="http://schemas.openxmlformats.org/drawingml/2006/main">
            <a:off x="9277350" y="2305050"/>
            <a:ext cx="0" cy="3943350"/>
          </a:xfrm>
          <a:prstGeom xmlns:a="http://schemas.openxmlformats.org/drawingml/2006/main" prst="line">
            <a:avLst/>
          </a:prstGeom>
          <a:noFill xmlns:a="http://schemas.openxmlformats.org/drawingml/2006/main"/>
          <a:ln xmlns:a="http://schemas.openxmlformats.org/drawingml/2006/main" w="9525">
            <a:solidFill>
              <a:srgbClr val="D5DCDD"/>
            </a:solidFill>
            <a:prstDash val="solid"/>
          </a:ln>
        </p:spPr>
      </p:sp>
      <p:sp>
        <p:nvSpPr>
          <p:cNvPr id="17" name="">
            <a:extLst xmlns:a="http://schemas.openxmlformats.org/drawingml/2006/main">
              <a:ext uri="{FF2B5EF4-FFF2-40B4-BE49-F238E27FC236}">
                <a16:creationId xmlns:a16="http://schemas.microsoft.com/office/drawing/2014/main" id="{693F5F65-BA29-449E-9E96-3FD043B752AC}"/>
              </a:ext>
            </a:extLst>
          </p:cNvPr>
          <p:cNvSpPr>
            <a:spLocks xmlns:a="http://schemas.openxmlformats.org/drawingml/2006/main" noGrp="1"/>
          </p:cNvSpPr>
          <p:nvPr/>
        </p:nvSpPr>
        <p:spPr>
          <a:xfrm xmlns:a="http://schemas.openxmlformats.org/drawingml/2006/main">
            <a:off x="9372600" y="2343150"/>
            <a:ext cx="2019300"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a:p xmlns:a="http://schemas.openxmlformats.org/drawingml/2006/main">
            <a:pPr algn="l">
              <a:defRPr sz="480" b="0" i="0">
                <a:solidFill>
                  <a:srgbClr val="132238"/>
                </a:solidFill>
              </a:defRPr>
            </a:pPr>
            <a:r>
              <a:rPr sz="480" b="0" i="0">
                <a:solidFill>
                  <a:srgbClr val="132238"/>
                </a:solidFill>
              </a:rPr>
              <a:t># OUTPUT FORMAT</a:t>
            </a:r>
          </a:p>
          <a:p xmlns:a="http://schemas.openxmlformats.org/drawingml/2006/main">
            <a:pPr algn="l">
              <a:defRPr sz="480" b="0" i="0">
                <a:solidFill>
                  <a:srgbClr val="132238"/>
                </a:solidFill>
              </a:defRPr>
            </a:pPr>
            <a:r>
              <a:rPr sz="480" b="0" i="0">
                <a:solidFill>
                  <a:srgbClr val="132238"/>
                </a:solidFill>
              </a:rPr>
              <a:t>Return your output in the given JSON format.</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Please think step-by-step.</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[USER TEMPLATE]</a:t>
            </a:r>
          </a:p>
          <a:p xmlns:a="http://schemas.openxmlformats.org/drawingml/2006/main">
            <a:pPr algn="l">
              <a:defRPr sz="480" b="0" i="0">
                <a:solidFill>
                  <a:srgbClr val="132238"/>
                </a:solidFill>
              </a:defRPr>
            </a:pPr>
            <a:r>
              <a:rPr sz="480" b="0" i="0">
                <a:solidFill>
                  <a:srgbClr val="132238"/>
                </a:solidFill>
              </a:rPr>
              <a:t>Label the given task performed for the corresponding</a:t>
            </a:r>
          </a:p>
          <a:p xmlns:a="http://schemas.openxmlformats.org/drawingml/2006/main">
            <a:pPr algn="l">
              <a:defRPr sz="480" b="0" i="0">
                <a:solidFill>
                  <a:srgbClr val="132238"/>
                </a:solidFill>
              </a:defRPr>
            </a:pPr>
            <a:r>
              <a:rPr sz="480" b="0" i="0">
                <a:solidFill>
                  <a:srgbClr val="132238"/>
                </a:solidFill>
              </a:rPr>
              <a:t>occupation with E0/E1/E2/E3.</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Here are some worked examples:</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Example 1:</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Occupation: HR Manager; Task: Coach line managers to</a:t>
            </a:r>
          </a:p>
          <a:p xmlns:a="http://schemas.openxmlformats.org/drawingml/2006/main">
            <a:pPr algn="l">
              <a:defRPr sz="480" b="0" i="0">
                <a:solidFill>
                  <a:srgbClr val="132238"/>
                </a:solidFill>
              </a:defRPr>
            </a:pPr>
            <a:r>
              <a:rPr sz="480" b="0" i="0">
                <a:solidFill>
                  <a:srgbClr val="132238"/>
                </a:solidFill>
              </a:rPr>
              <a:t>manage involuntary exits</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Reasoning: The primary activity is live, face-to-face</a:t>
            </a:r>
          </a:p>
          <a:p xmlns:a="http://schemas.openxmlformats.org/drawingml/2006/main">
            <a:pPr algn="l">
              <a:defRPr sz="480" b="0" i="0">
                <a:solidFill>
                  <a:srgbClr val="132238"/>
                </a:solidFill>
              </a:defRPr>
            </a:pPr>
            <a:r>
              <a:rPr sz="480" b="0" i="0">
                <a:solidFill>
                  <a:srgbClr val="132238"/>
                </a:solidFill>
              </a:rPr>
              <a:t>coaching — the worker must be personally present to</a:t>
            </a:r>
          </a:p>
          <a:p xmlns:a="http://schemas.openxmlformats.org/drawingml/2006/main">
            <a:pPr algn="l">
              <a:defRPr sz="480" b="0" i="0">
                <a:solidFill>
                  <a:srgbClr val="132238"/>
                </a:solidFill>
              </a:defRPr>
            </a:pPr>
            <a:r>
              <a:rPr sz="480" b="0" i="0">
                <a:solidFill>
                  <a:srgbClr val="132238"/>
                </a:solidFill>
              </a:rPr>
              <a:t>guide managers through sensitive conversations. An LLM</a:t>
            </a:r>
          </a:p>
          <a:p xmlns:a="http://schemas.openxmlformats.org/drawingml/2006/main">
            <a:pPr algn="l">
              <a:defRPr sz="480" b="0" i="0">
                <a:solidFill>
                  <a:srgbClr val="132238"/>
                </a:solidFill>
              </a:defRPr>
            </a:pPr>
            <a:r>
              <a:rPr sz="480" b="0" i="0">
                <a:solidFill>
                  <a:srgbClr val="132238"/>
                </a:solidFill>
              </a:rPr>
              <a:t>can help prepare talking points but cannot replace the</a:t>
            </a:r>
          </a:p>
          <a:p xmlns:a="http://schemas.openxmlformats.org/drawingml/2006/main">
            <a:pPr algn="l">
              <a:defRPr sz="480" b="0" i="0">
                <a:solidFill>
                  <a:srgbClr val="132238"/>
                </a:solidFill>
              </a:defRPr>
            </a:pPr>
            <a:r>
              <a:rPr sz="480" b="0" i="0">
                <a:solidFill>
                  <a:srgbClr val="132238"/>
                </a:solidFill>
              </a:rPr>
              <a:t>interpersonal coaching itself.</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Label: E0</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Example 2:</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Occupation: HR Manager; Task: Develop communication</a:t>
            </a:r>
          </a:p>
          <a:p xmlns:a="http://schemas.openxmlformats.org/drawingml/2006/main">
            <a:pPr algn="l">
              <a:defRPr sz="480" b="0" i="0">
                <a:solidFill>
                  <a:srgbClr val="132238"/>
                </a:solidFill>
              </a:defRPr>
            </a:pPr>
            <a:r>
              <a:rPr sz="480" b="0" i="0">
                <a:solidFill>
                  <a:srgbClr val="132238"/>
                </a:solidFill>
              </a:rPr>
              <a:t>materials for HR programmes</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Reasoning: The primary output is written content —</a:t>
            </a:r>
          </a:p>
          <a:p xmlns:a="http://schemas.openxmlformats.org/drawingml/2006/main">
            <a:pPr algn="l">
              <a:defRPr sz="480" b="0" i="0">
                <a:solidFill>
                  <a:srgbClr val="132238"/>
                </a:solidFill>
              </a:defRPr>
            </a:pPr>
            <a:r>
              <a:rPr sz="480" b="0" i="0">
                <a:solidFill>
                  <a:srgbClr val="132238"/>
                </a:solidFill>
              </a:rPr>
              <a:t>brochures, emails, information kits. An LLM can draft,</a:t>
            </a:r>
          </a:p>
          <a:p xmlns:a="http://schemas.openxmlformats.org/drawingml/2006/main">
            <a:pPr algn="l">
              <a:defRPr sz="480" b="0" i="0">
                <a:solidFill>
                  <a:srgbClr val="132238"/>
                </a:solidFill>
              </a:defRPr>
            </a:pPr>
            <a:r>
              <a:rPr sz="480" b="0" i="0">
                <a:solidFill>
                  <a:srgbClr val="132238"/>
                </a:solidFill>
              </a:rPr>
              <a:t>edit, and refine these materials directly, reducing the</a:t>
            </a:r>
          </a:p>
          <a:p xmlns:a="http://schemas.openxmlformats.org/drawingml/2006/main">
            <a:pPr algn="l">
              <a:defRPr sz="480" b="0" i="0">
                <a:solidFill>
                  <a:srgbClr val="132238"/>
                </a:solidFill>
              </a:defRPr>
            </a:pPr>
            <a:r>
              <a:rPr sz="480" b="0" i="0">
                <a:solidFill>
                  <a:srgbClr val="132238"/>
                </a:solidFill>
              </a:rPr>
              <a:t>core work by well over half.</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Label: E1</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Example 3:</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Occupation: HR Manager; Task: Analyse financial and HR</a:t>
            </a:r>
          </a:p>
          <a:p xmlns:a="http://schemas.openxmlformats.org/drawingml/2006/main">
            <a:pPr algn="l">
              <a:defRPr sz="480" b="0" i="0">
                <a:solidFill>
                  <a:srgbClr val="132238"/>
                </a:solidFill>
              </a:defRPr>
            </a:pPr>
            <a:r>
              <a:rPr sz="480" b="0" i="0">
                <a:solidFill>
                  <a:srgbClr val="132238"/>
                </a:solidFill>
              </a:rPr>
              <a:t>data to identify trends and develop forecasts</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Reasoning: The core work is data analysis and</a:t>
            </a:r>
          </a:p>
          <a:p xmlns:a="http://schemas.openxmlformats.org/drawingml/2006/main">
            <a:pPr algn="l">
              <a:defRPr sz="480" b="0" i="0">
                <a:solidFill>
                  <a:srgbClr val="132238"/>
                </a:solidFill>
              </a:defRPr>
            </a:pPr>
            <a:r>
              <a:rPr sz="480" b="0" i="0">
                <a:solidFill>
                  <a:srgbClr val="132238"/>
                </a:solidFill>
              </a:rPr>
              <a:t>forecasting. An LLM alone cannot access the</a:t>
            </a:r>
          </a:p>
          <a:p xmlns:a="http://schemas.openxmlformats.org/drawingml/2006/main">
            <a:pPr algn="l">
              <a:defRPr sz="480" b="0" i="0">
                <a:solidFill>
                  <a:srgbClr val="132238"/>
                </a:solidFill>
              </a:defRPr>
            </a:pPr>
            <a:r>
              <a:rPr sz="480" b="0" i="0">
                <a:solidFill>
                  <a:srgbClr val="132238"/>
                </a:solidFill>
              </a:rPr>
              <a:t>organisation's databases, but LLM-powered software with</a:t>
            </a:r>
          </a:p>
          <a:p xmlns:a="http://schemas.openxmlformats.org/drawingml/2006/main">
            <a:pPr algn="l">
              <a:defRPr sz="480" b="0" i="0">
                <a:solidFill>
                  <a:srgbClr val="132238"/>
                </a:solidFill>
              </a:defRPr>
            </a:pPr>
            <a:r>
              <a:rPr sz="480" b="0" i="0">
                <a:solidFill>
                  <a:srgbClr val="132238"/>
                </a:solidFill>
              </a:rPr>
              <a:t>data retrieval and analytics capabilities could process</a:t>
            </a:r>
          </a:p>
          <a:p xmlns:a="http://schemas.openxmlformats.org/drawingml/2006/main">
            <a:pPr algn="l">
              <a:defRPr sz="480" b="0" i="0">
                <a:solidFill>
                  <a:srgbClr val="132238"/>
                </a:solidFill>
              </a:defRPr>
            </a:pPr>
            <a:r>
              <a:rPr sz="480" b="0" i="0">
                <a:solidFill>
                  <a:srgbClr val="132238"/>
                </a:solidFill>
              </a:rPr>
              <a:t>the data, identify trends, and generate forecasts.</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Label: E2</a:t>
            </a:r>
          </a:p>
          <a:p xmlns:a="http://schemas.openxmlformats.org/drawingml/2006/main">
            <a:r>
              <a:t/>
            </a:r>
          </a:p>
          <a:p xmlns:a="http://schemas.openxmlformats.org/drawingml/2006/main">
            <a:pPr algn="l">
              <a:defRPr sz="480" b="0" i="0">
                <a:solidFill>
                  <a:srgbClr val="132238"/>
                </a:solidFill>
              </a:defRPr>
            </a:pPr>
            <a:r>
              <a:rPr sz="480" b="0" i="0">
                <a:solidFill>
                  <a:srgbClr val="132238"/>
                </a:solidFill>
              </a:rPr>
              <a:t>Now label this task:</a:t>
            </a:r>
          </a:p>
          <a:p xmlns:a="http://schemas.openxmlformats.org/drawingml/2006/main">
            <a:pPr algn="l">
              <a:defRPr sz="480" b="0" i="0">
                <a:solidFill>
                  <a:srgbClr val="132238"/>
                </a:solidFill>
              </a:defRPr>
            </a:pPr>
            <a:r>
              <a:rPr sz="480" b="0" i="0">
                <a:solidFill>
                  <a:srgbClr val="132238"/>
                </a:solidFill>
              </a:rPr>
              <a:t>Occupation: {occupation}; Task: {task}</a:t>
            </a:r>
          </a:p>
        </p:txBody>
      </p:sp>
    </p:spTree>
    <p:extLst>
      <p:ext uri="{BB962C8B-B14F-4D97-AF65-F5344CB8AC3E}">
        <p14:creationId xmlns:p14="http://schemas.microsoft.com/office/powerpoint/2010/main" val="891627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2026-08-30T10:20:53.1180000Z</dcterms:created>
  <dcterms:modified xsi:type="dcterms:W3CDTF">2026-08-30T10:20:53.1180000Z</dcterms:modified>
</coreProperties>
</file>